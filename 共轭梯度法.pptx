
<file path=[Content_Types].xml><?xml version="1.0" encoding="utf-8"?>
<Types xmlns="http://schemas.openxmlformats.org/package/2006/content-types">
  <Default Extension="png" ContentType="image/png"/>
  <Default Extension="tmp"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8" r:id="rId7"/>
    <p:sldId id="269" r:id="rId8"/>
    <p:sldId id="270" r:id="rId9"/>
    <p:sldId id="271" r:id="rId10"/>
    <p:sldId id="272" r:id="rId11"/>
    <p:sldId id="308" r:id="rId12"/>
    <p:sldId id="305" r:id="rId13"/>
    <p:sldId id="306" r:id="rId14"/>
    <p:sldId id="304" r:id="rId15"/>
    <p:sldId id="274" r:id="rId16"/>
    <p:sldId id="307" r:id="rId17"/>
    <p:sldId id="261" r:id="rId18"/>
    <p:sldId id="262" r:id="rId19"/>
    <p:sldId id="263" r:id="rId20"/>
    <p:sldId id="277" r:id="rId21"/>
    <p:sldId id="264" r:id="rId22"/>
    <p:sldId id="309" r:id="rId23"/>
    <p:sldId id="265" r:id="rId24"/>
    <p:sldId id="266" r:id="rId25"/>
    <p:sldId id="267" r:id="rId26"/>
    <p:sldId id="276" r:id="rId27"/>
    <p:sldId id="302" r:id="rId28"/>
    <p:sldId id="275" r:id="rId29"/>
    <p:sldId id="312" r:id="rId30"/>
    <p:sldId id="278" r:id="rId31"/>
    <p:sldId id="281" r:id="rId32"/>
    <p:sldId id="310" r:id="rId33"/>
    <p:sldId id="282" r:id="rId34"/>
    <p:sldId id="279" r:id="rId35"/>
    <p:sldId id="283" r:id="rId36"/>
    <p:sldId id="284" r:id="rId37"/>
    <p:sldId id="285" r:id="rId38"/>
    <p:sldId id="287" r:id="rId39"/>
    <p:sldId id="311" r:id="rId40"/>
    <p:sldId id="288" r:id="rId41"/>
    <p:sldId id="289" r:id="rId42"/>
    <p:sldId id="290" r:id="rId43"/>
    <p:sldId id="303" r:id="rId44"/>
    <p:sldId id="291" r:id="rId45"/>
    <p:sldId id="293" r:id="rId46"/>
    <p:sldId id="292" r:id="rId47"/>
    <p:sldId id="296" r:id="rId48"/>
    <p:sldId id="297" r:id="rId49"/>
    <p:sldId id="298" r:id="rId50"/>
    <p:sldId id="299" r:id="rId51"/>
    <p:sldId id="300" r:id="rId52"/>
    <p:sldId id="301" r:id="rId53"/>
    <p:sldId id="294" r:id="rId54"/>
  </p:sldIdLst>
  <p:sldSz cx="9144000" cy="6858000" type="screen4x3"/>
  <p:notesSz cx="6858000" cy="9144000"/>
  <p:custDataLst>
    <p:tags r:id="rId5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7" d="100"/>
          <a:sy n="67" d="100"/>
        </p:scale>
        <p:origin x="600"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gs" Target="tags/tag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单击以编辑母版副标题样式</a:t>
            </a:r>
            <a:endParaRPr lang="en-US" dirty="0"/>
          </a:p>
        </p:txBody>
      </p:sp>
      <p:sp>
        <p:nvSpPr>
          <p:cNvPr id="4" name="Date Placeholder 3"/>
          <p:cNvSpPr>
            <a:spLocks noGrp="1"/>
          </p:cNvSpPr>
          <p:nvPr>
            <p:ph type="dt" sz="half" idx="10"/>
          </p:nvPr>
        </p:nvSpPr>
        <p:spPr/>
        <p:txBody>
          <a:bodyPr/>
          <a:lstStyle/>
          <a:p>
            <a:fld id="{E71DAAD5-4613-48B1-8FDA-548E1D5A5491}" type="datetimeFigureOut">
              <a:rPr lang="zh-CN" altLang="en-US" smtClean="0"/>
              <a:t>2026/5/27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7AC70DDC-D7FD-40E5-828A-287E0D9C3837}" type="slidenum">
              <a:rPr lang="zh-CN" altLang="en-US" smtClean="0"/>
              <a:t>‹#›</a:t>
            </a:fld>
            <a:endParaRPr lang="zh-CN" altLang="en-US"/>
          </a:p>
        </p:txBody>
      </p:sp>
    </p:spTree>
    <p:extLst>
      <p:ext uri="{BB962C8B-B14F-4D97-AF65-F5344CB8AC3E}">
        <p14:creationId xmlns:p14="http://schemas.microsoft.com/office/powerpoint/2010/main" val="18029288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idx="1"/>
          </p:nvPr>
        </p:nvSpPr>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E71DAAD5-4613-48B1-8FDA-548E1D5A5491}" type="datetimeFigureOut">
              <a:rPr lang="zh-CN" altLang="en-US" smtClean="0"/>
              <a:t>2026/5/27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7AC70DDC-D7FD-40E5-828A-287E0D9C3837}" type="slidenum">
              <a:rPr lang="zh-CN" altLang="en-US" smtClean="0"/>
              <a:t>‹#›</a:t>
            </a:fld>
            <a:endParaRPr lang="zh-CN" altLang="en-US"/>
          </a:p>
        </p:txBody>
      </p:sp>
    </p:spTree>
    <p:extLst>
      <p:ext uri="{BB962C8B-B14F-4D97-AF65-F5344CB8AC3E}">
        <p14:creationId xmlns:p14="http://schemas.microsoft.com/office/powerpoint/2010/main" val="13941394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编辑母版文本样式</a:t>
            </a:r>
          </a:p>
        </p:txBody>
      </p:sp>
      <p:sp>
        <p:nvSpPr>
          <p:cNvPr id="4" name="Date Placeholder 3"/>
          <p:cNvSpPr>
            <a:spLocks noGrp="1"/>
          </p:cNvSpPr>
          <p:nvPr>
            <p:ph type="dt" sz="half" idx="10"/>
          </p:nvPr>
        </p:nvSpPr>
        <p:spPr/>
        <p:txBody>
          <a:bodyPr/>
          <a:lstStyle/>
          <a:p>
            <a:fld id="{E71DAAD5-4613-48B1-8FDA-548E1D5A5491}" type="datetimeFigureOut">
              <a:rPr lang="zh-CN" altLang="en-US" smtClean="0"/>
              <a:t>2026/5/27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7AC70DDC-D7FD-40E5-828A-287E0D9C3837}" type="slidenum">
              <a:rPr lang="zh-CN" altLang="en-US" smtClean="0"/>
              <a:t>‹#›</a:t>
            </a:fld>
            <a:endParaRPr lang="zh-CN" altLang="en-US"/>
          </a:p>
        </p:txBody>
      </p:sp>
    </p:spTree>
    <p:extLst>
      <p:ext uri="{BB962C8B-B14F-4D97-AF65-F5344CB8AC3E}">
        <p14:creationId xmlns:p14="http://schemas.microsoft.com/office/powerpoint/2010/main" val="30733329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Date Placeholder 4"/>
          <p:cNvSpPr>
            <a:spLocks noGrp="1"/>
          </p:cNvSpPr>
          <p:nvPr>
            <p:ph type="dt" sz="half" idx="10"/>
          </p:nvPr>
        </p:nvSpPr>
        <p:spPr/>
        <p:txBody>
          <a:bodyPr/>
          <a:lstStyle/>
          <a:p>
            <a:fld id="{E71DAAD5-4613-48B1-8FDA-548E1D5A5491}" type="datetimeFigureOut">
              <a:rPr lang="zh-CN" altLang="en-US" smtClean="0"/>
              <a:t>2026/5/27</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7AC70DDC-D7FD-40E5-828A-287E0D9C3837}" type="slidenum">
              <a:rPr lang="zh-CN" altLang="en-US" smtClean="0"/>
              <a:t>‹#›</a:t>
            </a:fld>
            <a:endParaRPr lang="zh-CN" altLang="en-US"/>
          </a:p>
        </p:txBody>
      </p:sp>
    </p:spTree>
    <p:extLst>
      <p:ext uri="{BB962C8B-B14F-4D97-AF65-F5344CB8AC3E}">
        <p14:creationId xmlns:p14="http://schemas.microsoft.com/office/powerpoint/2010/main" val="4274259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7" name="Date Placeholder 6"/>
          <p:cNvSpPr>
            <a:spLocks noGrp="1"/>
          </p:cNvSpPr>
          <p:nvPr>
            <p:ph type="dt" sz="half" idx="10"/>
          </p:nvPr>
        </p:nvSpPr>
        <p:spPr/>
        <p:txBody>
          <a:bodyPr/>
          <a:lstStyle/>
          <a:p>
            <a:fld id="{E71DAAD5-4613-48B1-8FDA-548E1D5A5491}" type="datetimeFigureOut">
              <a:rPr lang="zh-CN" altLang="en-US" smtClean="0"/>
              <a:t>2026/5/27</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7AC70DDC-D7FD-40E5-828A-287E0D9C3837}" type="slidenum">
              <a:rPr lang="zh-CN" altLang="en-US" smtClean="0"/>
              <a:t>‹#›</a:t>
            </a:fld>
            <a:endParaRPr lang="zh-CN" altLang="en-US"/>
          </a:p>
        </p:txBody>
      </p:sp>
    </p:spTree>
    <p:extLst>
      <p:ext uri="{BB962C8B-B14F-4D97-AF65-F5344CB8AC3E}">
        <p14:creationId xmlns:p14="http://schemas.microsoft.com/office/powerpoint/2010/main" val="17633013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Date Placeholder 2"/>
          <p:cNvSpPr>
            <a:spLocks noGrp="1"/>
          </p:cNvSpPr>
          <p:nvPr>
            <p:ph type="dt" sz="half" idx="10"/>
          </p:nvPr>
        </p:nvSpPr>
        <p:spPr/>
        <p:txBody>
          <a:bodyPr/>
          <a:lstStyle/>
          <a:p>
            <a:fld id="{E71DAAD5-4613-48B1-8FDA-548E1D5A5491}" type="datetimeFigureOut">
              <a:rPr lang="zh-CN" altLang="en-US" smtClean="0"/>
              <a:t>2026/5/27</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7AC70DDC-D7FD-40E5-828A-287E0D9C3837}" type="slidenum">
              <a:rPr lang="zh-CN" altLang="en-US" smtClean="0"/>
              <a:t>‹#›</a:t>
            </a:fld>
            <a:endParaRPr lang="zh-CN" altLang="en-US"/>
          </a:p>
        </p:txBody>
      </p:sp>
    </p:spTree>
    <p:extLst>
      <p:ext uri="{BB962C8B-B14F-4D97-AF65-F5344CB8AC3E}">
        <p14:creationId xmlns:p14="http://schemas.microsoft.com/office/powerpoint/2010/main" val="29068652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71DAAD5-4613-48B1-8FDA-548E1D5A5491}" type="datetimeFigureOut">
              <a:rPr lang="zh-CN" altLang="en-US" smtClean="0"/>
              <a:t>2026/5/27</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7AC70DDC-D7FD-40E5-828A-287E0D9C3837}" type="slidenum">
              <a:rPr lang="zh-CN" altLang="en-US" smtClean="0"/>
              <a:t>‹#›</a:t>
            </a:fld>
            <a:endParaRPr lang="zh-CN" altLang="en-US"/>
          </a:p>
        </p:txBody>
      </p:sp>
    </p:spTree>
    <p:extLst>
      <p:ext uri="{BB962C8B-B14F-4D97-AF65-F5344CB8AC3E}">
        <p14:creationId xmlns:p14="http://schemas.microsoft.com/office/powerpoint/2010/main" val="1393600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smtClean="0"/>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Date Placeholder 4"/>
          <p:cNvSpPr>
            <a:spLocks noGrp="1"/>
          </p:cNvSpPr>
          <p:nvPr>
            <p:ph type="dt" sz="half" idx="10"/>
          </p:nvPr>
        </p:nvSpPr>
        <p:spPr/>
        <p:txBody>
          <a:bodyPr/>
          <a:lstStyle/>
          <a:p>
            <a:fld id="{E71DAAD5-4613-48B1-8FDA-548E1D5A5491}" type="datetimeFigureOut">
              <a:rPr lang="zh-CN" altLang="en-US" smtClean="0"/>
              <a:t>2026/5/27</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7AC70DDC-D7FD-40E5-828A-287E0D9C3837}" type="slidenum">
              <a:rPr lang="zh-CN" altLang="en-US" smtClean="0"/>
              <a:t>‹#›</a:t>
            </a:fld>
            <a:endParaRPr lang="zh-CN" altLang="en-US"/>
          </a:p>
        </p:txBody>
      </p:sp>
    </p:spTree>
    <p:extLst>
      <p:ext uri="{BB962C8B-B14F-4D97-AF65-F5344CB8AC3E}">
        <p14:creationId xmlns:p14="http://schemas.microsoft.com/office/powerpoint/2010/main" val="5720384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Date Placeholder 4"/>
          <p:cNvSpPr>
            <a:spLocks noGrp="1"/>
          </p:cNvSpPr>
          <p:nvPr>
            <p:ph type="dt" sz="half" idx="10"/>
          </p:nvPr>
        </p:nvSpPr>
        <p:spPr/>
        <p:txBody>
          <a:bodyPr/>
          <a:lstStyle/>
          <a:p>
            <a:fld id="{E71DAAD5-4613-48B1-8FDA-548E1D5A5491}" type="datetimeFigureOut">
              <a:rPr lang="zh-CN" altLang="en-US" smtClean="0"/>
              <a:t>2026/5/27</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7AC70DDC-D7FD-40E5-828A-287E0D9C3837}" type="slidenum">
              <a:rPr lang="zh-CN" altLang="en-US" smtClean="0"/>
              <a:t>‹#›</a:t>
            </a:fld>
            <a:endParaRPr lang="zh-CN" altLang="en-US"/>
          </a:p>
        </p:txBody>
      </p:sp>
    </p:spTree>
    <p:extLst>
      <p:ext uri="{BB962C8B-B14F-4D97-AF65-F5344CB8AC3E}">
        <p14:creationId xmlns:p14="http://schemas.microsoft.com/office/powerpoint/2010/main" val="952121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E71DAAD5-4613-48B1-8FDA-548E1D5A5491}" type="datetimeFigureOut">
              <a:rPr lang="zh-CN" altLang="en-US" smtClean="0"/>
              <a:t>2026/5/27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7AC70DDC-D7FD-40E5-828A-287E0D9C3837}" type="slidenum">
              <a:rPr lang="zh-CN" altLang="en-US" smtClean="0"/>
              <a:t>‹#›</a:t>
            </a:fld>
            <a:endParaRPr lang="zh-CN" altLang="en-US"/>
          </a:p>
        </p:txBody>
      </p:sp>
    </p:spTree>
    <p:extLst>
      <p:ext uri="{BB962C8B-B14F-4D97-AF65-F5344CB8AC3E}">
        <p14:creationId xmlns:p14="http://schemas.microsoft.com/office/powerpoint/2010/main" val="27839370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E71DAAD5-4613-48B1-8FDA-548E1D5A5491}" type="datetimeFigureOut">
              <a:rPr lang="zh-CN" altLang="en-US" smtClean="0"/>
              <a:t>2026/5/27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7AC70DDC-D7FD-40E5-828A-287E0D9C3837}" type="slidenum">
              <a:rPr lang="zh-CN" altLang="en-US" smtClean="0"/>
              <a:t>‹#›</a:t>
            </a:fld>
            <a:endParaRPr lang="zh-CN" altLang="en-US"/>
          </a:p>
        </p:txBody>
      </p:sp>
    </p:spTree>
    <p:extLst>
      <p:ext uri="{BB962C8B-B14F-4D97-AF65-F5344CB8AC3E}">
        <p14:creationId xmlns:p14="http://schemas.microsoft.com/office/powerpoint/2010/main" val="22833033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71DAAD5-4613-48B1-8FDA-548E1D5A5491}" type="datetimeFigureOut">
              <a:rPr lang="zh-CN" altLang="en-US" smtClean="0"/>
              <a:t>2026/5/27</a:t>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AC70DDC-D7FD-40E5-828A-287E0D9C3837}" type="slidenum">
              <a:rPr lang="zh-CN" altLang="en-US" smtClean="0"/>
              <a:t>‹#›</a:t>
            </a:fld>
            <a:endParaRPr lang="zh-CN" altLang="en-US"/>
          </a:p>
        </p:txBody>
      </p:sp>
    </p:spTree>
    <p:extLst>
      <p:ext uri="{BB962C8B-B14F-4D97-AF65-F5344CB8AC3E}">
        <p14:creationId xmlns:p14="http://schemas.microsoft.com/office/powerpoint/2010/main" val="264266582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slideLayout" Target="../slideLayouts/slideLayout2.xml"/><Relationship Id="rId1" Type="http://schemas.openxmlformats.org/officeDocument/2006/relationships/tags" Target="../tags/tag7.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2.xml"/><Relationship Id="rId1" Type="http://schemas.openxmlformats.org/officeDocument/2006/relationships/tags" Target="../tags/tag8.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11.xml.rels><?xml version="1.0" encoding="UTF-8" standalone="yes"?>
<Relationships xmlns="http://schemas.openxmlformats.org/package/2006/relationships"><Relationship Id="rId8" Type="http://schemas.openxmlformats.org/officeDocument/2006/relationships/tags" Target="../tags/tag19.xml"/><Relationship Id="rId13" Type="http://schemas.openxmlformats.org/officeDocument/2006/relationships/tags" Target="../tags/tag24.xml"/><Relationship Id="rId18" Type="http://schemas.openxmlformats.org/officeDocument/2006/relationships/slideLayout" Target="../slideLayouts/slideLayout7.xml"/><Relationship Id="rId3" Type="http://schemas.openxmlformats.org/officeDocument/2006/relationships/tags" Target="../tags/tag14.xml"/><Relationship Id="rId7" Type="http://schemas.openxmlformats.org/officeDocument/2006/relationships/tags" Target="../tags/tag18.xml"/><Relationship Id="rId12" Type="http://schemas.openxmlformats.org/officeDocument/2006/relationships/tags" Target="../tags/tag23.xml"/><Relationship Id="rId17" Type="http://schemas.openxmlformats.org/officeDocument/2006/relationships/tags" Target="../tags/tag28.xml"/><Relationship Id="rId2" Type="http://schemas.openxmlformats.org/officeDocument/2006/relationships/tags" Target="../tags/tag13.xml"/><Relationship Id="rId16" Type="http://schemas.openxmlformats.org/officeDocument/2006/relationships/tags" Target="../tags/tag27.xml"/><Relationship Id="rId1" Type="http://schemas.openxmlformats.org/officeDocument/2006/relationships/tags" Target="../tags/tag12.xml"/><Relationship Id="rId6" Type="http://schemas.openxmlformats.org/officeDocument/2006/relationships/tags" Target="../tags/tag17.xml"/><Relationship Id="rId11" Type="http://schemas.openxmlformats.org/officeDocument/2006/relationships/tags" Target="../tags/tag22.xml"/><Relationship Id="rId5" Type="http://schemas.openxmlformats.org/officeDocument/2006/relationships/tags" Target="../tags/tag16.xml"/><Relationship Id="rId15" Type="http://schemas.openxmlformats.org/officeDocument/2006/relationships/tags" Target="../tags/tag26.xml"/><Relationship Id="rId10" Type="http://schemas.openxmlformats.org/officeDocument/2006/relationships/tags" Target="../tags/tag21.xml"/><Relationship Id="rId19" Type="http://schemas.openxmlformats.org/officeDocument/2006/relationships/image" Target="../media/image2.tmp"/><Relationship Id="rId4" Type="http://schemas.openxmlformats.org/officeDocument/2006/relationships/tags" Target="../tags/tag15.xml"/><Relationship Id="rId9" Type="http://schemas.openxmlformats.org/officeDocument/2006/relationships/tags" Target="../tags/tag20.xml"/><Relationship Id="rId14" Type="http://schemas.openxmlformats.org/officeDocument/2006/relationships/tags" Target="../tags/tag25.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9.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0.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Layout" Target="../slideLayouts/slideLayout2.xml"/><Relationship Id="rId1" Type="http://schemas.openxmlformats.org/officeDocument/2006/relationships/tags" Target="../tags/tag31.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2.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3.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4.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5.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6.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7.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8.xml"/></Relationships>
</file>

<file path=ppt/slides/_rels/slide22.xml.rels><?xml version="1.0" encoding="UTF-8" standalone="yes"?>
<Relationships xmlns="http://schemas.openxmlformats.org/package/2006/relationships"><Relationship Id="rId8" Type="http://schemas.openxmlformats.org/officeDocument/2006/relationships/tags" Target="../tags/tag46.xml"/><Relationship Id="rId13" Type="http://schemas.openxmlformats.org/officeDocument/2006/relationships/tags" Target="../tags/tag51.xml"/><Relationship Id="rId18" Type="http://schemas.openxmlformats.org/officeDocument/2006/relationships/slideLayout" Target="../slideLayouts/slideLayout7.xml"/><Relationship Id="rId3" Type="http://schemas.openxmlformats.org/officeDocument/2006/relationships/tags" Target="../tags/tag41.xml"/><Relationship Id="rId7" Type="http://schemas.openxmlformats.org/officeDocument/2006/relationships/tags" Target="../tags/tag45.xml"/><Relationship Id="rId12" Type="http://schemas.openxmlformats.org/officeDocument/2006/relationships/tags" Target="../tags/tag50.xml"/><Relationship Id="rId17" Type="http://schemas.openxmlformats.org/officeDocument/2006/relationships/tags" Target="../tags/tag55.xml"/><Relationship Id="rId2" Type="http://schemas.openxmlformats.org/officeDocument/2006/relationships/tags" Target="../tags/tag40.xml"/><Relationship Id="rId16" Type="http://schemas.openxmlformats.org/officeDocument/2006/relationships/tags" Target="../tags/tag54.xml"/><Relationship Id="rId1" Type="http://schemas.openxmlformats.org/officeDocument/2006/relationships/tags" Target="../tags/tag39.xml"/><Relationship Id="rId6" Type="http://schemas.openxmlformats.org/officeDocument/2006/relationships/tags" Target="../tags/tag44.xml"/><Relationship Id="rId11" Type="http://schemas.openxmlformats.org/officeDocument/2006/relationships/tags" Target="../tags/tag49.xml"/><Relationship Id="rId5" Type="http://schemas.openxmlformats.org/officeDocument/2006/relationships/tags" Target="../tags/tag43.xml"/><Relationship Id="rId15" Type="http://schemas.openxmlformats.org/officeDocument/2006/relationships/tags" Target="../tags/tag53.xml"/><Relationship Id="rId10" Type="http://schemas.openxmlformats.org/officeDocument/2006/relationships/tags" Target="../tags/tag48.xml"/><Relationship Id="rId19" Type="http://schemas.openxmlformats.org/officeDocument/2006/relationships/image" Target="../media/image2.tmp"/><Relationship Id="rId4" Type="http://schemas.openxmlformats.org/officeDocument/2006/relationships/tags" Target="../tags/tag42.xml"/><Relationship Id="rId9" Type="http://schemas.openxmlformats.org/officeDocument/2006/relationships/tags" Target="../tags/tag47.xml"/><Relationship Id="rId14" Type="http://schemas.openxmlformats.org/officeDocument/2006/relationships/tags" Target="../tags/tag52.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slideLayout" Target="../slideLayouts/slideLayout2.xml"/><Relationship Id="rId1" Type="http://schemas.openxmlformats.org/officeDocument/2006/relationships/tags" Target="../tags/tag56.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Layout" Target="../slideLayouts/slideLayout2.xml"/><Relationship Id="rId1" Type="http://schemas.openxmlformats.org/officeDocument/2006/relationships/tags" Target="../tags/tag57.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Layout" Target="../slideLayouts/slideLayout2.xml"/><Relationship Id="rId1" Type="http://schemas.openxmlformats.org/officeDocument/2006/relationships/tags" Target="../tags/tag58.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9.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0.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1.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2.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3.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4.xml"/></Relationships>
</file>

<file path=ppt/slides/_rels/slide32.xml.rels><?xml version="1.0" encoding="UTF-8" standalone="yes"?>
<Relationships xmlns="http://schemas.openxmlformats.org/package/2006/relationships"><Relationship Id="rId8" Type="http://schemas.openxmlformats.org/officeDocument/2006/relationships/tags" Target="../tags/tag72.xml"/><Relationship Id="rId13" Type="http://schemas.openxmlformats.org/officeDocument/2006/relationships/tags" Target="../tags/tag77.xml"/><Relationship Id="rId18" Type="http://schemas.openxmlformats.org/officeDocument/2006/relationships/slideLayout" Target="../slideLayouts/slideLayout7.xml"/><Relationship Id="rId3" Type="http://schemas.openxmlformats.org/officeDocument/2006/relationships/tags" Target="../tags/tag67.xml"/><Relationship Id="rId7" Type="http://schemas.openxmlformats.org/officeDocument/2006/relationships/tags" Target="../tags/tag71.xml"/><Relationship Id="rId12" Type="http://schemas.openxmlformats.org/officeDocument/2006/relationships/tags" Target="../tags/tag76.xml"/><Relationship Id="rId17" Type="http://schemas.openxmlformats.org/officeDocument/2006/relationships/tags" Target="../tags/tag81.xml"/><Relationship Id="rId2" Type="http://schemas.openxmlformats.org/officeDocument/2006/relationships/tags" Target="../tags/tag66.xml"/><Relationship Id="rId16" Type="http://schemas.openxmlformats.org/officeDocument/2006/relationships/tags" Target="../tags/tag80.xml"/><Relationship Id="rId1" Type="http://schemas.openxmlformats.org/officeDocument/2006/relationships/tags" Target="../tags/tag65.xml"/><Relationship Id="rId6" Type="http://schemas.openxmlformats.org/officeDocument/2006/relationships/tags" Target="../tags/tag70.xml"/><Relationship Id="rId11" Type="http://schemas.openxmlformats.org/officeDocument/2006/relationships/tags" Target="../tags/tag75.xml"/><Relationship Id="rId5" Type="http://schemas.openxmlformats.org/officeDocument/2006/relationships/tags" Target="../tags/tag69.xml"/><Relationship Id="rId15" Type="http://schemas.openxmlformats.org/officeDocument/2006/relationships/tags" Target="../tags/tag79.xml"/><Relationship Id="rId10" Type="http://schemas.openxmlformats.org/officeDocument/2006/relationships/tags" Target="../tags/tag74.xml"/><Relationship Id="rId19" Type="http://schemas.openxmlformats.org/officeDocument/2006/relationships/image" Target="../media/image2.tmp"/><Relationship Id="rId4" Type="http://schemas.openxmlformats.org/officeDocument/2006/relationships/tags" Target="../tags/tag68.xml"/><Relationship Id="rId9" Type="http://schemas.openxmlformats.org/officeDocument/2006/relationships/tags" Target="../tags/tag73.xml"/><Relationship Id="rId14" Type="http://schemas.openxmlformats.org/officeDocument/2006/relationships/tags" Target="../tags/tag78.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2.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3.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4.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5.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6.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7.xml"/></Relationships>
</file>

<file path=ppt/slides/_rels/slide39.xml.rels><?xml version="1.0" encoding="UTF-8" standalone="yes"?>
<Relationships xmlns="http://schemas.openxmlformats.org/package/2006/relationships"><Relationship Id="rId8" Type="http://schemas.openxmlformats.org/officeDocument/2006/relationships/tags" Target="../tags/tag95.xml"/><Relationship Id="rId13" Type="http://schemas.openxmlformats.org/officeDocument/2006/relationships/tags" Target="../tags/tag100.xml"/><Relationship Id="rId18" Type="http://schemas.openxmlformats.org/officeDocument/2006/relationships/slideLayout" Target="../slideLayouts/slideLayout7.xml"/><Relationship Id="rId3" Type="http://schemas.openxmlformats.org/officeDocument/2006/relationships/tags" Target="../tags/tag90.xml"/><Relationship Id="rId7" Type="http://schemas.openxmlformats.org/officeDocument/2006/relationships/tags" Target="../tags/tag94.xml"/><Relationship Id="rId12" Type="http://schemas.openxmlformats.org/officeDocument/2006/relationships/tags" Target="../tags/tag99.xml"/><Relationship Id="rId17" Type="http://schemas.openxmlformats.org/officeDocument/2006/relationships/tags" Target="../tags/tag104.xml"/><Relationship Id="rId2" Type="http://schemas.openxmlformats.org/officeDocument/2006/relationships/tags" Target="../tags/tag89.xml"/><Relationship Id="rId16" Type="http://schemas.openxmlformats.org/officeDocument/2006/relationships/tags" Target="../tags/tag103.xml"/><Relationship Id="rId1" Type="http://schemas.openxmlformats.org/officeDocument/2006/relationships/tags" Target="../tags/tag88.xml"/><Relationship Id="rId6" Type="http://schemas.openxmlformats.org/officeDocument/2006/relationships/tags" Target="../tags/tag93.xml"/><Relationship Id="rId11" Type="http://schemas.openxmlformats.org/officeDocument/2006/relationships/tags" Target="../tags/tag98.xml"/><Relationship Id="rId5" Type="http://schemas.openxmlformats.org/officeDocument/2006/relationships/tags" Target="../tags/tag92.xml"/><Relationship Id="rId15" Type="http://schemas.openxmlformats.org/officeDocument/2006/relationships/tags" Target="../tags/tag102.xml"/><Relationship Id="rId10" Type="http://schemas.openxmlformats.org/officeDocument/2006/relationships/tags" Target="../tags/tag97.xml"/><Relationship Id="rId19" Type="http://schemas.openxmlformats.org/officeDocument/2006/relationships/image" Target="../media/image2.tmp"/><Relationship Id="rId4" Type="http://schemas.openxmlformats.org/officeDocument/2006/relationships/tags" Target="../tags/tag91.xml"/><Relationship Id="rId9" Type="http://schemas.openxmlformats.org/officeDocument/2006/relationships/tags" Target="../tags/tag96.xml"/><Relationship Id="rId14" Type="http://schemas.openxmlformats.org/officeDocument/2006/relationships/tags" Target="../tags/tag101.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5.xml"/></Relationships>
</file>

<file path=ppt/slides/_rels/slide4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slideLayout" Target="../slideLayouts/slideLayout2.xml"/><Relationship Id="rId1" Type="http://schemas.openxmlformats.org/officeDocument/2006/relationships/tags" Target="../tags/tag106.xml"/></Relationships>
</file>

<file path=ppt/slides/_rels/slide4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slideLayout" Target="../slideLayouts/slideLayout2.xml"/><Relationship Id="rId1" Type="http://schemas.openxmlformats.org/officeDocument/2006/relationships/tags" Target="../tags/tag107.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8.xml"/></Relationships>
</file>

<file path=ppt/slides/_rels/slide4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slideLayout" Target="../slideLayouts/slideLayout2.xml"/><Relationship Id="rId1" Type="http://schemas.openxmlformats.org/officeDocument/2006/relationships/tags" Target="../tags/tag109.xml"/></Relationships>
</file>

<file path=ppt/slides/_rels/slide4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slideLayout" Target="../slideLayouts/slideLayout2.xml"/><Relationship Id="rId1" Type="http://schemas.openxmlformats.org/officeDocument/2006/relationships/tags" Target="../tags/tag110.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1.xml"/></Relationships>
</file>

<file path=ppt/slides/_rels/slide4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slideLayout" Target="../slideLayouts/slideLayout2.xml"/><Relationship Id="rId1" Type="http://schemas.openxmlformats.org/officeDocument/2006/relationships/tags" Target="../tags/tag112.xml"/></Relationships>
</file>

<file path=ppt/slides/_rels/slide4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slideLayout" Target="../slideLayouts/slideLayout2.xml"/><Relationship Id="rId1" Type="http://schemas.openxmlformats.org/officeDocument/2006/relationships/tags" Target="../tags/tag113.xml"/></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4.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5.xml"/></Relationships>
</file>

<file path=ppt/slides/_rels/slide51.xml.rels><?xml version="1.0" encoding="UTF-8" standalone="yes"?>
<Relationships xmlns="http://schemas.openxmlformats.org/package/2006/relationships"><Relationship Id="rId3" Type="http://schemas.openxmlformats.org/officeDocument/2006/relationships/image" Target="../media/image180.png"/><Relationship Id="rId2" Type="http://schemas.openxmlformats.org/officeDocument/2006/relationships/slideLayout" Target="../slideLayouts/slideLayout2.xml"/><Relationship Id="rId1" Type="http://schemas.openxmlformats.org/officeDocument/2006/relationships/tags" Target="../tags/tag116.xml"/></Relationships>
</file>

<file path=ppt/slides/_rels/slide5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slideLayout" Target="../slideLayouts/slideLayout2.xml"/><Relationship Id="rId1" Type="http://schemas.openxmlformats.org/officeDocument/2006/relationships/tags" Target="../tags/tag117.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sz="4400" dirty="0" smtClean="0">
                <a:latin typeface="宋体" panose="02010600030101010101" pitchFamily="2" charset="-122"/>
                <a:ea typeface="宋体" panose="02010600030101010101" pitchFamily="2" charset="-122"/>
              </a:rPr>
              <a:t>优化方法</a:t>
            </a:r>
            <a:endParaRPr lang="zh-CN" altLang="en-US" sz="4400" dirty="0">
              <a:latin typeface="宋体" panose="02010600030101010101" pitchFamily="2" charset="-122"/>
              <a:ea typeface="宋体" panose="02010600030101010101" pitchFamily="2" charset="-122"/>
            </a:endParaRPr>
          </a:p>
        </p:txBody>
      </p:sp>
      <p:sp>
        <p:nvSpPr>
          <p:cNvPr id="3" name="副标题 2"/>
          <p:cNvSpPr>
            <a:spLocks noGrp="1"/>
          </p:cNvSpPr>
          <p:nvPr>
            <p:ph type="subTitle" idx="1"/>
          </p:nvPr>
        </p:nvSpPr>
        <p:spPr/>
        <p:txBody>
          <a:bodyPr/>
          <a:lstStyle/>
          <a:p>
            <a:r>
              <a:rPr lang="zh-CN" altLang="en-US" dirty="0" smtClean="0">
                <a:latin typeface="楷体" panose="02010609060101010101" pitchFamily="49" charset="-122"/>
                <a:ea typeface="楷体" panose="02010609060101010101" pitchFamily="49" charset="-122"/>
              </a:rPr>
              <a:t>共轭梯度法</a:t>
            </a:r>
            <a:endParaRPr lang="zh-CN" altLang="en-US" dirty="0">
              <a:latin typeface="楷体" panose="02010609060101010101" pitchFamily="49" charset="-122"/>
              <a:ea typeface="楷体" panose="02010609060101010101" pitchFamily="49" charset="-122"/>
            </a:endParaRPr>
          </a:p>
        </p:txBody>
      </p:sp>
    </p:spTree>
    <p:custDataLst>
      <p:tags r:id="rId1"/>
    </p:custDataLst>
    <p:extLst>
      <p:ext uri="{BB962C8B-B14F-4D97-AF65-F5344CB8AC3E}">
        <p14:creationId xmlns:p14="http://schemas.microsoft.com/office/powerpoint/2010/main" val="94090085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宋体" panose="02010600030101010101" pitchFamily="2" charset="-122"/>
                <a:ea typeface="宋体" panose="02010600030101010101" pitchFamily="2" charset="-122"/>
              </a:rPr>
              <a:t>基本问题</a:t>
            </a:r>
            <a:endParaRPr lang="zh-CN" altLang="en-US" dirty="0">
              <a:latin typeface="宋体" panose="02010600030101010101" pitchFamily="2" charset="-122"/>
              <a:ea typeface="宋体" panose="02010600030101010101" pitchFamily="2" charset="-122"/>
            </a:endParaRPr>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lstStyle/>
              <a:p>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A</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是一个</a:t>
                </a:r>
                <a:r>
                  <a:rPr lang="en-US" altLang="zh-CN" i="1" dirty="0" err="1" smtClean="0">
                    <a:latin typeface="Times New Roman" panose="02020603050405020304" pitchFamily="18" charset="0"/>
                    <a:ea typeface="楷体" panose="02010609060101010101" pitchFamily="49" charset="-122"/>
                    <a:cs typeface="Times New Roman" panose="02020603050405020304" pitchFamily="18" charset="0"/>
                  </a:rPr>
                  <a:t>n</a:t>
                </a:r>
                <a:r>
                  <a:rPr lang="en-US" altLang="zh-CN" dirty="0" err="1"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i="1" dirty="0" err="1" smtClean="0">
                    <a:latin typeface="Times New Roman" panose="02020603050405020304" pitchFamily="18" charset="0"/>
                    <a:ea typeface="楷体" panose="02010609060101010101" pitchFamily="49" charset="-122"/>
                    <a:cs typeface="Times New Roman" panose="02020603050405020304" pitchFamily="18" charset="0"/>
                  </a:rPr>
                  <a:t>n</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正定对称矩阵，</a:t>
                </a: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b</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是一个</a:t>
                </a:r>
                <a:r>
                  <a:rPr lang="en-US" altLang="zh-CN" i="1" dirty="0" smtClean="0">
                    <a:latin typeface="Times New Roman" panose="02020603050405020304" pitchFamily="18" charset="0"/>
                    <a:ea typeface="楷体" panose="02010609060101010101" pitchFamily="49" charset="-122"/>
                    <a:cs typeface="Times New Roman" panose="02020603050405020304" pitchFamily="18" charset="0"/>
                  </a:rPr>
                  <a:t>n</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维列向量</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计算关于</a:t>
                </a:r>
                <a:r>
                  <a:rPr lang="en-US" altLang="zh-CN" i="1" dirty="0" smtClean="0">
                    <a:latin typeface="Times New Roman" panose="02020603050405020304" pitchFamily="18" charset="0"/>
                    <a:ea typeface="楷体" panose="02010609060101010101" pitchFamily="49" charset="-122"/>
                    <a:cs typeface="Times New Roman" panose="02020603050405020304" pitchFamily="18" charset="0"/>
                  </a:rPr>
                  <a:t>n</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维向量</a:t>
                </a: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x</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的二次函数的极小值：</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𝑓</m:t>
                      </m:r>
                      <m:d>
                        <m:dPr>
                          <m:ctrlPr>
                            <a:rPr lang="en-US" altLang="zh-CN" b="0" i="1" smtClean="0">
                              <a:latin typeface="Cambria Math" panose="02040503050406030204" pitchFamily="18" charset="0"/>
                            </a:rPr>
                          </m:ctrlPr>
                        </m:dPr>
                        <m:e>
                          <m:r>
                            <a:rPr lang="en-US" altLang="zh-CN" b="1" i="0" smtClean="0">
                              <a:latin typeface="Cambria Math" panose="02040503050406030204" pitchFamily="18" charset="0"/>
                            </a:rPr>
                            <m:t>𝐱</m:t>
                          </m:r>
                        </m:e>
                      </m:d>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1</m:t>
                          </m:r>
                        </m:num>
                        <m:den>
                          <m:r>
                            <a:rPr lang="en-US" altLang="zh-CN" b="0" i="1" smtClean="0">
                              <a:latin typeface="Cambria Math" panose="02040503050406030204" pitchFamily="18" charset="0"/>
                            </a:rPr>
                            <m:t>2</m:t>
                          </m:r>
                        </m:den>
                      </m:f>
                      <m:sSup>
                        <m:sSupPr>
                          <m:ctrlPr>
                            <a:rPr lang="en-US" altLang="zh-CN" b="0" i="1" smtClean="0">
                              <a:latin typeface="Cambria Math" panose="02040503050406030204" pitchFamily="18" charset="0"/>
                            </a:rPr>
                          </m:ctrlPr>
                        </m:sSupPr>
                        <m:e>
                          <m:r>
                            <a:rPr lang="en-US" altLang="zh-CN" b="1" i="0" smtClean="0">
                              <a:latin typeface="Cambria Math" panose="02040503050406030204" pitchFamily="18" charset="0"/>
                            </a:rPr>
                            <m:t>𝐱</m:t>
                          </m:r>
                        </m:e>
                        <m:sup>
                          <m:r>
                            <m:rPr>
                              <m:sty m:val="p"/>
                            </m:rPr>
                            <a:rPr lang="en-US" altLang="zh-CN" b="0" i="0" smtClean="0">
                              <a:latin typeface="Cambria Math" panose="02040503050406030204" pitchFamily="18" charset="0"/>
                            </a:rPr>
                            <m:t>T</m:t>
                          </m:r>
                        </m:sup>
                      </m:sSup>
                      <m:r>
                        <a:rPr lang="en-US" altLang="zh-CN" b="0" i="1" smtClean="0">
                          <a:latin typeface="Cambria Math" panose="02040503050406030204" pitchFamily="18" charset="0"/>
                        </a:rPr>
                        <m:t>𝐴</m:t>
                      </m:r>
                      <m:r>
                        <a:rPr lang="en-US" altLang="zh-CN" b="1" i="0" smtClean="0">
                          <a:latin typeface="Cambria Math" panose="02040503050406030204" pitchFamily="18" charset="0"/>
                        </a:rPr>
                        <m:t>𝐱</m:t>
                      </m:r>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1" i="0" smtClean="0">
                              <a:latin typeface="Cambria Math" panose="02040503050406030204" pitchFamily="18" charset="0"/>
                            </a:rPr>
                            <m:t>𝐛</m:t>
                          </m:r>
                        </m:e>
                        <m:sup>
                          <m:r>
                            <m:rPr>
                              <m:sty m:val="p"/>
                            </m:rPr>
                            <a:rPr lang="en-US" altLang="zh-CN" b="0" i="0" smtClean="0">
                              <a:latin typeface="Cambria Math" panose="02040503050406030204" pitchFamily="18" charset="0"/>
                            </a:rPr>
                            <m:t>T</m:t>
                          </m:r>
                        </m:sup>
                      </m:sSup>
                      <m:r>
                        <a:rPr lang="en-US" altLang="zh-CN" b="1" i="0" smtClean="0">
                          <a:latin typeface="Cambria Math" panose="02040503050406030204" pitchFamily="18" charset="0"/>
                        </a:rPr>
                        <m:t>𝐱</m:t>
                      </m:r>
                      <m:r>
                        <a:rPr lang="en-US" altLang="zh-CN" b="0" i="0" smtClean="0">
                          <a:latin typeface="Cambria Math" panose="02040503050406030204" pitchFamily="18" charset="0"/>
                        </a:rPr>
                        <m:t>+</m:t>
                      </m:r>
                      <m:r>
                        <a:rPr lang="en-US" altLang="zh-CN" b="0" i="1" smtClean="0">
                          <a:latin typeface="Cambria Math" panose="02040503050406030204" pitchFamily="18" charset="0"/>
                        </a:rPr>
                        <m:t>𝑐</m:t>
                      </m:r>
                    </m:oMath>
                  </m:oMathPara>
                </a14:m>
                <a:endParaRPr lang="en-US" altLang="zh-CN" i="1" dirty="0" smtClean="0">
                  <a:latin typeface="Times New Roman" panose="02020603050405020304" pitchFamily="18" charset="0"/>
                  <a:ea typeface="楷体" panose="02010609060101010101" pitchFamily="49" charset="-122"/>
                  <a:cs typeface="Times New Roman" panose="02020603050405020304" pitchFamily="18" charset="0"/>
                </a:endParaRPr>
              </a:p>
              <a:p>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计算函数</a:t>
                </a:r>
                <a:r>
                  <a:rPr lang="en-US" altLang="zh-CN" i="1" dirty="0" smtClean="0">
                    <a:latin typeface="Times New Roman" panose="02020603050405020304" pitchFamily="18" charset="0"/>
                    <a:ea typeface="楷体" panose="02010609060101010101" pitchFamily="49" charset="-122"/>
                    <a:cs typeface="Times New Roman" panose="02020603050405020304" pitchFamily="18" charset="0"/>
                  </a:rPr>
                  <a:t>f</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x</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 的梯度：</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pPr marL="0" indent="0" algn="ctr">
                  <a:buNone/>
                </a:pPr>
                <a:r>
                  <a:rPr lang="en-US" altLang="zh-CN" dirty="0" smtClean="0">
                    <a:latin typeface="Times New Roman" panose="02020603050405020304" pitchFamily="18" charset="0"/>
                    <a:ea typeface="Cambria Math" panose="02040503050406030204" pitchFamily="18" charset="0"/>
                    <a:cs typeface="Times New Roman" panose="02020603050405020304" pitchFamily="18" charset="0"/>
                  </a:rPr>
                  <a:t>∇</a:t>
                </a:r>
                <a:r>
                  <a:rPr lang="en-US" altLang="zh-CN" i="1" dirty="0" smtClean="0">
                    <a:latin typeface="Times New Roman" panose="02020603050405020304" pitchFamily="18" charset="0"/>
                    <a:ea typeface="Cambria Math" panose="02040503050406030204" pitchFamily="18" charset="0"/>
                    <a:cs typeface="Times New Roman" panose="02020603050405020304" pitchFamily="18" charset="0"/>
                  </a:rPr>
                  <a:t>f</a:t>
                </a:r>
                <a:r>
                  <a:rPr lang="en-US" altLang="zh-CN" dirty="0" smtClean="0">
                    <a:latin typeface="Times New Roman" panose="02020603050405020304" pitchFamily="18" charset="0"/>
                    <a:ea typeface="Cambria Math" panose="02040503050406030204" pitchFamily="18" charset="0"/>
                    <a:cs typeface="Times New Roman" panose="02020603050405020304" pitchFamily="18" charset="0"/>
                  </a:rPr>
                  <a:t>(</a:t>
                </a:r>
                <a:r>
                  <a:rPr lang="en-US" altLang="zh-CN" b="1" dirty="0" smtClean="0">
                    <a:latin typeface="Times New Roman" panose="02020603050405020304" pitchFamily="18" charset="0"/>
                    <a:ea typeface="Cambria Math" panose="02040503050406030204" pitchFamily="18" charset="0"/>
                    <a:cs typeface="Times New Roman" panose="02020603050405020304" pitchFamily="18" charset="0"/>
                  </a:rPr>
                  <a:t>x</a:t>
                </a:r>
                <a:r>
                  <a:rPr lang="en-US" altLang="zh-CN" dirty="0" smtClean="0">
                    <a:latin typeface="Times New Roman" panose="02020603050405020304" pitchFamily="18" charset="0"/>
                    <a:ea typeface="Cambria Math" panose="02040503050406030204" pitchFamily="18" charset="0"/>
                    <a:cs typeface="Times New Roman" panose="02020603050405020304" pitchFamily="18" charset="0"/>
                  </a:rPr>
                  <a:t>) = </a:t>
                </a:r>
                <a:r>
                  <a:rPr lang="en-US" altLang="zh-CN" b="1" dirty="0" smtClean="0">
                    <a:latin typeface="Times New Roman" panose="02020603050405020304" pitchFamily="18" charset="0"/>
                    <a:ea typeface="Cambria Math" panose="02040503050406030204" pitchFamily="18" charset="0"/>
                    <a:cs typeface="Times New Roman" panose="02020603050405020304" pitchFamily="18" charset="0"/>
                  </a:rPr>
                  <a:t>Ax</a:t>
                </a:r>
                <a:r>
                  <a:rPr lang="en-US" altLang="zh-CN" dirty="0" smtClean="0">
                    <a:latin typeface="Times New Roman" panose="02020603050405020304" pitchFamily="18" charset="0"/>
                    <a:ea typeface="Cambria Math" panose="02040503050406030204" pitchFamily="18" charset="0"/>
                    <a:cs typeface="Times New Roman" panose="02020603050405020304" pitchFamily="18" charset="0"/>
                  </a:rPr>
                  <a:t> – </a:t>
                </a:r>
                <a:r>
                  <a:rPr lang="en-US" altLang="zh-CN" b="1" dirty="0" smtClean="0">
                    <a:latin typeface="Times New Roman" panose="02020603050405020304" pitchFamily="18" charset="0"/>
                    <a:ea typeface="Cambria Math" panose="02040503050406030204" pitchFamily="18" charset="0"/>
                    <a:cs typeface="Times New Roman" panose="02020603050405020304" pitchFamily="18" charset="0"/>
                  </a:rPr>
                  <a:t>b</a:t>
                </a:r>
                <a:endParaRPr lang="en-US" altLang="zh-CN" b="1" dirty="0">
                  <a:latin typeface="Times New Roman" panose="02020603050405020304" pitchFamily="18" charset="0"/>
                  <a:ea typeface="楷体" panose="02010609060101010101" pitchFamily="49" charset="-122"/>
                  <a:cs typeface="Times New Roman" panose="02020603050405020304" pitchFamily="18" charset="0"/>
                </a:endParaRPr>
              </a:p>
              <a:p>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根据极值点处梯度为</a:t>
                </a: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0</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，问题的解为：</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pPr marL="0" indent="0" algn="ctr">
                  <a:buNone/>
                </a:pP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x</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 </a:t>
                </a: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A</a:t>
                </a:r>
                <a:r>
                  <a:rPr lang="en-US" altLang="zh-CN" baseline="30000" dirty="0" smtClean="0">
                    <a:latin typeface="Times New Roman" panose="02020603050405020304" pitchFamily="18" charset="0"/>
                    <a:ea typeface="楷体" panose="02010609060101010101" pitchFamily="49" charset="-122"/>
                    <a:cs typeface="Times New Roman" panose="02020603050405020304" pitchFamily="18" charset="0"/>
                  </a:rPr>
                  <a:t>–1</a:t>
                </a: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b</a:t>
                </a:r>
              </a:p>
              <a:p>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a:p>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mc:Choice>
        <mc:Fallback>
          <p:sp>
            <p:nvSpPr>
              <p:cNvPr id="3" name="内容占位符 2"/>
              <p:cNvSpPr>
                <a:spLocks noGrp="1" noRot="1" noChangeAspect="1" noMove="1" noResize="1" noEditPoints="1" noAdjustHandles="1" noChangeArrowheads="1" noChangeShapeType="1" noTextEdit="1"/>
              </p:cNvSpPr>
              <p:nvPr>
                <p:ph idx="1"/>
              </p:nvPr>
            </p:nvSpPr>
            <p:spPr>
              <a:blipFill>
                <a:blip r:embed="rId3"/>
                <a:stretch>
                  <a:fillRect l="-1391" t="-2801" r="-155"/>
                </a:stretch>
              </a:blipFill>
            </p:spPr>
            <p:txBody>
              <a:bodyPr/>
              <a:lstStyle/>
              <a:p>
                <a:r>
                  <a:rPr lang="zh-CN" altLang="en-US">
                    <a:noFill/>
                  </a:rPr>
                  <a:t> </a:t>
                </a:r>
              </a:p>
            </p:txBody>
          </p:sp>
        </mc:Fallback>
      </mc:AlternateContent>
    </p:spTree>
    <p:custDataLst>
      <p:tags r:id="rId1"/>
    </p:custDataLst>
    <p:extLst>
      <p:ext uri="{BB962C8B-B14F-4D97-AF65-F5344CB8AC3E}">
        <p14:creationId xmlns:p14="http://schemas.microsoft.com/office/powerpoint/2010/main" val="13960848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宋体" panose="02010600030101010101" pitchFamily="2" charset="-122"/>
                <a:ea typeface="宋体" panose="02010600030101010101" pitchFamily="2" charset="-122"/>
              </a:rPr>
              <a:t>梯度下降法的局限</a:t>
            </a:r>
            <a:endParaRPr lang="zh-CN" altLang="en-US" dirty="0">
              <a:latin typeface="宋体" panose="02010600030101010101" pitchFamily="2" charset="-122"/>
              <a:ea typeface="宋体" panose="02010600030101010101" pitchFamily="2" charset="-122"/>
            </a:endParaRP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使用梯度下降法计算函数的极小值点，对于某个近似点</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x</a:t>
                </a:r>
                <a:r>
                  <a:rPr lang="en-US" altLang="zh-CN" i="1" baseline="30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，用于优化</a:t>
                </a: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x</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的</a:t>
                </a:r>
                <a:r>
                  <a:rPr lang="en-US" altLang="zh-CN" i="1" dirty="0" smtClean="0">
                    <a:latin typeface="Times New Roman" panose="02020603050405020304" pitchFamily="18" charset="0"/>
                    <a:ea typeface="楷体" panose="02010609060101010101" pitchFamily="49" charset="-122"/>
                    <a:cs typeface="Times New Roman" panose="02020603050405020304" pitchFamily="18" charset="0"/>
                  </a:rPr>
                  <a:t>f</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的梯度下降方向为：</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pPr marL="0" indent="0" algn="ctr">
                  <a:buNone/>
                </a:pP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a:t>
                </a:r>
                <a:r>
                  <a:rPr lang="en-US" altLang="zh-CN"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i="1" dirty="0" smtClean="0">
                    <a:latin typeface="Times New Roman" panose="02020603050405020304" pitchFamily="18" charset="0"/>
                    <a:ea typeface="楷体" panose="02010609060101010101" pitchFamily="49" charset="-122"/>
                    <a:cs typeface="Times New Roman" panose="02020603050405020304" pitchFamily="18" charset="0"/>
                  </a:rPr>
                  <a:t>f</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x</a:t>
                </a:r>
                <a:r>
                  <a:rPr lang="en-US" altLang="zh-CN" i="1" baseline="30000" dirty="0" err="1">
                    <a:latin typeface="Times New Roman" panose="02020603050405020304" pitchFamily="18" charset="0"/>
                    <a:ea typeface="楷体" panose="02010609060101010101" pitchFamily="49" charset="-122"/>
                    <a:cs typeface="Times New Roman" panose="02020603050405020304" pitchFamily="18" charset="0"/>
                  </a:rPr>
                  <a:t>k</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i="1" baseline="30000" dirty="0" smtClean="0">
                    <a:latin typeface="Times New Roman" panose="02020603050405020304" pitchFamily="18" charset="0"/>
                    <a:ea typeface="楷体" panose="02010609060101010101" pitchFamily="49" charset="-122"/>
                    <a:cs typeface="Times New Roman" panose="02020603050405020304" pitchFamily="18" charset="0"/>
                  </a:rPr>
                  <a:t> </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a:t>
                </a:r>
                <a:r>
                  <a:rPr lang="en-US" altLang="zh-CN"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b="1" dirty="0" err="1">
                    <a:latin typeface="Times New Roman" panose="02020603050405020304" pitchFamily="18" charset="0"/>
                    <a:ea typeface="楷体" panose="02010609060101010101" pitchFamily="49" charset="-122"/>
                    <a:cs typeface="Times New Roman" panose="02020603050405020304" pitchFamily="18" charset="0"/>
                  </a:rPr>
                  <a:t>Ax</a:t>
                </a:r>
                <a:r>
                  <a:rPr lang="en-US" altLang="zh-CN" i="1" baseline="30000" dirty="0" err="1">
                    <a:latin typeface="Times New Roman" panose="02020603050405020304" pitchFamily="18" charset="0"/>
                    <a:ea typeface="楷体" panose="02010609060101010101" pitchFamily="49" charset="-122"/>
                    <a:cs typeface="Times New Roman" panose="02020603050405020304" pitchFamily="18" charset="0"/>
                  </a:rPr>
                  <a:t>k</a:t>
                </a:r>
                <a:r>
                  <a:rPr lang="en-US" altLang="zh-CN" dirty="0">
                    <a:latin typeface="Times New Roman" panose="02020603050405020304" pitchFamily="18" charset="0"/>
                    <a:ea typeface="楷体" panose="02010609060101010101" pitchFamily="49" charset="-122"/>
                    <a:cs typeface="Times New Roman" panose="02020603050405020304" pitchFamily="18" charset="0"/>
                  </a:rPr>
                  <a:t> – </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b</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 </a:t>
                </a: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b</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 </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Ax</a:t>
                </a:r>
                <a:r>
                  <a:rPr lang="en-US" altLang="zh-CN" i="1" baseline="30000" dirty="0" err="1" smtClean="0">
                    <a:latin typeface="Times New Roman" panose="02020603050405020304" pitchFamily="18" charset="0"/>
                    <a:ea typeface="楷体" panose="02010609060101010101" pitchFamily="49" charset="-122"/>
                    <a:cs typeface="Times New Roman" panose="02020603050405020304" pitchFamily="18" charset="0"/>
                  </a:rPr>
                  <a:t>k</a:t>
                </a:r>
                <a:endParaRPr lang="en-US" altLang="zh-CN" b="1" i="1" baseline="30000" dirty="0">
                  <a:latin typeface="Times New Roman" panose="02020603050405020304" pitchFamily="18" charset="0"/>
                  <a:ea typeface="楷体" panose="02010609060101010101" pitchFamily="49" charset="-122"/>
                  <a:cs typeface="Times New Roman" panose="02020603050405020304" pitchFamily="18" charset="0"/>
                </a:endParaRPr>
              </a:p>
              <a:p>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迭代的递推式为：</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pPr marL="0" indent="0" algn="ctr">
                  <a:buNone/>
                </a:pP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x</a:t>
                </a:r>
                <a:r>
                  <a:rPr lang="en-US" altLang="zh-CN" i="1" baseline="30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baseline="30000" dirty="0" smtClean="0">
                    <a:latin typeface="Times New Roman" panose="02020603050405020304" pitchFamily="18" charset="0"/>
                    <a:ea typeface="楷体" panose="02010609060101010101" pitchFamily="49" charset="-122"/>
                    <a:cs typeface="Times New Roman" panose="02020603050405020304" pitchFamily="18" charset="0"/>
                  </a:rPr>
                  <a:t> + 1</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 </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x</a:t>
                </a:r>
                <a:r>
                  <a:rPr lang="en-US" altLang="zh-CN" i="1" baseline="30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 </a:t>
                </a:r>
                <a:r>
                  <a:rPr lang="en-US" altLang="zh-CN" i="1" dirty="0" smtClean="0">
                    <a:latin typeface="Times New Roman" panose="02020603050405020304" pitchFamily="18" charset="0"/>
                    <a:ea typeface="楷体" panose="02010609060101010101" pitchFamily="49" charset="-122"/>
                    <a:cs typeface="Times New Roman" panose="02020603050405020304" pitchFamily="18" charset="0"/>
                  </a:rPr>
                  <a:t>α</a:t>
                </a:r>
                <a:r>
                  <a:rPr lang="en-US" altLang="zh-CN"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i="1" dirty="0">
                    <a:latin typeface="Times New Roman" panose="02020603050405020304" pitchFamily="18" charset="0"/>
                    <a:ea typeface="楷体" panose="02010609060101010101" pitchFamily="49" charset="-122"/>
                    <a:cs typeface="Times New Roman" panose="02020603050405020304" pitchFamily="18" charset="0"/>
                  </a:rPr>
                  <a:t>f</a:t>
                </a:r>
                <a:r>
                  <a:rPr lang="en-US" altLang="zh-CN"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b="1" dirty="0" err="1">
                    <a:latin typeface="Times New Roman" panose="02020603050405020304" pitchFamily="18" charset="0"/>
                    <a:ea typeface="楷体" panose="02010609060101010101" pitchFamily="49" charset="-122"/>
                    <a:cs typeface="Times New Roman" panose="02020603050405020304" pitchFamily="18" charset="0"/>
                  </a:rPr>
                  <a:t>x</a:t>
                </a:r>
                <a:r>
                  <a:rPr lang="en-US" altLang="zh-CN" i="1" baseline="30000" dirty="0" err="1">
                    <a:latin typeface="Times New Roman" panose="02020603050405020304" pitchFamily="18" charset="0"/>
                    <a:ea typeface="楷体" panose="02010609060101010101" pitchFamily="49" charset="-122"/>
                    <a:cs typeface="Times New Roman" panose="02020603050405020304" pitchFamily="18" charset="0"/>
                  </a:rPr>
                  <a:t>k</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p>
              <a:p>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如果</a:t>
                </a:r>
                <a:r>
                  <a:rPr lang="en-US" altLang="zh-CN" i="1" dirty="0" smtClean="0">
                    <a:latin typeface="Times New Roman" panose="02020603050405020304" pitchFamily="18" charset="0"/>
                    <a:ea typeface="楷体" panose="02010609060101010101" pitchFamily="49" charset="-122"/>
                    <a:cs typeface="Times New Roman" panose="02020603050405020304" pitchFamily="18" charset="0"/>
                  </a:rPr>
                  <a:t>α</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能确保沿着</a:t>
                </a:r>
                <a:r>
                  <a:rPr lang="en-US" altLang="zh-CN"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i="1" dirty="0">
                    <a:latin typeface="Times New Roman" panose="02020603050405020304" pitchFamily="18" charset="0"/>
                    <a:ea typeface="楷体" panose="02010609060101010101" pitchFamily="49" charset="-122"/>
                    <a:cs typeface="Times New Roman" panose="02020603050405020304" pitchFamily="18" charset="0"/>
                  </a:rPr>
                  <a:t>f</a:t>
                </a:r>
                <a:r>
                  <a:rPr lang="en-US" altLang="zh-CN"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b="1" dirty="0" err="1">
                    <a:latin typeface="Times New Roman" panose="02020603050405020304" pitchFamily="18" charset="0"/>
                    <a:ea typeface="楷体" panose="02010609060101010101" pitchFamily="49" charset="-122"/>
                    <a:cs typeface="Times New Roman" panose="02020603050405020304" pitchFamily="18" charset="0"/>
                  </a:rPr>
                  <a:t>x</a:t>
                </a:r>
                <a:r>
                  <a:rPr lang="en-US" altLang="zh-CN" i="1" baseline="30000" dirty="0" err="1">
                    <a:latin typeface="Times New Roman" panose="02020603050405020304" pitchFamily="18" charset="0"/>
                    <a:ea typeface="楷体" panose="02010609060101010101" pitchFamily="49" charset="-122"/>
                    <a:cs typeface="Times New Roman" panose="02020603050405020304" pitchFamily="18" charset="0"/>
                  </a:rPr>
                  <a:t>k</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到达</a:t>
                </a:r>
                <a:r>
                  <a:rPr lang="en-US" altLang="zh-CN" i="1" dirty="0" smtClean="0">
                    <a:latin typeface="Times New Roman" panose="02020603050405020304" pitchFamily="18" charset="0"/>
                    <a:ea typeface="楷体" panose="02010609060101010101" pitchFamily="49" charset="-122"/>
                    <a:cs typeface="Times New Roman" panose="02020603050405020304" pitchFamily="18" charset="0"/>
                  </a:rPr>
                  <a:t>f</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x</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的最低点，则有</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f>
                        <m:fPr>
                          <m:ctrlPr>
                            <a:rPr lang="en-US" altLang="zh-CN" b="0" i="1" smtClean="0">
                              <a:latin typeface="Cambria Math" panose="02040503050406030204" pitchFamily="18" charset="0"/>
                              <a:ea typeface="楷体" panose="02010609060101010101" pitchFamily="49" charset="-122"/>
                              <a:cs typeface="Times New Roman" panose="02020603050405020304" pitchFamily="18" charset="0"/>
                            </a:rPr>
                          </m:ctrlPr>
                        </m:fPr>
                        <m:num>
                          <m:r>
                            <a:rPr lang="en-US" altLang="zh-CN" b="0" i="1" smtClean="0">
                              <a:latin typeface="Cambria Math" panose="02040503050406030204" pitchFamily="18" charset="0"/>
                              <a:ea typeface="楷体" panose="02010609060101010101" pitchFamily="49" charset="-122"/>
                              <a:cs typeface="Times New Roman" panose="02020603050405020304" pitchFamily="18" charset="0"/>
                            </a:rPr>
                            <m:t>𝜕</m:t>
                          </m:r>
                          <m:r>
                            <a:rPr lang="en-US" altLang="zh-CN" b="0" i="1" smtClean="0">
                              <a:latin typeface="Cambria Math" panose="02040503050406030204" pitchFamily="18" charset="0"/>
                              <a:ea typeface="楷体" panose="02010609060101010101" pitchFamily="49" charset="-122"/>
                              <a:cs typeface="Times New Roman" panose="02020603050405020304" pitchFamily="18" charset="0"/>
                            </a:rPr>
                            <m:t>𝑓</m:t>
                          </m:r>
                          <m:d>
                            <m:dPr>
                              <m:ctrlPr>
                                <a:rPr lang="en-US" altLang="zh-CN" b="0" i="1" smtClean="0">
                                  <a:latin typeface="Cambria Math" panose="02040503050406030204" pitchFamily="18" charset="0"/>
                                  <a:ea typeface="楷体" panose="02010609060101010101" pitchFamily="49" charset="-122"/>
                                  <a:cs typeface="Times New Roman" panose="02020603050405020304" pitchFamily="18" charset="0"/>
                                </a:rPr>
                              </m:ctrlPr>
                            </m:dPr>
                            <m:e>
                              <m:sSup>
                                <m:sSupPr>
                                  <m:ctrlPr>
                                    <a:rPr lang="en-US" altLang="zh-CN" b="0" i="1" smtClean="0">
                                      <a:latin typeface="Cambria Math" panose="02040503050406030204" pitchFamily="18" charset="0"/>
                                      <a:ea typeface="楷体" panose="02010609060101010101" pitchFamily="49" charset="-122"/>
                                      <a:cs typeface="Times New Roman" panose="02020603050405020304" pitchFamily="18" charset="0"/>
                                    </a:rPr>
                                  </m:ctrlPr>
                                </m:sSupPr>
                                <m:e>
                                  <m:r>
                                    <a:rPr lang="en-US" altLang="zh-CN" b="1" i="0" smtClean="0">
                                      <a:latin typeface="Cambria Math" panose="02040503050406030204" pitchFamily="18" charset="0"/>
                                      <a:ea typeface="楷体" panose="02010609060101010101" pitchFamily="49" charset="-122"/>
                                      <a:cs typeface="Times New Roman" panose="02020603050405020304" pitchFamily="18" charset="0"/>
                                    </a:rPr>
                                    <m:t>𝐱</m:t>
                                  </m:r>
                                </m:e>
                                <m:sup>
                                  <m:r>
                                    <a:rPr lang="en-US" altLang="zh-CN" b="0" i="1" smtClean="0">
                                      <a:latin typeface="Cambria Math" panose="02040503050406030204" pitchFamily="18" charset="0"/>
                                      <a:ea typeface="楷体" panose="02010609060101010101" pitchFamily="49" charset="-122"/>
                                      <a:cs typeface="Times New Roman" panose="02020603050405020304" pitchFamily="18" charset="0"/>
                                    </a:rPr>
                                    <m:t>𝑘</m:t>
                                  </m:r>
                                </m:sup>
                              </m:sSup>
                              <m:r>
                                <a:rPr lang="en-US" altLang="zh-CN" b="0" i="1" smtClean="0">
                                  <a:latin typeface="Cambria Math" panose="02040503050406030204" pitchFamily="18" charset="0"/>
                                  <a:ea typeface="楷体" panose="02010609060101010101" pitchFamily="49" charset="-122"/>
                                  <a:cs typeface="Times New Roman" panose="02020603050405020304" pitchFamily="18" charset="0"/>
                                </a:rPr>
                                <m:t>−</m:t>
                              </m:r>
                              <m:r>
                                <a:rPr lang="en-US" altLang="zh-CN" b="0" i="1" smtClean="0">
                                  <a:latin typeface="Cambria Math" panose="02040503050406030204" pitchFamily="18" charset="0"/>
                                  <a:ea typeface="楷体" panose="02010609060101010101" pitchFamily="49" charset="-122"/>
                                  <a:cs typeface="Times New Roman" panose="02020603050405020304" pitchFamily="18" charset="0"/>
                                </a:rPr>
                                <m:t>𝛼</m:t>
                              </m:r>
                              <m:r>
                                <a:rPr lang="en-US" altLang="zh-CN" b="0" i="0" smtClean="0">
                                  <a:latin typeface="Cambria Math" panose="02040503050406030204" pitchFamily="18" charset="0"/>
                                  <a:ea typeface="楷体" panose="02010609060101010101" pitchFamily="49" charset="-122"/>
                                  <a:cs typeface="Times New Roman" panose="02020603050405020304" pitchFamily="18" charset="0"/>
                                </a:rPr>
                                <m:t>𝛻</m:t>
                              </m:r>
                              <m:r>
                                <a:rPr lang="en-US" altLang="zh-CN" b="0" i="1" smtClean="0">
                                  <a:latin typeface="Cambria Math" panose="02040503050406030204" pitchFamily="18" charset="0"/>
                                  <a:ea typeface="楷体" panose="02010609060101010101" pitchFamily="49" charset="-122"/>
                                  <a:cs typeface="Times New Roman" panose="02020603050405020304" pitchFamily="18" charset="0"/>
                                </a:rPr>
                                <m:t>𝑓</m:t>
                              </m:r>
                              <m:d>
                                <m:dPr>
                                  <m:ctrlPr>
                                    <a:rPr lang="en-US" altLang="zh-CN" b="0" i="1" smtClean="0">
                                      <a:latin typeface="Cambria Math" panose="02040503050406030204" pitchFamily="18" charset="0"/>
                                      <a:ea typeface="楷体" panose="02010609060101010101" pitchFamily="49" charset="-122"/>
                                      <a:cs typeface="Times New Roman" panose="02020603050405020304" pitchFamily="18" charset="0"/>
                                    </a:rPr>
                                  </m:ctrlPr>
                                </m:dPr>
                                <m:e>
                                  <m:sSup>
                                    <m:sSupPr>
                                      <m:ctrlPr>
                                        <a:rPr lang="en-US" altLang="zh-CN" b="0" i="1" smtClean="0">
                                          <a:latin typeface="Cambria Math" panose="02040503050406030204" pitchFamily="18" charset="0"/>
                                          <a:ea typeface="楷体" panose="02010609060101010101" pitchFamily="49" charset="-122"/>
                                          <a:cs typeface="Times New Roman" panose="02020603050405020304" pitchFamily="18" charset="0"/>
                                        </a:rPr>
                                      </m:ctrlPr>
                                    </m:sSupPr>
                                    <m:e>
                                      <m:r>
                                        <a:rPr lang="en-US" altLang="zh-CN" b="1" i="0" smtClean="0">
                                          <a:latin typeface="Cambria Math" panose="02040503050406030204" pitchFamily="18" charset="0"/>
                                          <a:ea typeface="楷体" panose="02010609060101010101" pitchFamily="49" charset="-122"/>
                                          <a:cs typeface="Times New Roman" panose="02020603050405020304" pitchFamily="18" charset="0"/>
                                        </a:rPr>
                                        <m:t>𝐱</m:t>
                                      </m:r>
                                    </m:e>
                                    <m:sup>
                                      <m:r>
                                        <a:rPr lang="en-US" altLang="zh-CN" b="0" i="1" smtClean="0">
                                          <a:latin typeface="Cambria Math" panose="02040503050406030204" pitchFamily="18" charset="0"/>
                                          <a:ea typeface="楷体" panose="02010609060101010101" pitchFamily="49" charset="-122"/>
                                          <a:cs typeface="Times New Roman" panose="02020603050405020304" pitchFamily="18" charset="0"/>
                                        </a:rPr>
                                        <m:t>𝑘</m:t>
                                      </m:r>
                                    </m:sup>
                                  </m:sSup>
                                </m:e>
                              </m:d>
                            </m:e>
                          </m:d>
                        </m:num>
                        <m:den>
                          <m:r>
                            <a:rPr lang="en-US" altLang="zh-CN" b="0" i="1" smtClean="0">
                              <a:latin typeface="Cambria Math" panose="02040503050406030204" pitchFamily="18" charset="0"/>
                              <a:ea typeface="楷体" panose="02010609060101010101" pitchFamily="49" charset="-122"/>
                              <a:cs typeface="Times New Roman" panose="02020603050405020304" pitchFamily="18" charset="0"/>
                            </a:rPr>
                            <m:t>𝜕𝛼</m:t>
                          </m:r>
                        </m:den>
                      </m:f>
                      <m:r>
                        <a:rPr lang="en-US" altLang="zh-CN" b="0" i="1" smtClean="0">
                          <a:latin typeface="Cambria Math" panose="02040503050406030204" pitchFamily="18" charset="0"/>
                          <a:ea typeface="楷体" panose="02010609060101010101" pitchFamily="49" charset="-122"/>
                          <a:cs typeface="Times New Roman" panose="02020603050405020304" pitchFamily="18" charset="0"/>
                        </a:rPr>
                        <m:t>=0</m:t>
                      </m:r>
                    </m:oMath>
                  </m:oMathPara>
                </a14:m>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a:p>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3"/>
                <a:stretch>
                  <a:fillRect l="-1391" t="-2381" r="-1546"/>
                </a:stretch>
              </a:blipFill>
            </p:spPr>
            <p:txBody>
              <a:bodyPr/>
              <a:lstStyle/>
              <a:p>
                <a:r>
                  <a:rPr lang="zh-CN" altLang="en-US">
                    <a:noFill/>
                  </a:rPr>
                  <a:t> </a:t>
                </a:r>
              </a:p>
            </p:txBody>
          </p:sp>
        </mc:Fallback>
      </mc:AlternateContent>
    </p:spTree>
    <p:custDataLst>
      <p:tags r:id="rId1"/>
    </p:custDataLst>
    <p:extLst>
      <p:ext uri="{BB962C8B-B14F-4D97-AF65-F5344CB8AC3E}">
        <p14:creationId xmlns:p14="http://schemas.microsoft.com/office/powerpoint/2010/main" val="21146136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宋体" panose="02010600030101010101" pitchFamily="2" charset="-122"/>
                <a:ea typeface="宋体" panose="02010600030101010101" pitchFamily="2" charset="-122"/>
              </a:rPr>
              <a:t>梯度下降法的局限</a:t>
            </a:r>
            <a:endParaRPr lang="zh-CN" altLang="en-US" dirty="0">
              <a:latin typeface="宋体" panose="02010600030101010101" pitchFamily="2" charset="-122"/>
              <a:ea typeface="宋体" panose="02010600030101010101" pitchFamily="2" charset="-122"/>
            </a:endParaRP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a:bodyPr>
              <a:lstStyle/>
              <a:p>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利用链式法则展开</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f>
                        <m:fPr>
                          <m:ctrlPr>
                            <a:rPr lang="en-US" altLang="zh-CN" i="1">
                              <a:latin typeface="Cambria Math" panose="02040503050406030204" pitchFamily="18" charset="0"/>
                              <a:ea typeface="楷体" panose="02010609060101010101" pitchFamily="49" charset="-122"/>
                              <a:cs typeface="Times New Roman" panose="02020603050405020304" pitchFamily="18" charset="0"/>
                            </a:rPr>
                          </m:ctrlPr>
                        </m:fPr>
                        <m:num>
                          <m:r>
                            <a:rPr lang="en-US" altLang="zh-CN" i="1">
                              <a:latin typeface="Cambria Math" panose="02040503050406030204" pitchFamily="18" charset="0"/>
                              <a:ea typeface="楷体" panose="02010609060101010101" pitchFamily="49" charset="-122"/>
                              <a:cs typeface="Times New Roman" panose="02020603050405020304" pitchFamily="18" charset="0"/>
                            </a:rPr>
                            <m:t>𝜕</m:t>
                          </m:r>
                          <m:r>
                            <a:rPr lang="en-US" altLang="zh-CN" i="1">
                              <a:latin typeface="Cambria Math" panose="02040503050406030204" pitchFamily="18" charset="0"/>
                              <a:ea typeface="楷体" panose="02010609060101010101" pitchFamily="49" charset="-122"/>
                              <a:cs typeface="Times New Roman" panose="02020603050405020304" pitchFamily="18" charset="0"/>
                            </a:rPr>
                            <m:t>𝑓</m:t>
                          </m:r>
                          <m:d>
                            <m:dPr>
                              <m:ctrlPr>
                                <a:rPr lang="en-US" altLang="zh-CN" i="1">
                                  <a:latin typeface="Cambria Math" panose="02040503050406030204" pitchFamily="18" charset="0"/>
                                  <a:ea typeface="楷体" panose="02010609060101010101" pitchFamily="49" charset="-122"/>
                                  <a:cs typeface="Times New Roman" panose="02020603050405020304" pitchFamily="18" charset="0"/>
                                </a:rPr>
                              </m:ctrlPr>
                            </m:dPr>
                            <m:e>
                              <m:sSup>
                                <m:sSupPr>
                                  <m:ctrlPr>
                                    <a:rPr lang="en-US" altLang="zh-CN" i="1">
                                      <a:latin typeface="Cambria Math" panose="02040503050406030204" pitchFamily="18" charset="0"/>
                                      <a:ea typeface="楷体" panose="02010609060101010101" pitchFamily="49" charset="-122"/>
                                      <a:cs typeface="Times New Roman" panose="02020603050405020304" pitchFamily="18" charset="0"/>
                                    </a:rPr>
                                  </m:ctrlPr>
                                </m:sSupPr>
                                <m:e>
                                  <m:r>
                                    <a:rPr lang="en-US" altLang="zh-CN" b="1">
                                      <a:latin typeface="Cambria Math" panose="02040503050406030204" pitchFamily="18" charset="0"/>
                                      <a:ea typeface="楷体" panose="02010609060101010101" pitchFamily="49" charset="-122"/>
                                      <a:cs typeface="Times New Roman" panose="02020603050405020304" pitchFamily="18" charset="0"/>
                                    </a:rPr>
                                    <m:t>𝐱</m:t>
                                  </m:r>
                                </m:e>
                                <m:sup>
                                  <m:r>
                                    <a:rPr lang="en-US" altLang="zh-CN" i="1">
                                      <a:latin typeface="Cambria Math" panose="02040503050406030204" pitchFamily="18" charset="0"/>
                                      <a:ea typeface="楷体" panose="02010609060101010101" pitchFamily="49" charset="-122"/>
                                      <a:cs typeface="Times New Roman" panose="02020603050405020304" pitchFamily="18" charset="0"/>
                                    </a:rPr>
                                    <m:t>𝑘</m:t>
                                  </m:r>
                                </m:sup>
                              </m:sSup>
                              <m:r>
                                <a:rPr lang="en-US" altLang="zh-CN" i="1">
                                  <a:latin typeface="Cambria Math" panose="02040503050406030204" pitchFamily="18" charset="0"/>
                                  <a:ea typeface="楷体" panose="02010609060101010101" pitchFamily="49" charset="-122"/>
                                  <a:cs typeface="Times New Roman" panose="02020603050405020304" pitchFamily="18" charset="0"/>
                                </a:rPr>
                                <m:t>−</m:t>
                              </m:r>
                              <m:r>
                                <a:rPr lang="en-US" altLang="zh-CN" i="1">
                                  <a:latin typeface="Cambria Math" panose="02040503050406030204" pitchFamily="18" charset="0"/>
                                  <a:ea typeface="楷体" panose="02010609060101010101" pitchFamily="49" charset="-122"/>
                                  <a:cs typeface="Times New Roman" panose="02020603050405020304" pitchFamily="18" charset="0"/>
                                </a:rPr>
                                <m:t>𝛼</m:t>
                              </m:r>
                              <m:r>
                                <a:rPr lang="en-US" altLang="zh-CN">
                                  <a:latin typeface="Cambria Math" panose="02040503050406030204" pitchFamily="18" charset="0"/>
                                  <a:ea typeface="楷体" panose="02010609060101010101" pitchFamily="49" charset="-122"/>
                                  <a:cs typeface="Times New Roman" panose="02020603050405020304" pitchFamily="18" charset="0"/>
                                </a:rPr>
                                <m:t>𝛻</m:t>
                              </m:r>
                              <m:r>
                                <a:rPr lang="en-US" altLang="zh-CN" i="1">
                                  <a:latin typeface="Cambria Math" panose="02040503050406030204" pitchFamily="18" charset="0"/>
                                  <a:ea typeface="楷体" panose="02010609060101010101" pitchFamily="49" charset="-122"/>
                                  <a:cs typeface="Times New Roman" panose="02020603050405020304" pitchFamily="18" charset="0"/>
                                </a:rPr>
                                <m:t>𝑓</m:t>
                              </m:r>
                              <m:d>
                                <m:dPr>
                                  <m:ctrlPr>
                                    <a:rPr lang="en-US" altLang="zh-CN" i="1">
                                      <a:latin typeface="Cambria Math" panose="02040503050406030204" pitchFamily="18" charset="0"/>
                                      <a:ea typeface="楷体" panose="02010609060101010101" pitchFamily="49" charset="-122"/>
                                      <a:cs typeface="Times New Roman" panose="02020603050405020304" pitchFamily="18" charset="0"/>
                                    </a:rPr>
                                  </m:ctrlPr>
                                </m:dPr>
                                <m:e>
                                  <m:sSup>
                                    <m:sSupPr>
                                      <m:ctrlPr>
                                        <a:rPr lang="en-US" altLang="zh-CN" i="1">
                                          <a:latin typeface="Cambria Math" panose="02040503050406030204" pitchFamily="18" charset="0"/>
                                          <a:ea typeface="楷体" panose="02010609060101010101" pitchFamily="49" charset="-122"/>
                                          <a:cs typeface="Times New Roman" panose="02020603050405020304" pitchFamily="18" charset="0"/>
                                        </a:rPr>
                                      </m:ctrlPr>
                                    </m:sSupPr>
                                    <m:e>
                                      <m:r>
                                        <a:rPr lang="en-US" altLang="zh-CN" b="1">
                                          <a:latin typeface="Cambria Math" panose="02040503050406030204" pitchFamily="18" charset="0"/>
                                          <a:ea typeface="楷体" panose="02010609060101010101" pitchFamily="49" charset="-122"/>
                                          <a:cs typeface="Times New Roman" panose="02020603050405020304" pitchFamily="18" charset="0"/>
                                        </a:rPr>
                                        <m:t>𝐱</m:t>
                                      </m:r>
                                    </m:e>
                                    <m:sup>
                                      <m:r>
                                        <a:rPr lang="en-US" altLang="zh-CN" i="1">
                                          <a:latin typeface="Cambria Math" panose="02040503050406030204" pitchFamily="18" charset="0"/>
                                          <a:ea typeface="楷体" panose="02010609060101010101" pitchFamily="49" charset="-122"/>
                                          <a:cs typeface="Times New Roman" panose="02020603050405020304" pitchFamily="18" charset="0"/>
                                        </a:rPr>
                                        <m:t>𝑘</m:t>
                                      </m:r>
                                    </m:sup>
                                  </m:sSup>
                                </m:e>
                              </m:d>
                            </m:e>
                          </m:d>
                        </m:num>
                        <m:den>
                          <m:r>
                            <a:rPr lang="en-US" altLang="zh-CN" i="1">
                              <a:latin typeface="Cambria Math" panose="02040503050406030204" pitchFamily="18" charset="0"/>
                              <a:ea typeface="楷体" panose="02010609060101010101" pitchFamily="49" charset="-122"/>
                              <a:cs typeface="Times New Roman" panose="02020603050405020304" pitchFamily="18" charset="0"/>
                            </a:rPr>
                            <m:t>𝜕𝛼</m:t>
                          </m:r>
                        </m:den>
                      </m:f>
                      <m:r>
                        <a:rPr lang="en-US" altLang="zh-CN" i="1">
                          <a:latin typeface="Cambria Math" panose="02040503050406030204" pitchFamily="18" charset="0"/>
                          <a:ea typeface="楷体" panose="02010609060101010101" pitchFamily="49" charset="-122"/>
                          <a:cs typeface="Times New Roman" panose="02020603050405020304" pitchFamily="18" charset="0"/>
                        </a:rPr>
                        <m:t>=</m:t>
                      </m:r>
                      <m:r>
                        <a:rPr lang="en-US" altLang="zh-CN" b="0" i="1" smtClean="0">
                          <a:latin typeface="Cambria Math" panose="02040503050406030204" pitchFamily="18" charset="0"/>
                          <a:ea typeface="楷体" panose="02010609060101010101" pitchFamily="49" charset="-122"/>
                          <a:cs typeface="Times New Roman" panose="02020603050405020304" pitchFamily="18" charset="0"/>
                        </a:rPr>
                        <m:t>−</m:t>
                      </m:r>
                      <m:r>
                        <a:rPr lang="en-US" altLang="zh-CN" b="0" i="0" smtClean="0">
                          <a:latin typeface="Cambria Math" panose="02040503050406030204" pitchFamily="18" charset="0"/>
                          <a:ea typeface="楷体" panose="02010609060101010101" pitchFamily="49" charset="-122"/>
                          <a:cs typeface="Times New Roman" panose="02020603050405020304" pitchFamily="18" charset="0"/>
                        </a:rPr>
                        <m:t> &lt;</m:t>
                      </m:r>
                      <m:r>
                        <a:rPr lang="en-US" altLang="zh-CN" b="0" i="0" smtClean="0">
                          <a:latin typeface="Cambria Math" panose="02040503050406030204" pitchFamily="18" charset="0"/>
                          <a:ea typeface="楷体" panose="02010609060101010101" pitchFamily="49" charset="-122"/>
                          <a:cs typeface="Times New Roman" panose="02020603050405020304" pitchFamily="18" charset="0"/>
                        </a:rPr>
                        <m:t>𝛻</m:t>
                      </m:r>
                      <m:r>
                        <a:rPr lang="en-US" altLang="zh-CN" b="0" i="1" smtClean="0">
                          <a:latin typeface="Cambria Math" panose="02040503050406030204" pitchFamily="18" charset="0"/>
                          <a:ea typeface="楷体" panose="02010609060101010101" pitchFamily="49" charset="-122"/>
                          <a:cs typeface="Times New Roman" panose="02020603050405020304" pitchFamily="18" charset="0"/>
                        </a:rPr>
                        <m:t>𝑓</m:t>
                      </m:r>
                      <m:d>
                        <m:dPr>
                          <m:ctrlPr>
                            <a:rPr lang="en-US" altLang="zh-CN" b="0" i="1" smtClean="0">
                              <a:latin typeface="Cambria Math" panose="02040503050406030204" pitchFamily="18" charset="0"/>
                              <a:ea typeface="楷体" panose="02010609060101010101" pitchFamily="49" charset="-122"/>
                              <a:cs typeface="Times New Roman" panose="02020603050405020304" pitchFamily="18" charset="0"/>
                            </a:rPr>
                          </m:ctrlPr>
                        </m:dPr>
                        <m:e>
                          <m:sSup>
                            <m:sSupPr>
                              <m:ctrlPr>
                                <a:rPr lang="en-US" altLang="zh-CN" b="0" i="1" smtClean="0">
                                  <a:latin typeface="Cambria Math" panose="02040503050406030204" pitchFamily="18" charset="0"/>
                                  <a:ea typeface="楷体" panose="02010609060101010101" pitchFamily="49" charset="-122"/>
                                  <a:cs typeface="Times New Roman" panose="02020603050405020304" pitchFamily="18" charset="0"/>
                                </a:rPr>
                              </m:ctrlPr>
                            </m:sSupPr>
                            <m:e>
                              <m:r>
                                <a:rPr lang="en-US" altLang="zh-CN" b="1" i="0" smtClean="0">
                                  <a:latin typeface="Cambria Math" panose="02040503050406030204" pitchFamily="18" charset="0"/>
                                  <a:ea typeface="楷体" panose="02010609060101010101" pitchFamily="49" charset="-122"/>
                                  <a:cs typeface="Times New Roman" panose="02020603050405020304" pitchFamily="18" charset="0"/>
                                </a:rPr>
                                <m:t>𝐱</m:t>
                              </m:r>
                            </m:e>
                            <m:sup>
                              <m:r>
                                <a:rPr lang="en-US" altLang="zh-CN" b="0" i="1" smtClean="0">
                                  <a:latin typeface="Cambria Math" panose="02040503050406030204" pitchFamily="18" charset="0"/>
                                  <a:ea typeface="楷体" panose="02010609060101010101" pitchFamily="49" charset="-122"/>
                                  <a:cs typeface="Times New Roman" panose="02020603050405020304" pitchFamily="18" charset="0"/>
                                </a:rPr>
                                <m:t>𝑘</m:t>
                              </m:r>
                              <m:r>
                                <a:rPr lang="en-US" altLang="zh-CN" b="0" i="1" smtClean="0">
                                  <a:latin typeface="Cambria Math" panose="02040503050406030204" pitchFamily="18" charset="0"/>
                                  <a:ea typeface="楷体" panose="02010609060101010101" pitchFamily="49" charset="-122"/>
                                  <a:cs typeface="Times New Roman" panose="02020603050405020304" pitchFamily="18" charset="0"/>
                                </a:rPr>
                                <m:t>+1</m:t>
                              </m:r>
                            </m:sup>
                          </m:sSup>
                        </m:e>
                      </m:d>
                      <m:r>
                        <a:rPr lang="en-US" altLang="zh-CN" b="0" i="1" smtClean="0">
                          <a:latin typeface="Cambria Math" panose="02040503050406030204" pitchFamily="18" charset="0"/>
                          <a:ea typeface="楷体" panose="02010609060101010101" pitchFamily="49" charset="-122"/>
                          <a:cs typeface="Times New Roman" panose="02020603050405020304" pitchFamily="18" charset="0"/>
                        </a:rPr>
                        <m:t>,</m:t>
                      </m:r>
                      <m:r>
                        <a:rPr lang="en-US" altLang="zh-CN" b="0" i="0" smtClean="0">
                          <a:latin typeface="Cambria Math" panose="02040503050406030204" pitchFamily="18" charset="0"/>
                          <a:ea typeface="楷体" panose="02010609060101010101" pitchFamily="49" charset="-122"/>
                          <a:cs typeface="Times New Roman" panose="02020603050405020304" pitchFamily="18" charset="0"/>
                        </a:rPr>
                        <m:t>𝛻</m:t>
                      </m:r>
                      <m:r>
                        <a:rPr lang="en-US" altLang="zh-CN" b="0" i="1" smtClean="0">
                          <a:latin typeface="Cambria Math" panose="02040503050406030204" pitchFamily="18" charset="0"/>
                          <a:ea typeface="楷体" panose="02010609060101010101" pitchFamily="49" charset="-122"/>
                          <a:cs typeface="Times New Roman" panose="02020603050405020304" pitchFamily="18" charset="0"/>
                        </a:rPr>
                        <m:t>𝑓</m:t>
                      </m:r>
                      <m:d>
                        <m:dPr>
                          <m:ctrlPr>
                            <a:rPr lang="en-US" altLang="zh-CN" b="0" i="1" smtClean="0">
                              <a:latin typeface="Cambria Math" panose="02040503050406030204" pitchFamily="18" charset="0"/>
                              <a:ea typeface="楷体" panose="02010609060101010101" pitchFamily="49" charset="-122"/>
                              <a:cs typeface="Times New Roman" panose="02020603050405020304" pitchFamily="18" charset="0"/>
                            </a:rPr>
                          </m:ctrlPr>
                        </m:dPr>
                        <m:e>
                          <m:sSup>
                            <m:sSupPr>
                              <m:ctrlPr>
                                <a:rPr lang="en-US" altLang="zh-CN" b="0" i="1" smtClean="0">
                                  <a:latin typeface="Cambria Math" panose="02040503050406030204" pitchFamily="18" charset="0"/>
                                  <a:ea typeface="楷体" panose="02010609060101010101" pitchFamily="49" charset="-122"/>
                                  <a:cs typeface="Times New Roman" panose="02020603050405020304" pitchFamily="18" charset="0"/>
                                </a:rPr>
                              </m:ctrlPr>
                            </m:sSupPr>
                            <m:e>
                              <m:r>
                                <a:rPr lang="en-US" altLang="zh-CN" b="1" i="0" smtClean="0">
                                  <a:latin typeface="Cambria Math" panose="02040503050406030204" pitchFamily="18" charset="0"/>
                                  <a:ea typeface="楷体" panose="02010609060101010101" pitchFamily="49" charset="-122"/>
                                  <a:cs typeface="Times New Roman" panose="02020603050405020304" pitchFamily="18" charset="0"/>
                                </a:rPr>
                                <m:t>𝐱</m:t>
                              </m:r>
                            </m:e>
                            <m:sup>
                              <m:r>
                                <a:rPr lang="en-US" altLang="zh-CN" b="0" i="1" smtClean="0">
                                  <a:latin typeface="Cambria Math" panose="02040503050406030204" pitchFamily="18" charset="0"/>
                                  <a:ea typeface="楷体" panose="02010609060101010101" pitchFamily="49" charset="-122"/>
                                  <a:cs typeface="Times New Roman" panose="02020603050405020304" pitchFamily="18" charset="0"/>
                                </a:rPr>
                                <m:t>𝑘</m:t>
                              </m:r>
                            </m:sup>
                          </m:sSup>
                        </m:e>
                      </m:d>
                      <m:r>
                        <a:rPr lang="en-US" altLang="zh-CN" b="0" i="1" smtClean="0">
                          <a:latin typeface="Cambria Math" panose="02040503050406030204" pitchFamily="18" charset="0"/>
                          <a:ea typeface="楷体" panose="02010609060101010101" pitchFamily="49" charset="-122"/>
                          <a:cs typeface="Times New Roman" panose="02020603050405020304" pitchFamily="18" charset="0"/>
                        </a:rPr>
                        <m:t>&gt;</m:t>
                      </m:r>
                    </m:oMath>
                  </m:oMathPara>
                </a14:m>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a:p>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导出</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pPr marL="0" indent="0" algn="ctr">
                  <a:buNone/>
                </a:pP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&lt;</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i="1" dirty="0" smtClean="0">
                    <a:latin typeface="Times New Roman" panose="02020603050405020304" pitchFamily="18" charset="0"/>
                    <a:ea typeface="楷体" panose="02010609060101010101" pitchFamily="49" charset="-122"/>
                    <a:cs typeface="Times New Roman" panose="02020603050405020304" pitchFamily="18" charset="0"/>
                  </a:rPr>
                  <a:t>f</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x</a:t>
                </a:r>
                <a:r>
                  <a:rPr lang="en-US" altLang="zh-CN" i="1" baseline="30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a:t>
                </a:r>
                <a:r>
                  <a:rPr lang="zh-CN" altLang="en-US"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i="1" dirty="0">
                    <a:latin typeface="Times New Roman" panose="02020603050405020304" pitchFamily="18" charset="0"/>
                    <a:ea typeface="楷体" panose="02010609060101010101" pitchFamily="49" charset="-122"/>
                    <a:cs typeface="Times New Roman" panose="02020603050405020304" pitchFamily="18" charset="0"/>
                  </a:rPr>
                  <a:t>f</a:t>
                </a:r>
                <a:r>
                  <a:rPr lang="en-US" altLang="zh-CN"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b="1" dirty="0" err="1">
                    <a:latin typeface="Times New Roman" panose="02020603050405020304" pitchFamily="18" charset="0"/>
                    <a:ea typeface="楷体" panose="02010609060101010101" pitchFamily="49" charset="-122"/>
                    <a:cs typeface="Times New Roman" panose="02020603050405020304" pitchFamily="18" charset="0"/>
                  </a:rPr>
                  <a:t>x</a:t>
                </a:r>
                <a:r>
                  <a:rPr lang="en-US" altLang="zh-CN" i="1" baseline="30000" dirty="0" err="1">
                    <a:latin typeface="Times New Roman" panose="02020603050405020304" pitchFamily="18" charset="0"/>
                    <a:ea typeface="楷体" panose="02010609060101010101" pitchFamily="49" charset="-122"/>
                    <a:cs typeface="Times New Roman" panose="02020603050405020304" pitchFamily="18" charset="0"/>
                  </a:rPr>
                  <a:t>k</a:t>
                </a:r>
                <a:r>
                  <a:rPr lang="en-US" altLang="zh-CN" baseline="30000" dirty="0">
                    <a:latin typeface="Times New Roman" panose="02020603050405020304" pitchFamily="18" charset="0"/>
                    <a:ea typeface="楷体" panose="02010609060101010101" pitchFamily="49" charset="-122"/>
                    <a:cs typeface="Times New Roman" panose="02020603050405020304" pitchFamily="18" charset="0"/>
                  </a:rPr>
                  <a:t> + 1</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)&gt; = 0</a:t>
                </a:r>
              </a:p>
              <a:p>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即：</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pPr marL="0" indent="0" algn="ctr">
                  <a:buNone/>
                </a:pP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&lt;</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x</a:t>
                </a:r>
                <a:r>
                  <a:rPr lang="en-US" altLang="zh-CN" i="1" baseline="30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baseline="30000" dirty="0" smtClean="0">
                    <a:latin typeface="Times New Roman" panose="02020603050405020304" pitchFamily="18" charset="0"/>
                    <a:ea typeface="楷体" panose="02010609060101010101" pitchFamily="49" charset="-122"/>
                    <a:cs typeface="Times New Roman" panose="02020603050405020304" pitchFamily="18" charset="0"/>
                  </a:rPr>
                  <a:t> </a:t>
                </a:r>
                <a:r>
                  <a:rPr lang="en-US" altLang="zh-CN" baseline="30000"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aseline="30000" dirty="0" smtClean="0">
                    <a:latin typeface="Times New Roman" panose="02020603050405020304" pitchFamily="18" charset="0"/>
                    <a:ea typeface="楷体" panose="02010609060101010101" pitchFamily="49" charset="-122"/>
                    <a:cs typeface="Times New Roman" panose="02020603050405020304" pitchFamily="18" charset="0"/>
                  </a:rPr>
                  <a:t>1</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 </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x</a:t>
                </a:r>
                <a:r>
                  <a:rPr lang="en-US" altLang="zh-CN" i="1" baseline="30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a:t>
                </a:r>
                <a:r>
                  <a:rPr lang="zh-CN" altLang="en-US"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i="1" dirty="0">
                    <a:latin typeface="Times New Roman" panose="02020603050405020304" pitchFamily="18" charset="0"/>
                    <a:ea typeface="楷体" panose="02010609060101010101" pitchFamily="49" charset="-122"/>
                    <a:cs typeface="Times New Roman" panose="02020603050405020304" pitchFamily="18" charset="0"/>
                  </a:rPr>
                  <a:t>f</a:t>
                </a:r>
                <a:r>
                  <a:rPr lang="en-US" altLang="zh-CN"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b="1" dirty="0" err="1">
                    <a:latin typeface="Times New Roman" panose="02020603050405020304" pitchFamily="18" charset="0"/>
                    <a:ea typeface="楷体" panose="02010609060101010101" pitchFamily="49" charset="-122"/>
                    <a:cs typeface="Times New Roman" panose="02020603050405020304" pitchFamily="18" charset="0"/>
                  </a:rPr>
                  <a:t>x</a:t>
                </a:r>
                <a:r>
                  <a:rPr lang="en-US" altLang="zh-CN" i="1" baseline="30000" dirty="0" err="1">
                    <a:latin typeface="Times New Roman" panose="02020603050405020304" pitchFamily="18" charset="0"/>
                    <a:ea typeface="楷体" panose="02010609060101010101" pitchFamily="49" charset="-122"/>
                    <a:cs typeface="Times New Roman" panose="02020603050405020304" pitchFamily="18" charset="0"/>
                  </a:rPr>
                  <a:t>k</a:t>
                </a:r>
                <a:r>
                  <a:rPr lang="en-US" altLang="zh-CN" baseline="30000" dirty="0">
                    <a:latin typeface="Times New Roman" panose="02020603050405020304" pitchFamily="18" charset="0"/>
                    <a:ea typeface="楷体" panose="02010609060101010101" pitchFamily="49" charset="-122"/>
                    <a:cs typeface="Times New Roman" panose="02020603050405020304" pitchFamily="18" charset="0"/>
                  </a:rPr>
                  <a:t> + 1</a:t>
                </a:r>
                <a:r>
                  <a:rPr lang="en-US" altLang="zh-CN" dirty="0">
                    <a:latin typeface="Times New Roman" panose="02020603050405020304" pitchFamily="18" charset="0"/>
                    <a:ea typeface="楷体" panose="02010609060101010101" pitchFamily="49" charset="-122"/>
                    <a:cs typeface="Times New Roman" panose="02020603050405020304" pitchFamily="18" charset="0"/>
                  </a:rPr>
                  <a:t>)&gt; = 0</a:t>
                </a:r>
              </a:p>
              <a:p>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即每次迭代，</a:t>
                </a:r>
                <a:r>
                  <a:rPr lang="en-US" altLang="zh-CN" b="1" dirty="0" err="1">
                    <a:latin typeface="Times New Roman" panose="02020603050405020304" pitchFamily="18" charset="0"/>
                    <a:ea typeface="楷体" panose="02010609060101010101" pitchFamily="49" charset="-122"/>
                    <a:cs typeface="Times New Roman" panose="02020603050405020304" pitchFamily="18" charset="0"/>
                  </a:rPr>
                  <a:t>x</a:t>
                </a:r>
                <a:r>
                  <a:rPr lang="en-US" altLang="zh-CN" i="1" baseline="30000" dirty="0" err="1">
                    <a:latin typeface="Times New Roman" panose="02020603050405020304" pitchFamily="18" charset="0"/>
                    <a:ea typeface="楷体" panose="02010609060101010101" pitchFamily="49" charset="-122"/>
                    <a:cs typeface="Times New Roman" panose="02020603050405020304" pitchFamily="18" charset="0"/>
                  </a:rPr>
                  <a:t>k</a:t>
                </a:r>
                <a:r>
                  <a:rPr lang="en-US" altLang="zh-CN" baseline="30000" dirty="0">
                    <a:latin typeface="Times New Roman" panose="02020603050405020304" pitchFamily="18" charset="0"/>
                    <a:ea typeface="楷体" panose="02010609060101010101" pitchFamily="49" charset="-122"/>
                    <a:cs typeface="Times New Roman" panose="02020603050405020304" pitchFamily="18" charset="0"/>
                  </a:rPr>
                  <a:t> + </a:t>
                </a:r>
                <a:r>
                  <a:rPr lang="en-US" altLang="zh-CN" baseline="30000" dirty="0" smtClean="0">
                    <a:latin typeface="Times New Roman" panose="02020603050405020304" pitchFamily="18" charset="0"/>
                    <a:ea typeface="楷体" panose="02010609060101010101" pitchFamily="49" charset="-122"/>
                    <a:cs typeface="Times New Roman" panose="02020603050405020304" pitchFamily="18" charset="0"/>
                  </a:rPr>
                  <a:t>1</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要满足</a:t>
                </a:r>
                <a:r>
                  <a:rPr lang="en-US" altLang="zh-CN" i="1" dirty="0" smtClean="0">
                    <a:latin typeface="Times New Roman" panose="02020603050405020304" pitchFamily="18" charset="0"/>
                    <a:ea typeface="楷体" panose="02010609060101010101" pitchFamily="49" charset="-122"/>
                    <a:cs typeface="Times New Roman" panose="02020603050405020304" pitchFamily="18" charset="0"/>
                  </a:rPr>
                  <a:t>f</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x</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在</a:t>
                </a:r>
                <a:r>
                  <a:rPr lang="en-US" altLang="zh-CN" b="1" dirty="0" err="1">
                    <a:latin typeface="Times New Roman" panose="02020603050405020304" pitchFamily="18" charset="0"/>
                    <a:ea typeface="楷体" panose="02010609060101010101" pitchFamily="49" charset="-122"/>
                    <a:cs typeface="Times New Roman" panose="02020603050405020304" pitchFamily="18" charset="0"/>
                  </a:rPr>
                  <a:t>x</a:t>
                </a:r>
                <a:r>
                  <a:rPr lang="en-US" altLang="zh-CN" i="1" baseline="30000" dirty="0" err="1">
                    <a:latin typeface="Times New Roman" panose="02020603050405020304" pitchFamily="18" charset="0"/>
                    <a:ea typeface="楷体" panose="02010609060101010101" pitchFamily="49" charset="-122"/>
                    <a:cs typeface="Times New Roman" panose="02020603050405020304" pitchFamily="18" charset="0"/>
                  </a:rPr>
                  <a:t>k</a:t>
                </a:r>
                <a:r>
                  <a:rPr lang="en-US" altLang="zh-CN" baseline="30000" dirty="0">
                    <a:latin typeface="Times New Roman" panose="02020603050405020304" pitchFamily="18" charset="0"/>
                    <a:ea typeface="楷体" panose="02010609060101010101" pitchFamily="49" charset="-122"/>
                    <a:cs typeface="Times New Roman" panose="02020603050405020304" pitchFamily="18" charset="0"/>
                  </a:rPr>
                  <a:t> + 1</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位置的梯度与</a:t>
                </a: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x</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的变化方向垂直</a:t>
                </a:r>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3"/>
                <a:stretch>
                  <a:fillRect l="-1391" t="-2801" b="-3922"/>
                </a:stretch>
              </a:blipFill>
            </p:spPr>
            <p:txBody>
              <a:bodyPr/>
              <a:lstStyle/>
              <a:p>
                <a:r>
                  <a:rPr lang="zh-CN" altLang="en-US">
                    <a:noFill/>
                  </a:rPr>
                  <a:t> </a:t>
                </a:r>
              </a:p>
            </p:txBody>
          </p:sp>
        </mc:Fallback>
      </mc:AlternateContent>
    </p:spTree>
    <p:custDataLst>
      <p:tags r:id="rId1"/>
    </p:custDataLst>
    <p:extLst>
      <p:ext uri="{BB962C8B-B14F-4D97-AF65-F5344CB8AC3E}">
        <p14:creationId xmlns:p14="http://schemas.microsoft.com/office/powerpoint/2010/main" val="11566304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宋体" panose="02010600030101010101" pitchFamily="2" charset="-122"/>
                <a:ea typeface="宋体" panose="02010600030101010101" pitchFamily="2" charset="-122"/>
              </a:rPr>
              <a:t>梯度下降法的局限</a:t>
            </a:r>
            <a:endParaRPr lang="zh-CN" altLang="en-US" dirty="0">
              <a:latin typeface="宋体" panose="02010600030101010101" pitchFamily="2" charset="-122"/>
              <a:ea typeface="宋体" panose="02010600030101010101" pitchFamily="2" charset="-122"/>
            </a:endParaRPr>
          </a:p>
        </p:txBody>
      </p:sp>
      <p:sp>
        <p:nvSpPr>
          <p:cNvPr id="3" name="内容占位符 2"/>
          <p:cNvSpPr>
            <a:spLocks noGrp="1"/>
          </p:cNvSpPr>
          <p:nvPr>
            <p:ph idx="1"/>
          </p:nvPr>
        </p:nvSpPr>
        <p:spPr>
          <a:xfrm>
            <a:off x="628650" y="5131293"/>
            <a:ext cx="7886700" cy="1045670"/>
          </a:xfrm>
        </p:spPr>
        <p:txBody>
          <a:bodyPr/>
          <a:lstStyle/>
          <a:p>
            <a:r>
              <a:rPr lang="zh-CN" altLang="en-US" dirty="0" smtClean="0">
                <a:latin typeface="楷体" panose="02010609060101010101" pitchFamily="49" charset="-122"/>
                <a:ea typeface="楷体" panose="02010609060101010101" pitchFamily="49" charset="-122"/>
              </a:rPr>
              <a:t>沿着梯度下降最快的方向迭代，会得到极为曲折的路径，梯度下降方向并非是最好的优化方向</a:t>
            </a:r>
            <a:endParaRPr lang="zh-CN" altLang="en-US" dirty="0">
              <a:latin typeface="楷体" panose="02010609060101010101" pitchFamily="49" charset="-122"/>
              <a:ea typeface="楷体" panose="02010609060101010101" pitchFamily="49" charset="-122"/>
            </a:endParaRPr>
          </a:p>
        </p:txBody>
      </p:sp>
      <p:grpSp>
        <p:nvGrpSpPr>
          <p:cNvPr id="26" name="组合 25"/>
          <p:cNvGrpSpPr/>
          <p:nvPr/>
        </p:nvGrpSpPr>
        <p:grpSpPr>
          <a:xfrm>
            <a:off x="1390650" y="2136228"/>
            <a:ext cx="6370638" cy="2549525"/>
            <a:chOff x="1543050" y="2136228"/>
            <a:chExt cx="6370638" cy="2549525"/>
          </a:xfrm>
        </p:grpSpPr>
        <p:sp>
          <p:nvSpPr>
            <p:cNvPr id="5" name="Oval 6"/>
            <p:cNvSpPr>
              <a:spLocks noChangeArrowheads="1"/>
            </p:cNvSpPr>
            <p:nvPr/>
          </p:nvSpPr>
          <p:spPr bwMode="auto">
            <a:xfrm>
              <a:off x="1543050" y="2136228"/>
              <a:ext cx="6370638" cy="2549525"/>
            </a:xfrm>
            <a:prstGeom prst="ellipse">
              <a:avLst/>
            </a:prstGeom>
            <a:noFill/>
            <a:ln w="19050" cap="rnd">
              <a:solidFill>
                <a:srgbClr val="7F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6" name="Oval 7"/>
            <p:cNvSpPr>
              <a:spLocks noChangeArrowheads="1"/>
            </p:cNvSpPr>
            <p:nvPr/>
          </p:nvSpPr>
          <p:spPr bwMode="auto">
            <a:xfrm>
              <a:off x="2422525" y="2487066"/>
              <a:ext cx="4613275" cy="1847850"/>
            </a:xfrm>
            <a:prstGeom prst="ellipse">
              <a:avLst/>
            </a:prstGeom>
            <a:noFill/>
            <a:ln w="19050" cap="rnd">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7" name="Oval 8"/>
            <p:cNvSpPr>
              <a:spLocks noChangeArrowheads="1"/>
            </p:cNvSpPr>
            <p:nvPr/>
          </p:nvSpPr>
          <p:spPr bwMode="auto">
            <a:xfrm>
              <a:off x="3059113" y="2742653"/>
              <a:ext cx="3340100" cy="1336675"/>
            </a:xfrm>
            <a:prstGeom prst="ellipse">
              <a:avLst/>
            </a:prstGeom>
            <a:noFill/>
            <a:ln w="19050" cap="rnd">
              <a:solidFill>
                <a:srgbClr val="FF7F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8" name="Oval 9"/>
            <p:cNvSpPr>
              <a:spLocks noChangeArrowheads="1"/>
            </p:cNvSpPr>
            <p:nvPr/>
          </p:nvSpPr>
          <p:spPr bwMode="auto">
            <a:xfrm>
              <a:off x="3519488" y="2926803"/>
              <a:ext cx="2419350" cy="968375"/>
            </a:xfrm>
            <a:prstGeom prst="ellipse">
              <a:avLst/>
            </a:prstGeom>
            <a:noFill/>
            <a:ln w="19050" cap="rnd">
              <a:solidFill>
                <a:srgbClr val="FFFF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9" name="Oval 10"/>
            <p:cNvSpPr>
              <a:spLocks noChangeArrowheads="1"/>
            </p:cNvSpPr>
            <p:nvPr/>
          </p:nvSpPr>
          <p:spPr bwMode="auto">
            <a:xfrm>
              <a:off x="3852863" y="3061741"/>
              <a:ext cx="1751013" cy="700088"/>
            </a:xfrm>
            <a:prstGeom prst="ellipse">
              <a:avLst/>
            </a:prstGeom>
            <a:noFill/>
            <a:ln w="19050" cap="rnd">
              <a:solidFill>
                <a:srgbClr val="7FFF7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0" name="Oval 11"/>
            <p:cNvSpPr>
              <a:spLocks noChangeArrowheads="1"/>
            </p:cNvSpPr>
            <p:nvPr/>
          </p:nvSpPr>
          <p:spPr bwMode="auto">
            <a:xfrm>
              <a:off x="4094163" y="3156991"/>
              <a:ext cx="1268413" cy="508000"/>
            </a:xfrm>
            <a:prstGeom prst="ellipse">
              <a:avLst/>
            </a:prstGeom>
            <a:noFill/>
            <a:ln w="19050" cap="rnd">
              <a:solidFill>
                <a:srgbClr val="00FF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1" name="Oval 12"/>
            <p:cNvSpPr>
              <a:spLocks noChangeArrowheads="1"/>
            </p:cNvSpPr>
            <p:nvPr/>
          </p:nvSpPr>
          <p:spPr bwMode="auto">
            <a:xfrm>
              <a:off x="4270375" y="3226841"/>
              <a:ext cx="917575" cy="368300"/>
            </a:xfrm>
            <a:prstGeom prst="ellipse">
              <a:avLst/>
            </a:prstGeom>
            <a:noFill/>
            <a:ln w="19050" cap="rnd">
              <a:solidFill>
                <a:srgbClr val="007F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2" name="Oval 13"/>
            <p:cNvSpPr>
              <a:spLocks noChangeArrowheads="1"/>
            </p:cNvSpPr>
            <p:nvPr/>
          </p:nvSpPr>
          <p:spPr bwMode="auto">
            <a:xfrm>
              <a:off x="4395788" y="3277641"/>
              <a:ext cx="665163" cy="266700"/>
            </a:xfrm>
            <a:prstGeom prst="ellipse">
              <a:avLst/>
            </a:prstGeom>
            <a:noFill/>
            <a:ln w="19050" cap="rnd">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3" name="Oval 14"/>
            <p:cNvSpPr>
              <a:spLocks noChangeArrowheads="1"/>
            </p:cNvSpPr>
            <p:nvPr/>
          </p:nvSpPr>
          <p:spPr bwMode="auto">
            <a:xfrm>
              <a:off x="4487863" y="3314153"/>
              <a:ext cx="482600" cy="193675"/>
            </a:xfrm>
            <a:prstGeom prst="ellipse">
              <a:avLst/>
            </a:prstGeom>
            <a:noFill/>
            <a:ln w="19050" cap="rnd">
              <a:solidFill>
                <a:srgbClr val="00007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4" name="Line 15"/>
            <p:cNvSpPr>
              <a:spLocks noChangeShapeType="1"/>
            </p:cNvSpPr>
            <p:nvPr/>
          </p:nvSpPr>
          <p:spPr bwMode="auto">
            <a:xfrm flipH="1">
              <a:off x="6870700" y="2937916"/>
              <a:ext cx="815975" cy="815975"/>
            </a:xfrm>
            <a:prstGeom prst="line">
              <a:avLst/>
            </a:prstGeom>
            <a:noFill/>
            <a:ln w="19050" cap="rnd">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5" name="Line 16"/>
            <p:cNvSpPr>
              <a:spLocks noChangeShapeType="1"/>
            </p:cNvSpPr>
            <p:nvPr/>
          </p:nvSpPr>
          <p:spPr bwMode="auto">
            <a:xfrm flipH="1" flipV="1">
              <a:off x="6280150" y="3163341"/>
              <a:ext cx="590550" cy="590550"/>
            </a:xfrm>
            <a:prstGeom prst="line">
              <a:avLst/>
            </a:prstGeom>
            <a:noFill/>
            <a:ln w="19050" cap="rnd">
              <a:solidFill>
                <a:srgbClr val="0070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6" name="Line 17"/>
            <p:cNvSpPr>
              <a:spLocks noChangeShapeType="1"/>
            </p:cNvSpPr>
            <p:nvPr/>
          </p:nvSpPr>
          <p:spPr bwMode="auto">
            <a:xfrm flipH="1">
              <a:off x="5851525" y="3163341"/>
              <a:ext cx="428625" cy="428625"/>
            </a:xfrm>
            <a:prstGeom prst="line">
              <a:avLst/>
            </a:prstGeom>
            <a:noFill/>
            <a:ln w="19050" cap="rnd">
              <a:solidFill>
                <a:srgbClr val="0070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7" name="Line 18"/>
            <p:cNvSpPr>
              <a:spLocks noChangeShapeType="1"/>
            </p:cNvSpPr>
            <p:nvPr/>
          </p:nvSpPr>
          <p:spPr bwMode="auto">
            <a:xfrm flipH="1" flipV="1">
              <a:off x="5541963" y="3280816"/>
              <a:ext cx="309563" cy="311150"/>
            </a:xfrm>
            <a:prstGeom prst="line">
              <a:avLst/>
            </a:prstGeom>
            <a:noFill/>
            <a:ln w="19050" cap="rnd">
              <a:solidFill>
                <a:srgbClr val="0070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8" name="Line 19"/>
            <p:cNvSpPr>
              <a:spLocks noChangeShapeType="1"/>
            </p:cNvSpPr>
            <p:nvPr/>
          </p:nvSpPr>
          <p:spPr bwMode="auto">
            <a:xfrm flipH="1">
              <a:off x="5318125" y="3280816"/>
              <a:ext cx="223838" cy="223838"/>
            </a:xfrm>
            <a:prstGeom prst="line">
              <a:avLst/>
            </a:prstGeom>
            <a:noFill/>
            <a:ln w="19050" cap="rnd">
              <a:solidFill>
                <a:srgbClr val="0070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9" name="Line 20"/>
            <p:cNvSpPr>
              <a:spLocks noChangeShapeType="1"/>
            </p:cNvSpPr>
            <p:nvPr/>
          </p:nvSpPr>
          <p:spPr bwMode="auto">
            <a:xfrm flipH="1" flipV="1">
              <a:off x="5154613" y="3342728"/>
              <a:ext cx="163513" cy="161925"/>
            </a:xfrm>
            <a:prstGeom prst="line">
              <a:avLst/>
            </a:prstGeom>
            <a:noFill/>
            <a:ln w="19050" cap="rnd">
              <a:solidFill>
                <a:srgbClr val="0070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0" name="Line 21"/>
            <p:cNvSpPr>
              <a:spLocks noChangeShapeType="1"/>
            </p:cNvSpPr>
            <p:nvPr/>
          </p:nvSpPr>
          <p:spPr bwMode="auto">
            <a:xfrm flipH="1">
              <a:off x="5037138" y="3342728"/>
              <a:ext cx="117475" cy="117475"/>
            </a:xfrm>
            <a:prstGeom prst="line">
              <a:avLst/>
            </a:prstGeom>
            <a:noFill/>
            <a:ln w="19050" cap="rnd">
              <a:solidFill>
                <a:srgbClr val="0070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1" name="Line 22"/>
            <p:cNvSpPr>
              <a:spLocks noChangeShapeType="1"/>
            </p:cNvSpPr>
            <p:nvPr/>
          </p:nvSpPr>
          <p:spPr bwMode="auto">
            <a:xfrm flipH="1" flipV="1">
              <a:off x="4953000" y="3376066"/>
              <a:ext cx="84138" cy="84138"/>
            </a:xfrm>
            <a:prstGeom prst="line">
              <a:avLst/>
            </a:prstGeom>
            <a:noFill/>
            <a:ln w="19050" cap="rnd">
              <a:solidFill>
                <a:srgbClr val="0070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3" name="Oval 24"/>
            <p:cNvSpPr>
              <a:spLocks noChangeArrowheads="1"/>
            </p:cNvSpPr>
            <p:nvPr/>
          </p:nvSpPr>
          <p:spPr bwMode="auto">
            <a:xfrm>
              <a:off x="4691063" y="3372891"/>
              <a:ext cx="76200" cy="76200"/>
            </a:xfrm>
            <a:prstGeom prst="ellipse">
              <a:avLst/>
            </a:prstGeom>
            <a:solidFill>
              <a:srgbClr val="0070C0"/>
            </a:solidFill>
            <a:ln w="19050" cap="rnd">
              <a:solidFill>
                <a:schemeClr val="tx1"/>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4" name="Oval 26"/>
            <p:cNvSpPr>
              <a:spLocks noChangeArrowheads="1"/>
            </p:cNvSpPr>
            <p:nvPr/>
          </p:nvSpPr>
          <p:spPr bwMode="auto">
            <a:xfrm>
              <a:off x="6832600" y="3715791"/>
              <a:ext cx="76200" cy="76200"/>
            </a:xfrm>
            <a:prstGeom prst="ellipse">
              <a:avLst/>
            </a:prstGeom>
            <a:solidFill>
              <a:srgbClr val="444444"/>
            </a:solidFill>
            <a:ln w="12700" cap="rnd">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5" name="Oval 27"/>
            <p:cNvSpPr>
              <a:spLocks noChangeArrowheads="1"/>
            </p:cNvSpPr>
            <p:nvPr/>
          </p:nvSpPr>
          <p:spPr bwMode="auto">
            <a:xfrm>
              <a:off x="6832600" y="3715791"/>
              <a:ext cx="76200" cy="76200"/>
            </a:xfrm>
            <a:prstGeom prst="ellipse">
              <a:avLst/>
            </a:prstGeom>
            <a:noFill/>
            <a:ln w="12700"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pSp>
    </p:spTree>
    <p:custDataLst>
      <p:tags r:id="rId1"/>
    </p:custDataLst>
    <p:extLst>
      <p:ext uri="{BB962C8B-B14F-4D97-AF65-F5344CB8AC3E}">
        <p14:creationId xmlns:p14="http://schemas.microsoft.com/office/powerpoint/2010/main" val="251793981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宋体" panose="02010600030101010101" pitchFamily="2" charset="-122"/>
                <a:ea typeface="宋体" panose="02010600030101010101" pitchFamily="2" charset="-122"/>
              </a:rPr>
              <a:t>定向弦的中点轨迹</a:t>
            </a:r>
            <a:endParaRPr lang="zh-CN" altLang="en-US" dirty="0">
              <a:latin typeface="宋体" panose="02010600030101010101" pitchFamily="2" charset="-122"/>
              <a:ea typeface="宋体" panose="02010600030101010101" pitchFamily="2" charset="-122"/>
            </a:endParaRPr>
          </a:p>
        </p:txBody>
      </p:sp>
      <p:grpSp>
        <p:nvGrpSpPr>
          <p:cNvPr id="4" name="Group 4"/>
          <p:cNvGrpSpPr>
            <a:grpSpLocks noChangeAspect="1"/>
          </p:cNvGrpSpPr>
          <p:nvPr/>
        </p:nvGrpSpPr>
        <p:grpSpPr bwMode="auto">
          <a:xfrm>
            <a:off x="628650" y="1690689"/>
            <a:ext cx="4495800" cy="2698750"/>
            <a:chOff x="1469" y="1154"/>
            <a:chExt cx="2832" cy="1700"/>
          </a:xfrm>
        </p:grpSpPr>
        <p:sp>
          <p:nvSpPr>
            <p:cNvPr id="5" name="Oval 6"/>
            <p:cNvSpPr>
              <a:spLocks noChangeArrowheads="1"/>
            </p:cNvSpPr>
            <p:nvPr/>
          </p:nvSpPr>
          <p:spPr bwMode="auto">
            <a:xfrm>
              <a:off x="1847" y="1381"/>
              <a:ext cx="2076" cy="1246"/>
            </a:xfrm>
            <a:prstGeom prst="ellipse">
              <a:avLst/>
            </a:prstGeom>
            <a:noFill/>
            <a:ln w="19050" cap="rnd">
              <a:solidFill>
                <a:srgbClr val="00B05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6" name="Line 7"/>
            <p:cNvSpPr>
              <a:spLocks noChangeShapeType="1"/>
            </p:cNvSpPr>
            <p:nvPr/>
          </p:nvSpPr>
          <p:spPr bwMode="auto">
            <a:xfrm flipH="1">
              <a:off x="2370" y="1463"/>
              <a:ext cx="1030" cy="1082"/>
            </a:xfrm>
            <a:prstGeom prst="line">
              <a:avLst/>
            </a:prstGeom>
            <a:noFill/>
            <a:ln w="19050" cap="rnd">
              <a:solidFill>
                <a:srgbClr val="FF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7" name="Line 8"/>
            <p:cNvSpPr>
              <a:spLocks noChangeShapeType="1"/>
            </p:cNvSpPr>
            <p:nvPr/>
          </p:nvSpPr>
          <p:spPr bwMode="auto">
            <a:xfrm>
              <a:off x="2382" y="1458"/>
              <a:ext cx="1541" cy="529"/>
            </a:xfrm>
            <a:prstGeom prst="line">
              <a:avLst/>
            </a:prstGeom>
            <a:noFill/>
            <a:ln w="19050" cap="rnd">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0" name="Line 11"/>
            <p:cNvSpPr>
              <a:spLocks noChangeShapeType="1"/>
            </p:cNvSpPr>
            <p:nvPr/>
          </p:nvSpPr>
          <p:spPr bwMode="auto">
            <a:xfrm>
              <a:off x="2499" y="1154"/>
              <a:ext cx="1802" cy="618"/>
            </a:xfrm>
            <a:prstGeom prst="line">
              <a:avLst/>
            </a:prstGeom>
            <a:noFill/>
            <a:ln w="19050" cap="rnd">
              <a:solidFill>
                <a:srgbClr val="0000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1" name="Line 12"/>
            <p:cNvSpPr>
              <a:spLocks noChangeShapeType="1"/>
            </p:cNvSpPr>
            <p:nvPr/>
          </p:nvSpPr>
          <p:spPr bwMode="auto">
            <a:xfrm>
              <a:off x="1469" y="2236"/>
              <a:ext cx="1802" cy="618"/>
            </a:xfrm>
            <a:prstGeom prst="line">
              <a:avLst/>
            </a:prstGeom>
            <a:noFill/>
            <a:ln w="19050" cap="rnd">
              <a:solidFill>
                <a:srgbClr val="0000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2" name="Oval 13"/>
            <p:cNvSpPr>
              <a:spLocks noChangeArrowheads="1"/>
            </p:cNvSpPr>
            <p:nvPr/>
          </p:nvSpPr>
          <p:spPr bwMode="auto">
            <a:xfrm>
              <a:off x="3127" y="1698"/>
              <a:ext cx="50" cy="50"/>
            </a:xfrm>
            <a:prstGeom prst="ellipse">
              <a:avLst/>
            </a:prstGeom>
            <a:solidFill>
              <a:srgbClr val="FFFFFF"/>
            </a:solidFill>
            <a:ln w="19050" cap="rnd">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6" name="Oval 17"/>
            <p:cNvSpPr>
              <a:spLocks noChangeArrowheads="1"/>
            </p:cNvSpPr>
            <p:nvPr/>
          </p:nvSpPr>
          <p:spPr bwMode="auto">
            <a:xfrm>
              <a:off x="2860" y="1979"/>
              <a:ext cx="50" cy="50"/>
            </a:xfrm>
            <a:prstGeom prst="ellipse">
              <a:avLst/>
            </a:prstGeom>
            <a:solidFill>
              <a:srgbClr val="FFFFFF"/>
            </a:solidFill>
            <a:ln w="12700" cap="rnd">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8" name="Oval 17"/>
            <p:cNvSpPr>
              <a:spLocks noChangeArrowheads="1"/>
            </p:cNvSpPr>
            <p:nvPr/>
          </p:nvSpPr>
          <p:spPr bwMode="auto">
            <a:xfrm>
              <a:off x="2364" y="1436"/>
              <a:ext cx="50" cy="50"/>
            </a:xfrm>
            <a:prstGeom prst="ellipse">
              <a:avLst/>
            </a:prstGeom>
            <a:solidFill>
              <a:srgbClr val="FFFFFF"/>
            </a:solidFill>
            <a:ln w="12700" cap="rnd">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9" name="Oval 17"/>
            <p:cNvSpPr>
              <a:spLocks noChangeArrowheads="1"/>
            </p:cNvSpPr>
            <p:nvPr/>
          </p:nvSpPr>
          <p:spPr bwMode="auto">
            <a:xfrm>
              <a:off x="3896" y="1958"/>
              <a:ext cx="50" cy="50"/>
            </a:xfrm>
            <a:prstGeom prst="ellipse">
              <a:avLst/>
            </a:prstGeom>
            <a:solidFill>
              <a:srgbClr val="FFFFFF"/>
            </a:solidFill>
            <a:ln w="12700" cap="rnd">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grpSp>
      <mc:AlternateContent xmlns:mc="http://schemas.openxmlformats.org/markup-compatibility/2006" xmlns:a14="http://schemas.microsoft.com/office/drawing/2010/main">
        <mc:Choice Requires="a14">
          <p:sp>
            <p:nvSpPr>
              <p:cNvPr id="20" name="文本框 19"/>
              <p:cNvSpPr txBox="1"/>
              <p:nvPr/>
            </p:nvSpPr>
            <p:spPr>
              <a:xfrm>
                <a:off x="872395" y="1790535"/>
                <a:ext cx="1207959"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ja-JP" sz="2800" b="0" i="1" smtClean="0">
                              <a:latin typeface="Cambria Math" panose="02040503050406030204" pitchFamily="18" charset="0"/>
                            </a:rPr>
                          </m:ctrlPr>
                        </m:sSubPr>
                        <m:e>
                          <m:r>
                            <a:rPr lang="en-US" altLang="ja-JP" sz="2800" b="0" i="1" smtClean="0">
                              <a:latin typeface="Cambria Math" panose="02040503050406030204" pitchFamily="18" charset="0"/>
                            </a:rPr>
                            <m:t>(</m:t>
                          </m:r>
                          <m:r>
                            <a:rPr lang="en-US" altLang="ja-JP" sz="2800" b="0" i="1" smtClean="0">
                              <a:latin typeface="Cambria Math" panose="02040503050406030204" pitchFamily="18" charset="0"/>
                            </a:rPr>
                            <m:t>𝑥</m:t>
                          </m:r>
                        </m:e>
                        <m:sub>
                          <m:r>
                            <a:rPr lang="en-US" altLang="ja-JP" sz="2800" b="0" i="1" smtClean="0">
                              <a:latin typeface="Cambria Math" panose="02040503050406030204" pitchFamily="18" charset="0"/>
                            </a:rPr>
                            <m:t>1</m:t>
                          </m:r>
                        </m:sub>
                      </m:sSub>
                      <m:r>
                        <a:rPr lang="en-US" altLang="ja-JP" sz="2800" b="0" i="1" smtClean="0">
                          <a:latin typeface="Cambria Math" panose="02040503050406030204" pitchFamily="18" charset="0"/>
                        </a:rPr>
                        <m:t>,</m:t>
                      </m:r>
                      <m:sSub>
                        <m:sSubPr>
                          <m:ctrlPr>
                            <a:rPr lang="en-US" altLang="ja-JP" sz="2800" b="0" i="1" smtClean="0">
                              <a:latin typeface="Cambria Math" panose="02040503050406030204" pitchFamily="18" charset="0"/>
                            </a:rPr>
                          </m:ctrlPr>
                        </m:sSubPr>
                        <m:e>
                          <m:r>
                            <a:rPr lang="en-US" altLang="ja-JP" sz="2800" b="0" i="1" smtClean="0">
                              <a:latin typeface="Cambria Math" panose="02040503050406030204" pitchFamily="18" charset="0"/>
                            </a:rPr>
                            <m:t>𝑦</m:t>
                          </m:r>
                        </m:e>
                        <m:sub>
                          <m:r>
                            <a:rPr lang="en-US" altLang="ja-JP" sz="2800" b="0" i="1" smtClean="0">
                              <a:latin typeface="Cambria Math" panose="02040503050406030204" pitchFamily="18" charset="0"/>
                            </a:rPr>
                            <m:t>1</m:t>
                          </m:r>
                        </m:sub>
                      </m:sSub>
                      <m:r>
                        <a:rPr lang="en-US" altLang="ja-JP" sz="2800" b="0" i="1" smtClean="0">
                          <a:latin typeface="Cambria Math" panose="02040503050406030204" pitchFamily="18" charset="0"/>
                        </a:rPr>
                        <m:t>)</m:t>
                      </m:r>
                    </m:oMath>
                  </m:oMathPara>
                </a14:m>
                <a:endParaRPr lang="en-US" altLang="ja-JP" sz="2800" b="0" dirty="0" smtClean="0"/>
              </a:p>
            </p:txBody>
          </p:sp>
        </mc:Choice>
        <mc:Fallback xmlns="">
          <p:sp>
            <p:nvSpPr>
              <p:cNvPr id="20" name="文本框 19"/>
              <p:cNvSpPr txBox="1">
                <a:spLocks noRot="1" noChangeAspect="1" noMove="1" noResize="1" noEditPoints="1" noAdjustHandles="1" noChangeArrowheads="1" noChangeShapeType="1" noTextEdit="1"/>
              </p:cNvSpPr>
              <p:nvPr/>
            </p:nvSpPr>
            <p:spPr>
              <a:xfrm>
                <a:off x="872395" y="1790535"/>
                <a:ext cx="1207959" cy="430887"/>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文本框 20"/>
              <p:cNvSpPr txBox="1"/>
              <p:nvPr/>
            </p:nvSpPr>
            <p:spPr>
              <a:xfrm>
                <a:off x="4523253" y="2842707"/>
                <a:ext cx="1224502"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ja-JP" sz="2800" b="0" i="1" smtClean="0">
                              <a:latin typeface="Cambria Math" panose="02040503050406030204" pitchFamily="18" charset="0"/>
                            </a:rPr>
                          </m:ctrlPr>
                        </m:sSubPr>
                        <m:e>
                          <m:r>
                            <a:rPr lang="en-US" altLang="ja-JP" sz="2800" b="0" i="1" smtClean="0">
                              <a:latin typeface="Cambria Math" panose="02040503050406030204" pitchFamily="18" charset="0"/>
                            </a:rPr>
                            <m:t>(</m:t>
                          </m:r>
                          <m:r>
                            <a:rPr lang="en-US" altLang="ja-JP" sz="2800" b="0" i="1" smtClean="0">
                              <a:latin typeface="Cambria Math" panose="02040503050406030204" pitchFamily="18" charset="0"/>
                            </a:rPr>
                            <m:t>𝑥</m:t>
                          </m:r>
                        </m:e>
                        <m:sub>
                          <m:r>
                            <a:rPr lang="en-US" altLang="ja-JP" sz="2800" b="0" i="1" smtClean="0">
                              <a:latin typeface="Cambria Math" panose="02040503050406030204" pitchFamily="18" charset="0"/>
                            </a:rPr>
                            <m:t>2</m:t>
                          </m:r>
                        </m:sub>
                      </m:sSub>
                      <m:r>
                        <a:rPr lang="en-US" altLang="ja-JP" sz="2800" b="0" i="1" smtClean="0">
                          <a:latin typeface="Cambria Math" panose="02040503050406030204" pitchFamily="18" charset="0"/>
                        </a:rPr>
                        <m:t>,</m:t>
                      </m:r>
                      <m:sSub>
                        <m:sSubPr>
                          <m:ctrlPr>
                            <a:rPr lang="en-US" altLang="ja-JP" sz="2800" b="0" i="1" smtClean="0">
                              <a:latin typeface="Cambria Math" panose="02040503050406030204" pitchFamily="18" charset="0"/>
                            </a:rPr>
                          </m:ctrlPr>
                        </m:sSubPr>
                        <m:e>
                          <m:r>
                            <a:rPr lang="en-US" altLang="ja-JP" sz="2800" b="0" i="1" smtClean="0">
                              <a:latin typeface="Cambria Math" panose="02040503050406030204" pitchFamily="18" charset="0"/>
                            </a:rPr>
                            <m:t>𝑦</m:t>
                          </m:r>
                        </m:e>
                        <m:sub>
                          <m:r>
                            <a:rPr lang="en-US" altLang="ja-JP" sz="2800" b="0" i="1" smtClean="0">
                              <a:latin typeface="Cambria Math" panose="02040503050406030204" pitchFamily="18" charset="0"/>
                            </a:rPr>
                            <m:t>2</m:t>
                          </m:r>
                        </m:sub>
                      </m:sSub>
                      <m:r>
                        <a:rPr lang="en-US" altLang="ja-JP" sz="2800" b="0" i="1" smtClean="0">
                          <a:latin typeface="Cambria Math" panose="02040503050406030204" pitchFamily="18" charset="0"/>
                        </a:rPr>
                        <m:t>)</m:t>
                      </m:r>
                    </m:oMath>
                  </m:oMathPara>
                </a14:m>
                <a:endParaRPr lang="en-US" altLang="ja-JP" sz="2800" b="0" dirty="0" smtClean="0"/>
              </a:p>
            </p:txBody>
          </p:sp>
        </mc:Choice>
        <mc:Fallback xmlns="">
          <p:sp>
            <p:nvSpPr>
              <p:cNvPr id="21" name="文本框 20"/>
              <p:cNvSpPr txBox="1">
                <a:spLocks noRot="1" noChangeAspect="1" noMove="1" noResize="1" noEditPoints="1" noAdjustHandles="1" noChangeArrowheads="1" noChangeShapeType="1" noTextEdit="1"/>
              </p:cNvSpPr>
              <p:nvPr/>
            </p:nvSpPr>
            <p:spPr>
              <a:xfrm>
                <a:off x="4523253" y="2842707"/>
                <a:ext cx="1224502" cy="430887"/>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本框 21"/>
              <p:cNvSpPr txBox="1"/>
              <p:nvPr/>
            </p:nvSpPr>
            <p:spPr>
              <a:xfrm>
                <a:off x="2769294" y="2585727"/>
                <a:ext cx="1394421"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ja-JP" sz="2800" b="0" i="1" smtClean="0">
                              <a:latin typeface="Cambria Math" panose="02040503050406030204" pitchFamily="18" charset="0"/>
                            </a:rPr>
                          </m:ctrlPr>
                        </m:sSubPr>
                        <m:e>
                          <m:r>
                            <a:rPr lang="en-US" altLang="ja-JP" sz="2800" b="0" i="1" smtClean="0">
                              <a:latin typeface="Cambria Math" panose="02040503050406030204" pitchFamily="18" charset="0"/>
                            </a:rPr>
                            <m:t>(</m:t>
                          </m:r>
                          <m:r>
                            <a:rPr lang="en-US" altLang="ja-JP" sz="2800" b="0" i="1" smtClean="0">
                              <a:latin typeface="Cambria Math" panose="02040503050406030204" pitchFamily="18" charset="0"/>
                            </a:rPr>
                            <m:t>𝑥</m:t>
                          </m:r>
                        </m:e>
                        <m:sub>
                          <m:r>
                            <a:rPr lang="en-US" altLang="ja-JP" sz="2800" b="0" i="1" smtClean="0">
                              <a:latin typeface="Cambria Math" panose="02040503050406030204" pitchFamily="18" charset="0"/>
                            </a:rPr>
                            <m:t>𝑀</m:t>
                          </m:r>
                        </m:sub>
                      </m:sSub>
                      <m:r>
                        <a:rPr lang="en-US" altLang="ja-JP" sz="2800" b="0" i="1" smtClean="0">
                          <a:latin typeface="Cambria Math" panose="02040503050406030204" pitchFamily="18" charset="0"/>
                        </a:rPr>
                        <m:t>,</m:t>
                      </m:r>
                      <m:sSub>
                        <m:sSubPr>
                          <m:ctrlPr>
                            <a:rPr lang="en-US" altLang="ja-JP" sz="2800" b="0" i="1" smtClean="0">
                              <a:latin typeface="Cambria Math" panose="02040503050406030204" pitchFamily="18" charset="0"/>
                            </a:rPr>
                          </m:ctrlPr>
                        </m:sSubPr>
                        <m:e>
                          <m:r>
                            <a:rPr lang="en-US" altLang="ja-JP" sz="2800" b="0" i="1" smtClean="0">
                              <a:latin typeface="Cambria Math" panose="02040503050406030204" pitchFamily="18" charset="0"/>
                            </a:rPr>
                            <m:t>𝑦</m:t>
                          </m:r>
                        </m:e>
                        <m:sub>
                          <m:r>
                            <a:rPr lang="en-US" altLang="ja-JP" sz="2800" b="0" i="1" smtClean="0">
                              <a:latin typeface="Cambria Math" panose="02040503050406030204" pitchFamily="18" charset="0"/>
                            </a:rPr>
                            <m:t>𝑀</m:t>
                          </m:r>
                        </m:sub>
                      </m:sSub>
                      <m:r>
                        <a:rPr lang="en-US" altLang="ja-JP" sz="2800" b="0" i="1" smtClean="0">
                          <a:latin typeface="Cambria Math" panose="02040503050406030204" pitchFamily="18" charset="0"/>
                        </a:rPr>
                        <m:t>)</m:t>
                      </m:r>
                    </m:oMath>
                  </m:oMathPara>
                </a14:m>
                <a:endParaRPr lang="en-US" altLang="ja-JP" sz="2800" b="0" dirty="0" smtClean="0"/>
              </a:p>
            </p:txBody>
          </p:sp>
        </mc:Choice>
        <mc:Fallback xmlns="">
          <p:sp>
            <p:nvSpPr>
              <p:cNvPr id="22" name="文本框 21"/>
              <p:cNvSpPr txBox="1">
                <a:spLocks noRot="1" noChangeAspect="1" noMove="1" noResize="1" noEditPoints="1" noAdjustHandles="1" noChangeArrowheads="1" noChangeShapeType="1" noTextEdit="1"/>
              </p:cNvSpPr>
              <p:nvPr/>
            </p:nvSpPr>
            <p:spPr>
              <a:xfrm>
                <a:off x="2769294" y="2585727"/>
                <a:ext cx="1394421" cy="430887"/>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文本框 22"/>
              <p:cNvSpPr txBox="1"/>
              <p:nvPr/>
            </p:nvSpPr>
            <p:spPr>
              <a:xfrm>
                <a:off x="5917156" y="1655427"/>
                <a:ext cx="1937710" cy="87087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ja-JP" sz="2800" b="0" i="1" smtClean="0">
                              <a:latin typeface="Cambria Math" panose="02040503050406030204" pitchFamily="18" charset="0"/>
                            </a:rPr>
                          </m:ctrlPr>
                        </m:fPr>
                        <m:num>
                          <m:sSubSup>
                            <m:sSubSupPr>
                              <m:ctrlPr>
                                <a:rPr lang="en-US" altLang="ja-JP" sz="2800" b="0" i="1" smtClean="0">
                                  <a:latin typeface="Cambria Math" panose="02040503050406030204" pitchFamily="18" charset="0"/>
                                </a:rPr>
                              </m:ctrlPr>
                            </m:sSubSupPr>
                            <m:e>
                              <m:r>
                                <a:rPr lang="en-US" altLang="ja-JP" sz="2800" b="0" i="1" smtClean="0">
                                  <a:latin typeface="Cambria Math" panose="02040503050406030204" pitchFamily="18" charset="0"/>
                                </a:rPr>
                                <m:t>𝑥</m:t>
                              </m:r>
                            </m:e>
                            <m:sub>
                              <m:r>
                                <a:rPr lang="en-US" altLang="ja-JP" sz="2800" b="0" i="1" smtClean="0">
                                  <a:latin typeface="Cambria Math" panose="02040503050406030204" pitchFamily="18" charset="0"/>
                                </a:rPr>
                                <m:t>1</m:t>
                              </m:r>
                            </m:sub>
                            <m:sup>
                              <m:r>
                                <a:rPr lang="en-US" altLang="ja-JP" sz="2800" b="0" i="1" smtClean="0">
                                  <a:latin typeface="Cambria Math" panose="02040503050406030204" pitchFamily="18" charset="0"/>
                                </a:rPr>
                                <m:t>2</m:t>
                              </m:r>
                            </m:sup>
                          </m:sSubSup>
                        </m:num>
                        <m:den>
                          <m:sSup>
                            <m:sSupPr>
                              <m:ctrlPr>
                                <a:rPr lang="en-US" altLang="ja-JP" sz="2800" b="0" i="1" smtClean="0">
                                  <a:latin typeface="Cambria Math" panose="02040503050406030204" pitchFamily="18" charset="0"/>
                                </a:rPr>
                              </m:ctrlPr>
                            </m:sSupPr>
                            <m:e>
                              <m:r>
                                <a:rPr lang="en-US" altLang="ja-JP" sz="2800" b="0" i="1" smtClean="0">
                                  <a:latin typeface="Cambria Math" panose="02040503050406030204" pitchFamily="18" charset="0"/>
                                </a:rPr>
                                <m:t>𝑎</m:t>
                              </m:r>
                            </m:e>
                            <m:sup>
                              <m:r>
                                <a:rPr lang="en-US" altLang="ja-JP" sz="2800" b="0" i="1" smtClean="0">
                                  <a:latin typeface="Cambria Math" panose="02040503050406030204" pitchFamily="18" charset="0"/>
                                </a:rPr>
                                <m:t>2</m:t>
                              </m:r>
                            </m:sup>
                          </m:sSup>
                        </m:den>
                      </m:f>
                      <m:r>
                        <a:rPr lang="en-US" altLang="ja-JP" sz="2800" b="0" i="1" smtClean="0">
                          <a:latin typeface="Cambria Math" panose="02040503050406030204" pitchFamily="18" charset="0"/>
                        </a:rPr>
                        <m:t>+</m:t>
                      </m:r>
                      <m:f>
                        <m:fPr>
                          <m:ctrlPr>
                            <a:rPr lang="en-US" altLang="ja-JP" sz="2800" b="0" i="1" smtClean="0">
                              <a:latin typeface="Cambria Math" panose="02040503050406030204" pitchFamily="18" charset="0"/>
                            </a:rPr>
                          </m:ctrlPr>
                        </m:fPr>
                        <m:num>
                          <m:sSubSup>
                            <m:sSubSupPr>
                              <m:ctrlPr>
                                <a:rPr lang="en-US" altLang="ja-JP" sz="2800" b="0" i="1" smtClean="0">
                                  <a:latin typeface="Cambria Math" panose="02040503050406030204" pitchFamily="18" charset="0"/>
                                </a:rPr>
                              </m:ctrlPr>
                            </m:sSubSupPr>
                            <m:e>
                              <m:r>
                                <a:rPr lang="en-US" altLang="ja-JP" sz="2800" b="0" i="1" smtClean="0">
                                  <a:latin typeface="Cambria Math" panose="02040503050406030204" pitchFamily="18" charset="0"/>
                                </a:rPr>
                                <m:t>𝑦</m:t>
                              </m:r>
                            </m:e>
                            <m:sub>
                              <m:r>
                                <a:rPr lang="en-US" altLang="ja-JP" sz="2800" b="0" i="1" smtClean="0">
                                  <a:latin typeface="Cambria Math" panose="02040503050406030204" pitchFamily="18" charset="0"/>
                                </a:rPr>
                                <m:t>1</m:t>
                              </m:r>
                            </m:sub>
                            <m:sup>
                              <m:r>
                                <a:rPr lang="en-US" altLang="ja-JP" sz="2800" b="0" i="1" smtClean="0">
                                  <a:latin typeface="Cambria Math" panose="02040503050406030204" pitchFamily="18" charset="0"/>
                                </a:rPr>
                                <m:t>2</m:t>
                              </m:r>
                            </m:sup>
                          </m:sSubSup>
                        </m:num>
                        <m:den>
                          <m:sSup>
                            <m:sSupPr>
                              <m:ctrlPr>
                                <a:rPr lang="en-US" altLang="ja-JP" sz="2800" b="0" i="1" smtClean="0">
                                  <a:latin typeface="Cambria Math" panose="02040503050406030204" pitchFamily="18" charset="0"/>
                                </a:rPr>
                              </m:ctrlPr>
                            </m:sSupPr>
                            <m:e>
                              <m:r>
                                <a:rPr lang="en-US" altLang="ja-JP" sz="2800" b="0" i="1" smtClean="0">
                                  <a:latin typeface="Cambria Math" panose="02040503050406030204" pitchFamily="18" charset="0"/>
                                </a:rPr>
                                <m:t>𝑏</m:t>
                              </m:r>
                            </m:e>
                            <m:sup>
                              <m:r>
                                <a:rPr lang="en-US" altLang="ja-JP" sz="2800" b="0" i="1" smtClean="0">
                                  <a:latin typeface="Cambria Math" panose="02040503050406030204" pitchFamily="18" charset="0"/>
                                </a:rPr>
                                <m:t>2</m:t>
                              </m:r>
                            </m:sup>
                          </m:sSup>
                        </m:den>
                      </m:f>
                      <m:r>
                        <a:rPr lang="en-US" altLang="ja-JP" sz="2800" b="0" i="1" smtClean="0">
                          <a:latin typeface="Cambria Math" panose="02040503050406030204" pitchFamily="18" charset="0"/>
                        </a:rPr>
                        <m:t>=1</m:t>
                      </m:r>
                    </m:oMath>
                  </m:oMathPara>
                </a14:m>
                <a:endParaRPr lang="en-US" altLang="ja-JP" sz="2800" b="0" dirty="0" smtClean="0"/>
              </a:p>
            </p:txBody>
          </p:sp>
        </mc:Choice>
        <mc:Fallback xmlns="">
          <p:sp>
            <p:nvSpPr>
              <p:cNvPr id="23" name="文本框 22"/>
              <p:cNvSpPr txBox="1">
                <a:spLocks noRot="1" noChangeAspect="1" noMove="1" noResize="1" noEditPoints="1" noAdjustHandles="1" noChangeArrowheads="1" noChangeShapeType="1" noTextEdit="1"/>
              </p:cNvSpPr>
              <p:nvPr/>
            </p:nvSpPr>
            <p:spPr>
              <a:xfrm>
                <a:off x="5917156" y="1655427"/>
                <a:ext cx="1937710" cy="870879"/>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文本框 23"/>
              <p:cNvSpPr txBox="1"/>
              <p:nvPr/>
            </p:nvSpPr>
            <p:spPr>
              <a:xfrm>
                <a:off x="5917156" y="2622710"/>
                <a:ext cx="1937710" cy="87087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ja-JP" sz="2800" b="0" i="1" smtClean="0">
                              <a:latin typeface="Cambria Math" panose="02040503050406030204" pitchFamily="18" charset="0"/>
                            </a:rPr>
                          </m:ctrlPr>
                        </m:fPr>
                        <m:num>
                          <m:sSubSup>
                            <m:sSubSupPr>
                              <m:ctrlPr>
                                <a:rPr lang="en-US" altLang="ja-JP" sz="2800" b="0" i="1" smtClean="0">
                                  <a:latin typeface="Cambria Math" panose="02040503050406030204" pitchFamily="18" charset="0"/>
                                </a:rPr>
                              </m:ctrlPr>
                            </m:sSubSupPr>
                            <m:e>
                              <m:r>
                                <a:rPr lang="en-US" altLang="ja-JP" sz="2800" b="0" i="1" smtClean="0">
                                  <a:latin typeface="Cambria Math" panose="02040503050406030204" pitchFamily="18" charset="0"/>
                                </a:rPr>
                                <m:t>𝑥</m:t>
                              </m:r>
                            </m:e>
                            <m:sub>
                              <m:r>
                                <a:rPr lang="en-US" altLang="ja-JP" sz="2800" b="0" i="1" smtClean="0">
                                  <a:latin typeface="Cambria Math" panose="02040503050406030204" pitchFamily="18" charset="0"/>
                                </a:rPr>
                                <m:t>2</m:t>
                              </m:r>
                            </m:sub>
                            <m:sup>
                              <m:r>
                                <a:rPr lang="en-US" altLang="ja-JP" sz="2800" b="0" i="1" smtClean="0">
                                  <a:latin typeface="Cambria Math" panose="02040503050406030204" pitchFamily="18" charset="0"/>
                                </a:rPr>
                                <m:t>2</m:t>
                              </m:r>
                            </m:sup>
                          </m:sSubSup>
                        </m:num>
                        <m:den>
                          <m:sSup>
                            <m:sSupPr>
                              <m:ctrlPr>
                                <a:rPr lang="en-US" altLang="ja-JP" sz="2800" b="0" i="1" smtClean="0">
                                  <a:latin typeface="Cambria Math" panose="02040503050406030204" pitchFamily="18" charset="0"/>
                                </a:rPr>
                              </m:ctrlPr>
                            </m:sSupPr>
                            <m:e>
                              <m:r>
                                <a:rPr lang="en-US" altLang="ja-JP" sz="2800" b="0" i="1" smtClean="0">
                                  <a:latin typeface="Cambria Math" panose="02040503050406030204" pitchFamily="18" charset="0"/>
                                </a:rPr>
                                <m:t>𝑎</m:t>
                              </m:r>
                            </m:e>
                            <m:sup>
                              <m:r>
                                <a:rPr lang="en-US" altLang="ja-JP" sz="2800" b="0" i="1" smtClean="0">
                                  <a:latin typeface="Cambria Math" panose="02040503050406030204" pitchFamily="18" charset="0"/>
                                </a:rPr>
                                <m:t>2</m:t>
                              </m:r>
                            </m:sup>
                          </m:sSup>
                        </m:den>
                      </m:f>
                      <m:r>
                        <a:rPr lang="en-US" altLang="ja-JP" sz="2800" b="0" i="1" smtClean="0">
                          <a:latin typeface="Cambria Math" panose="02040503050406030204" pitchFamily="18" charset="0"/>
                        </a:rPr>
                        <m:t>+</m:t>
                      </m:r>
                      <m:f>
                        <m:fPr>
                          <m:ctrlPr>
                            <a:rPr lang="en-US" altLang="ja-JP" sz="2800" b="0" i="1" smtClean="0">
                              <a:latin typeface="Cambria Math" panose="02040503050406030204" pitchFamily="18" charset="0"/>
                            </a:rPr>
                          </m:ctrlPr>
                        </m:fPr>
                        <m:num>
                          <m:sSubSup>
                            <m:sSubSupPr>
                              <m:ctrlPr>
                                <a:rPr lang="en-US" altLang="ja-JP" sz="2800" b="0" i="1" smtClean="0">
                                  <a:latin typeface="Cambria Math" panose="02040503050406030204" pitchFamily="18" charset="0"/>
                                </a:rPr>
                              </m:ctrlPr>
                            </m:sSubSupPr>
                            <m:e>
                              <m:r>
                                <a:rPr lang="en-US" altLang="ja-JP" sz="2800" b="0" i="1" smtClean="0">
                                  <a:latin typeface="Cambria Math" panose="02040503050406030204" pitchFamily="18" charset="0"/>
                                </a:rPr>
                                <m:t>𝑦</m:t>
                              </m:r>
                            </m:e>
                            <m:sub>
                              <m:r>
                                <a:rPr lang="en-US" altLang="ja-JP" sz="2800" b="0" i="1" smtClean="0">
                                  <a:latin typeface="Cambria Math" panose="02040503050406030204" pitchFamily="18" charset="0"/>
                                </a:rPr>
                                <m:t>2</m:t>
                              </m:r>
                            </m:sub>
                            <m:sup>
                              <m:r>
                                <a:rPr lang="en-US" altLang="ja-JP" sz="2800" b="0" i="1" smtClean="0">
                                  <a:latin typeface="Cambria Math" panose="02040503050406030204" pitchFamily="18" charset="0"/>
                                </a:rPr>
                                <m:t>2</m:t>
                              </m:r>
                            </m:sup>
                          </m:sSubSup>
                        </m:num>
                        <m:den>
                          <m:sSup>
                            <m:sSupPr>
                              <m:ctrlPr>
                                <a:rPr lang="en-US" altLang="ja-JP" sz="2800" b="0" i="1" smtClean="0">
                                  <a:latin typeface="Cambria Math" panose="02040503050406030204" pitchFamily="18" charset="0"/>
                                </a:rPr>
                              </m:ctrlPr>
                            </m:sSupPr>
                            <m:e>
                              <m:r>
                                <a:rPr lang="en-US" altLang="ja-JP" sz="2800" b="0" i="1" smtClean="0">
                                  <a:latin typeface="Cambria Math" panose="02040503050406030204" pitchFamily="18" charset="0"/>
                                </a:rPr>
                                <m:t>𝑏</m:t>
                              </m:r>
                            </m:e>
                            <m:sup>
                              <m:r>
                                <a:rPr lang="en-US" altLang="ja-JP" sz="2800" b="0" i="1" smtClean="0">
                                  <a:latin typeface="Cambria Math" panose="02040503050406030204" pitchFamily="18" charset="0"/>
                                </a:rPr>
                                <m:t>2</m:t>
                              </m:r>
                            </m:sup>
                          </m:sSup>
                        </m:den>
                      </m:f>
                      <m:r>
                        <a:rPr lang="en-US" altLang="ja-JP" sz="2800" b="0" i="1" smtClean="0">
                          <a:latin typeface="Cambria Math" panose="02040503050406030204" pitchFamily="18" charset="0"/>
                        </a:rPr>
                        <m:t>=1</m:t>
                      </m:r>
                    </m:oMath>
                  </m:oMathPara>
                </a14:m>
                <a:endParaRPr lang="en-US" altLang="ja-JP" sz="2800" b="0" dirty="0" smtClean="0"/>
              </a:p>
            </p:txBody>
          </p:sp>
        </mc:Choice>
        <mc:Fallback xmlns="">
          <p:sp>
            <p:nvSpPr>
              <p:cNvPr id="24" name="文本框 23"/>
              <p:cNvSpPr txBox="1">
                <a:spLocks noRot="1" noChangeAspect="1" noMove="1" noResize="1" noEditPoints="1" noAdjustHandles="1" noChangeArrowheads="1" noChangeShapeType="1" noTextEdit="1"/>
              </p:cNvSpPr>
              <p:nvPr/>
            </p:nvSpPr>
            <p:spPr>
              <a:xfrm>
                <a:off x="5917156" y="2622710"/>
                <a:ext cx="1937710" cy="870879"/>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文本框 24"/>
              <p:cNvSpPr txBox="1"/>
              <p:nvPr/>
            </p:nvSpPr>
            <p:spPr>
              <a:xfrm>
                <a:off x="4572000" y="3617221"/>
                <a:ext cx="3554884" cy="87132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ja-JP" sz="2800" b="0" i="1" smtClean="0">
                              <a:latin typeface="Cambria Math" panose="02040503050406030204" pitchFamily="18" charset="0"/>
                            </a:rPr>
                          </m:ctrlPr>
                        </m:fPr>
                        <m:num>
                          <m:sSubSup>
                            <m:sSubSupPr>
                              <m:ctrlPr>
                                <a:rPr lang="en-US" altLang="ja-JP" sz="2800" b="0" i="1" smtClean="0">
                                  <a:latin typeface="Cambria Math" panose="02040503050406030204" pitchFamily="18" charset="0"/>
                                </a:rPr>
                              </m:ctrlPr>
                            </m:sSubSupPr>
                            <m:e>
                              <m:r>
                                <a:rPr lang="en-US" altLang="ja-JP" sz="2800" b="0" i="1" smtClean="0">
                                  <a:latin typeface="Cambria Math" panose="02040503050406030204" pitchFamily="18" charset="0"/>
                                </a:rPr>
                                <m:t>𝑥</m:t>
                              </m:r>
                            </m:e>
                            <m:sub>
                              <m:r>
                                <a:rPr lang="en-US" altLang="ja-JP" sz="2800" b="0" i="1" smtClean="0">
                                  <a:latin typeface="Cambria Math" panose="02040503050406030204" pitchFamily="18" charset="0"/>
                                </a:rPr>
                                <m:t>2</m:t>
                              </m:r>
                            </m:sub>
                            <m:sup>
                              <m:r>
                                <a:rPr lang="en-US" altLang="ja-JP" sz="2800" b="0" i="1" smtClean="0">
                                  <a:latin typeface="Cambria Math" panose="02040503050406030204" pitchFamily="18" charset="0"/>
                                </a:rPr>
                                <m:t>2</m:t>
                              </m:r>
                            </m:sup>
                          </m:sSubSup>
                          <m:r>
                            <a:rPr lang="en-US" altLang="ja-JP" sz="2800" b="0" i="1" smtClean="0">
                              <a:latin typeface="Cambria Math" panose="02040503050406030204" pitchFamily="18" charset="0"/>
                            </a:rPr>
                            <m:t>−</m:t>
                          </m:r>
                          <m:sSubSup>
                            <m:sSubSupPr>
                              <m:ctrlPr>
                                <a:rPr lang="en-US" altLang="ja-JP" sz="2800" b="0" i="1" smtClean="0">
                                  <a:latin typeface="Cambria Math" panose="02040503050406030204" pitchFamily="18" charset="0"/>
                                </a:rPr>
                              </m:ctrlPr>
                            </m:sSubSupPr>
                            <m:e>
                              <m:r>
                                <a:rPr lang="en-US" altLang="ja-JP" sz="2800" b="0" i="1" smtClean="0">
                                  <a:latin typeface="Cambria Math" panose="02040503050406030204" pitchFamily="18" charset="0"/>
                                </a:rPr>
                                <m:t>𝑥</m:t>
                              </m:r>
                            </m:e>
                            <m:sub>
                              <m:r>
                                <a:rPr lang="en-US" altLang="ja-JP" sz="2800" b="0" i="1" smtClean="0">
                                  <a:latin typeface="Cambria Math" panose="02040503050406030204" pitchFamily="18" charset="0"/>
                                </a:rPr>
                                <m:t>1</m:t>
                              </m:r>
                            </m:sub>
                            <m:sup>
                              <m:r>
                                <a:rPr lang="en-US" altLang="ja-JP" sz="2800" b="0" i="1" smtClean="0">
                                  <a:latin typeface="Cambria Math" panose="02040503050406030204" pitchFamily="18" charset="0"/>
                                </a:rPr>
                                <m:t>2</m:t>
                              </m:r>
                            </m:sup>
                          </m:sSubSup>
                        </m:num>
                        <m:den>
                          <m:sSup>
                            <m:sSupPr>
                              <m:ctrlPr>
                                <a:rPr lang="en-US" altLang="ja-JP" sz="2800" b="0" i="1" smtClean="0">
                                  <a:latin typeface="Cambria Math" panose="02040503050406030204" pitchFamily="18" charset="0"/>
                                </a:rPr>
                              </m:ctrlPr>
                            </m:sSupPr>
                            <m:e>
                              <m:r>
                                <a:rPr lang="en-US" altLang="ja-JP" sz="2800" b="0" i="1" smtClean="0">
                                  <a:latin typeface="Cambria Math" panose="02040503050406030204" pitchFamily="18" charset="0"/>
                                </a:rPr>
                                <m:t>𝑎</m:t>
                              </m:r>
                            </m:e>
                            <m:sup>
                              <m:r>
                                <a:rPr lang="en-US" altLang="ja-JP" sz="2800" b="0" i="1" smtClean="0">
                                  <a:latin typeface="Cambria Math" panose="02040503050406030204" pitchFamily="18" charset="0"/>
                                </a:rPr>
                                <m:t>2</m:t>
                              </m:r>
                            </m:sup>
                          </m:sSup>
                        </m:den>
                      </m:f>
                      <m:r>
                        <a:rPr lang="en-US" altLang="ja-JP" sz="2800" b="0" i="1" smtClean="0">
                          <a:latin typeface="Cambria Math" panose="02040503050406030204" pitchFamily="18" charset="0"/>
                        </a:rPr>
                        <m:t>+</m:t>
                      </m:r>
                      <m:f>
                        <m:fPr>
                          <m:ctrlPr>
                            <a:rPr lang="en-US" altLang="ja-JP" sz="2800" b="0" i="1" smtClean="0">
                              <a:latin typeface="Cambria Math" panose="02040503050406030204" pitchFamily="18" charset="0"/>
                            </a:rPr>
                          </m:ctrlPr>
                        </m:fPr>
                        <m:num>
                          <m:sSubSup>
                            <m:sSubSupPr>
                              <m:ctrlPr>
                                <a:rPr lang="en-US" altLang="ja-JP" sz="2800" b="0" i="1" smtClean="0">
                                  <a:latin typeface="Cambria Math" panose="02040503050406030204" pitchFamily="18" charset="0"/>
                                </a:rPr>
                              </m:ctrlPr>
                            </m:sSubSupPr>
                            <m:e>
                              <m:r>
                                <a:rPr lang="en-US" altLang="ja-JP" sz="2800" b="0" i="1" smtClean="0">
                                  <a:latin typeface="Cambria Math" panose="02040503050406030204" pitchFamily="18" charset="0"/>
                                </a:rPr>
                                <m:t>𝑦</m:t>
                              </m:r>
                            </m:e>
                            <m:sub>
                              <m:r>
                                <a:rPr lang="en-US" altLang="ja-JP" sz="2800" b="0" i="1" smtClean="0">
                                  <a:latin typeface="Cambria Math" panose="02040503050406030204" pitchFamily="18" charset="0"/>
                                </a:rPr>
                                <m:t>2</m:t>
                              </m:r>
                            </m:sub>
                            <m:sup>
                              <m:r>
                                <a:rPr lang="en-US" altLang="ja-JP" sz="2800" b="0" i="1" smtClean="0">
                                  <a:latin typeface="Cambria Math" panose="02040503050406030204" pitchFamily="18" charset="0"/>
                                </a:rPr>
                                <m:t>2</m:t>
                              </m:r>
                            </m:sup>
                          </m:sSubSup>
                          <m:r>
                            <a:rPr lang="en-US" altLang="ja-JP" sz="2800" b="0" i="1" smtClean="0">
                              <a:latin typeface="Cambria Math" panose="02040503050406030204" pitchFamily="18" charset="0"/>
                            </a:rPr>
                            <m:t>−</m:t>
                          </m:r>
                          <m:sSubSup>
                            <m:sSubSupPr>
                              <m:ctrlPr>
                                <a:rPr lang="en-US" altLang="ja-JP" sz="2800" b="0" i="1" smtClean="0">
                                  <a:latin typeface="Cambria Math" panose="02040503050406030204" pitchFamily="18" charset="0"/>
                                </a:rPr>
                              </m:ctrlPr>
                            </m:sSubSupPr>
                            <m:e>
                              <m:r>
                                <a:rPr lang="en-US" altLang="ja-JP" sz="2800" b="0" i="1" smtClean="0">
                                  <a:latin typeface="Cambria Math" panose="02040503050406030204" pitchFamily="18" charset="0"/>
                                </a:rPr>
                                <m:t>𝑦</m:t>
                              </m:r>
                            </m:e>
                            <m:sub>
                              <m:r>
                                <a:rPr lang="en-US" altLang="ja-JP" sz="2800" b="0" i="1" smtClean="0">
                                  <a:latin typeface="Cambria Math" panose="02040503050406030204" pitchFamily="18" charset="0"/>
                                </a:rPr>
                                <m:t>1</m:t>
                              </m:r>
                            </m:sub>
                            <m:sup>
                              <m:r>
                                <a:rPr lang="en-US" altLang="ja-JP" sz="2800" b="0" i="1" smtClean="0">
                                  <a:latin typeface="Cambria Math" panose="02040503050406030204" pitchFamily="18" charset="0"/>
                                </a:rPr>
                                <m:t>2</m:t>
                              </m:r>
                            </m:sup>
                          </m:sSubSup>
                        </m:num>
                        <m:den>
                          <m:sSup>
                            <m:sSupPr>
                              <m:ctrlPr>
                                <a:rPr lang="en-US" altLang="ja-JP" sz="2800" b="0" i="1" smtClean="0">
                                  <a:latin typeface="Cambria Math" panose="02040503050406030204" pitchFamily="18" charset="0"/>
                                </a:rPr>
                              </m:ctrlPr>
                            </m:sSupPr>
                            <m:e>
                              <m:r>
                                <a:rPr lang="en-US" altLang="ja-JP" sz="2800" b="0" i="1" smtClean="0">
                                  <a:latin typeface="Cambria Math" panose="02040503050406030204" pitchFamily="18" charset="0"/>
                                </a:rPr>
                                <m:t>𝑏</m:t>
                              </m:r>
                            </m:e>
                            <m:sup>
                              <m:r>
                                <a:rPr lang="en-US" altLang="ja-JP" sz="2800" b="0" i="1" smtClean="0">
                                  <a:latin typeface="Cambria Math" panose="02040503050406030204" pitchFamily="18" charset="0"/>
                                </a:rPr>
                                <m:t>2</m:t>
                              </m:r>
                            </m:sup>
                          </m:sSup>
                        </m:den>
                      </m:f>
                      <m:r>
                        <a:rPr lang="en-US" altLang="ja-JP" sz="2800" b="0" i="1" smtClean="0">
                          <a:latin typeface="Cambria Math" panose="02040503050406030204" pitchFamily="18" charset="0"/>
                        </a:rPr>
                        <m:t>=0</m:t>
                      </m:r>
                    </m:oMath>
                  </m:oMathPara>
                </a14:m>
                <a:endParaRPr lang="en-US" altLang="ja-JP" sz="2800" b="0" dirty="0" smtClean="0"/>
              </a:p>
            </p:txBody>
          </p:sp>
        </mc:Choice>
        <mc:Fallback xmlns="">
          <p:sp>
            <p:nvSpPr>
              <p:cNvPr id="25" name="文本框 24"/>
              <p:cNvSpPr txBox="1">
                <a:spLocks noRot="1" noChangeAspect="1" noMove="1" noResize="1" noEditPoints="1" noAdjustHandles="1" noChangeArrowheads="1" noChangeShapeType="1" noTextEdit="1"/>
              </p:cNvSpPr>
              <p:nvPr/>
            </p:nvSpPr>
            <p:spPr>
              <a:xfrm>
                <a:off x="4572000" y="3617221"/>
                <a:ext cx="3554884" cy="871329"/>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文本框 25"/>
              <p:cNvSpPr txBox="1"/>
              <p:nvPr/>
            </p:nvSpPr>
            <p:spPr>
              <a:xfrm>
                <a:off x="754566" y="4554152"/>
                <a:ext cx="6766724" cy="82067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ja-JP" sz="2800" b="0" i="1" smtClean="0">
                              <a:latin typeface="Cambria Math" panose="02040503050406030204" pitchFamily="18" charset="0"/>
                            </a:rPr>
                          </m:ctrlPr>
                        </m:fPr>
                        <m:num>
                          <m:sSub>
                            <m:sSubPr>
                              <m:ctrlPr>
                                <a:rPr lang="en-US" altLang="ja-JP" sz="2800" b="0" i="1" smtClean="0">
                                  <a:latin typeface="Cambria Math" panose="02040503050406030204" pitchFamily="18" charset="0"/>
                                </a:rPr>
                              </m:ctrlPr>
                            </m:sSubPr>
                            <m:e>
                              <m:r>
                                <a:rPr lang="en-US" altLang="ja-JP" sz="2800" b="0" i="1" smtClean="0">
                                  <a:latin typeface="Cambria Math" panose="02040503050406030204" pitchFamily="18" charset="0"/>
                                </a:rPr>
                                <m:t>(</m:t>
                              </m:r>
                              <m:r>
                                <a:rPr lang="en-US" altLang="ja-JP" sz="2800" b="0" i="1" smtClean="0">
                                  <a:latin typeface="Cambria Math" panose="02040503050406030204" pitchFamily="18" charset="0"/>
                                </a:rPr>
                                <m:t>𝑥</m:t>
                              </m:r>
                            </m:e>
                            <m:sub>
                              <m:r>
                                <a:rPr lang="en-US" altLang="ja-JP" sz="2800" b="0" i="1" smtClean="0">
                                  <a:latin typeface="Cambria Math" panose="02040503050406030204" pitchFamily="18" charset="0"/>
                                </a:rPr>
                                <m:t>2</m:t>
                              </m:r>
                            </m:sub>
                          </m:sSub>
                          <m:r>
                            <a:rPr lang="en-US" altLang="ja-JP" sz="2800" b="0" i="1" smtClean="0">
                              <a:latin typeface="Cambria Math" panose="02040503050406030204" pitchFamily="18" charset="0"/>
                            </a:rPr>
                            <m:t>+</m:t>
                          </m:r>
                          <m:sSub>
                            <m:sSubPr>
                              <m:ctrlPr>
                                <a:rPr lang="en-US" altLang="ja-JP" sz="2800" b="0" i="1" smtClean="0">
                                  <a:latin typeface="Cambria Math" panose="02040503050406030204" pitchFamily="18" charset="0"/>
                                </a:rPr>
                              </m:ctrlPr>
                            </m:sSubPr>
                            <m:e>
                              <m:r>
                                <a:rPr lang="en-US" altLang="ja-JP" sz="2800" b="0" i="1" smtClean="0">
                                  <a:latin typeface="Cambria Math" panose="02040503050406030204" pitchFamily="18" charset="0"/>
                                </a:rPr>
                                <m:t>𝑥</m:t>
                              </m:r>
                            </m:e>
                            <m:sub>
                              <m:r>
                                <a:rPr lang="en-US" altLang="ja-JP" sz="2800" b="0" i="1" smtClean="0">
                                  <a:latin typeface="Cambria Math" panose="02040503050406030204" pitchFamily="18" charset="0"/>
                                </a:rPr>
                                <m:t>1</m:t>
                              </m:r>
                            </m:sub>
                          </m:sSub>
                          <m:r>
                            <a:rPr lang="en-US" altLang="ja-JP" sz="2800" b="0" i="1" smtClean="0">
                              <a:latin typeface="Cambria Math" panose="02040503050406030204" pitchFamily="18" charset="0"/>
                            </a:rPr>
                            <m:t>)(</m:t>
                          </m:r>
                          <m:sSub>
                            <m:sSubPr>
                              <m:ctrlPr>
                                <a:rPr lang="en-US" altLang="ja-JP" sz="2800" b="0" i="1" smtClean="0">
                                  <a:latin typeface="Cambria Math" panose="02040503050406030204" pitchFamily="18" charset="0"/>
                                </a:rPr>
                              </m:ctrlPr>
                            </m:sSubPr>
                            <m:e>
                              <m:r>
                                <a:rPr lang="en-US" altLang="ja-JP" sz="2800" b="0" i="1" smtClean="0">
                                  <a:latin typeface="Cambria Math" panose="02040503050406030204" pitchFamily="18" charset="0"/>
                                </a:rPr>
                                <m:t>𝑥</m:t>
                              </m:r>
                            </m:e>
                            <m:sub>
                              <m:r>
                                <a:rPr lang="en-US" altLang="ja-JP" sz="2800" b="0" i="1" smtClean="0">
                                  <a:latin typeface="Cambria Math" panose="02040503050406030204" pitchFamily="18" charset="0"/>
                                </a:rPr>
                                <m:t>2</m:t>
                              </m:r>
                            </m:sub>
                          </m:sSub>
                          <m:r>
                            <a:rPr lang="en-US" altLang="ja-JP" sz="2800" b="0" i="1" smtClean="0">
                              <a:latin typeface="Cambria Math" panose="02040503050406030204" pitchFamily="18" charset="0"/>
                            </a:rPr>
                            <m:t>−</m:t>
                          </m:r>
                          <m:sSub>
                            <m:sSubPr>
                              <m:ctrlPr>
                                <a:rPr lang="en-US" altLang="ja-JP" sz="2800" b="0" i="1" smtClean="0">
                                  <a:latin typeface="Cambria Math" panose="02040503050406030204" pitchFamily="18" charset="0"/>
                                </a:rPr>
                              </m:ctrlPr>
                            </m:sSubPr>
                            <m:e>
                              <m:r>
                                <a:rPr lang="en-US" altLang="ja-JP" sz="2800" b="0" i="1" smtClean="0">
                                  <a:latin typeface="Cambria Math" panose="02040503050406030204" pitchFamily="18" charset="0"/>
                                </a:rPr>
                                <m:t>𝑥</m:t>
                              </m:r>
                            </m:e>
                            <m:sub>
                              <m:r>
                                <a:rPr lang="en-US" altLang="ja-JP" sz="2800" b="0" i="1" smtClean="0">
                                  <a:latin typeface="Cambria Math" panose="02040503050406030204" pitchFamily="18" charset="0"/>
                                </a:rPr>
                                <m:t>1</m:t>
                              </m:r>
                            </m:sub>
                          </m:sSub>
                          <m:r>
                            <a:rPr lang="en-US" altLang="ja-JP" sz="2800" b="0" i="1" smtClean="0">
                              <a:latin typeface="Cambria Math" panose="02040503050406030204" pitchFamily="18" charset="0"/>
                            </a:rPr>
                            <m:t>)</m:t>
                          </m:r>
                        </m:num>
                        <m:den>
                          <m:sSup>
                            <m:sSupPr>
                              <m:ctrlPr>
                                <a:rPr lang="en-US" altLang="ja-JP" sz="2800" b="0" i="1" smtClean="0">
                                  <a:latin typeface="Cambria Math" panose="02040503050406030204" pitchFamily="18" charset="0"/>
                                </a:rPr>
                              </m:ctrlPr>
                            </m:sSupPr>
                            <m:e>
                              <m:r>
                                <a:rPr lang="en-US" altLang="ja-JP" sz="2800" b="0" i="1" smtClean="0">
                                  <a:latin typeface="Cambria Math" panose="02040503050406030204" pitchFamily="18" charset="0"/>
                                </a:rPr>
                                <m:t>𝑎</m:t>
                              </m:r>
                            </m:e>
                            <m:sup>
                              <m:r>
                                <a:rPr lang="en-US" altLang="ja-JP" sz="2800" b="0" i="1" smtClean="0">
                                  <a:latin typeface="Cambria Math" panose="02040503050406030204" pitchFamily="18" charset="0"/>
                                </a:rPr>
                                <m:t>2</m:t>
                              </m:r>
                            </m:sup>
                          </m:sSup>
                        </m:den>
                      </m:f>
                      <m:r>
                        <a:rPr lang="en-US" altLang="ja-JP" sz="2800" b="0" i="1" smtClean="0">
                          <a:latin typeface="Cambria Math" panose="02040503050406030204" pitchFamily="18" charset="0"/>
                        </a:rPr>
                        <m:t>+</m:t>
                      </m:r>
                      <m:f>
                        <m:fPr>
                          <m:ctrlPr>
                            <a:rPr lang="en-US" altLang="ja-JP" sz="2800" b="0" i="1" smtClean="0">
                              <a:latin typeface="Cambria Math" panose="02040503050406030204" pitchFamily="18" charset="0"/>
                            </a:rPr>
                          </m:ctrlPr>
                        </m:fPr>
                        <m:num>
                          <m:r>
                            <a:rPr lang="en-US" altLang="ja-JP" sz="2800" b="0" i="1" smtClean="0">
                              <a:latin typeface="Cambria Math" panose="02040503050406030204" pitchFamily="18" charset="0"/>
                            </a:rPr>
                            <m:t>(</m:t>
                          </m:r>
                          <m:sSub>
                            <m:sSubPr>
                              <m:ctrlPr>
                                <a:rPr lang="en-US" altLang="ja-JP" sz="2800" b="0" i="1" smtClean="0">
                                  <a:latin typeface="Cambria Math" panose="02040503050406030204" pitchFamily="18" charset="0"/>
                                </a:rPr>
                              </m:ctrlPr>
                            </m:sSubPr>
                            <m:e>
                              <m:r>
                                <a:rPr lang="en-US" altLang="ja-JP" sz="2800" b="0" i="1" smtClean="0">
                                  <a:latin typeface="Cambria Math" panose="02040503050406030204" pitchFamily="18" charset="0"/>
                                </a:rPr>
                                <m:t>𝑦</m:t>
                              </m:r>
                            </m:e>
                            <m:sub>
                              <m:r>
                                <a:rPr lang="en-US" altLang="ja-JP" sz="2800" b="0" i="1" smtClean="0">
                                  <a:latin typeface="Cambria Math" panose="02040503050406030204" pitchFamily="18" charset="0"/>
                                </a:rPr>
                                <m:t>2</m:t>
                              </m:r>
                            </m:sub>
                          </m:sSub>
                          <m:r>
                            <a:rPr lang="en-US" altLang="ja-JP" sz="2800" b="0" i="1" smtClean="0">
                              <a:latin typeface="Cambria Math" panose="02040503050406030204" pitchFamily="18" charset="0"/>
                            </a:rPr>
                            <m:t>+</m:t>
                          </m:r>
                          <m:sSub>
                            <m:sSubPr>
                              <m:ctrlPr>
                                <a:rPr lang="en-US" altLang="ja-JP" sz="2800" b="0" i="1" smtClean="0">
                                  <a:latin typeface="Cambria Math" panose="02040503050406030204" pitchFamily="18" charset="0"/>
                                </a:rPr>
                              </m:ctrlPr>
                            </m:sSubPr>
                            <m:e>
                              <m:r>
                                <a:rPr lang="en-US" altLang="ja-JP" sz="2800" b="0" i="1" smtClean="0">
                                  <a:latin typeface="Cambria Math" panose="02040503050406030204" pitchFamily="18" charset="0"/>
                                </a:rPr>
                                <m:t>𝑦</m:t>
                              </m:r>
                            </m:e>
                            <m:sub>
                              <m:r>
                                <a:rPr lang="en-US" altLang="ja-JP" sz="2800" b="0" i="1" smtClean="0">
                                  <a:latin typeface="Cambria Math" panose="02040503050406030204" pitchFamily="18" charset="0"/>
                                </a:rPr>
                                <m:t>1</m:t>
                              </m:r>
                            </m:sub>
                          </m:sSub>
                          <m:r>
                            <a:rPr lang="en-US" altLang="ja-JP" sz="2800" b="0" i="1" smtClean="0">
                              <a:latin typeface="Cambria Math" panose="02040503050406030204" pitchFamily="18" charset="0"/>
                            </a:rPr>
                            <m:t>)(</m:t>
                          </m:r>
                          <m:sSub>
                            <m:sSubPr>
                              <m:ctrlPr>
                                <a:rPr lang="en-US" altLang="ja-JP" sz="2800" b="0" i="1" smtClean="0">
                                  <a:latin typeface="Cambria Math" panose="02040503050406030204" pitchFamily="18" charset="0"/>
                                </a:rPr>
                              </m:ctrlPr>
                            </m:sSubPr>
                            <m:e>
                              <m:r>
                                <a:rPr lang="en-US" altLang="ja-JP" sz="2800" b="0" i="1" smtClean="0">
                                  <a:latin typeface="Cambria Math" panose="02040503050406030204" pitchFamily="18" charset="0"/>
                                </a:rPr>
                                <m:t>𝑦</m:t>
                              </m:r>
                            </m:e>
                            <m:sub>
                              <m:r>
                                <a:rPr lang="en-US" altLang="ja-JP" sz="2800" b="0" i="1" smtClean="0">
                                  <a:latin typeface="Cambria Math" panose="02040503050406030204" pitchFamily="18" charset="0"/>
                                </a:rPr>
                                <m:t>2</m:t>
                              </m:r>
                            </m:sub>
                          </m:sSub>
                          <m:r>
                            <a:rPr lang="en-US" altLang="ja-JP" sz="2800" b="0" i="1" smtClean="0">
                              <a:latin typeface="Cambria Math" panose="02040503050406030204" pitchFamily="18" charset="0"/>
                            </a:rPr>
                            <m:t>−</m:t>
                          </m:r>
                          <m:sSub>
                            <m:sSubPr>
                              <m:ctrlPr>
                                <a:rPr lang="en-US" altLang="ja-JP" sz="2800" b="0" i="1" smtClean="0">
                                  <a:latin typeface="Cambria Math" panose="02040503050406030204" pitchFamily="18" charset="0"/>
                                </a:rPr>
                              </m:ctrlPr>
                            </m:sSubPr>
                            <m:e>
                              <m:r>
                                <a:rPr lang="en-US" altLang="ja-JP" sz="2800" b="0" i="1" smtClean="0">
                                  <a:latin typeface="Cambria Math" panose="02040503050406030204" pitchFamily="18" charset="0"/>
                                </a:rPr>
                                <m:t>𝑦</m:t>
                              </m:r>
                            </m:e>
                            <m:sub>
                              <m:r>
                                <a:rPr lang="en-US" altLang="ja-JP" sz="2800" b="0" i="1" smtClean="0">
                                  <a:latin typeface="Cambria Math" panose="02040503050406030204" pitchFamily="18" charset="0"/>
                                </a:rPr>
                                <m:t>1</m:t>
                              </m:r>
                            </m:sub>
                          </m:sSub>
                          <m:r>
                            <a:rPr lang="en-US" altLang="ja-JP" sz="2800" b="0" i="1" smtClean="0">
                              <a:latin typeface="Cambria Math" panose="02040503050406030204" pitchFamily="18" charset="0"/>
                            </a:rPr>
                            <m:t>)</m:t>
                          </m:r>
                        </m:num>
                        <m:den>
                          <m:sSup>
                            <m:sSupPr>
                              <m:ctrlPr>
                                <a:rPr lang="en-US" altLang="ja-JP" sz="2800" b="0" i="1" smtClean="0">
                                  <a:latin typeface="Cambria Math" panose="02040503050406030204" pitchFamily="18" charset="0"/>
                                </a:rPr>
                              </m:ctrlPr>
                            </m:sSupPr>
                            <m:e>
                              <m:r>
                                <a:rPr lang="en-US" altLang="ja-JP" sz="2800" b="0" i="1" smtClean="0">
                                  <a:latin typeface="Cambria Math" panose="02040503050406030204" pitchFamily="18" charset="0"/>
                                </a:rPr>
                                <m:t>𝑏</m:t>
                              </m:r>
                            </m:e>
                            <m:sup>
                              <m:r>
                                <a:rPr lang="en-US" altLang="ja-JP" sz="2800" b="0" i="1" smtClean="0">
                                  <a:latin typeface="Cambria Math" panose="02040503050406030204" pitchFamily="18" charset="0"/>
                                </a:rPr>
                                <m:t>2</m:t>
                              </m:r>
                            </m:sup>
                          </m:sSup>
                        </m:den>
                      </m:f>
                      <m:r>
                        <a:rPr lang="en-US" altLang="ja-JP" sz="2800" b="0" i="1" smtClean="0">
                          <a:latin typeface="Cambria Math" panose="02040503050406030204" pitchFamily="18" charset="0"/>
                        </a:rPr>
                        <m:t>=0</m:t>
                      </m:r>
                    </m:oMath>
                  </m:oMathPara>
                </a14:m>
                <a:endParaRPr lang="en-US" altLang="ja-JP" sz="2800" b="0" dirty="0" smtClean="0"/>
              </a:p>
            </p:txBody>
          </p:sp>
        </mc:Choice>
        <mc:Fallback xmlns="">
          <p:sp>
            <p:nvSpPr>
              <p:cNvPr id="26" name="文本框 25"/>
              <p:cNvSpPr txBox="1">
                <a:spLocks noRot="1" noChangeAspect="1" noMove="1" noResize="1" noEditPoints="1" noAdjustHandles="1" noChangeArrowheads="1" noChangeShapeType="1" noTextEdit="1"/>
              </p:cNvSpPr>
              <p:nvPr/>
            </p:nvSpPr>
            <p:spPr>
              <a:xfrm>
                <a:off x="754566" y="4554152"/>
                <a:ext cx="6766724" cy="820674"/>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 name="文本框 26"/>
              <p:cNvSpPr txBox="1"/>
              <p:nvPr/>
            </p:nvSpPr>
            <p:spPr>
              <a:xfrm>
                <a:off x="889923" y="5438145"/>
                <a:ext cx="3248005" cy="80842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ja-JP" sz="2800" b="0" i="1" smtClean="0">
                              <a:latin typeface="Cambria Math" panose="02040503050406030204" pitchFamily="18" charset="0"/>
                            </a:rPr>
                          </m:ctrlPr>
                        </m:fPr>
                        <m:num>
                          <m:sSub>
                            <m:sSubPr>
                              <m:ctrlPr>
                                <a:rPr lang="en-US" altLang="ja-JP" sz="2800" b="0" i="1" smtClean="0">
                                  <a:latin typeface="Cambria Math" panose="02040503050406030204" pitchFamily="18" charset="0"/>
                                </a:rPr>
                              </m:ctrlPr>
                            </m:sSubPr>
                            <m:e>
                              <m:r>
                                <a:rPr lang="en-US" altLang="ja-JP" sz="2800" b="0" i="1" smtClean="0">
                                  <a:latin typeface="Cambria Math" panose="02040503050406030204" pitchFamily="18" charset="0"/>
                                </a:rPr>
                                <m:t>𝑥</m:t>
                              </m:r>
                            </m:e>
                            <m:sub>
                              <m:r>
                                <a:rPr lang="en-US" altLang="ja-JP" sz="2800" b="0" i="1" smtClean="0">
                                  <a:latin typeface="Cambria Math" panose="02040503050406030204" pitchFamily="18" charset="0"/>
                                </a:rPr>
                                <m:t>𝑀</m:t>
                              </m:r>
                            </m:sub>
                          </m:sSub>
                        </m:num>
                        <m:den>
                          <m:sSup>
                            <m:sSupPr>
                              <m:ctrlPr>
                                <a:rPr lang="en-US" altLang="ja-JP" sz="2800" b="0" i="1" smtClean="0">
                                  <a:latin typeface="Cambria Math" panose="02040503050406030204" pitchFamily="18" charset="0"/>
                                </a:rPr>
                              </m:ctrlPr>
                            </m:sSupPr>
                            <m:e>
                              <m:r>
                                <a:rPr lang="en-US" altLang="ja-JP" sz="2800" b="0" i="1" smtClean="0">
                                  <a:latin typeface="Cambria Math" panose="02040503050406030204" pitchFamily="18" charset="0"/>
                                </a:rPr>
                                <m:t>𝑎</m:t>
                              </m:r>
                            </m:e>
                            <m:sup>
                              <m:r>
                                <a:rPr lang="en-US" altLang="ja-JP" sz="2800" b="0" i="1" smtClean="0">
                                  <a:latin typeface="Cambria Math" panose="02040503050406030204" pitchFamily="18" charset="0"/>
                                </a:rPr>
                                <m:t>2</m:t>
                              </m:r>
                            </m:sup>
                          </m:sSup>
                        </m:den>
                      </m:f>
                      <m:r>
                        <a:rPr lang="en-US" altLang="ja-JP" sz="2800" b="0" i="1" smtClean="0">
                          <a:latin typeface="Cambria Math" panose="02040503050406030204" pitchFamily="18" charset="0"/>
                        </a:rPr>
                        <m:t>+</m:t>
                      </m:r>
                      <m:f>
                        <m:fPr>
                          <m:ctrlPr>
                            <a:rPr lang="en-US" altLang="ja-JP" sz="2800" b="0" i="1" smtClean="0">
                              <a:latin typeface="Cambria Math" panose="02040503050406030204" pitchFamily="18" charset="0"/>
                            </a:rPr>
                          </m:ctrlPr>
                        </m:fPr>
                        <m:num>
                          <m:sSub>
                            <m:sSubPr>
                              <m:ctrlPr>
                                <a:rPr lang="en-US" altLang="ja-JP" sz="2800" b="0" i="1" smtClean="0">
                                  <a:latin typeface="Cambria Math" panose="02040503050406030204" pitchFamily="18" charset="0"/>
                                </a:rPr>
                              </m:ctrlPr>
                            </m:sSubPr>
                            <m:e>
                              <m:r>
                                <a:rPr lang="en-US" altLang="ja-JP" sz="2800" b="0" i="1" smtClean="0">
                                  <a:latin typeface="Cambria Math" panose="02040503050406030204" pitchFamily="18" charset="0"/>
                                </a:rPr>
                                <m:t>𝑦</m:t>
                              </m:r>
                            </m:e>
                            <m:sub>
                              <m:r>
                                <a:rPr lang="en-US" altLang="ja-JP" sz="2800" b="0" i="1" smtClean="0">
                                  <a:latin typeface="Cambria Math" panose="02040503050406030204" pitchFamily="18" charset="0"/>
                                </a:rPr>
                                <m:t>𝑀</m:t>
                              </m:r>
                            </m:sub>
                          </m:sSub>
                        </m:num>
                        <m:den>
                          <m:sSup>
                            <m:sSupPr>
                              <m:ctrlPr>
                                <a:rPr lang="en-US" altLang="ja-JP" sz="2800" b="0" i="1" smtClean="0">
                                  <a:latin typeface="Cambria Math" panose="02040503050406030204" pitchFamily="18" charset="0"/>
                                </a:rPr>
                              </m:ctrlPr>
                            </m:sSupPr>
                            <m:e>
                              <m:r>
                                <a:rPr lang="en-US" altLang="ja-JP" sz="2800" b="0" i="1" smtClean="0">
                                  <a:latin typeface="Cambria Math" panose="02040503050406030204" pitchFamily="18" charset="0"/>
                                </a:rPr>
                                <m:t>𝑏</m:t>
                              </m:r>
                            </m:e>
                            <m:sup>
                              <m:r>
                                <a:rPr lang="en-US" altLang="ja-JP" sz="2800" b="0" i="1" smtClean="0">
                                  <a:latin typeface="Cambria Math" panose="02040503050406030204" pitchFamily="18" charset="0"/>
                                </a:rPr>
                                <m:t>2</m:t>
                              </m:r>
                            </m:sup>
                          </m:sSup>
                        </m:den>
                      </m:f>
                      <m:f>
                        <m:fPr>
                          <m:ctrlPr>
                            <a:rPr lang="en-US" altLang="ja-JP" sz="2800" b="0" i="1" smtClean="0">
                              <a:latin typeface="Cambria Math" panose="02040503050406030204" pitchFamily="18" charset="0"/>
                            </a:rPr>
                          </m:ctrlPr>
                        </m:fPr>
                        <m:num>
                          <m:sSub>
                            <m:sSubPr>
                              <m:ctrlPr>
                                <a:rPr lang="en-US" altLang="ja-JP" sz="2800" b="0" i="1" smtClean="0">
                                  <a:latin typeface="Cambria Math" panose="02040503050406030204" pitchFamily="18" charset="0"/>
                                </a:rPr>
                              </m:ctrlPr>
                            </m:sSubPr>
                            <m:e>
                              <m:r>
                                <a:rPr lang="en-US" altLang="ja-JP" sz="2800" b="0" i="1" smtClean="0">
                                  <a:latin typeface="Cambria Math" panose="02040503050406030204" pitchFamily="18" charset="0"/>
                                </a:rPr>
                                <m:t>𝑦</m:t>
                              </m:r>
                            </m:e>
                            <m:sub>
                              <m:r>
                                <a:rPr lang="en-US" altLang="ja-JP" sz="2800" b="0" i="1" smtClean="0">
                                  <a:latin typeface="Cambria Math" panose="02040503050406030204" pitchFamily="18" charset="0"/>
                                </a:rPr>
                                <m:t>2</m:t>
                              </m:r>
                            </m:sub>
                          </m:sSub>
                          <m:r>
                            <a:rPr lang="en-US" altLang="ja-JP" sz="2800" b="0" i="1" smtClean="0">
                              <a:latin typeface="Cambria Math" panose="02040503050406030204" pitchFamily="18" charset="0"/>
                            </a:rPr>
                            <m:t>−</m:t>
                          </m:r>
                          <m:sSub>
                            <m:sSubPr>
                              <m:ctrlPr>
                                <a:rPr lang="en-US" altLang="ja-JP" sz="2800" b="0" i="1" smtClean="0">
                                  <a:latin typeface="Cambria Math" panose="02040503050406030204" pitchFamily="18" charset="0"/>
                                </a:rPr>
                              </m:ctrlPr>
                            </m:sSubPr>
                            <m:e>
                              <m:r>
                                <a:rPr lang="en-US" altLang="ja-JP" sz="2800" b="0" i="1" smtClean="0">
                                  <a:latin typeface="Cambria Math" panose="02040503050406030204" pitchFamily="18" charset="0"/>
                                </a:rPr>
                                <m:t>𝑦</m:t>
                              </m:r>
                            </m:e>
                            <m:sub>
                              <m:r>
                                <a:rPr lang="en-US" altLang="ja-JP" sz="2800" b="0" i="1" smtClean="0">
                                  <a:latin typeface="Cambria Math" panose="02040503050406030204" pitchFamily="18" charset="0"/>
                                </a:rPr>
                                <m:t>1</m:t>
                              </m:r>
                            </m:sub>
                          </m:sSub>
                        </m:num>
                        <m:den>
                          <m:sSub>
                            <m:sSubPr>
                              <m:ctrlPr>
                                <a:rPr lang="en-US" altLang="ja-JP" sz="2800" b="0" i="1" smtClean="0">
                                  <a:latin typeface="Cambria Math" panose="02040503050406030204" pitchFamily="18" charset="0"/>
                                </a:rPr>
                              </m:ctrlPr>
                            </m:sSubPr>
                            <m:e>
                              <m:r>
                                <a:rPr lang="en-US" altLang="ja-JP" sz="2800" b="0" i="1" smtClean="0">
                                  <a:latin typeface="Cambria Math" panose="02040503050406030204" pitchFamily="18" charset="0"/>
                                </a:rPr>
                                <m:t>𝑥</m:t>
                              </m:r>
                            </m:e>
                            <m:sub>
                              <m:r>
                                <a:rPr lang="en-US" altLang="ja-JP" sz="2800" b="0" i="1" smtClean="0">
                                  <a:latin typeface="Cambria Math" panose="02040503050406030204" pitchFamily="18" charset="0"/>
                                </a:rPr>
                                <m:t>2</m:t>
                              </m:r>
                            </m:sub>
                          </m:sSub>
                          <m:r>
                            <a:rPr lang="en-US" altLang="ja-JP" sz="2800" b="0" i="1" smtClean="0">
                              <a:latin typeface="Cambria Math" panose="02040503050406030204" pitchFamily="18" charset="0"/>
                            </a:rPr>
                            <m:t>−</m:t>
                          </m:r>
                          <m:sSub>
                            <m:sSubPr>
                              <m:ctrlPr>
                                <a:rPr lang="en-US" altLang="ja-JP" sz="2800" b="0" i="1" smtClean="0">
                                  <a:latin typeface="Cambria Math" panose="02040503050406030204" pitchFamily="18" charset="0"/>
                                </a:rPr>
                              </m:ctrlPr>
                            </m:sSubPr>
                            <m:e>
                              <m:r>
                                <a:rPr lang="en-US" altLang="ja-JP" sz="2800" b="0" i="1" smtClean="0">
                                  <a:latin typeface="Cambria Math" panose="02040503050406030204" pitchFamily="18" charset="0"/>
                                </a:rPr>
                                <m:t>𝑥</m:t>
                              </m:r>
                            </m:e>
                            <m:sub>
                              <m:r>
                                <a:rPr lang="en-US" altLang="ja-JP" sz="2800" b="0" i="1" smtClean="0">
                                  <a:latin typeface="Cambria Math" panose="02040503050406030204" pitchFamily="18" charset="0"/>
                                </a:rPr>
                                <m:t>1</m:t>
                              </m:r>
                            </m:sub>
                          </m:sSub>
                        </m:den>
                      </m:f>
                      <m:r>
                        <a:rPr lang="en-US" altLang="ja-JP" sz="2800" b="0" i="1" smtClean="0">
                          <a:latin typeface="Cambria Math" panose="02040503050406030204" pitchFamily="18" charset="0"/>
                        </a:rPr>
                        <m:t>=0</m:t>
                      </m:r>
                    </m:oMath>
                  </m:oMathPara>
                </a14:m>
                <a:endParaRPr lang="en-US" altLang="ja-JP" sz="2800" b="0" dirty="0" smtClean="0"/>
              </a:p>
            </p:txBody>
          </p:sp>
        </mc:Choice>
        <mc:Fallback xmlns="">
          <p:sp>
            <p:nvSpPr>
              <p:cNvPr id="27" name="文本框 26"/>
              <p:cNvSpPr txBox="1">
                <a:spLocks noRot="1" noChangeAspect="1" noMove="1" noResize="1" noEditPoints="1" noAdjustHandles="1" noChangeArrowheads="1" noChangeShapeType="1" noTextEdit="1"/>
              </p:cNvSpPr>
              <p:nvPr/>
            </p:nvSpPr>
            <p:spPr>
              <a:xfrm>
                <a:off x="889923" y="5438145"/>
                <a:ext cx="3248005" cy="808426"/>
              </a:xfrm>
              <a:prstGeom prst="rect">
                <a:avLst/>
              </a:prstGeom>
              <a:blipFill>
                <a:blip r:embed="rId1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文本框 27"/>
              <p:cNvSpPr txBox="1"/>
              <p:nvPr/>
            </p:nvSpPr>
            <p:spPr>
              <a:xfrm>
                <a:off x="4481513" y="5374826"/>
                <a:ext cx="1963550" cy="93506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ja-JP" sz="2800" b="0" i="1" smtClean="0">
                          <a:latin typeface="Cambria Math" panose="02040503050406030204" pitchFamily="18" charset="0"/>
                        </a:rPr>
                        <m:t>𝑘</m:t>
                      </m:r>
                      <m:f>
                        <m:fPr>
                          <m:ctrlPr>
                            <a:rPr lang="en-US" altLang="ja-JP" sz="2800" i="1">
                              <a:latin typeface="Cambria Math" panose="02040503050406030204" pitchFamily="18" charset="0"/>
                            </a:rPr>
                          </m:ctrlPr>
                        </m:fPr>
                        <m:num>
                          <m:sSub>
                            <m:sSubPr>
                              <m:ctrlPr>
                                <a:rPr lang="en-US" altLang="ja-JP" sz="2800" i="1">
                                  <a:latin typeface="Cambria Math" panose="02040503050406030204" pitchFamily="18" charset="0"/>
                                </a:rPr>
                              </m:ctrlPr>
                            </m:sSubPr>
                            <m:e>
                              <m:r>
                                <a:rPr lang="en-US" altLang="ja-JP" sz="2800" i="1">
                                  <a:latin typeface="Cambria Math" panose="02040503050406030204" pitchFamily="18" charset="0"/>
                                </a:rPr>
                                <m:t>𝑦</m:t>
                              </m:r>
                            </m:e>
                            <m:sub>
                              <m:r>
                                <a:rPr lang="en-US" altLang="ja-JP" sz="2800" i="1">
                                  <a:latin typeface="Cambria Math" panose="02040503050406030204" pitchFamily="18" charset="0"/>
                                </a:rPr>
                                <m:t>𝑀</m:t>
                              </m:r>
                            </m:sub>
                          </m:sSub>
                        </m:num>
                        <m:den>
                          <m:sSub>
                            <m:sSubPr>
                              <m:ctrlPr>
                                <a:rPr lang="en-US" altLang="ja-JP" sz="2800" i="1">
                                  <a:latin typeface="Cambria Math" panose="02040503050406030204" pitchFamily="18" charset="0"/>
                                </a:rPr>
                              </m:ctrlPr>
                            </m:sSubPr>
                            <m:e>
                              <m:r>
                                <a:rPr lang="en-US" altLang="ja-JP" sz="2800" i="1">
                                  <a:latin typeface="Cambria Math" panose="02040503050406030204" pitchFamily="18" charset="0"/>
                                </a:rPr>
                                <m:t>𝑥</m:t>
                              </m:r>
                            </m:e>
                            <m:sub>
                              <m:r>
                                <a:rPr lang="en-US" altLang="ja-JP" sz="2800" i="1">
                                  <a:latin typeface="Cambria Math" panose="02040503050406030204" pitchFamily="18" charset="0"/>
                                </a:rPr>
                                <m:t>𝑀</m:t>
                              </m:r>
                            </m:sub>
                          </m:sSub>
                        </m:den>
                      </m:f>
                      <m:r>
                        <a:rPr lang="en-US" altLang="ja-JP" sz="2800" b="0" i="1" smtClean="0">
                          <a:latin typeface="Cambria Math" panose="02040503050406030204" pitchFamily="18" charset="0"/>
                        </a:rPr>
                        <m:t>=−</m:t>
                      </m:r>
                      <m:f>
                        <m:fPr>
                          <m:ctrlPr>
                            <a:rPr lang="en-US" altLang="ja-JP" sz="2800" b="0" i="1" smtClean="0">
                              <a:latin typeface="Cambria Math" panose="02040503050406030204" pitchFamily="18" charset="0"/>
                            </a:rPr>
                          </m:ctrlPr>
                        </m:fPr>
                        <m:num>
                          <m:sSup>
                            <m:sSupPr>
                              <m:ctrlPr>
                                <a:rPr lang="en-US" altLang="ja-JP" sz="2800" b="0" i="1" smtClean="0">
                                  <a:latin typeface="Cambria Math" panose="02040503050406030204" pitchFamily="18" charset="0"/>
                                </a:rPr>
                              </m:ctrlPr>
                            </m:sSupPr>
                            <m:e>
                              <m:r>
                                <a:rPr lang="en-US" altLang="ja-JP" sz="2800" b="0" i="1" smtClean="0">
                                  <a:latin typeface="Cambria Math" panose="02040503050406030204" pitchFamily="18" charset="0"/>
                                </a:rPr>
                                <m:t>𝑏</m:t>
                              </m:r>
                            </m:e>
                            <m:sup>
                              <m:r>
                                <a:rPr lang="en-US" altLang="ja-JP" sz="2800" b="0" i="1" smtClean="0">
                                  <a:latin typeface="Cambria Math" panose="02040503050406030204" pitchFamily="18" charset="0"/>
                                </a:rPr>
                                <m:t>2</m:t>
                              </m:r>
                            </m:sup>
                          </m:sSup>
                        </m:num>
                        <m:den>
                          <m:sSup>
                            <m:sSupPr>
                              <m:ctrlPr>
                                <a:rPr lang="en-US" altLang="ja-JP" sz="2800" b="0" i="1" smtClean="0">
                                  <a:latin typeface="Cambria Math" panose="02040503050406030204" pitchFamily="18" charset="0"/>
                                </a:rPr>
                              </m:ctrlPr>
                            </m:sSupPr>
                            <m:e>
                              <m:r>
                                <a:rPr lang="en-US" altLang="ja-JP" sz="2800" b="0" i="1" smtClean="0">
                                  <a:latin typeface="Cambria Math" panose="02040503050406030204" pitchFamily="18" charset="0"/>
                                </a:rPr>
                                <m:t>𝑎</m:t>
                              </m:r>
                            </m:e>
                            <m:sup>
                              <m:r>
                                <a:rPr lang="en-US" altLang="ja-JP" sz="2800" b="0" i="1" smtClean="0">
                                  <a:latin typeface="Cambria Math" panose="02040503050406030204" pitchFamily="18" charset="0"/>
                                </a:rPr>
                                <m:t>2</m:t>
                              </m:r>
                            </m:sup>
                          </m:sSup>
                        </m:den>
                      </m:f>
                    </m:oMath>
                  </m:oMathPara>
                </a14:m>
                <a:endParaRPr lang="en-US" altLang="ja-JP" sz="2800" b="0" dirty="0" smtClean="0"/>
              </a:p>
            </p:txBody>
          </p:sp>
        </mc:Choice>
        <mc:Fallback xmlns="">
          <p:sp>
            <p:nvSpPr>
              <p:cNvPr id="28" name="文本框 27"/>
              <p:cNvSpPr txBox="1">
                <a:spLocks noRot="1" noChangeAspect="1" noMove="1" noResize="1" noEditPoints="1" noAdjustHandles="1" noChangeArrowheads="1" noChangeShapeType="1" noTextEdit="1"/>
              </p:cNvSpPr>
              <p:nvPr/>
            </p:nvSpPr>
            <p:spPr>
              <a:xfrm>
                <a:off x="4481513" y="5374826"/>
                <a:ext cx="1963550" cy="935064"/>
              </a:xfrm>
              <a:prstGeom prst="rect">
                <a:avLst/>
              </a:prstGeom>
              <a:blipFill>
                <a:blip r:embed="rId11"/>
                <a:stretch>
                  <a:fillRect/>
                </a:stretch>
              </a:blipFill>
            </p:spPr>
            <p:txBody>
              <a:bodyPr/>
              <a:lstStyle/>
              <a:p>
                <a:r>
                  <a:rPr lang="zh-CN" altLang="en-US">
                    <a:noFill/>
                  </a:rPr>
                  <a:t> </a:t>
                </a:r>
              </a:p>
            </p:txBody>
          </p:sp>
        </mc:Fallback>
      </mc:AlternateContent>
    </p:spTree>
    <p:custDataLst>
      <p:tags r:id="rId1"/>
    </p:custDataLst>
    <p:extLst>
      <p:ext uri="{BB962C8B-B14F-4D97-AF65-F5344CB8AC3E}">
        <p14:creationId xmlns:p14="http://schemas.microsoft.com/office/powerpoint/2010/main" val="31626234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P spid="22" grpId="0"/>
      <p:bldP spid="23" grpId="0"/>
      <p:bldP spid="24" grpId="0"/>
      <p:bldP spid="25" grpId="0"/>
      <p:bldP spid="26" grpId="0"/>
      <p:bldP spid="27" grpId="0"/>
      <p:bldP spid="2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宋体" panose="02010600030101010101" pitchFamily="2" charset="-122"/>
                <a:ea typeface="宋体" panose="02010600030101010101" pitchFamily="2" charset="-122"/>
              </a:rPr>
              <a:t>定向弦的中点轨迹</a:t>
            </a:r>
            <a:endParaRPr lang="zh-CN" altLang="en-US" dirty="0">
              <a:latin typeface="宋体" panose="02010600030101010101" pitchFamily="2" charset="-122"/>
              <a:ea typeface="宋体" panose="02010600030101010101" pitchFamily="2" charset="-122"/>
            </a:endParaRPr>
          </a:p>
        </p:txBody>
      </p:sp>
      <p:sp>
        <p:nvSpPr>
          <p:cNvPr id="3" name="内容占位符 2"/>
          <p:cNvSpPr>
            <a:spLocks noGrp="1"/>
          </p:cNvSpPr>
          <p:nvPr>
            <p:ph idx="1"/>
          </p:nvPr>
        </p:nvSpPr>
        <p:spPr>
          <a:xfrm>
            <a:off x="628650" y="4652964"/>
            <a:ext cx="7886700" cy="999318"/>
          </a:xfrm>
        </p:spPr>
        <p:txBody>
          <a:bodyPr>
            <a:normAutofit/>
          </a:bodyPr>
          <a:lstStyle/>
          <a:p>
            <a:r>
              <a:rPr lang="zh-CN" altLang="en-US" dirty="0" smtClean="0">
                <a:latin typeface="楷体" panose="02010609060101010101" pitchFamily="49" charset="-122"/>
                <a:ea typeface="楷体" panose="02010609060101010101" pitchFamily="49" charset="-122"/>
              </a:rPr>
              <a:t>椭圆定向弦的中点构成一条线段，且线段的斜率与弦的斜率之积为一定值</a:t>
            </a:r>
            <a:endParaRPr lang="zh-CN" altLang="en-US" dirty="0">
              <a:latin typeface="楷体" panose="02010609060101010101" pitchFamily="49" charset="-122"/>
              <a:ea typeface="楷体" panose="02010609060101010101" pitchFamily="49" charset="-122"/>
            </a:endParaRPr>
          </a:p>
        </p:txBody>
      </p:sp>
      <p:grpSp>
        <p:nvGrpSpPr>
          <p:cNvPr id="6" name="Group 4"/>
          <p:cNvGrpSpPr>
            <a:grpSpLocks noChangeAspect="1"/>
          </p:cNvGrpSpPr>
          <p:nvPr/>
        </p:nvGrpSpPr>
        <p:grpSpPr bwMode="auto">
          <a:xfrm>
            <a:off x="2332038" y="1831976"/>
            <a:ext cx="4495800" cy="2698750"/>
            <a:chOff x="1469" y="1154"/>
            <a:chExt cx="2832" cy="1700"/>
          </a:xfrm>
        </p:grpSpPr>
        <p:sp>
          <p:nvSpPr>
            <p:cNvPr id="9" name="Oval 6"/>
            <p:cNvSpPr>
              <a:spLocks noChangeArrowheads="1"/>
            </p:cNvSpPr>
            <p:nvPr/>
          </p:nvSpPr>
          <p:spPr bwMode="auto">
            <a:xfrm>
              <a:off x="1847" y="1381"/>
              <a:ext cx="2076" cy="1246"/>
            </a:xfrm>
            <a:prstGeom prst="ellipse">
              <a:avLst/>
            </a:prstGeom>
            <a:noFill/>
            <a:ln w="19050" cap="rnd">
              <a:solidFill>
                <a:srgbClr val="00B05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0" name="Line 7"/>
            <p:cNvSpPr>
              <a:spLocks noChangeShapeType="1"/>
            </p:cNvSpPr>
            <p:nvPr/>
          </p:nvSpPr>
          <p:spPr bwMode="auto">
            <a:xfrm flipH="1">
              <a:off x="2370" y="1463"/>
              <a:ext cx="1030" cy="1082"/>
            </a:xfrm>
            <a:prstGeom prst="line">
              <a:avLst/>
            </a:prstGeom>
            <a:noFill/>
            <a:ln w="19050" cap="rnd">
              <a:solidFill>
                <a:srgbClr val="FF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1" name="Line 8"/>
            <p:cNvSpPr>
              <a:spLocks noChangeShapeType="1"/>
            </p:cNvSpPr>
            <p:nvPr/>
          </p:nvSpPr>
          <p:spPr bwMode="auto">
            <a:xfrm>
              <a:off x="2382" y="1458"/>
              <a:ext cx="1541" cy="529"/>
            </a:xfrm>
            <a:prstGeom prst="line">
              <a:avLst/>
            </a:prstGeom>
            <a:noFill/>
            <a:ln w="19050" cap="rnd">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2" name="Line 9"/>
            <p:cNvSpPr>
              <a:spLocks noChangeShapeType="1"/>
            </p:cNvSpPr>
            <p:nvPr/>
          </p:nvSpPr>
          <p:spPr bwMode="auto">
            <a:xfrm>
              <a:off x="1876" y="1856"/>
              <a:ext cx="1733" cy="594"/>
            </a:xfrm>
            <a:prstGeom prst="line">
              <a:avLst/>
            </a:prstGeom>
            <a:noFill/>
            <a:ln w="19050" cap="rnd">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3" name="Line 10"/>
            <p:cNvSpPr>
              <a:spLocks noChangeShapeType="1"/>
            </p:cNvSpPr>
            <p:nvPr/>
          </p:nvSpPr>
          <p:spPr bwMode="auto">
            <a:xfrm>
              <a:off x="1984" y="1694"/>
              <a:ext cx="1802" cy="619"/>
            </a:xfrm>
            <a:prstGeom prst="line">
              <a:avLst/>
            </a:prstGeom>
            <a:noFill/>
            <a:ln w="19050" cap="rnd">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4" name="Line 11"/>
            <p:cNvSpPr>
              <a:spLocks noChangeShapeType="1"/>
            </p:cNvSpPr>
            <p:nvPr/>
          </p:nvSpPr>
          <p:spPr bwMode="auto">
            <a:xfrm>
              <a:off x="2499" y="1154"/>
              <a:ext cx="1802" cy="618"/>
            </a:xfrm>
            <a:prstGeom prst="line">
              <a:avLst/>
            </a:prstGeom>
            <a:noFill/>
            <a:ln w="19050" cap="rnd">
              <a:solidFill>
                <a:srgbClr val="0000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5" name="Line 12"/>
            <p:cNvSpPr>
              <a:spLocks noChangeShapeType="1"/>
            </p:cNvSpPr>
            <p:nvPr/>
          </p:nvSpPr>
          <p:spPr bwMode="auto">
            <a:xfrm>
              <a:off x="1469" y="2236"/>
              <a:ext cx="1802" cy="618"/>
            </a:xfrm>
            <a:prstGeom prst="line">
              <a:avLst/>
            </a:prstGeom>
            <a:noFill/>
            <a:ln w="19050" cap="rnd">
              <a:solidFill>
                <a:srgbClr val="0000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6" name="Oval 13"/>
            <p:cNvSpPr>
              <a:spLocks noChangeArrowheads="1"/>
            </p:cNvSpPr>
            <p:nvPr/>
          </p:nvSpPr>
          <p:spPr bwMode="auto">
            <a:xfrm>
              <a:off x="3127" y="1698"/>
              <a:ext cx="50" cy="50"/>
            </a:xfrm>
            <a:prstGeom prst="ellipse">
              <a:avLst/>
            </a:prstGeom>
            <a:solidFill>
              <a:srgbClr val="FFFFFF"/>
            </a:solidFill>
            <a:ln w="19050" cap="rnd">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8" name="Oval 15"/>
            <p:cNvSpPr>
              <a:spLocks noChangeArrowheads="1"/>
            </p:cNvSpPr>
            <p:nvPr/>
          </p:nvSpPr>
          <p:spPr bwMode="auto">
            <a:xfrm>
              <a:off x="2717" y="2128"/>
              <a:ext cx="50" cy="50"/>
            </a:xfrm>
            <a:prstGeom prst="ellipse">
              <a:avLst/>
            </a:prstGeom>
            <a:solidFill>
              <a:srgbClr val="FFFFFF"/>
            </a:solidFill>
            <a:ln w="12700" cap="rnd">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0" name="Oval 17"/>
            <p:cNvSpPr>
              <a:spLocks noChangeArrowheads="1"/>
            </p:cNvSpPr>
            <p:nvPr/>
          </p:nvSpPr>
          <p:spPr bwMode="auto">
            <a:xfrm>
              <a:off x="2860" y="1979"/>
              <a:ext cx="50" cy="50"/>
            </a:xfrm>
            <a:prstGeom prst="ellipse">
              <a:avLst/>
            </a:prstGeom>
            <a:solidFill>
              <a:srgbClr val="FFFFFF"/>
            </a:solidFill>
            <a:ln w="12700" cap="rnd">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grpSp>
      <mc:AlternateContent xmlns:mc="http://schemas.openxmlformats.org/markup-compatibility/2006" xmlns:a14="http://schemas.microsoft.com/office/drawing/2010/main">
        <mc:Choice Requires="a14">
          <p:sp>
            <p:nvSpPr>
              <p:cNvPr id="22" name="文本框 21"/>
              <p:cNvSpPr txBox="1"/>
              <p:nvPr/>
            </p:nvSpPr>
            <p:spPr>
              <a:xfrm>
                <a:off x="1159992" y="1819791"/>
                <a:ext cx="1937710" cy="86459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ja-JP" sz="2800" b="0" i="1" smtClean="0">
                              <a:latin typeface="Cambria Math" panose="02040503050406030204" pitchFamily="18" charset="0"/>
                            </a:rPr>
                          </m:ctrlPr>
                        </m:fPr>
                        <m:num>
                          <m:sSup>
                            <m:sSupPr>
                              <m:ctrlPr>
                                <a:rPr lang="en-US" altLang="ja-JP" sz="2800" b="0" i="1" smtClean="0">
                                  <a:latin typeface="Cambria Math" panose="02040503050406030204" pitchFamily="18" charset="0"/>
                                </a:rPr>
                              </m:ctrlPr>
                            </m:sSupPr>
                            <m:e>
                              <m:r>
                                <a:rPr lang="en-US" altLang="ja-JP" sz="2800" b="0" i="1" smtClean="0">
                                  <a:latin typeface="Cambria Math" panose="02040503050406030204" pitchFamily="18" charset="0"/>
                                </a:rPr>
                                <m:t>𝑥</m:t>
                              </m:r>
                            </m:e>
                            <m:sup>
                              <m:r>
                                <a:rPr lang="en-US" altLang="ja-JP" sz="2800" b="0" i="1" smtClean="0">
                                  <a:latin typeface="Cambria Math" panose="02040503050406030204" pitchFamily="18" charset="0"/>
                                </a:rPr>
                                <m:t>2</m:t>
                              </m:r>
                            </m:sup>
                          </m:sSup>
                        </m:num>
                        <m:den>
                          <m:sSup>
                            <m:sSupPr>
                              <m:ctrlPr>
                                <a:rPr lang="en-US" altLang="ja-JP" sz="2800" b="0" i="1" smtClean="0">
                                  <a:latin typeface="Cambria Math" panose="02040503050406030204" pitchFamily="18" charset="0"/>
                                </a:rPr>
                              </m:ctrlPr>
                            </m:sSupPr>
                            <m:e>
                              <m:r>
                                <a:rPr lang="en-US" altLang="ja-JP" sz="2800" b="0" i="1" smtClean="0">
                                  <a:latin typeface="Cambria Math" panose="02040503050406030204" pitchFamily="18" charset="0"/>
                                </a:rPr>
                                <m:t>𝑎</m:t>
                              </m:r>
                            </m:e>
                            <m:sup>
                              <m:r>
                                <a:rPr lang="en-US" altLang="ja-JP" sz="2800" b="0" i="1" smtClean="0">
                                  <a:latin typeface="Cambria Math" panose="02040503050406030204" pitchFamily="18" charset="0"/>
                                </a:rPr>
                                <m:t>2</m:t>
                              </m:r>
                            </m:sup>
                          </m:sSup>
                        </m:den>
                      </m:f>
                      <m:r>
                        <a:rPr lang="en-US" altLang="ja-JP" sz="2800" b="0" i="1" smtClean="0">
                          <a:latin typeface="Cambria Math" panose="02040503050406030204" pitchFamily="18" charset="0"/>
                        </a:rPr>
                        <m:t>+</m:t>
                      </m:r>
                      <m:f>
                        <m:fPr>
                          <m:ctrlPr>
                            <a:rPr lang="en-US" altLang="ja-JP" sz="2800" b="0" i="1" smtClean="0">
                              <a:latin typeface="Cambria Math" panose="02040503050406030204" pitchFamily="18" charset="0"/>
                            </a:rPr>
                          </m:ctrlPr>
                        </m:fPr>
                        <m:num>
                          <m:sSup>
                            <m:sSupPr>
                              <m:ctrlPr>
                                <a:rPr lang="en-US" altLang="ja-JP" sz="2800" b="0" i="1" smtClean="0">
                                  <a:latin typeface="Cambria Math" panose="02040503050406030204" pitchFamily="18" charset="0"/>
                                </a:rPr>
                              </m:ctrlPr>
                            </m:sSupPr>
                            <m:e>
                              <m:r>
                                <a:rPr lang="en-US" altLang="ja-JP" sz="2800" b="0" i="1" smtClean="0">
                                  <a:latin typeface="Cambria Math" panose="02040503050406030204" pitchFamily="18" charset="0"/>
                                </a:rPr>
                                <m:t>𝑦</m:t>
                              </m:r>
                            </m:e>
                            <m:sup>
                              <m:r>
                                <a:rPr lang="en-US" altLang="ja-JP" sz="2800" b="0" i="1" smtClean="0">
                                  <a:latin typeface="Cambria Math" panose="02040503050406030204" pitchFamily="18" charset="0"/>
                                </a:rPr>
                                <m:t>2</m:t>
                              </m:r>
                            </m:sup>
                          </m:sSup>
                        </m:num>
                        <m:den>
                          <m:sSup>
                            <m:sSupPr>
                              <m:ctrlPr>
                                <a:rPr lang="en-US" altLang="ja-JP" sz="2800" b="0" i="1" smtClean="0">
                                  <a:latin typeface="Cambria Math" panose="02040503050406030204" pitchFamily="18" charset="0"/>
                                </a:rPr>
                              </m:ctrlPr>
                            </m:sSupPr>
                            <m:e>
                              <m:r>
                                <a:rPr lang="en-US" altLang="ja-JP" sz="2800" b="0" i="1" smtClean="0">
                                  <a:latin typeface="Cambria Math" panose="02040503050406030204" pitchFamily="18" charset="0"/>
                                </a:rPr>
                                <m:t>𝑏</m:t>
                              </m:r>
                            </m:e>
                            <m:sup>
                              <m:r>
                                <a:rPr lang="en-US" altLang="ja-JP" sz="2800" b="0" i="1" smtClean="0">
                                  <a:latin typeface="Cambria Math" panose="02040503050406030204" pitchFamily="18" charset="0"/>
                                </a:rPr>
                                <m:t>2</m:t>
                              </m:r>
                            </m:sup>
                          </m:sSup>
                        </m:den>
                      </m:f>
                      <m:r>
                        <a:rPr lang="en-US" altLang="ja-JP" sz="2800" b="0" i="1" smtClean="0">
                          <a:latin typeface="Cambria Math" panose="02040503050406030204" pitchFamily="18" charset="0"/>
                        </a:rPr>
                        <m:t>=1</m:t>
                      </m:r>
                    </m:oMath>
                  </m:oMathPara>
                </a14:m>
                <a:endParaRPr lang="zh-CN" altLang="en-US" sz="2800" dirty="0"/>
              </a:p>
            </p:txBody>
          </p:sp>
        </mc:Choice>
        <mc:Fallback xmlns="">
          <p:sp>
            <p:nvSpPr>
              <p:cNvPr id="22" name="文本框 21"/>
              <p:cNvSpPr txBox="1">
                <a:spLocks noRot="1" noChangeAspect="1" noMove="1" noResize="1" noEditPoints="1" noAdjustHandles="1" noChangeArrowheads="1" noChangeShapeType="1" noTextEdit="1"/>
              </p:cNvSpPr>
              <p:nvPr/>
            </p:nvSpPr>
            <p:spPr>
              <a:xfrm>
                <a:off x="1159992" y="1819791"/>
                <a:ext cx="1937710" cy="864596"/>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文本框 16"/>
              <p:cNvSpPr txBox="1"/>
              <p:nvPr/>
            </p:nvSpPr>
            <p:spPr>
              <a:xfrm>
                <a:off x="5976938" y="3453595"/>
                <a:ext cx="1963550" cy="93506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ja-JP" sz="2800" b="0" i="1" smtClean="0">
                          <a:latin typeface="Cambria Math" panose="02040503050406030204" pitchFamily="18" charset="0"/>
                        </a:rPr>
                        <m:t>𝑘</m:t>
                      </m:r>
                      <m:f>
                        <m:fPr>
                          <m:ctrlPr>
                            <a:rPr lang="en-US" altLang="ja-JP" sz="2800" i="1">
                              <a:latin typeface="Cambria Math" panose="02040503050406030204" pitchFamily="18" charset="0"/>
                            </a:rPr>
                          </m:ctrlPr>
                        </m:fPr>
                        <m:num>
                          <m:sSub>
                            <m:sSubPr>
                              <m:ctrlPr>
                                <a:rPr lang="en-US" altLang="ja-JP" sz="2800" i="1">
                                  <a:latin typeface="Cambria Math" panose="02040503050406030204" pitchFamily="18" charset="0"/>
                                </a:rPr>
                              </m:ctrlPr>
                            </m:sSubPr>
                            <m:e>
                              <m:r>
                                <a:rPr lang="en-US" altLang="ja-JP" sz="2800" i="1">
                                  <a:latin typeface="Cambria Math" panose="02040503050406030204" pitchFamily="18" charset="0"/>
                                </a:rPr>
                                <m:t>𝑦</m:t>
                              </m:r>
                            </m:e>
                            <m:sub>
                              <m:r>
                                <a:rPr lang="en-US" altLang="ja-JP" sz="2800" i="1">
                                  <a:latin typeface="Cambria Math" panose="02040503050406030204" pitchFamily="18" charset="0"/>
                                </a:rPr>
                                <m:t>𝑀</m:t>
                              </m:r>
                            </m:sub>
                          </m:sSub>
                        </m:num>
                        <m:den>
                          <m:sSub>
                            <m:sSubPr>
                              <m:ctrlPr>
                                <a:rPr lang="en-US" altLang="ja-JP" sz="2800" i="1">
                                  <a:latin typeface="Cambria Math" panose="02040503050406030204" pitchFamily="18" charset="0"/>
                                </a:rPr>
                              </m:ctrlPr>
                            </m:sSubPr>
                            <m:e>
                              <m:r>
                                <a:rPr lang="en-US" altLang="ja-JP" sz="2800" i="1">
                                  <a:latin typeface="Cambria Math" panose="02040503050406030204" pitchFamily="18" charset="0"/>
                                </a:rPr>
                                <m:t>𝑥</m:t>
                              </m:r>
                            </m:e>
                            <m:sub>
                              <m:r>
                                <a:rPr lang="en-US" altLang="ja-JP" sz="2800" i="1">
                                  <a:latin typeface="Cambria Math" panose="02040503050406030204" pitchFamily="18" charset="0"/>
                                </a:rPr>
                                <m:t>𝑀</m:t>
                              </m:r>
                            </m:sub>
                          </m:sSub>
                        </m:den>
                      </m:f>
                      <m:r>
                        <a:rPr lang="en-US" altLang="ja-JP" sz="2800" b="0" i="1" smtClean="0">
                          <a:latin typeface="Cambria Math" panose="02040503050406030204" pitchFamily="18" charset="0"/>
                        </a:rPr>
                        <m:t>=−</m:t>
                      </m:r>
                      <m:f>
                        <m:fPr>
                          <m:ctrlPr>
                            <a:rPr lang="en-US" altLang="ja-JP" sz="2800" b="0" i="1" smtClean="0">
                              <a:latin typeface="Cambria Math" panose="02040503050406030204" pitchFamily="18" charset="0"/>
                            </a:rPr>
                          </m:ctrlPr>
                        </m:fPr>
                        <m:num>
                          <m:sSup>
                            <m:sSupPr>
                              <m:ctrlPr>
                                <a:rPr lang="en-US" altLang="ja-JP" sz="2800" b="0" i="1" smtClean="0">
                                  <a:latin typeface="Cambria Math" panose="02040503050406030204" pitchFamily="18" charset="0"/>
                                </a:rPr>
                              </m:ctrlPr>
                            </m:sSupPr>
                            <m:e>
                              <m:r>
                                <a:rPr lang="en-US" altLang="ja-JP" sz="2800" b="0" i="1" smtClean="0">
                                  <a:latin typeface="Cambria Math" panose="02040503050406030204" pitchFamily="18" charset="0"/>
                                </a:rPr>
                                <m:t>𝑏</m:t>
                              </m:r>
                            </m:e>
                            <m:sup>
                              <m:r>
                                <a:rPr lang="en-US" altLang="ja-JP" sz="2800" b="0" i="1" smtClean="0">
                                  <a:latin typeface="Cambria Math" panose="02040503050406030204" pitchFamily="18" charset="0"/>
                                </a:rPr>
                                <m:t>2</m:t>
                              </m:r>
                            </m:sup>
                          </m:sSup>
                        </m:num>
                        <m:den>
                          <m:sSup>
                            <m:sSupPr>
                              <m:ctrlPr>
                                <a:rPr lang="en-US" altLang="ja-JP" sz="2800" b="0" i="1" smtClean="0">
                                  <a:latin typeface="Cambria Math" panose="02040503050406030204" pitchFamily="18" charset="0"/>
                                </a:rPr>
                              </m:ctrlPr>
                            </m:sSupPr>
                            <m:e>
                              <m:r>
                                <a:rPr lang="en-US" altLang="ja-JP" sz="2800" b="0" i="1" smtClean="0">
                                  <a:latin typeface="Cambria Math" panose="02040503050406030204" pitchFamily="18" charset="0"/>
                                </a:rPr>
                                <m:t>𝑎</m:t>
                              </m:r>
                            </m:e>
                            <m:sup>
                              <m:r>
                                <a:rPr lang="en-US" altLang="ja-JP" sz="2800" b="0" i="1" smtClean="0">
                                  <a:latin typeface="Cambria Math" panose="02040503050406030204" pitchFamily="18" charset="0"/>
                                </a:rPr>
                                <m:t>2</m:t>
                              </m:r>
                            </m:sup>
                          </m:sSup>
                        </m:den>
                      </m:f>
                    </m:oMath>
                  </m:oMathPara>
                </a14:m>
                <a:endParaRPr lang="en-US" altLang="ja-JP" sz="2800" b="0" dirty="0" smtClean="0"/>
              </a:p>
            </p:txBody>
          </p:sp>
        </mc:Choice>
        <mc:Fallback xmlns="">
          <p:sp>
            <p:nvSpPr>
              <p:cNvPr id="17" name="文本框 16"/>
              <p:cNvSpPr txBox="1">
                <a:spLocks noRot="1" noChangeAspect="1" noMove="1" noResize="1" noEditPoints="1" noAdjustHandles="1" noChangeArrowheads="1" noChangeShapeType="1" noTextEdit="1"/>
              </p:cNvSpPr>
              <p:nvPr/>
            </p:nvSpPr>
            <p:spPr>
              <a:xfrm>
                <a:off x="5976938" y="3453595"/>
                <a:ext cx="1963550" cy="935064"/>
              </a:xfrm>
              <a:prstGeom prst="rect">
                <a:avLst/>
              </a:prstGeom>
              <a:blipFill>
                <a:blip r:embed="rId4"/>
                <a:stretch>
                  <a:fillRect/>
                </a:stretch>
              </a:blipFill>
            </p:spPr>
            <p:txBody>
              <a:bodyPr/>
              <a:lstStyle/>
              <a:p>
                <a:r>
                  <a:rPr lang="zh-CN" altLang="en-US">
                    <a:noFill/>
                  </a:rPr>
                  <a:t> </a:t>
                </a:r>
              </a:p>
            </p:txBody>
          </p:sp>
        </mc:Fallback>
      </mc:AlternateContent>
    </p:spTree>
    <p:custDataLst>
      <p:tags r:id="rId1"/>
    </p:custDataLst>
    <p:extLst>
      <p:ext uri="{BB962C8B-B14F-4D97-AF65-F5344CB8AC3E}">
        <p14:creationId xmlns:p14="http://schemas.microsoft.com/office/powerpoint/2010/main" val="130596576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宋体" panose="02010600030101010101" pitchFamily="2" charset="-122"/>
                <a:ea typeface="宋体" panose="02010600030101010101" pitchFamily="2" charset="-122"/>
              </a:rPr>
              <a:t>共轭直径</a:t>
            </a:r>
            <a:endParaRPr lang="zh-CN" altLang="en-US" dirty="0">
              <a:latin typeface="宋体" panose="02010600030101010101" pitchFamily="2" charset="-122"/>
              <a:ea typeface="宋体" panose="02010600030101010101" pitchFamily="2" charset="-122"/>
            </a:endParaRPr>
          </a:p>
        </p:txBody>
      </p:sp>
      <p:sp>
        <p:nvSpPr>
          <p:cNvPr id="3" name="内容占位符 2"/>
          <p:cNvSpPr>
            <a:spLocks noGrp="1"/>
          </p:cNvSpPr>
          <p:nvPr>
            <p:ph idx="1"/>
          </p:nvPr>
        </p:nvSpPr>
        <p:spPr>
          <a:xfrm>
            <a:off x="628650" y="4248615"/>
            <a:ext cx="7886700" cy="1928348"/>
          </a:xfrm>
        </p:spPr>
        <p:txBody>
          <a:bodyPr>
            <a:normAutofit lnSpcReduction="10000"/>
          </a:bodyPr>
          <a:lstStyle/>
          <a:p>
            <a:r>
              <a:rPr lang="en-US" altLang="zh-CN" i="1" dirty="0" smtClean="0">
                <a:latin typeface="Times New Roman" panose="02020603050405020304" pitchFamily="18" charset="0"/>
                <a:ea typeface="楷体" panose="02010609060101010101" pitchFamily="49" charset="-122"/>
                <a:cs typeface="Times New Roman" panose="02020603050405020304" pitchFamily="18" charset="0"/>
              </a:rPr>
              <a:t>d</a:t>
            </a:r>
            <a:r>
              <a:rPr lang="en-US" altLang="zh-CN" baseline="-25000" dirty="0" smtClean="0">
                <a:latin typeface="Times New Roman" panose="02020603050405020304" pitchFamily="18" charset="0"/>
                <a:ea typeface="楷体" panose="02010609060101010101" pitchFamily="49" charset="-122"/>
                <a:cs typeface="Times New Roman" panose="02020603050405020304" pitchFamily="18" charset="0"/>
              </a:rPr>
              <a:t>1</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和</a:t>
            </a:r>
            <a:r>
              <a:rPr lang="en-US" altLang="zh-CN" i="1" dirty="0" smtClean="0">
                <a:latin typeface="Times New Roman" panose="02020603050405020304" pitchFamily="18" charset="0"/>
                <a:ea typeface="楷体" panose="02010609060101010101" pitchFamily="49" charset="-122"/>
                <a:cs typeface="Times New Roman" panose="02020603050405020304" pitchFamily="18" charset="0"/>
              </a:rPr>
              <a:t>d</a:t>
            </a:r>
            <a:r>
              <a:rPr lang="en-US" altLang="zh-CN" baseline="-25000" dirty="0" smtClean="0">
                <a:latin typeface="Times New Roman" panose="02020603050405020304" pitchFamily="18" charset="0"/>
                <a:ea typeface="楷体" panose="02010609060101010101" pitchFamily="49" charset="-122"/>
                <a:cs typeface="Times New Roman" panose="02020603050405020304" pitchFamily="18" charset="0"/>
              </a:rPr>
              <a:t>2</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是椭圆的两条直径，如果</a:t>
            </a:r>
            <a:r>
              <a:rPr lang="en-US" altLang="zh-CN" i="1" dirty="0" smtClean="0">
                <a:latin typeface="Times New Roman" panose="02020603050405020304" pitchFamily="18" charset="0"/>
                <a:ea typeface="楷体" panose="02010609060101010101" pitchFamily="49" charset="-122"/>
                <a:cs typeface="Times New Roman" panose="02020603050405020304" pitchFamily="18" charset="0"/>
              </a:rPr>
              <a:t>d</a:t>
            </a:r>
            <a:r>
              <a:rPr lang="en-US" altLang="zh-CN" baseline="-25000" dirty="0" smtClean="0">
                <a:latin typeface="Times New Roman" panose="02020603050405020304" pitchFamily="18" charset="0"/>
                <a:ea typeface="楷体" panose="02010609060101010101" pitchFamily="49" charset="-122"/>
                <a:cs typeface="Times New Roman" panose="02020603050405020304" pitchFamily="18" charset="0"/>
              </a:rPr>
              <a:t>1</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与</a:t>
            </a:r>
            <a:r>
              <a:rPr lang="en-US" altLang="zh-CN" i="1" dirty="0" smtClean="0">
                <a:latin typeface="Times New Roman" panose="02020603050405020304" pitchFamily="18" charset="0"/>
                <a:ea typeface="楷体" panose="02010609060101010101" pitchFamily="49" charset="-122"/>
                <a:cs typeface="Times New Roman" panose="02020603050405020304" pitchFamily="18" charset="0"/>
              </a:rPr>
              <a:t>d</a:t>
            </a:r>
            <a:r>
              <a:rPr lang="en-US" altLang="zh-CN" baseline="-25000" dirty="0" smtClean="0">
                <a:latin typeface="Times New Roman" panose="02020603050405020304" pitchFamily="18" charset="0"/>
                <a:ea typeface="楷体" panose="02010609060101010101" pitchFamily="49" charset="-122"/>
                <a:cs typeface="Times New Roman" panose="02020603050405020304" pitchFamily="18" charset="0"/>
              </a:rPr>
              <a:t>2</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端点处的切线平行，则</a:t>
            </a:r>
            <a:r>
              <a:rPr lang="en-US" altLang="zh-CN" i="1" dirty="0" smtClean="0">
                <a:latin typeface="Times New Roman" panose="02020603050405020304" pitchFamily="18" charset="0"/>
                <a:ea typeface="楷体" panose="02010609060101010101" pitchFamily="49" charset="-122"/>
                <a:cs typeface="Times New Roman" panose="02020603050405020304" pitchFamily="18" charset="0"/>
              </a:rPr>
              <a:t>d</a:t>
            </a:r>
            <a:r>
              <a:rPr lang="en-US" altLang="zh-CN" baseline="-25000" dirty="0" smtClean="0">
                <a:latin typeface="Times New Roman" panose="02020603050405020304" pitchFamily="18" charset="0"/>
                <a:ea typeface="楷体" panose="02010609060101010101" pitchFamily="49" charset="-122"/>
                <a:cs typeface="Times New Roman" panose="02020603050405020304" pitchFamily="18" charset="0"/>
              </a:rPr>
              <a:t>2</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也与</a:t>
            </a:r>
            <a:r>
              <a:rPr lang="en-US" altLang="zh-CN" i="1" dirty="0" smtClean="0">
                <a:latin typeface="Times New Roman" panose="02020603050405020304" pitchFamily="18" charset="0"/>
                <a:ea typeface="楷体" panose="02010609060101010101" pitchFamily="49" charset="-122"/>
                <a:cs typeface="Times New Roman" panose="02020603050405020304" pitchFamily="18" charset="0"/>
              </a:rPr>
              <a:t>d</a:t>
            </a:r>
            <a:r>
              <a:rPr lang="en-US" altLang="zh-CN" baseline="-25000" dirty="0" smtClean="0">
                <a:latin typeface="Times New Roman" panose="02020603050405020304" pitchFamily="18" charset="0"/>
                <a:ea typeface="楷体" panose="02010609060101010101" pitchFamily="49" charset="-122"/>
                <a:cs typeface="Times New Roman" panose="02020603050405020304" pitchFamily="18" charset="0"/>
              </a:rPr>
              <a:t>1</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端点处的切线平行，</a:t>
            </a:r>
            <a:r>
              <a:rPr lang="en-US" altLang="zh-CN" i="1" dirty="0" smtClean="0">
                <a:latin typeface="Times New Roman" panose="02020603050405020304" pitchFamily="18" charset="0"/>
                <a:ea typeface="楷体" panose="02010609060101010101" pitchFamily="49" charset="-122"/>
                <a:cs typeface="Times New Roman" panose="02020603050405020304" pitchFamily="18" charset="0"/>
              </a:rPr>
              <a:t>d</a:t>
            </a:r>
            <a:r>
              <a:rPr lang="en-US" altLang="zh-CN" baseline="-25000" dirty="0" smtClean="0">
                <a:latin typeface="Times New Roman" panose="02020603050405020304" pitchFamily="18" charset="0"/>
                <a:ea typeface="楷体" panose="02010609060101010101" pitchFamily="49" charset="-122"/>
                <a:cs typeface="Times New Roman" panose="02020603050405020304" pitchFamily="18" charset="0"/>
              </a:rPr>
              <a:t>1</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和</a:t>
            </a:r>
            <a:r>
              <a:rPr lang="en-US" altLang="zh-CN" i="1" dirty="0" smtClean="0">
                <a:latin typeface="Times New Roman" panose="02020603050405020304" pitchFamily="18" charset="0"/>
                <a:ea typeface="楷体" panose="02010609060101010101" pitchFamily="49" charset="-122"/>
                <a:cs typeface="Times New Roman" panose="02020603050405020304" pitchFamily="18" charset="0"/>
              </a:rPr>
              <a:t>d</a:t>
            </a:r>
            <a:r>
              <a:rPr lang="en-US" altLang="zh-CN" baseline="-25000" dirty="0" smtClean="0">
                <a:latin typeface="Times New Roman" panose="02020603050405020304" pitchFamily="18" charset="0"/>
                <a:ea typeface="楷体" panose="02010609060101010101" pitchFamily="49" charset="-122"/>
                <a:cs typeface="Times New Roman" panose="02020603050405020304" pitchFamily="18" charset="0"/>
              </a:rPr>
              <a:t>2</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构成一组共轭直径</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r>
              <a:rPr lang="en-US" altLang="zh-CN" i="1" dirty="0" smtClean="0">
                <a:latin typeface="Times New Roman" panose="02020603050405020304" pitchFamily="18" charset="0"/>
                <a:ea typeface="楷体" panose="02010609060101010101" pitchFamily="49" charset="-122"/>
                <a:cs typeface="Times New Roman" panose="02020603050405020304" pitchFamily="18" charset="0"/>
              </a:rPr>
              <a:t>d</a:t>
            </a:r>
            <a:r>
              <a:rPr lang="en-US" altLang="zh-CN" baseline="-25000" dirty="0" smtClean="0">
                <a:latin typeface="Times New Roman" panose="02020603050405020304" pitchFamily="18" charset="0"/>
                <a:ea typeface="楷体" panose="02010609060101010101" pitchFamily="49" charset="-122"/>
                <a:cs typeface="Times New Roman" panose="02020603050405020304" pitchFamily="18" charset="0"/>
              </a:rPr>
              <a:t>1</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和</a:t>
            </a:r>
            <a:r>
              <a:rPr lang="en-US" altLang="zh-CN" i="1" dirty="0" smtClean="0">
                <a:latin typeface="Times New Roman" panose="02020603050405020304" pitchFamily="18" charset="0"/>
                <a:ea typeface="楷体" panose="02010609060101010101" pitchFamily="49" charset="-122"/>
                <a:cs typeface="Times New Roman" panose="02020603050405020304" pitchFamily="18" charset="0"/>
              </a:rPr>
              <a:t>d</a:t>
            </a:r>
            <a:r>
              <a:rPr lang="en-US" altLang="zh-CN" baseline="-25000" dirty="0" smtClean="0">
                <a:latin typeface="Times New Roman" panose="02020603050405020304" pitchFamily="18" charset="0"/>
                <a:ea typeface="楷体" panose="02010609060101010101" pitchFamily="49" charset="-122"/>
                <a:cs typeface="Times New Roman" panose="02020603050405020304" pitchFamily="18" charset="0"/>
              </a:rPr>
              <a:t>2</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互相共轭等价于所有与</a:t>
            </a:r>
            <a:r>
              <a:rPr lang="en-US" altLang="zh-CN" i="1" dirty="0" smtClean="0">
                <a:latin typeface="Times New Roman" panose="02020603050405020304" pitchFamily="18" charset="0"/>
                <a:ea typeface="楷体" panose="02010609060101010101" pitchFamily="49" charset="-122"/>
                <a:cs typeface="Times New Roman" panose="02020603050405020304" pitchFamily="18" charset="0"/>
              </a:rPr>
              <a:t>d</a:t>
            </a:r>
            <a:r>
              <a:rPr lang="en-US" altLang="zh-CN" baseline="-25000" dirty="0" smtClean="0">
                <a:latin typeface="Times New Roman" panose="02020603050405020304" pitchFamily="18" charset="0"/>
                <a:ea typeface="楷体" panose="02010609060101010101" pitchFamily="49" charset="-122"/>
                <a:cs typeface="Times New Roman" panose="02020603050405020304" pitchFamily="18" charset="0"/>
              </a:rPr>
              <a:t>1</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平行的弦的中点构成</a:t>
            </a:r>
            <a:r>
              <a:rPr lang="en-US" altLang="zh-CN" i="1" dirty="0" smtClean="0">
                <a:latin typeface="Times New Roman" panose="02020603050405020304" pitchFamily="18" charset="0"/>
                <a:ea typeface="楷体" panose="02010609060101010101" pitchFamily="49" charset="-122"/>
                <a:cs typeface="Times New Roman" panose="02020603050405020304" pitchFamily="18" charset="0"/>
              </a:rPr>
              <a:t>d</a:t>
            </a:r>
            <a:r>
              <a:rPr lang="en-US" altLang="zh-CN" baseline="-25000" dirty="0" smtClean="0">
                <a:latin typeface="Times New Roman" panose="02020603050405020304" pitchFamily="18" charset="0"/>
                <a:ea typeface="楷体" panose="02010609060101010101" pitchFamily="49" charset="-122"/>
                <a:cs typeface="Times New Roman" panose="02020603050405020304" pitchFamily="18" charset="0"/>
              </a:rPr>
              <a:t>2</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，所有与</a:t>
            </a:r>
            <a:r>
              <a:rPr lang="en-US" altLang="zh-CN" i="1" dirty="0" smtClean="0">
                <a:latin typeface="Times New Roman" panose="02020603050405020304" pitchFamily="18" charset="0"/>
                <a:ea typeface="楷体" panose="02010609060101010101" pitchFamily="49" charset="-122"/>
                <a:cs typeface="Times New Roman" panose="02020603050405020304" pitchFamily="18" charset="0"/>
              </a:rPr>
              <a:t>d</a:t>
            </a:r>
            <a:r>
              <a:rPr lang="en-US" altLang="zh-CN" baseline="-25000" dirty="0" smtClean="0">
                <a:latin typeface="Times New Roman" panose="02020603050405020304" pitchFamily="18" charset="0"/>
                <a:ea typeface="楷体" panose="02010609060101010101" pitchFamily="49" charset="-122"/>
                <a:cs typeface="Times New Roman" panose="02020603050405020304" pitchFamily="18" charset="0"/>
              </a:rPr>
              <a:t>2</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平行的弦的中点构成</a:t>
            </a:r>
            <a:r>
              <a:rPr lang="en-US" altLang="zh-CN" i="1" dirty="0" smtClean="0">
                <a:latin typeface="Times New Roman" panose="02020603050405020304" pitchFamily="18" charset="0"/>
                <a:ea typeface="楷体" panose="02010609060101010101" pitchFamily="49" charset="-122"/>
                <a:cs typeface="Times New Roman" panose="02020603050405020304" pitchFamily="18" charset="0"/>
              </a:rPr>
              <a:t>d</a:t>
            </a:r>
            <a:r>
              <a:rPr lang="en-US" altLang="zh-CN" baseline="-25000" dirty="0" smtClean="0">
                <a:latin typeface="Times New Roman" panose="02020603050405020304" pitchFamily="18" charset="0"/>
                <a:ea typeface="楷体" panose="02010609060101010101" pitchFamily="49" charset="-122"/>
                <a:cs typeface="Times New Roman" panose="02020603050405020304" pitchFamily="18" charset="0"/>
              </a:rPr>
              <a:t>1</a:t>
            </a:r>
            <a:endParaRPr lang="zh-CN" altLang="en-US" baseline="-25000" dirty="0">
              <a:latin typeface="Times New Roman" panose="02020603050405020304" pitchFamily="18" charset="0"/>
              <a:ea typeface="楷体" panose="02010609060101010101" pitchFamily="49" charset="-122"/>
              <a:cs typeface="Times New Roman" panose="02020603050405020304" pitchFamily="18" charset="0"/>
            </a:endParaRPr>
          </a:p>
        </p:txBody>
      </p:sp>
      <p:grpSp>
        <p:nvGrpSpPr>
          <p:cNvPr id="4" name="Group 4"/>
          <p:cNvGrpSpPr>
            <a:grpSpLocks noChangeAspect="1"/>
          </p:cNvGrpSpPr>
          <p:nvPr/>
        </p:nvGrpSpPr>
        <p:grpSpPr bwMode="auto">
          <a:xfrm>
            <a:off x="2317750" y="1538752"/>
            <a:ext cx="4508500" cy="2709863"/>
            <a:chOff x="1461" y="1147"/>
            <a:chExt cx="2840" cy="1707"/>
          </a:xfrm>
        </p:grpSpPr>
        <p:sp>
          <p:nvSpPr>
            <p:cNvPr id="5" name="Oval 6"/>
            <p:cNvSpPr>
              <a:spLocks noChangeArrowheads="1"/>
            </p:cNvSpPr>
            <p:nvPr/>
          </p:nvSpPr>
          <p:spPr bwMode="auto">
            <a:xfrm>
              <a:off x="1847" y="1381"/>
              <a:ext cx="2076" cy="1246"/>
            </a:xfrm>
            <a:prstGeom prst="ellipse">
              <a:avLst/>
            </a:prstGeom>
            <a:noFill/>
            <a:ln w="19050" cap="rnd">
              <a:solidFill>
                <a:srgbClr val="00B05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6" name="Line 7"/>
            <p:cNvSpPr>
              <a:spLocks noChangeShapeType="1"/>
            </p:cNvSpPr>
            <p:nvPr/>
          </p:nvSpPr>
          <p:spPr bwMode="auto">
            <a:xfrm flipH="1">
              <a:off x="2370" y="1463"/>
              <a:ext cx="1030" cy="1082"/>
            </a:xfrm>
            <a:prstGeom prst="line">
              <a:avLst/>
            </a:prstGeom>
            <a:noFill/>
            <a:ln w="19050" cap="rnd">
              <a:solidFill>
                <a:srgbClr val="FF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7" name="Line 8"/>
            <p:cNvSpPr>
              <a:spLocks noChangeShapeType="1"/>
            </p:cNvSpPr>
            <p:nvPr/>
          </p:nvSpPr>
          <p:spPr bwMode="auto">
            <a:xfrm>
              <a:off x="2382" y="1458"/>
              <a:ext cx="1541" cy="529"/>
            </a:xfrm>
            <a:prstGeom prst="line">
              <a:avLst/>
            </a:prstGeom>
            <a:noFill/>
            <a:ln w="19050" cap="rnd">
              <a:solidFill>
                <a:srgbClr val="7F7FFF"/>
              </a:solidFill>
              <a:prstDash val="sysDot"/>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8" name="Line 9"/>
            <p:cNvSpPr>
              <a:spLocks noChangeShapeType="1"/>
            </p:cNvSpPr>
            <p:nvPr/>
          </p:nvSpPr>
          <p:spPr bwMode="auto">
            <a:xfrm>
              <a:off x="1876" y="1856"/>
              <a:ext cx="1733" cy="594"/>
            </a:xfrm>
            <a:prstGeom prst="line">
              <a:avLst/>
            </a:prstGeom>
            <a:noFill/>
            <a:ln w="19050" cap="rnd">
              <a:solidFill>
                <a:srgbClr val="7F7FFF"/>
              </a:solidFill>
              <a:prstDash val="sysDot"/>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9" name="Line 10"/>
            <p:cNvSpPr>
              <a:spLocks noChangeShapeType="1"/>
            </p:cNvSpPr>
            <p:nvPr/>
          </p:nvSpPr>
          <p:spPr bwMode="auto">
            <a:xfrm>
              <a:off x="1984" y="1694"/>
              <a:ext cx="1802" cy="619"/>
            </a:xfrm>
            <a:prstGeom prst="line">
              <a:avLst/>
            </a:prstGeom>
            <a:noFill/>
            <a:ln w="19050" cap="rnd">
              <a:solidFill>
                <a:srgbClr val="0000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0" name="Line 11"/>
            <p:cNvSpPr>
              <a:spLocks noChangeShapeType="1"/>
            </p:cNvSpPr>
            <p:nvPr/>
          </p:nvSpPr>
          <p:spPr bwMode="auto">
            <a:xfrm>
              <a:off x="2499" y="1154"/>
              <a:ext cx="1802" cy="618"/>
            </a:xfrm>
            <a:prstGeom prst="line">
              <a:avLst/>
            </a:prstGeom>
            <a:noFill/>
            <a:ln w="19050" cap="rnd">
              <a:solidFill>
                <a:srgbClr val="7F7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1" name="Line 12"/>
            <p:cNvSpPr>
              <a:spLocks noChangeShapeType="1"/>
            </p:cNvSpPr>
            <p:nvPr/>
          </p:nvSpPr>
          <p:spPr bwMode="auto">
            <a:xfrm>
              <a:off x="1469" y="2236"/>
              <a:ext cx="1802" cy="618"/>
            </a:xfrm>
            <a:prstGeom prst="line">
              <a:avLst/>
            </a:prstGeom>
            <a:noFill/>
            <a:ln w="19050" cap="rnd">
              <a:solidFill>
                <a:srgbClr val="7F7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2" name="Oval 13"/>
            <p:cNvSpPr>
              <a:spLocks noChangeArrowheads="1"/>
            </p:cNvSpPr>
            <p:nvPr/>
          </p:nvSpPr>
          <p:spPr bwMode="auto">
            <a:xfrm>
              <a:off x="3127" y="1698"/>
              <a:ext cx="50" cy="50"/>
            </a:xfrm>
            <a:prstGeom prst="ellipse">
              <a:avLst/>
            </a:prstGeom>
            <a:solidFill>
              <a:srgbClr val="FFFFFF"/>
            </a:solidFill>
            <a:ln w="19050" cap="rnd">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3" name="Oval 15"/>
            <p:cNvSpPr>
              <a:spLocks noChangeArrowheads="1"/>
            </p:cNvSpPr>
            <p:nvPr/>
          </p:nvSpPr>
          <p:spPr bwMode="auto">
            <a:xfrm>
              <a:off x="2717" y="2128"/>
              <a:ext cx="50" cy="50"/>
            </a:xfrm>
            <a:prstGeom prst="ellipse">
              <a:avLst/>
            </a:prstGeom>
            <a:solidFill>
              <a:srgbClr val="FFFFFF"/>
            </a:solidFill>
            <a:ln w="12700" cap="rnd">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4" name="Oval 17"/>
            <p:cNvSpPr>
              <a:spLocks noChangeArrowheads="1"/>
            </p:cNvSpPr>
            <p:nvPr/>
          </p:nvSpPr>
          <p:spPr bwMode="auto">
            <a:xfrm>
              <a:off x="2860" y="1979"/>
              <a:ext cx="50" cy="50"/>
            </a:xfrm>
            <a:prstGeom prst="ellipse">
              <a:avLst/>
            </a:prstGeom>
            <a:solidFill>
              <a:srgbClr val="FFFFFF"/>
            </a:solidFill>
            <a:ln w="12700" cap="rnd">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6" name="Line 7"/>
            <p:cNvSpPr>
              <a:spLocks noChangeShapeType="1"/>
            </p:cNvSpPr>
            <p:nvPr/>
          </p:nvSpPr>
          <p:spPr bwMode="auto">
            <a:xfrm flipH="1">
              <a:off x="3271" y="1765"/>
              <a:ext cx="1030" cy="1082"/>
            </a:xfrm>
            <a:prstGeom prst="line">
              <a:avLst/>
            </a:prstGeom>
            <a:noFill/>
            <a:ln w="19050" cap="rnd">
              <a:solidFill>
                <a:srgbClr val="FF7F7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7" name="Line 7"/>
            <p:cNvSpPr>
              <a:spLocks noChangeShapeType="1"/>
            </p:cNvSpPr>
            <p:nvPr/>
          </p:nvSpPr>
          <p:spPr bwMode="auto">
            <a:xfrm flipH="1">
              <a:off x="1461" y="1147"/>
              <a:ext cx="1030" cy="1082"/>
            </a:xfrm>
            <a:prstGeom prst="line">
              <a:avLst/>
            </a:prstGeom>
            <a:noFill/>
            <a:ln w="19050" cap="rnd">
              <a:solidFill>
                <a:srgbClr val="FF7F7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grpSp>
    </p:spTree>
    <p:custDataLst>
      <p:tags r:id="rId1"/>
    </p:custDataLst>
    <p:extLst>
      <p:ext uri="{BB962C8B-B14F-4D97-AF65-F5344CB8AC3E}">
        <p14:creationId xmlns:p14="http://schemas.microsoft.com/office/powerpoint/2010/main" val="3597732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宋体" panose="02010600030101010101" pitchFamily="2" charset="-122"/>
                <a:ea typeface="宋体" panose="02010600030101010101" pitchFamily="2" charset="-122"/>
              </a:rPr>
              <a:t>共轭直径的性质</a:t>
            </a:r>
            <a:endParaRPr lang="zh-CN" altLang="en-US" dirty="0">
              <a:latin typeface="宋体" panose="02010600030101010101" pitchFamily="2" charset="-122"/>
              <a:ea typeface="宋体" panose="02010600030101010101" pitchFamily="2" charset="-122"/>
            </a:endParaRPr>
          </a:p>
        </p:txBody>
      </p:sp>
      <p:sp>
        <p:nvSpPr>
          <p:cNvPr id="3" name="内容占位符 2"/>
          <p:cNvSpPr>
            <a:spLocks noGrp="1"/>
          </p:cNvSpPr>
          <p:nvPr>
            <p:ph idx="1"/>
          </p:nvPr>
        </p:nvSpPr>
        <p:spPr>
          <a:xfrm>
            <a:off x="628650" y="4949371"/>
            <a:ext cx="7886700" cy="1227592"/>
          </a:xfrm>
        </p:spPr>
        <p:txBody>
          <a:bodyPr/>
          <a:lstStyle/>
          <a:p>
            <a:r>
              <a:rPr lang="zh-CN" altLang="en-US" dirty="0" smtClean="0">
                <a:latin typeface="楷体" panose="02010609060101010101" pitchFamily="49" charset="-122"/>
                <a:ea typeface="楷体" panose="02010609060101010101" pitchFamily="49" charset="-122"/>
              </a:rPr>
              <a:t>内接于椭圆的平行四边形两组对边的方向引导出的两条直径共轭</a:t>
            </a:r>
            <a:endParaRPr lang="zh-CN" altLang="en-US" dirty="0">
              <a:latin typeface="楷体" panose="02010609060101010101" pitchFamily="49" charset="-122"/>
              <a:ea typeface="楷体" panose="02010609060101010101" pitchFamily="49" charset="-122"/>
            </a:endParaRPr>
          </a:p>
        </p:txBody>
      </p:sp>
      <p:grpSp>
        <p:nvGrpSpPr>
          <p:cNvPr id="5" name="Group 4"/>
          <p:cNvGrpSpPr>
            <a:grpSpLocks noChangeAspect="1"/>
          </p:cNvGrpSpPr>
          <p:nvPr/>
        </p:nvGrpSpPr>
        <p:grpSpPr bwMode="auto">
          <a:xfrm>
            <a:off x="2019300" y="1862138"/>
            <a:ext cx="4772025" cy="2867025"/>
            <a:chOff x="1272" y="1173"/>
            <a:chExt cx="3006" cy="1806"/>
          </a:xfrm>
        </p:grpSpPr>
        <p:sp>
          <p:nvSpPr>
            <p:cNvPr id="8" name="Oval 6"/>
            <p:cNvSpPr>
              <a:spLocks noChangeArrowheads="1"/>
            </p:cNvSpPr>
            <p:nvPr/>
          </p:nvSpPr>
          <p:spPr bwMode="auto">
            <a:xfrm>
              <a:off x="1272" y="1173"/>
              <a:ext cx="3006" cy="1806"/>
            </a:xfrm>
            <a:prstGeom prst="ellipse">
              <a:avLst/>
            </a:prstGeom>
            <a:noFill/>
            <a:ln w="28575" cap="rnd">
              <a:solidFill>
                <a:srgbClr val="00B05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9" name="Line 7"/>
            <p:cNvSpPr>
              <a:spLocks noChangeShapeType="1"/>
            </p:cNvSpPr>
            <p:nvPr/>
          </p:nvSpPr>
          <p:spPr bwMode="auto">
            <a:xfrm flipH="1">
              <a:off x="2029" y="1292"/>
              <a:ext cx="1491" cy="1567"/>
            </a:xfrm>
            <a:prstGeom prst="line">
              <a:avLst/>
            </a:prstGeom>
            <a:noFill/>
            <a:ln w="28575" cap="rnd">
              <a:solidFill>
                <a:srgbClr val="FF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0" name="Line 8"/>
            <p:cNvSpPr>
              <a:spLocks noChangeShapeType="1"/>
            </p:cNvSpPr>
            <p:nvPr/>
          </p:nvSpPr>
          <p:spPr bwMode="auto">
            <a:xfrm>
              <a:off x="1470" y="1628"/>
              <a:ext cx="2609" cy="896"/>
            </a:xfrm>
            <a:prstGeom prst="line">
              <a:avLst/>
            </a:prstGeom>
            <a:noFill/>
            <a:ln w="28575" cap="rnd">
              <a:solidFill>
                <a:srgbClr val="0000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1" name="Line 9"/>
            <p:cNvSpPr>
              <a:spLocks noChangeShapeType="1"/>
            </p:cNvSpPr>
            <p:nvPr/>
          </p:nvSpPr>
          <p:spPr bwMode="auto">
            <a:xfrm flipH="1">
              <a:off x="1453" y="1173"/>
              <a:ext cx="1267" cy="1333"/>
            </a:xfrm>
            <a:prstGeom prst="line">
              <a:avLst/>
            </a:prstGeom>
            <a:noFill/>
            <a:ln w="28575" cap="rnd">
              <a:solidFill>
                <a:srgbClr val="FF7F7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2" name="Line 10"/>
            <p:cNvSpPr>
              <a:spLocks noChangeShapeType="1"/>
            </p:cNvSpPr>
            <p:nvPr/>
          </p:nvSpPr>
          <p:spPr bwMode="auto">
            <a:xfrm>
              <a:off x="1453" y="2506"/>
              <a:ext cx="1376" cy="472"/>
            </a:xfrm>
            <a:prstGeom prst="line">
              <a:avLst/>
            </a:prstGeom>
            <a:noFill/>
            <a:ln w="28575" cap="rnd">
              <a:solidFill>
                <a:srgbClr val="7F7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3" name="Line 11"/>
            <p:cNvSpPr>
              <a:spLocks noChangeShapeType="1"/>
            </p:cNvSpPr>
            <p:nvPr/>
          </p:nvSpPr>
          <p:spPr bwMode="auto">
            <a:xfrm flipV="1">
              <a:off x="2829" y="1646"/>
              <a:ext cx="1267" cy="1332"/>
            </a:xfrm>
            <a:prstGeom prst="line">
              <a:avLst/>
            </a:prstGeom>
            <a:noFill/>
            <a:ln w="28575" cap="rnd">
              <a:solidFill>
                <a:srgbClr val="FF7F7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4" name="Line 12"/>
            <p:cNvSpPr>
              <a:spLocks noChangeShapeType="1"/>
            </p:cNvSpPr>
            <p:nvPr/>
          </p:nvSpPr>
          <p:spPr bwMode="auto">
            <a:xfrm flipH="1" flipV="1">
              <a:off x="2720" y="1173"/>
              <a:ext cx="1376" cy="473"/>
            </a:xfrm>
            <a:prstGeom prst="line">
              <a:avLst/>
            </a:prstGeom>
            <a:noFill/>
            <a:ln w="28575" cap="rnd">
              <a:solidFill>
                <a:srgbClr val="7F7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5" name="Line 13"/>
            <p:cNvSpPr>
              <a:spLocks noChangeShapeType="1"/>
            </p:cNvSpPr>
            <p:nvPr/>
          </p:nvSpPr>
          <p:spPr bwMode="auto">
            <a:xfrm flipH="1">
              <a:off x="1282" y="1356"/>
              <a:ext cx="587" cy="616"/>
            </a:xfrm>
            <a:prstGeom prst="line">
              <a:avLst/>
            </a:prstGeom>
            <a:noFill/>
            <a:ln w="28575" cap="rnd">
              <a:solidFill>
                <a:srgbClr val="FF7F7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6" name="Line 14"/>
            <p:cNvSpPr>
              <a:spLocks noChangeShapeType="1"/>
            </p:cNvSpPr>
            <p:nvPr/>
          </p:nvSpPr>
          <p:spPr bwMode="auto">
            <a:xfrm>
              <a:off x="1282" y="1972"/>
              <a:ext cx="2399" cy="824"/>
            </a:xfrm>
            <a:prstGeom prst="line">
              <a:avLst/>
            </a:prstGeom>
            <a:noFill/>
            <a:ln w="28575" cap="rnd">
              <a:solidFill>
                <a:srgbClr val="7F7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7" name="Line 15"/>
            <p:cNvSpPr>
              <a:spLocks noChangeShapeType="1"/>
            </p:cNvSpPr>
            <p:nvPr/>
          </p:nvSpPr>
          <p:spPr bwMode="auto">
            <a:xfrm flipV="1">
              <a:off x="3681" y="2179"/>
              <a:ext cx="587" cy="617"/>
            </a:xfrm>
            <a:prstGeom prst="line">
              <a:avLst/>
            </a:prstGeom>
            <a:noFill/>
            <a:ln w="28575" cap="rnd">
              <a:solidFill>
                <a:srgbClr val="FF7F7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8" name="Line 16"/>
            <p:cNvSpPr>
              <a:spLocks noChangeShapeType="1"/>
            </p:cNvSpPr>
            <p:nvPr/>
          </p:nvSpPr>
          <p:spPr bwMode="auto">
            <a:xfrm flipH="1" flipV="1">
              <a:off x="1869" y="1356"/>
              <a:ext cx="2399" cy="823"/>
            </a:xfrm>
            <a:prstGeom prst="line">
              <a:avLst/>
            </a:prstGeom>
            <a:noFill/>
            <a:ln w="28575" cap="rnd">
              <a:solidFill>
                <a:srgbClr val="7F7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9" name="Oval 17"/>
            <p:cNvSpPr>
              <a:spLocks noChangeArrowheads="1"/>
            </p:cNvSpPr>
            <p:nvPr/>
          </p:nvSpPr>
          <p:spPr bwMode="auto">
            <a:xfrm>
              <a:off x="2739" y="2040"/>
              <a:ext cx="72" cy="72"/>
            </a:xfrm>
            <a:prstGeom prst="ellipse">
              <a:avLst/>
            </a:prstGeom>
            <a:solidFill>
              <a:srgbClr val="FFFFFF"/>
            </a:solidFill>
            <a:ln w="28575" cap="rnd">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0" name="Oval 18"/>
            <p:cNvSpPr>
              <a:spLocks noChangeArrowheads="1"/>
            </p:cNvSpPr>
            <p:nvPr/>
          </p:nvSpPr>
          <p:spPr bwMode="auto">
            <a:xfrm>
              <a:off x="2739" y="2040"/>
              <a:ext cx="72" cy="72"/>
            </a:xfrm>
            <a:prstGeom prst="ellipse">
              <a:avLst/>
            </a:prstGeom>
            <a:noFill/>
            <a:ln w="19050"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pSp>
    </p:spTree>
    <p:custDataLst>
      <p:tags r:id="rId1"/>
    </p:custDataLst>
    <p:extLst>
      <p:ext uri="{BB962C8B-B14F-4D97-AF65-F5344CB8AC3E}">
        <p14:creationId xmlns:p14="http://schemas.microsoft.com/office/powerpoint/2010/main" val="13464629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宋体" panose="02010600030101010101" pitchFamily="2" charset="-122"/>
                <a:ea typeface="宋体" panose="02010600030101010101" pitchFamily="2" charset="-122"/>
              </a:rPr>
              <a:t>共轭直径的本质</a:t>
            </a:r>
            <a:endParaRPr lang="zh-CN" altLang="en-US" dirty="0">
              <a:latin typeface="宋体" panose="02010600030101010101" pitchFamily="2" charset="-122"/>
              <a:ea typeface="宋体" panose="02010600030101010101" pitchFamily="2" charset="-122"/>
            </a:endParaRPr>
          </a:p>
        </p:txBody>
      </p:sp>
      <p:sp>
        <p:nvSpPr>
          <p:cNvPr id="3" name="内容占位符 2"/>
          <p:cNvSpPr>
            <a:spLocks noGrp="1"/>
          </p:cNvSpPr>
          <p:nvPr>
            <p:ph idx="1"/>
          </p:nvPr>
        </p:nvSpPr>
        <p:spPr>
          <a:xfrm>
            <a:off x="628650" y="4282067"/>
            <a:ext cx="7886700" cy="1894895"/>
          </a:xfrm>
        </p:spPr>
        <p:txBody>
          <a:bodyPr/>
          <a:lstStyle/>
          <a:p>
            <a:r>
              <a:rPr lang="zh-CN" altLang="en-US" dirty="0" smtClean="0">
                <a:latin typeface="楷体" panose="02010609060101010101" pitchFamily="49" charset="-122"/>
                <a:ea typeface="楷体" panose="02010609060101010101" pitchFamily="49" charset="-122"/>
              </a:rPr>
              <a:t>对椭圆及共轭直径沿着某一方向拉伸或压缩，直径的共轭性质不变</a:t>
            </a:r>
            <a:endParaRPr lang="en-US" altLang="zh-CN" dirty="0" smtClean="0">
              <a:latin typeface="楷体" panose="02010609060101010101" pitchFamily="49" charset="-122"/>
              <a:ea typeface="楷体" panose="02010609060101010101" pitchFamily="49" charset="-122"/>
            </a:endParaRPr>
          </a:p>
          <a:p>
            <a:r>
              <a:rPr lang="zh-CN" altLang="en-US" dirty="0" smtClean="0">
                <a:latin typeface="楷体" panose="02010609060101010101" pitchFamily="49" charset="-122"/>
                <a:ea typeface="楷体" panose="02010609060101010101" pitchFamily="49" charset="-122"/>
              </a:rPr>
              <a:t>椭圆的一组共轭直径可以由圆的一对互相正交的直径随着椭圆的拉伸和压缩得到</a:t>
            </a:r>
            <a:endParaRPr lang="zh-CN" altLang="en-US" dirty="0">
              <a:latin typeface="楷体" panose="02010609060101010101" pitchFamily="49" charset="-122"/>
              <a:ea typeface="楷体" panose="02010609060101010101" pitchFamily="49" charset="-122"/>
            </a:endParaRPr>
          </a:p>
        </p:txBody>
      </p:sp>
      <p:grpSp>
        <p:nvGrpSpPr>
          <p:cNvPr id="4" name="Group 4"/>
          <p:cNvGrpSpPr>
            <a:grpSpLocks noChangeAspect="1"/>
          </p:cNvGrpSpPr>
          <p:nvPr/>
        </p:nvGrpSpPr>
        <p:grpSpPr bwMode="auto">
          <a:xfrm>
            <a:off x="628650" y="1572204"/>
            <a:ext cx="4508500" cy="2709863"/>
            <a:chOff x="1461" y="1147"/>
            <a:chExt cx="2840" cy="1707"/>
          </a:xfrm>
        </p:grpSpPr>
        <p:sp>
          <p:nvSpPr>
            <p:cNvPr id="5" name="Oval 6"/>
            <p:cNvSpPr>
              <a:spLocks noChangeArrowheads="1"/>
            </p:cNvSpPr>
            <p:nvPr/>
          </p:nvSpPr>
          <p:spPr bwMode="auto">
            <a:xfrm>
              <a:off x="1847" y="1381"/>
              <a:ext cx="2076" cy="1246"/>
            </a:xfrm>
            <a:prstGeom prst="ellipse">
              <a:avLst/>
            </a:prstGeom>
            <a:noFill/>
            <a:ln w="19050" cap="rnd">
              <a:solidFill>
                <a:srgbClr val="00B05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6" name="Line 7"/>
            <p:cNvSpPr>
              <a:spLocks noChangeShapeType="1"/>
            </p:cNvSpPr>
            <p:nvPr/>
          </p:nvSpPr>
          <p:spPr bwMode="auto">
            <a:xfrm flipH="1">
              <a:off x="2370" y="1463"/>
              <a:ext cx="1030" cy="1082"/>
            </a:xfrm>
            <a:prstGeom prst="line">
              <a:avLst/>
            </a:prstGeom>
            <a:noFill/>
            <a:ln w="19050" cap="rnd">
              <a:solidFill>
                <a:srgbClr val="FF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7" name="Line 8"/>
            <p:cNvSpPr>
              <a:spLocks noChangeShapeType="1"/>
            </p:cNvSpPr>
            <p:nvPr/>
          </p:nvSpPr>
          <p:spPr bwMode="auto">
            <a:xfrm>
              <a:off x="2382" y="1458"/>
              <a:ext cx="1541" cy="529"/>
            </a:xfrm>
            <a:prstGeom prst="line">
              <a:avLst/>
            </a:prstGeom>
            <a:noFill/>
            <a:ln w="19050" cap="rnd">
              <a:solidFill>
                <a:srgbClr val="7F7FFF"/>
              </a:solidFill>
              <a:prstDash val="sysDot"/>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8" name="Line 9"/>
            <p:cNvSpPr>
              <a:spLocks noChangeShapeType="1"/>
            </p:cNvSpPr>
            <p:nvPr/>
          </p:nvSpPr>
          <p:spPr bwMode="auto">
            <a:xfrm>
              <a:off x="1876" y="1856"/>
              <a:ext cx="1733" cy="594"/>
            </a:xfrm>
            <a:prstGeom prst="line">
              <a:avLst/>
            </a:prstGeom>
            <a:noFill/>
            <a:ln w="19050" cap="rnd">
              <a:solidFill>
                <a:srgbClr val="7F7FFF"/>
              </a:solidFill>
              <a:prstDash val="sysDot"/>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9" name="Line 10"/>
            <p:cNvSpPr>
              <a:spLocks noChangeShapeType="1"/>
            </p:cNvSpPr>
            <p:nvPr/>
          </p:nvSpPr>
          <p:spPr bwMode="auto">
            <a:xfrm>
              <a:off x="1984" y="1694"/>
              <a:ext cx="1802" cy="619"/>
            </a:xfrm>
            <a:prstGeom prst="line">
              <a:avLst/>
            </a:prstGeom>
            <a:noFill/>
            <a:ln w="19050" cap="rnd">
              <a:solidFill>
                <a:srgbClr val="0000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0" name="Line 11"/>
            <p:cNvSpPr>
              <a:spLocks noChangeShapeType="1"/>
            </p:cNvSpPr>
            <p:nvPr/>
          </p:nvSpPr>
          <p:spPr bwMode="auto">
            <a:xfrm>
              <a:off x="2499" y="1154"/>
              <a:ext cx="1802" cy="618"/>
            </a:xfrm>
            <a:prstGeom prst="line">
              <a:avLst/>
            </a:prstGeom>
            <a:noFill/>
            <a:ln w="19050" cap="rnd">
              <a:solidFill>
                <a:srgbClr val="7F7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1" name="Line 12"/>
            <p:cNvSpPr>
              <a:spLocks noChangeShapeType="1"/>
            </p:cNvSpPr>
            <p:nvPr/>
          </p:nvSpPr>
          <p:spPr bwMode="auto">
            <a:xfrm>
              <a:off x="1469" y="2236"/>
              <a:ext cx="1802" cy="618"/>
            </a:xfrm>
            <a:prstGeom prst="line">
              <a:avLst/>
            </a:prstGeom>
            <a:noFill/>
            <a:ln w="19050" cap="rnd">
              <a:solidFill>
                <a:srgbClr val="7F7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2" name="Oval 13"/>
            <p:cNvSpPr>
              <a:spLocks noChangeArrowheads="1"/>
            </p:cNvSpPr>
            <p:nvPr/>
          </p:nvSpPr>
          <p:spPr bwMode="auto">
            <a:xfrm>
              <a:off x="3127" y="1698"/>
              <a:ext cx="50" cy="50"/>
            </a:xfrm>
            <a:prstGeom prst="ellipse">
              <a:avLst/>
            </a:prstGeom>
            <a:solidFill>
              <a:srgbClr val="FFFFFF"/>
            </a:solidFill>
            <a:ln w="19050" cap="rnd">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3" name="Oval 15"/>
            <p:cNvSpPr>
              <a:spLocks noChangeArrowheads="1"/>
            </p:cNvSpPr>
            <p:nvPr/>
          </p:nvSpPr>
          <p:spPr bwMode="auto">
            <a:xfrm>
              <a:off x="2717" y="2128"/>
              <a:ext cx="50" cy="50"/>
            </a:xfrm>
            <a:prstGeom prst="ellipse">
              <a:avLst/>
            </a:prstGeom>
            <a:solidFill>
              <a:srgbClr val="FFFFFF"/>
            </a:solidFill>
            <a:ln w="12700" cap="rnd">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4" name="Oval 17"/>
            <p:cNvSpPr>
              <a:spLocks noChangeArrowheads="1"/>
            </p:cNvSpPr>
            <p:nvPr/>
          </p:nvSpPr>
          <p:spPr bwMode="auto">
            <a:xfrm>
              <a:off x="2860" y="1979"/>
              <a:ext cx="50" cy="50"/>
            </a:xfrm>
            <a:prstGeom prst="ellipse">
              <a:avLst/>
            </a:prstGeom>
            <a:solidFill>
              <a:srgbClr val="FFFFFF"/>
            </a:solidFill>
            <a:ln w="12700" cap="rnd">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5" name="Line 7"/>
            <p:cNvSpPr>
              <a:spLocks noChangeShapeType="1"/>
            </p:cNvSpPr>
            <p:nvPr/>
          </p:nvSpPr>
          <p:spPr bwMode="auto">
            <a:xfrm flipH="1">
              <a:off x="3271" y="1765"/>
              <a:ext cx="1030" cy="1082"/>
            </a:xfrm>
            <a:prstGeom prst="line">
              <a:avLst/>
            </a:prstGeom>
            <a:noFill/>
            <a:ln w="19050" cap="rnd">
              <a:solidFill>
                <a:srgbClr val="FF7F7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6" name="Line 7"/>
            <p:cNvSpPr>
              <a:spLocks noChangeShapeType="1"/>
            </p:cNvSpPr>
            <p:nvPr/>
          </p:nvSpPr>
          <p:spPr bwMode="auto">
            <a:xfrm flipH="1">
              <a:off x="1461" y="1147"/>
              <a:ext cx="1030" cy="1082"/>
            </a:xfrm>
            <a:prstGeom prst="line">
              <a:avLst/>
            </a:prstGeom>
            <a:noFill/>
            <a:ln w="19050" cap="rnd">
              <a:solidFill>
                <a:srgbClr val="FF7F7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17" name="Group 4"/>
          <p:cNvGrpSpPr>
            <a:grpSpLocks/>
          </p:cNvGrpSpPr>
          <p:nvPr/>
        </p:nvGrpSpPr>
        <p:grpSpPr bwMode="auto">
          <a:xfrm>
            <a:off x="5227638" y="1550773"/>
            <a:ext cx="2705100" cy="2709863"/>
            <a:chOff x="1461" y="1147"/>
            <a:chExt cx="2840" cy="1707"/>
          </a:xfrm>
        </p:grpSpPr>
        <p:sp>
          <p:nvSpPr>
            <p:cNvPr id="18" name="Oval 6"/>
            <p:cNvSpPr>
              <a:spLocks noChangeArrowheads="1"/>
            </p:cNvSpPr>
            <p:nvPr/>
          </p:nvSpPr>
          <p:spPr bwMode="auto">
            <a:xfrm>
              <a:off x="1847" y="1381"/>
              <a:ext cx="2076" cy="1246"/>
            </a:xfrm>
            <a:prstGeom prst="ellipse">
              <a:avLst/>
            </a:prstGeom>
            <a:noFill/>
            <a:ln w="19050" cap="rnd">
              <a:solidFill>
                <a:srgbClr val="00B05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9" name="Line 7"/>
            <p:cNvSpPr>
              <a:spLocks noChangeShapeType="1"/>
            </p:cNvSpPr>
            <p:nvPr/>
          </p:nvSpPr>
          <p:spPr bwMode="auto">
            <a:xfrm flipH="1">
              <a:off x="2370" y="1463"/>
              <a:ext cx="1030" cy="1082"/>
            </a:xfrm>
            <a:prstGeom prst="line">
              <a:avLst/>
            </a:prstGeom>
            <a:noFill/>
            <a:ln w="19050" cap="rnd">
              <a:solidFill>
                <a:srgbClr val="FF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0" name="Line 8"/>
            <p:cNvSpPr>
              <a:spLocks noChangeShapeType="1"/>
            </p:cNvSpPr>
            <p:nvPr/>
          </p:nvSpPr>
          <p:spPr bwMode="auto">
            <a:xfrm>
              <a:off x="2382" y="1458"/>
              <a:ext cx="1541" cy="529"/>
            </a:xfrm>
            <a:prstGeom prst="line">
              <a:avLst/>
            </a:prstGeom>
            <a:noFill/>
            <a:ln w="19050" cap="rnd">
              <a:solidFill>
                <a:srgbClr val="7F7FFF"/>
              </a:solidFill>
              <a:prstDash val="sysDot"/>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1" name="Line 9"/>
            <p:cNvSpPr>
              <a:spLocks noChangeShapeType="1"/>
            </p:cNvSpPr>
            <p:nvPr/>
          </p:nvSpPr>
          <p:spPr bwMode="auto">
            <a:xfrm>
              <a:off x="1876" y="1856"/>
              <a:ext cx="1733" cy="594"/>
            </a:xfrm>
            <a:prstGeom prst="line">
              <a:avLst/>
            </a:prstGeom>
            <a:noFill/>
            <a:ln w="19050" cap="rnd">
              <a:solidFill>
                <a:srgbClr val="7F7FFF"/>
              </a:solidFill>
              <a:prstDash val="sysDot"/>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2" name="Line 10"/>
            <p:cNvSpPr>
              <a:spLocks noChangeShapeType="1"/>
            </p:cNvSpPr>
            <p:nvPr/>
          </p:nvSpPr>
          <p:spPr bwMode="auto">
            <a:xfrm>
              <a:off x="1984" y="1694"/>
              <a:ext cx="1802" cy="619"/>
            </a:xfrm>
            <a:prstGeom prst="line">
              <a:avLst/>
            </a:prstGeom>
            <a:noFill/>
            <a:ln w="19050" cap="rnd">
              <a:solidFill>
                <a:srgbClr val="0000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3" name="Line 11"/>
            <p:cNvSpPr>
              <a:spLocks noChangeShapeType="1"/>
            </p:cNvSpPr>
            <p:nvPr/>
          </p:nvSpPr>
          <p:spPr bwMode="auto">
            <a:xfrm>
              <a:off x="2499" y="1154"/>
              <a:ext cx="1802" cy="618"/>
            </a:xfrm>
            <a:prstGeom prst="line">
              <a:avLst/>
            </a:prstGeom>
            <a:noFill/>
            <a:ln w="19050" cap="rnd">
              <a:solidFill>
                <a:srgbClr val="7F7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4" name="Line 12"/>
            <p:cNvSpPr>
              <a:spLocks noChangeShapeType="1"/>
            </p:cNvSpPr>
            <p:nvPr/>
          </p:nvSpPr>
          <p:spPr bwMode="auto">
            <a:xfrm>
              <a:off x="1469" y="2236"/>
              <a:ext cx="1802" cy="618"/>
            </a:xfrm>
            <a:prstGeom prst="line">
              <a:avLst/>
            </a:prstGeom>
            <a:noFill/>
            <a:ln w="19050" cap="rnd">
              <a:solidFill>
                <a:srgbClr val="7F7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5" name="Oval 13"/>
            <p:cNvSpPr>
              <a:spLocks noChangeArrowheads="1"/>
            </p:cNvSpPr>
            <p:nvPr/>
          </p:nvSpPr>
          <p:spPr bwMode="auto">
            <a:xfrm>
              <a:off x="3113" y="1702"/>
              <a:ext cx="83" cy="50"/>
            </a:xfrm>
            <a:prstGeom prst="ellipse">
              <a:avLst/>
            </a:prstGeom>
            <a:solidFill>
              <a:srgbClr val="FFFFFF"/>
            </a:solidFill>
            <a:ln w="19050" cap="rnd">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6" name="Oval 15"/>
            <p:cNvSpPr>
              <a:spLocks noChangeArrowheads="1"/>
            </p:cNvSpPr>
            <p:nvPr/>
          </p:nvSpPr>
          <p:spPr bwMode="auto">
            <a:xfrm>
              <a:off x="2710" y="2132"/>
              <a:ext cx="83" cy="50"/>
            </a:xfrm>
            <a:prstGeom prst="ellipse">
              <a:avLst/>
            </a:prstGeom>
            <a:solidFill>
              <a:srgbClr val="FFFFFF"/>
            </a:solidFill>
            <a:ln w="12700" cap="rnd">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7" name="Oval 17"/>
            <p:cNvSpPr>
              <a:spLocks noChangeArrowheads="1"/>
            </p:cNvSpPr>
            <p:nvPr/>
          </p:nvSpPr>
          <p:spPr bwMode="auto">
            <a:xfrm>
              <a:off x="2853" y="1983"/>
              <a:ext cx="83" cy="50"/>
            </a:xfrm>
            <a:prstGeom prst="ellipse">
              <a:avLst/>
            </a:prstGeom>
            <a:solidFill>
              <a:srgbClr val="FFFFFF"/>
            </a:solidFill>
            <a:ln w="12700" cap="rnd">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8" name="Line 7"/>
            <p:cNvSpPr>
              <a:spLocks noChangeShapeType="1"/>
            </p:cNvSpPr>
            <p:nvPr/>
          </p:nvSpPr>
          <p:spPr bwMode="auto">
            <a:xfrm flipH="1">
              <a:off x="3271" y="1765"/>
              <a:ext cx="1030" cy="1082"/>
            </a:xfrm>
            <a:prstGeom prst="line">
              <a:avLst/>
            </a:prstGeom>
            <a:noFill/>
            <a:ln w="19050" cap="rnd">
              <a:solidFill>
                <a:srgbClr val="FF7F7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9" name="Line 7"/>
            <p:cNvSpPr>
              <a:spLocks noChangeShapeType="1"/>
            </p:cNvSpPr>
            <p:nvPr/>
          </p:nvSpPr>
          <p:spPr bwMode="auto">
            <a:xfrm flipH="1">
              <a:off x="1461" y="1147"/>
              <a:ext cx="1030" cy="1082"/>
            </a:xfrm>
            <a:prstGeom prst="line">
              <a:avLst/>
            </a:prstGeom>
            <a:noFill/>
            <a:ln w="19050" cap="rnd">
              <a:solidFill>
                <a:srgbClr val="FF7F7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grpSp>
    </p:spTree>
    <p:custDataLst>
      <p:tags r:id="rId1"/>
    </p:custDataLst>
    <p:extLst>
      <p:ext uri="{BB962C8B-B14F-4D97-AF65-F5344CB8AC3E}">
        <p14:creationId xmlns:p14="http://schemas.microsoft.com/office/powerpoint/2010/main" val="31533223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custDataLst>
              <p:tags r:id="rId2"/>
            </p:custDataLst>
          </p:nvPr>
        </p:nvSpPr>
        <p:spPr>
          <a:xfrm>
            <a:off x="914400" y="1462723"/>
            <a:ext cx="7215505" cy="487680"/>
          </a:xfrm>
          <a:prstGeom prst="rect">
            <a:avLst/>
          </a:prstGeom>
          <a:noFill/>
          <a:ln w="12700">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14:hiddenLine>
            </a:ext>
          </a:extLst>
        </p:spPr>
        <p:txBody>
          <a:bodyPr vert="horz" wrap="square" rtlCol="0" anchor="ctr">
            <a:spAutoFit/>
          </a:bodyPr>
          <a:lstStyle/>
          <a:p>
            <a:r>
              <a:rPr lang="zh-CN" altLang="en-US" sz="2600" dirty="0" smtClean="0">
                <a:solidFill>
                  <a:srgbClr val="000000"/>
                </a:solidFill>
                <a:latin typeface="楷体" panose="02010609060101010101" pitchFamily="49" charset="-122"/>
                <a:ea typeface="楷体" panose="02010609060101010101" pitchFamily="49" charset="-122"/>
                <a:sym typeface="Microsoft Yahei" panose="020B0503020204020204" pitchFamily="34" charset="-122"/>
              </a:rPr>
              <a:t>关于椭圆的共轭直径，下列哪些说法是正确的？</a:t>
            </a:r>
            <a:endParaRPr lang="zh-CN" altLang="en-US" sz="2600" dirty="0">
              <a:solidFill>
                <a:srgbClr val="000000"/>
              </a:solidFill>
              <a:latin typeface="楷体" panose="02010609060101010101" pitchFamily="49" charset="-122"/>
              <a:ea typeface="楷体" panose="02010609060101010101" pitchFamily="49" charset="-122"/>
              <a:sym typeface="Microsoft Yahei" panose="020B0503020204020204" pitchFamily="34" charset="-122"/>
            </a:endParaRPr>
          </a:p>
        </p:txBody>
      </p:sp>
      <p:sp>
        <p:nvSpPr>
          <p:cNvPr id="11" name="文本框 10"/>
          <p:cNvSpPr txBox="1"/>
          <p:nvPr>
            <p:custDataLst>
              <p:tags r:id="rId3"/>
            </p:custDataLst>
          </p:nvPr>
        </p:nvSpPr>
        <p:spPr>
          <a:xfrm>
            <a:off x="1828800" y="2899782"/>
            <a:ext cx="6126480" cy="415498"/>
          </a:xfrm>
          <a:prstGeom prst="rect">
            <a:avLst/>
          </a:prstGeom>
          <a:noFill/>
          <a:ln w="12700">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14:hiddenLine>
            </a:ext>
          </a:extLst>
        </p:spPr>
        <p:txBody>
          <a:bodyPr vert="horz" wrap="square" rtlCol="0" anchor="ctr">
            <a:spAutoFit/>
          </a:bodyPr>
          <a:lstStyle/>
          <a:p>
            <a:r>
              <a:rPr lang="zh-CN" altLang="en-US" sz="21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sym typeface="Microsoft Yahei" panose="020B0503020204020204" pitchFamily="34" charset="-122"/>
              </a:rPr>
              <a:t>两条直径端点处的切线平行时，它们构成共轭直径</a:t>
            </a:r>
            <a:endParaRPr lang="zh-CN" altLang="en-US" sz="21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sym typeface="Microsoft Yahei" panose="020B0503020204020204" pitchFamily="34" charset="-122"/>
            </a:endParaRPr>
          </a:p>
        </p:txBody>
      </p:sp>
      <p:sp>
        <p:nvSpPr>
          <p:cNvPr id="12" name="矩形 11"/>
          <p:cNvSpPr>
            <a:spLocks noChangeAspect="1"/>
          </p:cNvSpPr>
          <p:nvPr>
            <p:custDataLst>
              <p:tags r:id="rId4"/>
            </p:custDataLst>
          </p:nvPr>
        </p:nvSpPr>
        <p:spPr>
          <a:xfrm>
            <a:off x="1114425" y="2850356"/>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2100" smtClean="0">
                <a:solidFill>
                  <a:srgbClr val="FFFFFF"/>
                </a:solidFill>
                <a:latin typeface="Times New Roman" panose="02020603050405020304" pitchFamily="18" charset="0"/>
                <a:ea typeface="楷体" panose="02010609060101010101" pitchFamily="49" charset="-122"/>
                <a:cs typeface="Times New Roman" panose="02020603050405020304" pitchFamily="18" charset="0"/>
                <a:sym typeface="Microsoft Yahei" panose="020B0503020204020204" pitchFamily="34" charset="-122"/>
              </a:rPr>
              <a:t>A</a:t>
            </a:r>
            <a:endParaRPr lang="zh-CN" altLang="en-US" sz="2100">
              <a:solidFill>
                <a:srgbClr val="FFFFFF"/>
              </a:solidFill>
              <a:latin typeface="Times New Roman" panose="02020603050405020304" pitchFamily="18" charset="0"/>
              <a:ea typeface="楷体" panose="02010609060101010101" pitchFamily="49" charset="-122"/>
              <a:cs typeface="Times New Roman" panose="02020603050405020304" pitchFamily="18" charset="0"/>
              <a:sym typeface="Microsoft Yahei" panose="020B0503020204020204" pitchFamily="34" charset="-122"/>
            </a:endParaRPr>
          </a:p>
        </p:txBody>
      </p:sp>
      <p:sp>
        <p:nvSpPr>
          <p:cNvPr id="13" name="文本框 12"/>
          <p:cNvSpPr txBox="1"/>
          <p:nvPr>
            <p:custDataLst>
              <p:tags r:id="rId5"/>
            </p:custDataLst>
          </p:nvPr>
        </p:nvSpPr>
        <p:spPr>
          <a:xfrm>
            <a:off x="1828800" y="3595449"/>
            <a:ext cx="5212080" cy="738664"/>
          </a:xfrm>
          <a:prstGeom prst="rect">
            <a:avLst/>
          </a:prstGeom>
          <a:noFill/>
          <a:ln w="12700">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14:hiddenLine>
            </a:ext>
          </a:extLst>
        </p:spPr>
        <p:txBody>
          <a:bodyPr vert="horz" wrap="square" rtlCol="0" anchor="ctr">
            <a:spAutoFit/>
          </a:bodyPr>
          <a:lstStyle/>
          <a:p>
            <a:r>
              <a:rPr lang="zh-CN" altLang="en-US" sz="21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sym typeface="Microsoft Yahei" panose="020B0503020204020204" pitchFamily="34" charset="-122"/>
              </a:rPr>
              <a:t>所有与一条直径平行的弦的中点构成另一条共轭直径</a:t>
            </a:r>
            <a:endParaRPr lang="zh-CN" altLang="en-US" sz="21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sym typeface="Microsoft Yahei" panose="020B0503020204020204" pitchFamily="34" charset="-122"/>
            </a:endParaRPr>
          </a:p>
        </p:txBody>
      </p:sp>
      <p:sp>
        <p:nvSpPr>
          <p:cNvPr id="14" name="矩形 13"/>
          <p:cNvSpPr>
            <a:spLocks noChangeAspect="1"/>
          </p:cNvSpPr>
          <p:nvPr>
            <p:custDataLst>
              <p:tags r:id="rId6"/>
            </p:custDataLst>
          </p:nvPr>
        </p:nvSpPr>
        <p:spPr>
          <a:xfrm>
            <a:off x="1114425" y="3707606"/>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2100" smtClean="0">
                <a:solidFill>
                  <a:srgbClr val="FFFFFF"/>
                </a:solidFill>
                <a:latin typeface="Times New Roman" panose="02020603050405020304" pitchFamily="18" charset="0"/>
                <a:ea typeface="楷体" panose="02010609060101010101" pitchFamily="49" charset="-122"/>
                <a:cs typeface="Times New Roman" panose="02020603050405020304" pitchFamily="18" charset="0"/>
                <a:sym typeface="Microsoft Yahei" panose="020B0503020204020204" pitchFamily="34" charset="-122"/>
              </a:rPr>
              <a:t>B</a:t>
            </a:r>
            <a:endParaRPr lang="zh-CN" altLang="en-US" sz="2100">
              <a:solidFill>
                <a:srgbClr val="FFFFFF"/>
              </a:solidFill>
              <a:latin typeface="Times New Roman" panose="02020603050405020304" pitchFamily="18" charset="0"/>
              <a:ea typeface="楷体" panose="02010609060101010101" pitchFamily="49" charset="-122"/>
              <a:cs typeface="Times New Roman" panose="02020603050405020304" pitchFamily="18" charset="0"/>
              <a:sym typeface="Microsoft Yahei" panose="020B0503020204020204" pitchFamily="34" charset="-122"/>
            </a:endParaRPr>
          </a:p>
        </p:txBody>
      </p:sp>
      <p:sp>
        <p:nvSpPr>
          <p:cNvPr id="15" name="文本框 14"/>
          <p:cNvSpPr txBox="1"/>
          <p:nvPr>
            <p:custDataLst>
              <p:tags r:id="rId7"/>
            </p:custDataLst>
          </p:nvPr>
        </p:nvSpPr>
        <p:spPr>
          <a:xfrm>
            <a:off x="1828800" y="4614282"/>
            <a:ext cx="6064568" cy="415498"/>
          </a:xfrm>
          <a:prstGeom prst="rect">
            <a:avLst/>
          </a:prstGeom>
          <a:noFill/>
          <a:ln w="12700">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14:hiddenLine>
            </a:ext>
          </a:extLst>
        </p:spPr>
        <p:txBody>
          <a:bodyPr vert="horz" wrap="square" rtlCol="0" anchor="ctr">
            <a:spAutoFit/>
          </a:bodyPr>
          <a:lstStyle/>
          <a:p>
            <a:r>
              <a:rPr lang="zh-CN" altLang="en-US" sz="21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sym typeface="Microsoft Yahei" panose="020B0503020204020204" pitchFamily="34" charset="-122"/>
              </a:rPr>
              <a:t>共轭直径的性质在椭圆拉伸或压缩后会改变</a:t>
            </a:r>
            <a:endParaRPr lang="zh-CN" altLang="en-US" sz="21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sym typeface="Microsoft Yahei" panose="020B0503020204020204" pitchFamily="34" charset="-122"/>
            </a:endParaRPr>
          </a:p>
        </p:txBody>
      </p:sp>
      <p:sp>
        <p:nvSpPr>
          <p:cNvPr id="16" name="矩形 15"/>
          <p:cNvSpPr>
            <a:spLocks noChangeAspect="1"/>
          </p:cNvSpPr>
          <p:nvPr>
            <p:custDataLst>
              <p:tags r:id="rId8"/>
            </p:custDataLst>
          </p:nvPr>
        </p:nvSpPr>
        <p:spPr>
          <a:xfrm>
            <a:off x="1114425" y="4564856"/>
            <a:ext cx="514350" cy="51435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2100" smtClean="0">
                <a:solidFill>
                  <a:srgbClr val="FFFFFF"/>
                </a:solidFill>
                <a:latin typeface="Times New Roman" panose="02020603050405020304" pitchFamily="18" charset="0"/>
                <a:ea typeface="楷体" panose="02010609060101010101" pitchFamily="49" charset="-122"/>
                <a:cs typeface="Times New Roman" panose="02020603050405020304" pitchFamily="18" charset="0"/>
                <a:sym typeface="Microsoft Yahei" panose="020B0503020204020204" pitchFamily="34" charset="-122"/>
              </a:rPr>
              <a:t>C</a:t>
            </a:r>
            <a:endParaRPr lang="zh-CN" altLang="en-US" sz="2100">
              <a:solidFill>
                <a:srgbClr val="FFFFFF"/>
              </a:solidFill>
              <a:latin typeface="Times New Roman" panose="02020603050405020304" pitchFamily="18" charset="0"/>
              <a:ea typeface="楷体" panose="02010609060101010101" pitchFamily="49" charset="-122"/>
              <a:cs typeface="Times New Roman" panose="02020603050405020304" pitchFamily="18" charset="0"/>
              <a:sym typeface="Microsoft Yahei" panose="020B0503020204020204" pitchFamily="34" charset="-122"/>
            </a:endParaRPr>
          </a:p>
        </p:txBody>
      </p:sp>
      <p:sp>
        <p:nvSpPr>
          <p:cNvPr id="17" name="文本框 16"/>
          <p:cNvSpPr txBox="1"/>
          <p:nvPr>
            <p:custDataLst>
              <p:tags r:id="rId9"/>
            </p:custDataLst>
          </p:nvPr>
        </p:nvSpPr>
        <p:spPr>
          <a:xfrm>
            <a:off x="1828800" y="5471532"/>
            <a:ext cx="6110605" cy="415498"/>
          </a:xfrm>
          <a:prstGeom prst="rect">
            <a:avLst/>
          </a:prstGeom>
          <a:noFill/>
          <a:ln w="12700">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14:hiddenLine>
            </a:ext>
          </a:extLst>
        </p:spPr>
        <p:txBody>
          <a:bodyPr vert="horz" wrap="square" rtlCol="0" anchor="ctr">
            <a:spAutoFit/>
          </a:bodyPr>
          <a:lstStyle/>
          <a:p>
            <a:r>
              <a:rPr lang="zh-CN" altLang="en-US" sz="210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sym typeface="Microsoft Yahei" panose="020B0503020204020204" pitchFamily="34" charset="-122"/>
              </a:rPr>
              <a:t>椭圆的共轭直径可以由圆的正交直径拉伸得到</a:t>
            </a:r>
            <a:endParaRPr lang="zh-CN" altLang="en-US" sz="2100">
              <a:solidFill>
                <a:srgbClr val="000000"/>
              </a:solidFill>
              <a:latin typeface="Times New Roman" panose="02020603050405020304" pitchFamily="18" charset="0"/>
              <a:ea typeface="楷体" panose="02010609060101010101" pitchFamily="49" charset="-122"/>
              <a:cs typeface="Times New Roman" panose="02020603050405020304" pitchFamily="18" charset="0"/>
              <a:sym typeface="Microsoft Yahei" panose="020B0503020204020204" pitchFamily="34" charset="-122"/>
            </a:endParaRPr>
          </a:p>
        </p:txBody>
      </p:sp>
      <p:sp>
        <p:nvSpPr>
          <p:cNvPr id="18" name="矩形 17"/>
          <p:cNvSpPr>
            <a:spLocks noChangeAspect="1"/>
          </p:cNvSpPr>
          <p:nvPr>
            <p:custDataLst>
              <p:tags r:id="rId10"/>
            </p:custDataLst>
          </p:nvPr>
        </p:nvSpPr>
        <p:spPr>
          <a:xfrm>
            <a:off x="1114425" y="5422106"/>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2100" smtClean="0">
                <a:solidFill>
                  <a:srgbClr val="FFFFFF"/>
                </a:solidFill>
                <a:latin typeface="Times New Roman" panose="02020603050405020304" pitchFamily="18" charset="0"/>
                <a:ea typeface="楷体" panose="02010609060101010101" pitchFamily="49" charset="-122"/>
                <a:cs typeface="Times New Roman" panose="02020603050405020304" pitchFamily="18" charset="0"/>
                <a:sym typeface="Microsoft Yahei" panose="020B0503020204020204" pitchFamily="34" charset="-122"/>
              </a:rPr>
              <a:t>D</a:t>
            </a:r>
            <a:endParaRPr lang="zh-CN" altLang="en-US" sz="2100">
              <a:solidFill>
                <a:srgbClr val="FFFFFF"/>
              </a:solidFill>
              <a:latin typeface="Times New Roman" panose="02020603050405020304" pitchFamily="18" charset="0"/>
              <a:ea typeface="楷体" panose="02010609060101010101" pitchFamily="49" charset="-122"/>
              <a:cs typeface="Times New Roman" panose="02020603050405020304" pitchFamily="18" charset="0"/>
              <a:sym typeface="Microsoft Yahei" panose="020B0503020204020204" pitchFamily="34" charset="-122"/>
            </a:endParaRPr>
          </a:p>
        </p:txBody>
      </p:sp>
      <p:sp>
        <p:nvSpPr>
          <p:cNvPr id="19" name="圆角矩形 18"/>
          <p:cNvSpPr/>
          <p:nvPr>
            <p:custDataLst>
              <p:tags r:id="rId11"/>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9" name="组合 8"/>
          <p:cNvGrpSpPr/>
          <p:nvPr>
            <p:custDataLst>
              <p:tags r:id="rId12"/>
            </p:custDataLst>
          </p:nvPr>
        </p:nvGrpSpPr>
        <p:grpSpPr>
          <a:xfrm>
            <a:off x="0" y="0"/>
            <a:ext cx="9144000" cy="635000"/>
            <a:chOff x="0" y="0"/>
            <a:chExt cx="9144000" cy="635000"/>
          </a:xfrm>
        </p:grpSpPr>
        <p:sp>
          <p:nvSpPr>
            <p:cNvPr id="5" name="TitleBackground"/>
            <p:cNvSpPr/>
            <p:nvPr>
              <p:custDataLst>
                <p:tags r:id="rId14"/>
              </p:custDataLst>
            </p:nvPr>
          </p:nvSpPr>
          <p:spPr>
            <a:xfrm>
              <a:off x="0" y="0"/>
              <a:ext cx="9144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endPar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endPar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4" name="图片 3"/>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279101008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宋体" panose="02010600030101010101" pitchFamily="2" charset="-122"/>
                <a:ea typeface="宋体" panose="02010600030101010101" pitchFamily="2" charset="-122"/>
              </a:rPr>
              <a:t>共轭向量的数学表达</a:t>
            </a:r>
            <a:endParaRPr lang="zh-CN" altLang="en-US" dirty="0">
              <a:latin typeface="宋体" panose="02010600030101010101" pitchFamily="2" charset="-122"/>
              <a:ea typeface="宋体" panose="02010600030101010101" pitchFamily="2" charset="-122"/>
            </a:endParaRPr>
          </a:p>
        </p:txBody>
      </p:sp>
      <p:sp>
        <p:nvSpPr>
          <p:cNvPr id="3" name="内容占位符 2"/>
          <p:cNvSpPr>
            <a:spLocks noGrp="1"/>
          </p:cNvSpPr>
          <p:nvPr>
            <p:ph idx="1"/>
          </p:nvPr>
        </p:nvSpPr>
        <p:spPr>
          <a:xfrm>
            <a:off x="628650" y="1690689"/>
            <a:ext cx="7886700" cy="4486273"/>
          </a:xfrm>
        </p:spPr>
        <p:txBody>
          <a:bodyPr/>
          <a:lstStyle/>
          <a:p>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S</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是一个可逆伸缩变换矩阵，在伸缩之前，单位超球面上坐标为</a:t>
            </a: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x</a:t>
            </a:r>
            <a:r>
              <a:rPr lang="en-US" altLang="zh-CN" baseline="-25000" dirty="0" smtClean="0">
                <a:latin typeface="Times New Roman" panose="02020603050405020304" pitchFamily="18" charset="0"/>
                <a:ea typeface="楷体" panose="02010609060101010101" pitchFamily="49" charset="-122"/>
                <a:cs typeface="Times New Roman" panose="02020603050405020304" pitchFamily="18" charset="0"/>
              </a:rPr>
              <a:t>0</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的点满足：</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pPr marL="0" indent="0" algn="ctr">
              <a:buNone/>
            </a:pP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x</a:t>
            </a:r>
            <a:r>
              <a:rPr lang="en-US" altLang="zh-CN" baseline="-25000" dirty="0" smtClean="0">
                <a:latin typeface="Times New Roman" panose="02020603050405020304" pitchFamily="18" charset="0"/>
                <a:ea typeface="楷体" panose="02010609060101010101" pitchFamily="49" charset="-122"/>
                <a:cs typeface="Times New Roman" panose="02020603050405020304" pitchFamily="18" charset="0"/>
              </a:rPr>
              <a:t>0</a:t>
            </a:r>
            <a:r>
              <a:rPr lang="en-US" altLang="zh-CN" baseline="30000" dirty="0" smtClean="0">
                <a:latin typeface="Times New Roman" panose="02020603050405020304" pitchFamily="18" charset="0"/>
                <a:ea typeface="楷体" panose="02010609060101010101" pitchFamily="49" charset="-122"/>
                <a:cs typeface="Times New Roman" panose="02020603050405020304" pitchFamily="18" charset="0"/>
              </a:rPr>
              <a:t>T</a:t>
            </a: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x</a:t>
            </a:r>
            <a:r>
              <a:rPr lang="en-US" altLang="zh-CN" baseline="-25000" dirty="0" smtClean="0">
                <a:latin typeface="Times New Roman" panose="02020603050405020304" pitchFamily="18" charset="0"/>
                <a:ea typeface="楷体" panose="02010609060101010101" pitchFamily="49" charset="-122"/>
                <a:cs typeface="Times New Roman" panose="02020603050405020304" pitchFamily="18" charset="0"/>
              </a:rPr>
              <a:t>0</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 1</a:t>
            </a:r>
          </a:p>
          <a:p>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伸缩变换后点的坐标</a:t>
            </a: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x</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满足：</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pPr marL="0" indent="0" algn="ctr">
              <a:buNone/>
            </a:pP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x</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 </a:t>
            </a: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Sx</a:t>
            </a:r>
            <a:r>
              <a:rPr lang="en-US" altLang="zh-CN" baseline="-25000" dirty="0" smtClean="0">
                <a:latin typeface="Times New Roman" panose="02020603050405020304" pitchFamily="18" charset="0"/>
                <a:ea typeface="楷体" panose="02010609060101010101" pitchFamily="49" charset="-122"/>
                <a:cs typeface="Times New Roman" panose="02020603050405020304" pitchFamily="18" charset="0"/>
              </a:rPr>
              <a:t>0</a:t>
            </a:r>
            <a:endParaRPr lang="en-US" altLang="zh-CN" baseline="-25000" dirty="0">
              <a:latin typeface="Times New Roman" panose="02020603050405020304" pitchFamily="18" charset="0"/>
              <a:ea typeface="楷体" panose="02010609060101010101" pitchFamily="49" charset="-122"/>
              <a:cs typeface="Times New Roman" panose="02020603050405020304" pitchFamily="18" charset="0"/>
            </a:endParaRPr>
          </a:p>
          <a:p>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对两边做逆变换，得到</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pPr marL="0" indent="0" algn="ctr">
              <a:buNone/>
            </a:pP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x</a:t>
            </a:r>
            <a:r>
              <a:rPr lang="en-US" altLang="zh-CN" baseline="-25000" dirty="0" smtClean="0">
                <a:latin typeface="Times New Roman" panose="02020603050405020304" pitchFamily="18" charset="0"/>
                <a:ea typeface="楷体" panose="02010609060101010101" pitchFamily="49" charset="-122"/>
                <a:cs typeface="Times New Roman" panose="02020603050405020304" pitchFamily="18" charset="0"/>
              </a:rPr>
              <a:t>0</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 </a:t>
            </a: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S</a:t>
            </a:r>
            <a:r>
              <a:rPr lang="en-US" altLang="zh-CN" baseline="30000" dirty="0" smtClean="0">
                <a:latin typeface="Times New Roman" panose="02020603050405020304" pitchFamily="18" charset="0"/>
                <a:ea typeface="楷体" panose="02010609060101010101" pitchFamily="49" charset="-122"/>
                <a:cs typeface="Times New Roman" panose="02020603050405020304" pitchFamily="18" charset="0"/>
              </a:rPr>
              <a:t>–1</a:t>
            </a: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x</a:t>
            </a:r>
            <a:endParaRPr lang="en-US" altLang="zh-CN" b="1" dirty="0">
              <a:latin typeface="Times New Roman" panose="02020603050405020304" pitchFamily="18" charset="0"/>
              <a:ea typeface="楷体" panose="02010609060101010101" pitchFamily="49" charset="-122"/>
              <a:cs typeface="Times New Roman" panose="02020603050405020304" pitchFamily="18" charset="0"/>
            </a:endParaRPr>
          </a:p>
          <a:p>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p:txBody>
      </p:sp>
    </p:spTree>
    <p:custDataLst>
      <p:tags r:id="rId1"/>
    </p:custDataLst>
    <p:extLst>
      <p:ext uri="{BB962C8B-B14F-4D97-AF65-F5344CB8AC3E}">
        <p14:creationId xmlns:p14="http://schemas.microsoft.com/office/powerpoint/2010/main" val="19277420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宋体" panose="02010600030101010101" pitchFamily="2" charset="-122"/>
                <a:ea typeface="宋体" panose="02010600030101010101" pitchFamily="2" charset="-122"/>
              </a:rPr>
              <a:t>共轭向量的数学表达</a:t>
            </a:r>
            <a:endParaRPr lang="zh-CN" altLang="en-US" dirty="0">
              <a:latin typeface="宋体" panose="02010600030101010101" pitchFamily="2" charset="-122"/>
              <a:ea typeface="宋体" panose="02010600030101010101" pitchFamily="2" charset="-122"/>
            </a:endParaRPr>
          </a:p>
        </p:txBody>
      </p:sp>
      <p:sp>
        <p:nvSpPr>
          <p:cNvPr id="3" name="内容占位符 2"/>
          <p:cNvSpPr>
            <a:spLocks noGrp="1"/>
          </p:cNvSpPr>
          <p:nvPr>
            <p:ph idx="1"/>
          </p:nvPr>
        </p:nvSpPr>
        <p:spPr/>
        <p:txBody>
          <a:bodyPr/>
          <a:lstStyle/>
          <a:p>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利用</a:t>
            </a: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x</a:t>
            </a:r>
            <a:r>
              <a:rPr lang="en-US" altLang="zh-CN" baseline="-25000" dirty="0" smtClean="0">
                <a:latin typeface="Times New Roman" panose="02020603050405020304" pitchFamily="18" charset="0"/>
                <a:ea typeface="楷体" panose="02010609060101010101" pitchFamily="49" charset="-122"/>
                <a:cs typeface="Times New Roman" panose="02020603050405020304" pitchFamily="18" charset="0"/>
              </a:rPr>
              <a:t>0</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满足的性质，有</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pPr marL="0" indent="0" algn="ctr">
              <a:buNone/>
            </a:pPr>
            <a:r>
              <a:rPr lang="en-US" altLang="zh-CN"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S</a:t>
            </a:r>
            <a:r>
              <a:rPr lang="en-US" altLang="zh-CN" baseline="30000" dirty="0" smtClean="0">
                <a:latin typeface="Times New Roman" panose="02020603050405020304" pitchFamily="18" charset="0"/>
                <a:ea typeface="楷体" panose="02010609060101010101" pitchFamily="49" charset="-122"/>
                <a:cs typeface="Times New Roman" panose="02020603050405020304" pitchFamily="18" charset="0"/>
              </a:rPr>
              <a:t>–1</a:t>
            </a: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x</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i="1" baseline="30000" dirty="0" smtClean="0">
                <a:latin typeface="Times New Roman" panose="02020603050405020304" pitchFamily="18" charset="0"/>
                <a:ea typeface="楷体" panose="02010609060101010101" pitchFamily="49" charset="-122"/>
                <a:cs typeface="Times New Roman" panose="02020603050405020304" pitchFamily="18" charset="0"/>
              </a:rPr>
              <a:t>T</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S</a:t>
            </a:r>
            <a:r>
              <a:rPr lang="en-US" altLang="zh-CN" baseline="30000" dirty="0" smtClean="0">
                <a:latin typeface="Times New Roman" panose="02020603050405020304" pitchFamily="18" charset="0"/>
                <a:ea typeface="楷体" panose="02010609060101010101" pitchFamily="49" charset="-122"/>
                <a:cs typeface="Times New Roman" panose="02020603050405020304" pitchFamily="18" charset="0"/>
              </a:rPr>
              <a:t>–1</a:t>
            </a: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x</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a:t>
            </a:r>
            <a:r>
              <a:rPr lang="en-US" altLang="zh-CN"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1</a:t>
            </a:r>
          </a:p>
          <a:p>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即</a:t>
            </a:r>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a:p>
            <a:pPr marL="0" indent="0" algn="ctr">
              <a:buNone/>
            </a:pP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x</a:t>
            </a:r>
            <a:r>
              <a:rPr lang="en-US" altLang="zh-CN" i="1" baseline="30000" dirty="0" err="1" smtClean="0">
                <a:latin typeface="Times New Roman" panose="02020603050405020304" pitchFamily="18" charset="0"/>
                <a:ea typeface="楷体" panose="02010609060101010101" pitchFamily="49" charset="-122"/>
                <a:cs typeface="Times New Roman" panose="02020603050405020304" pitchFamily="18" charset="0"/>
              </a:rPr>
              <a:t>T</a:t>
            </a:r>
            <a:r>
              <a:rPr lang="en-US" altLang="zh-CN"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S</a:t>
            </a:r>
            <a:r>
              <a:rPr lang="en-US" altLang="zh-CN" baseline="30000" dirty="0" smtClean="0">
                <a:latin typeface="Times New Roman" panose="02020603050405020304" pitchFamily="18" charset="0"/>
                <a:ea typeface="楷体" panose="02010609060101010101" pitchFamily="49" charset="-122"/>
                <a:cs typeface="Times New Roman" panose="02020603050405020304" pitchFamily="18" charset="0"/>
              </a:rPr>
              <a:t>–1</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i="1" baseline="30000" dirty="0" smtClean="0">
                <a:latin typeface="Times New Roman" panose="02020603050405020304" pitchFamily="18" charset="0"/>
                <a:ea typeface="楷体" panose="02010609060101010101" pitchFamily="49" charset="-122"/>
                <a:cs typeface="Times New Roman" panose="02020603050405020304" pitchFamily="18" charset="0"/>
              </a:rPr>
              <a:t>T</a:t>
            </a: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S</a:t>
            </a:r>
            <a:r>
              <a:rPr lang="en-US" altLang="zh-CN" baseline="30000" dirty="0" smtClean="0">
                <a:latin typeface="Times New Roman" panose="02020603050405020304" pitchFamily="18" charset="0"/>
                <a:ea typeface="楷体" panose="02010609060101010101" pitchFamily="49" charset="-122"/>
                <a:cs typeface="Times New Roman" panose="02020603050405020304" pitchFamily="18" charset="0"/>
              </a:rPr>
              <a:t>–1</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x</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 1</a:t>
            </a:r>
          </a:p>
          <a:p>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记</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pPr marL="0" indent="0" algn="ctr">
              <a:buNone/>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A</a:t>
            </a:r>
            <a:r>
              <a:rPr lang="en-US" altLang="zh-CN" dirty="0">
                <a:latin typeface="Times New Roman" panose="02020603050405020304" pitchFamily="18" charset="0"/>
                <a:ea typeface="楷体" panose="02010609060101010101" pitchFamily="49" charset="-122"/>
                <a:cs typeface="Times New Roman" panose="02020603050405020304" pitchFamily="18" charset="0"/>
              </a:rPr>
              <a:t> = (</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S</a:t>
            </a:r>
            <a:r>
              <a:rPr lang="en-US" altLang="zh-CN" baseline="30000" dirty="0">
                <a:latin typeface="Times New Roman" panose="02020603050405020304" pitchFamily="18" charset="0"/>
                <a:ea typeface="楷体" panose="02010609060101010101" pitchFamily="49" charset="-122"/>
                <a:cs typeface="Times New Roman" panose="02020603050405020304" pitchFamily="18" charset="0"/>
              </a:rPr>
              <a:t>–1</a:t>
            </a:r>
            <a:r>
              <a:rPr lang="en-US" altLang="zh-CN"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i="1" baseline="30000" dirty="0">
                <a:latin typeface="Times New Roman" panose="02020603050405020304" pitchFamily="18" charset="0"/>
                <a:ea typeface="楷体" panose="02010609060101010101" pitchFamily="49" charset="-122"/>
                <a:cs typeface="Times New Roman" panose="02020603050405020304" pitchFamily="18" charset="0"/>
              </a:rPr>
              <a:t>T</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S</a:t>
            </a:r>
            <a:r>
              <a:rPr lang="en-US" altLang="zh-CN" baseline="30000" dirty="0">
                <a:latin typeface="Times New Roman" panose="02020603050405020304" pitchFamily="18" charset="0"/>
                <a:ea typeface="楷体" panose="02010609060101010101" pitchFamily="49" charset="-122"/>
                <a:cs typeface="Times New Roman" panose="02020603050405020304" pitchFamily="18" charset="0"/>
              </a:rPr>
              <a:t>–1</a:t>
            </a:r>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a:p>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写出由单位超球面伸缩得到的超椭球方程</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pPr marL="0" indent="0" algn="ctr">
              <a:buNone/>
            </a:pP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x</a:t>
            </a:r>
            <a:r>
              <a:rPr lang="en-US" altLang="zh-CN" baseline="30000" dirty="0" err="1" smtClean="0">
                <a:latin typeface="Times New Roman" panose="02020603050405020304" pitchFamily="18" charset="0"/>
                <a:ea typeface="楷体" panose="02010609060101010101" pitchFamily="49" charset="-122"/>
                <a:cs typeface="Times New Roman" panose="02020603050405020304" pitchFamily="18" charset="0"/>
              </a:rPr>
              <a:t>T</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Ax</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 1</a:t>
            </a:r>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a:p>
            <a:endParaRPr lang="en-US" altLang="zh-CN" dirty="0" smtClean="0"/>
          </a:p>
          <a:p>
            <a:endParaRPr lang="en-US" altLang="zh-CN" dirty="0" smtClean="0"/>
          </a:p>
          <a:p>
            <a:endParaRPr lang="zh-CN" altLang="en-US" dirty="0"/>
          </a:p>
        </p:txBody>
      </p:sp>
    </p:spTree>
    <p:custDataLst>
      <p:tags r:id="rId1"/>
    </p:custDataLst>
    <p:extLst>
      <p:ext uri="{BB962C8B-B14F-4D97-AF65-F5344CB8AC3E}">
        <p14:creationId xmlns:p14="http://schemas.microsoft.com/office/powerpoint/2010/main" val="27713062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宋体" panose="02010600030101010101" pitchFamily="2" charset="-122"/>
                <a:ea typeface="宋体" panose="02010600030101010101" pitchFamily="2" charset="-122"/>
              </a:rPr>
              <a:t>共轭向量的数学表达</a:t>
            </a:r>
            <a:endParaRPr lang="zh-CN" altLang="en-US" dirty="0">
              <a:latin typeface="宋体" panose="02010600030101010101" pitchFamily="2" charset="-122"/>
              <a:ea typeface="宋体" panose="02010600030101010101" pitchFamily="2" charset="-122"/>
            </a:endParaRP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628650" y="1690689"/>
                <a:ext cx="7886700" cy="4486273"/>
              </a:xfrm>
            </p:spPr>
            <p:txBody>
              <a:bodyPr/>
              <a:lstStyle/>
              <a:p>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对于变换前的单位超球两条垂直的直径，它们沿着两个互相垂直的向量</a:t>
                </a: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u</a:t>
                </a:r>
                <a:r>
                  <a:rPr lang="en-US" altLang="zh-CN" baseline="-25000" dirty="0" smtClean="0">
                    <a:latin typeface="Times New Roman" panose="02020603050405020304" pitchFamily="18" charset="0"/>
                    <a:ea typeface="楷体" panose="02010609060101010101" pitchFamily="49" charset="-122"/>
                    <a:cs typeface="Times New Roman" panose="02020603050405020304" pitchFamily="18" charset="0"/>
                  </a:rPr>
                  <a:t>0</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和</a:t>
                </a: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v</a:t>
                </a:r>
                <a:r>
                  <a:rPr lang="en-US" altLang="zh-CN" baseline="-25000" dirty="0" smtClean="0">
                    <a:latin typeface="Times New Roman" panose="02020603050405020304" pitchFamily="18" charset="0"/>
                    <a:ea typeface="楷体" panose="02010609060101010101" pitchFamily="49" charset="-122"/>
                    <a:cs typeface="Times New Roman" panose="02020603050405020304" pitchFamily="18" charset="0"/>
                  </a:rPr>
                  <a:t>0</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，满足</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pPr marL="0" indent="0" algn="ctr">
                  <a:buNone/>
                </a:pP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u</a:t>
                </a:r>
                <a:r>
                  <a:rPr lang="en-US" altLang="zh-CN" baseline="-25000" dirty="0" smtClean="0">
                    <a:latin typeface="Times New Roman" panose="02020603050405020304" pitchFamily="18" charset="0"/>
                    <a:ea typeface="楷体" panose="02010609060101010101" pitchFamily="49" charset="-122"/>
                    <a:cs typeface="Times New Roman" panose="02020603050405020304" pitchFamily="18" charset="0"/>
                  </a:rPr>
                  <a:t>0</a:t>
                </a:r>
                <a:r>
                  <a:rPr lang="en-US" altLang="zh-CN" i="1" baseline="30000" dirty="0" smtClean="0">
                    <a:latin typeface="Times New Roman" panose="02020603050405020304" pitchFamily="18" charset="0"/>
                    <a:ea typeface="楷体" panose="02010609060101010101" pitchFamily="49" charset="-122"/>
                    <a:cs typeface="Times New Roman" panose="02020603050405020304" pitchFamily="18" charset="0"/>
                  </a:rPr>
                  <a:t>T</a:t>
                </a: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v</a:t>
                </a:r>
                <a:r>
                  <a:rPr lang="en-US" altLang="zh-CN" baseline="-25000" dirty="0" smtClean="0">
                    <a:latin typeface="Times New Roman" panose="02020603050405020304" pitchFamily="18" charset="0"/>
                    <a:ea typeface="楷体" panose="02010609060101010101" pitchFamily="49" charset="-122"/>
                    <a:cs typeface="Times New Roman" panose="02020603050405020304" pitchFamily="18" charset="0"/>
                  </a:rPr>
                  <a:t>0</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 0</a:t>
                </a:r>
              </a:p>
              <a:p>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伸缩变换中，它们分别变为</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14:m>
                  <m:oMathPara xmlns:m="http://schemas.openxmlformats.org/officeDocument/2006/math">
                    <m:oMathParaPr>
                      <m:jc m:val="center"/>
                    </m:oMathParaPr>
                    <m:oMath xmlns:m="http://schemas.openxmlformats.org/officeDocument/2006/math">
                      <m:d>
                        <m:dPr>
                          <m:begChr m:val="{"/>
                          <m:endChr m:val=""/>
                          <m:ctrlPr>
                            <a:rPr lang="en-US" altLang="zh-CN" i="1" smtClean="0">
                              <a:latin typeface="Cambria Math" panose="02040503050406030204" pitchFamily="18" charset="0"/>
                              <a:ea typeface="楷体" panose="02010609060101010101" pitchFamily="49" charset="-122"/>
                              <a:cs typeface="Times New Roman" panose="02020603050405020304" pitchFamily="18" charset="0"/>
                            </a:rPr>
                          </m:ctrlPr>
                        </m:dPr>
                        <m:e>
                          <m:eqArr>
                            <m:eqArrPr>
                              <m:ctrlPr>
                                <a:rPr lang="en-US" altLang="zh-CN" i="1" smtClean="0">
                                  <a:latin typeface="Cambria Math" panose="02040503050406030204" pitchFamily="18" charset="0"/>
                                  <a:ea typeface="楷体" panose="02010609060101010101" pitchFamily="49" charset="-122"/>
                                  <a:cs typeface="Times New Roman" panose="02020603050405020304" pitchFamily="18" charset="0"/>
                                </a:rPr>
                              </m:ctrlPr>
                            </m:eqArrPr>
                            <m:e>
                              <m:r>
                                <a:rPr lang="en-US" altLang="zh-CN" b="1" i="0" smtClean="0">
                                  <a:latin typeface="Cambria Math" panose="02040503050406030204" pitchFamily="18" charset="0"/>
                                  <a:ea typeface="楷体" panose="02010609060101010101" pitchFamily="49" charset="-122"/>
                                  <a:cs typeface="Times New Roman" panose="02020603050405020304" pitchFamily="18" charset="0"/>
                                </a:rPr>
                                <m:t>𝐮</m:t>
                              </m:r>
                              <m:r>
                                <a:rPr lang="en-US" altLang="zh-CN" b="0" i="1" smtClean="0">
                                  <a:latin typeface="Cambria Math" panose="02040503050406030204" pitchFamily="18" charset="0"/>
                                  <a:ea typeface="楷体" panose="02010609060101010101" pitchFamily="49" charset="-122"/>
                                  <a:cs typeface="Times New Roman" panose="02020603050405020304" pitchFamily="18" charset="0"/>
                                </a:rPr>
                                <m:t>=</m:t>
                              </m:r>
                              <m:r>
                                <a:rPr lang="en-US" altLang="zh-CN" b="1" i="0" smtClean="0">
                                  <a:latin typeface="Cambria Math" panose="02040503050406030204" pitchFamily="18" charset="0"/>
                                  <a:ea typeface="楷体" panose="02010609060101010101" pitchFamily="49" charset="-122"/>
                                  <a:cs typeface="Times New Roman" panose="02020603050405020304" pitchFamily="18" charset="0"/>
                                </a:rPr>
                                <m:t>𝐒</m:t>
                              </m:r>
                              <m:sSub>
                                <m:sSubPr>
                                  <m:ctrlPr>
                                    <a:rPr lang="en-US" altLang="zh-CN" b="0" i="1" smtClean="0">
                                      <a:latin typeface="Cambria Math" panose="02040503050406030204" pitchFamily="18" charset="0"/>
                                      <a:ea typeface="楷体" panose="02010609060101010101" pitchFamily="49" charset="-122"/>
                                      <a:cs typeface="Times New Roman" panose="02020603050405020304" pitchFamily="18" charset="0"/>
                                    </a:rPr>
                                  </m:ctrlPr>
                                </m:sSubPr>
                                <m:e>
                                  <m:r>
                                    <a:rPr lang="en-US" altLang="zh-CN" b="1" i="0" smtClean="0">
                                      <a:latin typeface="Cambria Math" panose="02040503050406030204" pitchFamily="18" charset="0"/>
                                      <a:ea typeface="楷体" panose="02010609060101010101" pitchFamily="49" charset="-122"/>
                                      <a:cs typeface="Times New Roman" panose="02020603050405020304" pitchFamily="18" charset="0"/>
                                    </a:rPr>
                                    <m:t>𝐮</m:t>
                                  </m:r>
                                </m:e>
                                <m:sub>
                                  <m:r>
                                    <a:rPr lang="en-US" altLang="zh-CN" b="0" i="1" smtClean="0">
                                      <a:latin typeface="Cambria Math" panose="02040503050406030204" pitchFamily="18" charset="0"/>
                                      <a:ea typeface="楷体" panose="02010609060101010101" pitchFamily="49" charset="-122"/>
                                      <a:cs typeface="Times New Roman" panose="02020603050405020304" pitchFamily="18" charset="0"/>
                                    </a:rPr>
                                    <m:t>0</m:t>
                                  </m:r>
                                </m:sub>
                              </m:sSub>
                            </m:e>
                            <m:e>
                              <m:r>
                                <a:rPr lang="en-US" altLang="zh-CN" b="1" i="0" smtClean="0">
                                  <a:latin typeface="Cambria Math" panose="02040503050406030204" pitchFamily="18" charset="0"/>
                                  <a:ea typeface="楷体" panose="02010609060101010101" pitchFamily="49" charset="-122"/>
                                  <a:cs typeface="Times New Roman" panose="02020603050405020304" pitchFamily="18" charset="0"/>
                                </a:rPr>
                                <m:t>𝐯</m:t>
                              </m:r>
                              <m:r>
                                <a:rPr lang="en-US" altLang="zh-CN" b="0" i="1" smtClean="0">
                                  <a:latin typeface="Cambria Math" panose="02040503050406030204" pitchFamily="18" charset="0"/>
                                  <a:ea typeface="楷体" panose="02010609060101010101" pitchFamily="49" charset="-122"/>
                                  <a:cs typeface="Times New Roman" panose="02020603050405020304" pitchFamily="18" charset="0"/>
                                </a:rPr>
                                <m:t>=</m:t>
                              </m:r>
                              <m:r>
                                <a:rPr lang="en-US" altLang="zh-CN" b="1" i="0" smtClean="0">
                                  <a:latin typeface="Cambria Math" panose="02040503050406030204" pitchFamily="18" charset="0"/>
                                  <a:ea typeface="楷体" panose="02010609060101010101" pitchFamily="49" charset="-122"/>
                                  <a:cs typeface="Times New Roman" panose="02020603050405020304" pitchFamily="18" charset="0"/>
                                </a:rPr>
                                <m:t>𝐒</m:t>
                              </m:r>
                              <m:sSub>
                                <m:sSubPr>
                                  <m:ctrlPr>
                                    <a:rPr lang="en-US" altLang="zh-CN" b="0" i="1" smtClean="0">
                                      <a:latin typeface="Cambria Math" panose="02040503050406030204" pitchFamily="18" charset="0"/>
                                      <a:ea typeface="楷体" panose="02010609060101010101" pitchFamily="49" charset="-122"/>
                                      <a:cs typeface="Times New Roman" panose="02020603050405020304" pitchFamily="18" charset="0"/>
                                    </a:rPr>
                                  </m:ctrlPr>
                                </m:sSubPr>
                                <m:e>
                                  <m:r>
                                    <a:rPr lang="en-US" altLang="zh-CN" b="1" i="0" smtClean="0">
                                      <a:latin typeface="Cambria Math" panose="02040503050406030204" pitchFamily="18" charset="0"/>
                                      <a:ea typeface="楷体" panose="02010609060101010101" pitchFamily="49" charset="-122"/>
                                      <a:cs typeface="Times New Roman" panose="02020603050405020304" pitchFamily="18" charset="0"/>
                                    </a:rPr>
                                    <m:t>𝐯</m:t>
                                  </m:r>
                                </m:e>
                                <m:sub>
                                  <m:r>
                                    <a:rPr lang="en-US" altLang="zh-CN" b="0" i="1" smtClean="0">
                                      <a:latin typeface="Cambria Math" panose="02040503050406030204" pitchFamily="18" charset="0"/>
                                      <a:ea typeface="楷体" panose="02010609060101010101" pitchFamily="49" charset="-122"/>
                                      <a:cs typeface="Times New Roman" panose="02020603050405020304" pitchFamily="18" charset="0"/>
                                    </a:rPr>
                                    <m:t>0</m:t>
                                  </m:r>
                                </m:sub>
                              </m:sSub>
                            </m:e>
                          </m:eqArr>
                        </m:e>
                      </m:d>
                    </m:oMath>
                  </m:oMathPara>
                </a14:m>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做逆变换得到：</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d>
                        <m:dPr>
                          <m:begChr m:val="{"/>
                          <m:endChr m:val=""/>
                          <m:ctrlPr>
                            <a:rPr lang="en-US" altLang="zh-CN" i="1">
                              <a:latin typeface="Cambria Math" panose="02040503050406030204" pitchFamily="18" charset="0"/>
                              <a:ea typeface="楷体" panose="02010609060101010101" pitchFamily="49" charset="-122"/>
                              <a:cs typeface="Times New Roman" panose="02020603050405020304" pitchFamily="18" charset="0"/>
                            </a:rPr>
                          </m:ctrlPr>
                        </m:dPr>
                        <m:e>
                          <m:eqArr>
                            <m:eqArrPr>
                              <m:ctrlPr>
                                <a:rPr lang="en-US" altLang="zh-CN" i="1">
                                  <a:latin typeface="Cambria Math" panose="02040503050406030204" pitchFamily="18" charset="0"/>
                                  <a:ea typeface="楷体" panose="02010609060101010101" pitchFamily="49" charset="-122"/>
                                  <a:cs typeface="Times New Roman" panose="02020603050405020304" pitchFamily="18" charset="0"/>
                                </a:rPr>
                              </m:ctrlPr>
                            </m:eqArrPr>
                            <m:e>
                              <m:sSub>
                                <m:sSubPr>
                                  <m:ctrlPr>
                                    <a:rPr lang="en-US" altLang="zh-CN" b="1" i="1" smtClean="0">
                                      <a:latin typeface="Cambria Math" panose="02040503050406030204" pitchFamily="18" charset="0"/>
                                      <a:ea typeface="楷体" panose="02010609060101010101" pitchFamily="49" charset="-122"/>
                                      <a:cs typeface="Times New Roman" panose="02020603050405020304" pitchFamily="18" charset="0"/>
                                    </a:rPr>
                                  </m:ctrlPr>
                                </m:sSubPr>
                                <m:e>
                                  <m:r>
                                    <a:rPr lang="en-US" altLang="zh-CN" b="1">
                                      <a:latin typeface="Cambria Math" panose="02040503050406030204" pitchFamily="18" charset="0"/>
                                      <a:ea typeface="楷体" panose="02010609060101010101" pitchFamily="49" charset="-122"/>
                                      <a:cs typeface="Times New Roman" panose="02020603050405020304" pitchFamily="18" charset="0"/>
                                    </a:rPr>
                                    <m:t>𝐮</m:t>
                                  </m:r>
                                </m:e>
                                <m:sub>
                                  <m:r>
                                    <a:rPr lang="en-US" altLang="zh-CN" b="1" i="1" smtClean="0">
                                      <a:latin typeface="Cambria Math" panose="02040503050406030204" pitchFamily="18" charset="0"/>
                                      <a:ea typeface="楷体" panose="02010609060101010101" pitchFamily="49" charset="-122"/>
                                      <a:cs typeface="Times New Roman" panose="02020603050405020304" pitchFamily="18" charset="0"/>
                                    </a:rPr>
                                    <m:t>𝟎</m:t>
                                  </m:r>
                                </m:sub>
                              </m:sSub>
                              <m:r>
                                <a:rPr lang="en-US" altLang="zh-CN" i="1">
                                  <a:latin typeface="Cambria Math" panose="02040503050406030204" pitchFamily="18" charset="0"/>
                                  <a:ea typeface="楷体" panose="02010609060101010101" pitchFamily="49" charset="-122"/>
                                  <a:cs typeface="Times New Roman" panose="02020603050405020304" pitchFamily="18" charset="0"/>
                                </a:rPr>
                                <m:t>=</m:t>
                              </m:r>
                              <m:sSup>
                                <m:sSupPr>
                                  <m:ctrlPr>
                                    <a:rPr lang="en-US" altLang="zh-CN" b="1" i="1" smtClean="0">
                                      <a:latin typeface="Cambria Math" panose="02040503050406030204" pitchFamily="18" charset="0"/>
                                      <a:ea typeface="楷体" panose="02010609060101010101" pitchFamily="49" charset="-122"/>
                                      <a:cs typeface="Times New Roman" panose="02020603050405020304" pitchFamily="18" charset="0"/>
                                    </a:rPr>
                                  </m:ctrlPr>
                                </m:sSupPr>
                                <m:e>
                                  <m:r>
                                    <a:rPr lang="en-US" altLang="zh-CN" b="1">
                                      <a:latin typeface="Cambria Math" panose="02040503050406030204" pitchFamily="18" charset="0"/>
                                      <a:ea typeface="楷体" panose="02010609060101010101" pitchFamily="49" charset="-122"/>
                                      <a:cs typeface="Times New Roman" panose="02020603050405020304" pitchFamily="18" charset="0"/>
                                    </a:rPr>
                                    <m:t>𝐒</m:t>
                                  </m:r>
                                </m:e>
                                <m:sup>
                                  <m:r>
                                    <a:rPr lang="en-US" altLang="zh-CN" b="1" i="1" smtClean="0">
                                      <a:latin typeface="Cambria Math" panose="02040503050406030204" pitchFamily="18" charset="0"/>
                                      <a:ea typeface="楷体" panose="02010609060101010101" pitchFamily="49" charset="-122"/>
                                      <a:cs typeface="Times New Roman" panose="02020603050405020304" pitchFamily="18" charset="0"/>
                                    </a:rPr>
                                    <m:t>−</m:t>
                                  </m:r>
                                  <m:r>
                                    <a:rPr lang="en-US" altLang="zh-CN" b="1" i="1" smtClean="0">
                                      <a:latin typeface="Cambria Math" panose="02040503050406030204" pitchFamily="18" charset="0"/>
                                      <a:ea typeface="楷体" panose="02010609060101010101" pitchFamily="49" charset="-122"/>
                                      <a:cs typeface="Times New Roman" panose="02020603050405020304" pitchFamily="18" charset="0"/>
                                    </a:rPr>
                                    <m:t>𝟏</m:t>
                                  </m:r>
                                </m:sup>
                              </m:sSup>
                              <m:r>
                                <a:rPr lang="en-US" altLang="zh-CN" b="1" i="0" smtClean="0">
                                  <a:latin typeface="Cambria Math" panose="02040503050406030204" pitchFamily="18" charset="0"/>
                                  <a:ea typeface="楷体" panose="02010609060101010101" pitchFamily="49" charset="-122"/>
                                  <a:cs typeface="Times New Roman" panose="02020603050405020304" pitchFamily="18" charset="0"/>
                                </a:rPr>
                                <m:t>𝐮</m:t>
                              </m:r>
                            </m:e>
                            <m:e>
                              <m:sSub>
                                <m:sSubPr>
                                  <m:ctrlPr>
                                    <a:rPr lang="en-US" altLang="zh-CN" b="1" i="1" smtClean="0">
                                      <a:latin typeface="Cambria Math" panose="02040503050406030204" pitchFamily="18" charset="0"/>
                                      <a:ea typeface="楷体" panose="02010609060101010101" pitchFamily="49" charset="-122"/>
                                      <a:cs typeface="Times New Roman" panose="02020603050405020304" pitchFamily="18" charset="0"/>
                                    </a:rPr>
                                  </m:ctrlPr>
                                </m:sSubPr>
                                <m:e>
                                  <m:r>
                                    <a:rPr lang="en-US" altLang="zh-CN" b="1">
                                      <a:latin typeface="Cambria Math" panose="02040503050406030204" pitchFamily="18" charset="0"/>
                                      <a:ea typeface="楷体" panose="02010609060101010101" pitchFamily="49" charset="-122"/>
                                      <a:cs typeface="Times New Roman" panose="02020603050405020304" pitchFamily="18" charset="0"/>
                                    </a:rPr>
                                    <m:t>𝐯</m:t>
                                  </m:r>
                                </m:e>
                                <m:sub>
                                  <m:r>
                                    <a:rPr lang="en-US" altLang="zh-CN" b="1" i="0" smtClean="0">
                                      <a:latin typeface="Cambria Math" panose="02040503050406030204" pitchFamily="18" charset="0"/>
                                      <a:ea typeface="楷体" panose="02010609060101010101" pitchFamily="49" charset="-122"/>
                                      <a:cs typeface="Times New Roman" panose="02020603050405020304" pitchFamily="18" charset="0"/>
                                    </a:rPr>
                                    <m:t>𝟎</m:t>
                                  </m:r>
                                </m:sub>
                              </m:sSub>
                              <m:r>
                                <a:rPr lang="en-US" altLang="zh-CN" i="1">
                                  <a:latin typeface="Cambria Math" panose="02040503050406030204" pitchFamily="18" charset="0"/>
                                  <a:ea typeface="楷体" panose="02010609060101010101" pitchFamily="49" charset="-122"/>
                                  <a:cs typeface="Times New Roman" panose="02020603050405020304" pitchFamily="18" charset="0"/>
                                </a:rPr>
                                <m:t>=</m:t>
                              </m:r>
                              <m:sSup>
                                <m:sSupPr>
                                  <m:ctrlPr>
                                    <a:rPr lang="en-US" altLang="zh-CN" b="1" i="1" smtClean="0">
                                      <a:latin typeface="Cambria Math" panose="02040503050406030204" pitchFamily="18" charset="0"/>
                                      <a:ea typeface="楷体" panose="02010609060101010101" pitchFamily="49" charset="-122"/>
                                      <a:cs typeface="Times New Roman" panose="02020603050405020304" pitchFamily="18" charset="0"/>
                                    </a:rPr>
                                  </m:ctrlPr>
                                </m:sSupPr>
                                <m:e>
                                  <m:r>
                                    <a:rPr lang="en-US" altLang="zh-CN" b="1">
                                      <a:latin typeface="Cambria Math" panose="02040503050406030204" pitchFamily="18" charset="0"/>
                                      <a:ea typeface="楷体" panose="02010609060101010101" pitchFamily="49" charset="-122"/>
                                      <a:cs typeface="Times New Roman" panose="02020603050405020304" pitchFamily="18" charset="0"/>
                                    </a:rPr>
                                    <m:t>𝐒</m:t>
                                  </m:r>
                                </m:e>
                                <m:sup>
                                  <m:r>
                                    <a:rPr lang="en-US" altLang="zh-CN" b="1" i="1" smtClean="0">
                                      <a:latin typeface="Cambria Math" panose="02040503050406030204" pitchFamily="18" charset="0"/>
                                      <a:ea typeface="楷体" panose="02010609060101010101" pitchFamily="49" charset="-122"/>
                                      <a:cs typeface="Times New Roman" panose="02020603050405020304" pitchFamily="18" charset="0"/>
                                    </a:rPr>
                                    <m:t>−</m:t>
                                  </m:r>
                                  <m:r>
                                    <a:rPr lang="en-US" altLang="zh-CN" b="1" i="1" smtClean="0">
                                      <a:latin typeface="Cambria Math" panose="02040503050406030204" pitchFamily="18" charset="0"/>
                                      <a:ea typeface="楷体" panose="02010609060101010101" pitchFamily="49" charset="-122"/>
                                      <a:cs typeface="Times New Roman" panose="02020603050405020304" pitchFamily="18" charset="0"/>
                                    </a:rPr>
                                    <m:t>𝟏</m:t>
                                  </m:r>
                                </m:sup>
                              </m:sSup>
                              <m:r>
                                <a:rPr lang="en-US" altLang="zh-CN" b="1" i="0" smtClean="0">
                                  <a:latin typeface="Cambria Math" panose="02040503050406030204" pitchFamily="18" charset="0"/>
                                  <a:ea typeface="楷体" panose="02010609060101010101" pitchFamily="49" charset="-122"/>
                                  <a:cs typeface="Times New Roman" panose="02020603050405020304" pitchFamily="18" charset="0"/>
                                </a:rPr>
                                <m:t>𝐯</m:t>
                              </m:r>
                            </m:e>
                          </m:eqArr>
                        </m:e>
                      </m:d>
                    </m:oMath>
                  </m:oMathPara>
                </a14:m>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628650" y="1690689"/>
                <a:ext cx="7886700" cy="4486273"/>
              </a:xfrm>
              <a:blipFill>
                <a:blip r:embed="rId3"/>
                <a:stretch>
                  <a:fillRect l="-1391" t="-2310" r="-1546"/>
                </a:stretch>
              </a:blipFill>
            </p:spPr>
            <p:txBody>
              <a:bodyPr/>
              <a:lstStyle/>
              <a:p>
                <a:r>
                  <a:rPr lang="zh-CN" altLang="en-US">
                    <a:noFill/>
                  </a:rPr>
                  <a:t> </a:t>
                </a:r>
              </a:p>
            </p:txBody>
          </p:sp>
        </mc:Fallback>
      </mc:AlternateContent>
    </p:spTree>
    <p:custDataLst>
      <p:tags r:id="rId1"/>
    </p:custDataLst>
    <p:extLst>
      <p:ext uri="{BB962C8B-B14F-4D97-AF65-F5344CB8AC3E}">
        <p14:creationId xmlns:p14="http://schemas.microsoft.com/office/powerpoint/2010/main" val="25075350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宋体" panose="02010600030101010101" pitchFamily="2" charset="-122"/>
                <a:ea typeface="宋体" panose="02010600030101010101" pitchFamily="2" charset="-122"/>
              </a:rPr>
              <a:t>共轭向量的数学表达</a:t>
            </a:r>
            <a:endParaRPr lang="zh-CN" altLang="en-US" dirty="0">
              <a:latin typeface="宋体" panose="02010600030101010101" pitchFamily="2" charset="-122"/>
              <a:ea typeface="宋体" panose="02010600030101010101" pitchFamily="2" charset="-122"/>
            </a:endParaRPr>
          </a:p>
        </p:txBody>
      </p:sp>
      <p:sp>
        <p:nvSpPr>
          <p:cNvPr id="3" name="内容占位符 2"/>
          <p:cNvSpPr>
            <a:spLocks noGrp="1"/>
          </p:cNvSpPr>
          <p:nvPr>
            <p:ph idx="1"/>
          </p:nvPr>
        </p:nvSpPr>
        <p:spPr>
          <a:xfrm>
            <a:off x="628650" y="1690689"/>
            <a:ext cx="7886700" cy="4486273"/>
          </a:xfrm>
        </p:spPr>
        <p:txBody>
          <a:bodyPr/>
          <a:lstStyle/>
          <a:p>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利用变换前的垂直条件有：</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pPr marL="0" indent="0" algn="ctr">
              <a:buNone/>
            </a:pP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S</a:t>
            </a:r>
            <a:r>
              <a:rPr lang="en-US" altLang="zh-CN" baseline="30000" dirty="0" smtClean="0">
                <a:latin typeface="Times New Roman" panose="02020603050405020304" pitchFamily="18" charset="0"/>
                <a:ea typeface="楷体" panose="02010609060101010101" pitchFamily="49" charset="-122"/>
                <a:cs typeface="Times New Roman" panose="02020603050405020304" pitchFamily="18" charset="0"/>
              </a:rPr>
              <a:t>–1</a:t>
            </a: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u</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i="1" baseline="30000" dirty="0" smtClean="0">
                <a:latin typeface="Times New Roman" panose="02020603050405020304" pitchFamily="18" charset="0"/>
                <a:ea typeface="楷体" panose="02010609060101010101" pitchFamily="49" charset="-122"/>
                <a:cs typeface="Times New Roman" panose="02020603050405020304" pitchFamily="18" charset="0"/>
              </a:rPr>
              <a:t>T</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S</a:t>
            </a:r>
            <a:r>
              <a:rPr lang="en-US" altLang="zh-CN" baseline="30000" dirty="0" smtClean="0">
                <a:latin typeface="Times New Roman" panose="02020603050405020304" pitchFamily="18" charset="0"/>
                <a:ea typeface="楷体" panose="02010609060101010101" pitchFamily="49" charset="-122"/>
                <a:cs typeface="Times New Roman" panose="02020603050405020304" pitchFamily="18" charset="0"/>
              </a:rPr>
              <a:t>–1</a:t>
            </a: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v</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 1</a:t>
            </a:r>
          </a:p>
          <a:p>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即</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pPr marL="0" indent="0" algn="ctr">
              <a:buNone/>
            </a:pP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u</a:t>
            </a:r>
            <a:r>
              <a:rPr lang="en-US" altLang="zh-CN" i="1" baseline="30000" dirty="0" err="1" smtClean="0">
                <a:latin typeface="Times New Roman" panose="02020603050405020304" pitchFamily="18" charset="0"/>
                <a:ea typeface="楷体" panose="02010609060101010101" pitchFamily="49" charset="-122"/>
                <a:cs typeface="Times New Roman" panose="02020603050405020304" pitchFamily="18" charset="0"/>
              </a:rPr>
              <a:t>T</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S</a:t>
            </a:r>
            <a:r>
              <a:rPr lang="en-US" altLang="zh-CN" baseline="30000" dirty="0" smtClean="0">
                <a:latin typeface="Times New Roman" panose="02020603050405020304" pitchFamily="18" charset="0"/>
                <a:ea typeface="楷体" panose="02010609060101010101" pitchFamily="49" charset="-122"/>
                <a:cs typeface="Times New Roman" panose="02020603050405020304" pitchFamily="18" charset="0"/>
              </a:rPr>
              <a:t>–1</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i="1" baseline="30000" dirty="0" smtClean="0">
                <a:latin typeface="Times New Roman" panose="02020603050405020304" pitchFamily="18" charset="0"/>
                <a:ea typeface="楷体" panose="02010609060101010101" pitchFamily="49" charset="-122"/>
                <a:cs typeface="Times New Roman" panose="02020603050405020304" pitchFamily="18" charset="0"/>
              </a:rPr>
              <a:t>T</a:t>
            </a: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S</a:t>
            </a:r>
            <a:r>
              <a:rPr lang="en-US" altLang="zh-CN" baseline="30000" dirty="0" smtClean="0">
                <a:latin typeface="Times New Roman" panose="02020603050405020304" pitchFamily="18" charset="0"/>
                <a:ea typeface="楷体" panose="02010609060101010101" pitchFamily="49" charset="-122"/>
                <a:cs typeface="Times New Roman" panose="02020603050405020304" pitchFamily="18" charset="0"/>
              </a:rPr>
              <a:t>–1</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v</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 1</a:t>
            </a:r>
            <a:endParaRPr lang="en-US" altLang="zh-CN" b="1" dirty="0" smtClean="0">
              <a:latin typeface="Times New Roman" panose="02020603050405020304" pitchFamily="18" charset="0"/>
              <a:ea typeface="楷体" panose="02010609060101010101" pitchFamily="49" charset="-122"/>
              <a:cs typeface="Times New Roman" panose="02020603050405020304" pitchFamily="18" charset="0"/>
            </a:endParaRPr>
          </a:p>
          <a:p>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根据</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pPr marL="0" indent="0" algn="ctr">
              <a:buNone/>
            </a:pP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A</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 </a:t>
            </a:r>
            <a:r>
              <a:rPr lang="en-US" altLang="zh-CN"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S</a:t>
            </a:r>
            <a:r>
              <a:rPr lang="en-US" altLang="zh-CN" baseline="30000" dirty="0" smtClean="0">
                <a:latin typeface="Times New Roman" panose="02020603050405020304" pitchFamily="18" charset="0"/>
                <a:ea typeface="楷体" panose="02010609060101010101" pitchFamily="49" charset="-122"/>
                <a:cs typeface="Times New Roman" panose="02020603050405020304" pitchFamily="18" charset="0"/>
              </a:rPr>
              <a:t>–1</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i="1" baseline="30000" dirty="0" smtClean="0">
                <a:latin typeface="Times New Roman" panose="02020603050405020304" pitchFamily="18" charset="0"/>
                <a:ea typeface="楷体" panose="02010609060101010101" pitchFamily="49" charset="-122"/>
                <a:cs typeface="Times New Roman" panose="02020603050405020304" pitchFamily="18" charset="0"/>
              </a:rPr>
              <a:t>T</a:t>
            </a: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S</a:t>
            </a:r>
            <a:r>
              <a:rPr lang="en-US" altLang="zh-CN" baseline="30000" dirty="0" smtClean="0">
                <a:latin typeface="Times New Roman" panose="02020603050405020304" pitchFamily="18" charset="0"/>
                <a:ea typeface="楷体" panose="02010609060101010101" pitchFamily="49" charset="-122"/>
                <a:cs typeface="Times New Roman" panose="02020603050405020304" pitchFamily="18" charset="0"/>
              </a:rPr>
              <a:t>–1</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导出伸缩后的向量满足的条件：</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pPr marL="0" indent="0" algn="ctr">
              <a:buNone/>
            </a:pP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u</a:t>
            </a:r>
            <a:r>
              <a:rPr lang="en-US" altLang="zh-CN" baseline="30000" dirty="0" err="1" smtClean="0">
                <a:latin typeface="Times New Roman" panose="02020603050405020304" pitchFamily="18" charset="0"/>
                <a:ea typeface="楷体" panose="02010609060101010101" pitchFamily="49" charset="-122"/>
                <a:cs typeface="Times New Roman" panose="02020603050405020304" pitchFamily="18" charset="0"/>
              </a:rPr>
              <a:t>T</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Av</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 0</a:t>
            </a:r>
          </a:p>
        </p:txBody>
      </p:sp>
    </p:spTree>
    <p:custDataLst>
      <p:tags r:id="rId1"/>
    </p:custDataLst>
    <p:extLst>
      <p:ext uri="{BB962C8B-B14F-4D97-AF65-F5344CB8AC3E}">
        <p14:creationId xmlns:p14="http://schemas.microsoft.com/office/powerpoint/2010/main" val="4009995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宋体" panose="02010600030101010101" pitchFamily="2" charset="-122"/>
                <a:ea typeface="宋体" panose="02010600030101010101" pitchFamily="2" charset="-122"/>
              </a:rPr>
              <a:t>共轭向量的数学表达</a:t>
            </a:r>
            <a:endParaRPr lang="zh-CN" altLang="en-US" dirty="0">
              <a:latin typeface="宋体" panose="02010600030101010101" pitchFamily="2" charset="-122"/>
              <a:ea typeface="宋体" panose="02010600030101010101" pitchFamily="2" charset="-122"/>
            </a:endParaRPr>
          </a:p>
        </p:txBody>
      </p:sp>
      <p:sp>
        <p:nvSpPr>
          <p:cNvPr id="3" name="内容占位符 2"/>
          <p:cNvSpPr>
            <a:spLocks noGrp="1"/>
          </p:cNvSpPr>
          <p:nvPr>
            <p:ph idx="1"/>
          </p:nvPr>
        </p:nvSpPr>
        <p:spPr/>
        <p:txBody>
          <a:bodyPr/>
          <a:lstStyle/>
          <a:p>
            <a:r>
              <a:rPr lang="en-US" altLang="zh-CN" b="1" dirty="0">
                <a:latin typeface="Times New Roman" panose="02020603050405020304" pitchFamily="18" charset="0"/>
                <a:ea typeface="楷体" panose="02010609060101010101" pitchFamily="49" charset="-122"/>
                <a:cs typeface="Times New Roman" panose="02020603050405020304" pitchFamily="18" charset="0"/>
              </a:rPr>
              <a:t>A</a:t>
            </a:r>
            <a:r>
              <a:rPr lang="zh-CN" altLang="en-US" dirty="0">
                <a:latin typeface="Times New Roman" panose="02020603050405020304" pitchFamily="18" charset="0"/>
                <a:ea typeface="楷体" panose="02010609060101010101" pitchFamily="49" charset="-122"/>
                <a:cs typeface="Times New Roman" panose="02020603050405020304" pitchFamily="18" charset="0"/>
              </a:rPr>
              <a:t>是一个</a:t>
            </a:r>
            <a:r>
              <a:rPr lang="en-US" altLang="zh-CN" i="1" dirty="0" err="1" smtClean="0">
                <a:latin typeface="Times New Roman" panose="02020603050405020304" pitchFamily="18" charset="0"/>
                <a:ea typeface="楷体" panose="02010609060101010101" pitchFamily="49" charset="-122"/>
                <a:cs typeface="Times New Roman" panose="02020603050405020304" pitchFamily="18" charset="0"/>
              </a:rPr>
              <a:t>n</a:t>
            </a:r>
            <a:r>
              <a:rPr lang="en-US" altLang="zh-CN" dirty="0" err="1"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i="1" dirty="0" err="1" smtClean="0">
                <a:latin typeface="Times New Roman" panose="02020603050405020304" pitchFamily="18" charset="0"/>
                <a:ea typeface="楷体" panose="02010609060101010101" pitchFamily="49" charset="-122"/>
                <a:cs typeface="Times New Roman" panose="02020603050405020304" pitchFamily="18" charset="0"/>
              </a:rPr>
              <a:t>n</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正定对称矩阵，依据</a:t>
            </a: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A</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的定义</a:t>
            </a:r>
            <a:r>
              <a:rPr lang="zh-CN" altLang="en-US"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超</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椭球方程可以写为：</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pPr marL="0" indent="0" algn="ctr">
              <a:buNone/>
            </a:pP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x</a:t>
            </a:r>
            <a:r>
              <a:rPr lang="en-US" altLang="zh-CN" baseline="30000" dirty="0" err="1" smtClean="0">
                <a:latin typeface="Times New Roman" panose="02020603050405020304" pitchFamily="18" charset="0"/>
                <a:ea typeface="楷体" panose="02010609060101010101" pitchFamily="49" charset="-122"/>
                <a:cs typeface="Times New Roman" panose="02020603050405020304" pitchFamily="18" charset="0"/>
              </a:rPr>
              <a:t>T</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Ax</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 1</a:t>
            </a:r>
          </a:p>
          <a:p>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超椭球的两条共轭直径所在的向量</a:t>
            </a: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u</a:t>
            </a:r>
            <a:r>
              <a:rPr lang="zh-CN" altLang="en-US" dirty="0">
                <a:latin typeface="Times New Roman" panose="02020603050405020304" pitchFamily="18" charset="0"/>
                <a:ea typeface="楷体" panose="02010609060101010101" pitchFamily="49" charset="-122"/>
                <a:cs typeface="Times New Roman" panose="02020603050405020304" pitchFamily="18" charset="0"/>
              </a:rPr>
              <a:t>和</a:t>
            </a: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v</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满足：</a:t>
            </a:r>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a:p>
            <a:pPr marL="0" indent="0" algn="ctr">
              <a:buNone/>
            </a:pPr>
            <a:r>
              <a:rPr lang="en-US" altLang="zh-CN" b="1" dirty="0" err="1">
                <a:latin typeface="Times New Roman" panose="02020603050405020304" pitchFamily="18" charset="0"/>
                <a:ea typeface="楷体" panose="02010609060101010101" pitchFamily="49" charset="-122"/>
                <a:cs typeface="Times New Roman" panose="02020603050405020304" pitchFamily="18" charset="0"/>
              </a:rPr>
              <a:t>u</a:t>
            </a:r>
            <a:r>
              <a:rPr lang="en-US" altLang="zh-CN" i="1" baseline="30000" dirty="0" err="1">
                <a:latin typeface="Times New Roman" panose="02020603050405020304" pitchFamily="18" charset="0"/>
                <a:ea typeface="楷体" panose="02010609060101010101" pitchFamily="49" charset="-122"/>
                <a:cs typeface="Times New Roman" panose="02020603050405020304" pitchFamily="18" charset="0"/>
              </a:rPr>
              <a:t>T</a:t>
            </a:r>
            <a:r>
              <a:rPr lang="en-US" altLang="zh-CN" b="1" dirty="0" err="1">
                <a:latin typeface="Times New Roman" panose="02020603050405020304" pitchFamily="18" charset="0"/>
                <a:ea typeface="楷体" panose="02010609060101010101" pitchFamily="49" charset="-122"/>
                <a:cs typeface="Times New Roman" panose="02020603050405020304" pitchFamily="18" charset="0"/>
              </a:rPr>
              <a:t>Av</a:t>
            </a:r>
            <a:r>
              <a:rPr lang="en-US" altLang="zh-CN" dirty="0">
                <a:latin typeface="Times New Roman" panose="02020603050405020304" pitchFamily="18" charset="0"/>
                <a:ea typeface="楷体" panose="02010609060101010101" pitchFamily="49" charset="-122"/>
                <a:cs typeface="Times New Roman" panose="02020603050405020304" pitchFamily="18" charset="0"/>
              </a:rPr>
              <a:t> = 0</a:t>
            </a:r>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a:p>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当向量</a:t>
            </a: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u</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和</a:t>
            </a: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v</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满足上式时，定义它们关于对称矩阵</a:t>
            </a: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A</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共轭</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由于</a:t>
            </a: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A</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是对称矩阵，因而共轭条件左右可交换</a:t>
            </a:r>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Tree>
    <p:custDataLst>
      <p:tags r:id="rId1"/>
    </p:custDataLst>
    <p:extLst>
      <p:ext uri="{BB962C8B-B14F-4D97-AF65-F5344CB8AC3E}">
        <p14:creationId xmlns:p14="http://schemas.microsoft.com/office/powerpoint/2010/main" val="8411029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宋体" panose="02010600030101010101" pitchFamily="2" charset="-122"/>
                <a:ea typeface="宋体" panose="02010600030101010101" pitchFamily="2" charset="-122"/>
              </a:rPr>
              <a:t>共轭优化方向</a:t>
            </a:r>
            <a:endParaRPr lang="zh-CN" altLang="en-US" dirty="0">
              <a:latin typeface="宋体" panose="02010600030101010101" pitchFamily="2" charset="-122"/>
              <a:ea typeface="宋体" panose="02010600030101010101" pitchFamily="2" charset="-122"/>
            </a:endParaRPr>
          </a:p>
        </p:txBody>
      </p:sp>
      <p:sp>
        <p:nvSpPr>
          <p:cNvPr id="3" name="内容占位符 2"/>
          <p:cNvSpPr>
            <a:spLocks noGrp="1"/>
          </p:cNvSpPr>
          <p:nvPr>
            <p:ph idx="1"/>
          </p:nvPr>
        </p:nvSpPr>
        <p:spPr/>
        <p:txBody>
          <a:bodyPr>
            <a:normAutofit lnSpcReduction="10000"/>
          </a:bodyPr>
          <a:lstStyle/>
          <a:p>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设上一步迭代</a:t>
            </a: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x</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沿着</a:t>
            </a:r>
            <a:r>
              <a:rPr lang="en-US" altLang="zh-CN" i="1" dirty="0" smtClean="0">
                <a:latin typeface="Times New Roman" panose="02020603050405020304" pitchFamily="18" charset="0"/>
                <a:ea typeface="楷体" panose="02010609060101010101" pitchFamily="49" charset="-122"/>
                <a:cs typeface="Times New Roman" panose="02020603050405020304" pitchFamily="18" charset="0"/>
              </a:rPr>
              <a:t>n</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维向量</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d</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优化</a:t>
            </a:r>
            <a:r>
              <a:rPr lang="zh-CN" altLang="en-US" dirty="0">
                <a:latin typeface="Times New Roman" panose="02020603050405020304" pitchFamily="18" charset="0"/>
                <a:ea typeface="楷体" panose="02010609060101010101" pitchFamily="49" charset="-122"/>
                <a:cs typeface="Times New Roman" panose="02020603050405020304" pitchFamily="18" charset="0"/>
              </a:rPr>
              <a:t>到</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极小值：</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pPr marL="0" indent="0" algn="ctr">
              <a:buNone/>
            </a:pP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&lt;</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d</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a:t>
            </a:r>
            <a:r>
              <a:rPr lang="en-US" altLang="zh-CN" i="1" dirty="0" smtClean="0">
                <a:latin typeface="Times New Roman" panose="02020603050405020304" pitchFamily="18" charset="0"/>
                <a:ea typeface="楷体" panose="02010609060101010101" pitchFamily="49" charset="-122"/>
                <a:cs typeface="Times New Roman" panose="02020603050405020304" pitchFamily="18" charset="0"/>
              </a:rPr>
              <a:t>f</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x</a:t>
            </a:r>
            <a:r>
              <a:rPr lang="en-US" altLang="zh-CN" i="1" baseline="30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)&gt; = 0</a:t>
            </a:r>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a:p>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即</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pPr marL="0" indent="0" algn="ctr">
              <a:buNone/>
            </a:pP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&lt;</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d</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Ax</a:t>
            </a:r>
            <a:r>
              <a:rPr lang="en-US" altLang="zh-CN" i="1" baseline="30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 </a:t>
            </a: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b</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&gt; = 0</a:t>
            </a:r>
          </a:p>
          <a:p>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如果下一步迭代，能直接到达</a:t>
            </a:r>
            <a:r>
              <a:rPr lang="en-US" altLang="zh-CN" i="1" dirty="0" smtClean="0">
                <a:latin typeface="Times New Roman" panose="02020603050405020304" pitchFamily="18" charset="0"/>
                <a:ea typeface="楷体" panose="02010609060101010101" pitchFamily="49" charset="-122"/>
                <a:cs typeface="Times New Roman" panose="02020603050405020304" pitchFamily="18" charset="0"/>
              </a:rPr>
              <a:t>f</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x</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的极值点</a:t>
            </a: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x</a:t>
            </a:r>
            <a:r>
              <a:rPr lang="en-US" altLang="zh-CN" baseline="30000" dirty="0" smtClean="0">
                <a:latin typeface="Times New Roman" panose="02020603050405020304" pitchFamily="18" charset="0"/>
                <a:ea typeface="楷体" panose="02010609060101010101" pitchFamily="49" charset="-122"/>
                <a:cs typeface="Times New Roman" panose="02020603050405020304" pitchFamily="18" charset="0"/>
              </a:rPr>
              <a:t>*</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，则</a:t>
            </a: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x</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的移动方向满足：</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pPr marL="0" indent="0" algn="ctr">
              <a:buNone/>
            </a:pP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x</a:t>
            </a:r>
            <a:r>
              <a:rPr lang="en-US" altLang="zh-CN" i="1" baseline="30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 </a:t>
            </a: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x</a:t>
            </a:r>
            <a:r>
              <a:rPr lang="en-US" altLang="zh-CN" baseline="30000"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 </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x</a:t>
            </a:r>
            <a:r>
              <a:rPr lang="en-US" altLang="zh-CN" i="1" baseline="30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 </a:t>
            </a: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A</a:t>
            </a:r>
            <a:r>
              <a:rPr lang="en-US" altLang="zh-CN" baseline="30000" dirty="0" smtClean="0">
                <a:latin typeface="Times New Roman" panose="02020603050405020304" pitchFamily="18" charset="0"/>
                <a:ea typeface="楷体" panose="02010609060101010101" pitchFamily="49" charset="-122"/>
                <a:cs typeface="Times New Roman" panose="02020603050405020304" pitchFamily="18" charset="0"/>
              </a:rPr>
              <a:t> – 1</a:t>
            </a: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b</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两边乘以</a:t>
            </a: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A</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，有</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pPr marL="0" indent="0" algn="ctr">
              <a:buNone/>
            </a:pP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A</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x</a:t>
            </a:r>
            <a:r>
              <a:rPr lang="en-US" altLang="zh-CN" i="1" baseline="30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 </a:t>
            </a: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x</a:t>
            </a:r>
            <a:r>
              <a:rPr lang="en-US" altLang="zh-CN" baseline="30000"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 </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Ax</a:t>
            </a:r>
            <a:r>
              <a:rPr lang="en-US" altLang="zh-CN" i="1" baseline="30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 </a:t>
            </a: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b</a:t>
            </a:r>
            <a:endParaRPr lang="zh-CN" altLang="en-US" b="1" dirty="0">
              <a:latin typeface="Times New Roman" panose="02020603050405020304" pitchFamily="18" charset="0"/>
              <a:ea typeface="楷体" panose="02010609060101010101" pitchFamily="49" charset="-122"/>
              <a:cs typeface="Times New Roman" panose="02020603050405020304" pitchFamily="18" charset="0"/>
            </a:endParaRPr>
          </a:p>
        </p:txBody>
      </p:sp>
    </p:spTree>
    <p:custDataLst>
      <p:tags r:id="rId1"/>
    </p:custDataLst>
    <p:extLst>
      <p:ext uri="{BB962C8B-B14F-4D97-AF65-F5344CB8AC3E}">
        <p14:creationId xmlns:p14="http://schemas.microsoft.com/office/powerpoint/2010/main" val="33429297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宋体" panose="02010600030101010101" pitchFamily="2" charset="-122"/>
                <a:ea typeface="宋体" panose="02010600030101010101" pitchFamily="2" charset="-122"/>
              </a:rPr>
              <a:t>共轭优化方向</a:t>
            </a:r>
            <a:endParaRPr lang="zh-CN" altLang="en-US" dirty="0">
              <a:latin typeface="宋体" panose="02010600030101010101" pitchFamily="2" charset="-122"/>
              <a:ea typeface="宋体" panose="02010600030101010101" pitchFamily="2" charset="-122"/>
            </a:endParaRPr>
          </a:p>
        </p:txBody>
      </p:sp>
      <p:sp>
        <p:nvSpPr>
          <p:cNvPr id="3" name="内容占位符 2"/>
          <p:cNvSpPr>
            <a:spLocks noGrp="1"/>
          </p:cNvSpPr>
          <p:nvPr>
            <p:ph idx="1"/>
          </p:nvPr>
        </p:nvSpPr>
        <p:spPr/>
        <p:txBody>
          <a:bodyPr/>
          <a:lstStyle/>
          <a:p>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根据</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pPr marL="0" indent="0" algn="ctr">
              <a:buNone/>
            </a:pP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&lt;</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d</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a:t>
            </a:r>
            <a:r>
              <a:rPr lang="en-US" altLang="zh-CN" b="1" dirty="0" err="1">
                <a:latin typeface="Times New Roman" panose="02020603050405020304" pitchFamily="18" charset="0"/>
                <a:ea typeface="楷体" panose="02010609060101010101" pitchFamily="49" charset="-122"/>
                <a:cs typeface="Times New Roman" panose="02020603050405020304" pitchFamily="18" charset="0"/>
              </a:rPr>
              <a:t>Ax</a:t>
            </a:r>
            <a:r>
              <a:rPr lang="en-US" altLang="zh-CN" i="1" baseline="30000" dirty="0" err="1">
                <a:latin typeface="Times New Roman" panose="02020603050405020304" pitchFamily="18" charset="0"/>
                <a:ea typeface="楷体" panose="02010609060101010101" pitchFamily="49" charset="-122"/>
                <a:cs typeface="Times New Roman" panose="02020603050405020304" pitchFamily="18" charset="0"/>
              </a:rPr>
              <a:t>k</a:t>
            </a:r>
            <a:r>
              <a:rPr lang="en-US" altLang="zh-CN" dirty="0">
                <a:latin typeface="Times New Roman" panose="02020603050405020304" pitchFamily="18" charset="0"/>
                <a:ea typeface="楷体" panose="02010609060101010101" pitchFamily="49" charset="-122"/>
                <a:cs typeface="Times New Roman" panose="02020603050405020304" pitchFamily="18" charset="0"/>
              </a:rPr>
              <a:t> – </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b</a:t>
            </a:r>
            <a:r>
              <a:rPr lang="en-US" altLang="zh-CN" dirty="0">
                <a:latin typeface="Times New Roman" panose="02020603050405020304" pitchFamily="18" charset="0"/>
                <a:ea typeface="楷体" panose="02010609060101010101" pitchFamily="49" charset="-122"/>
                <a:cs typeface="Times New Roman" panose="02020603050405020304" pitchFamily="18" charset="0"/>
              </a:rPr>
              <a:t>&gt; = 0</a:t>
            </a:r>
          </a:p>
          <a:p>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有</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pPr marL="0" indent="0" algn="ctr">
              <a:buNone/>
            </a:pP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&lt;</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dirty="0" err="1">
                <a:latin typeface="Times New Roman" panose="02020603050405020304" pitchFamily="18" charset="0"/>
                <a:ea typeface="楷体" panose="02010609060101010101" pitchFamily="49" charset="-122"/>
                <a:cs typeface="Times New Roman" panose="02020603050405020304" pitchFamily="18" charset="0"/>
              </a:rPr>
              <a:t>d</a:t>
            </a:r>
            <a:r>
              <a:rPr lang="en-US" altLang="zh-CN" i="1" baseline="-25000" dirty="0" err="1">
                <a:latin typeface="Times New Roman" panose="02020603050405020304" pitchFamily="18" charset="0"/>
                <a:ea typeface="楷体" panose="02010609060101010101" pitchFamily="49" charset="-122"/>
                <a:cs typeface="Times New Roman" panose="02020603050405020304" pitchFamily="18" charset="0"/>
              </a:rPr>
              <a:t>k</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a:t>
            </a:r>
            <a:r>
              <a:rPr lang="en-US" altLang="zh-CN"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b="1" dirty="0" err="1">
                <a:latin typeface="Times New Roman" panose="02020603050405020304" pitchFamily="18" charset="0"/>
                <a:ea typeface="楷体" panose="02010609060101010101" pitchFamily="49" charset="-122"/>
                <a:cs typeface="Times New Roman" panose="02020603050405020304" pitchFamily="18" charset="0"/>
              </a:rPr>
              <a:t>x</a:t>
            </a:r>
            <a:r>
              <a:rPr lang="en-US" altLang="zh-CN" i="1" baseline="30000" dirty="0" err="1">
                <a:latin typeface="Times New Roman" panose="02020603050405020304" pitchFamily="18" charset="0"/>
                <a:ea typeface="楷体" panose="02010609060101010101" pitchFamily="49" charset="-122"/>
                <a:cs typeface="Times New Roman" panose="02020603050405020304" pitchFamily="18" charset="0"/>
              </a:rPr>
              <a:t>k</a:t>
            </a:r>
            <a:r>
              <a:rPr lang="en-US" altLang="zh-CN" dirty="0">
                <a:latin typeface="Times New Roman" panose="02020603050405020304" pitchFamily="18" charset="0"/>
                <a:ea typeface="楷体" panose="02010609060101010101" pitchFamily="49" charset="-122"/>
                <a:cs typeface="Times New Roman" panose="02020603050405020304" pitchFamily="18" charset="0"/>
              </a:rPr>
              <a:t> – </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x</a:t>
            </a:r>
            <a:r>
              <a:rPr lang="en-US" altLang="zh-CN" baseline="30000"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)&gt; = 0</a:t>
            </a:r>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a:p>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写为矩阵的形式：</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pPr marL="0" indent="0" algn="ctr">
              <a:buNone/>
            </a:pP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d</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baseline="30000" dirty="0" err="1" smtClean="0">
                <a:latin typeface="Times New Roman" panose="02020603050405020304" pitchFamily="18" charset="0"/>
                <a:ea typeface="楷体" panose="02010609060101010101" pitchFamily="49" charset="-122"/>
                <a:cs typeface="Times New Roman" panose="02020603050405020304" pitchFamily="18" charset="0"/>
              </a:rPr>
              <a:t>T</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A</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x</a:t>
            </a:r>
            <a:r>
              <a:rPr lang="en-US" altLang="zh-CN" i="1" baseline="30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a:t>
            </a:r>
            <a:r>
              <a:rPr lang="en-US" altLang="zh-CN"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x</a:t>
            </a:r>
            <a:r>
              <a:rPr lang="en-US" altLang="zh-CN" baseline="300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a:t>
            </a:r>
            <a:r>
              <a:rPr lang="en-US" altLang="zh-CN"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0</a:t>
            </a:r>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a:p>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这说明，</a:t>
            </a:r>
            <a:r>
              <a:rPr lang="zh-CN" altLang="en-US" dirty="0">
                <a:latin typeface="Times New Roman" panose="02020603050405020304" pitchFamily="18" charset="0"/>
                <a:ea typeface="楷体" panose="02010609060101010101" pitchFamily="49" charset="-122"/>
                <a:cs typeface="Times New Roman" panose="02020603050405020304" pitchFamily="18" charset="0"/>
              </a:rPr>
              <a:t>向量</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x</a:t>
            </a:r>
            <a:r>
              <a:rPr lang="en-US" altLang="zh-CN" i="1" baseline="30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a:t>
            </a:r>
            <a:r>
              <a:rPr lang="en-US" altLang="zh-CN"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x</a:t>
            </a:r>
            <a:r>
              <a:rPr lang="en-US" altLang="zh-CN" baseline="30000"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与向量</a:t>
            </a:r>
            <a:r>
              <a:rPr lang="en-US" altLang="zh-CN" b="1" dirty="0" err="1">
                <a:latin typeface="Times New Roman" panose="02020603050405020304" pitchFamily="18" charset="0"/>
                <a:ea typeface="楷体" panose="02010609060101010101" pitchFamily="49" charset="-122"/>
                <a:cs typeface="Times New Roman" panose="02020603050405020304" pitchFamily="18" charset="0"/>
              </a:rPr>
              <a:t>d</a:t>
            </a:r>
            <a:r>
              <a:rPr lang="en-US" altLang="zh-CN" i="1" baseline="-25000" dirty="0" err="1">
                <a:latin typeface="Times New Roman" panose="02020603050405020304" pitchFamily="18" charset="0"/>
                <a:ea typeface="楷体" panose="02010609060101010101" pitchFamily="49" charset="-122"/>
                <a:cs typeface="Times New Roman" panose="02020603050405020304" pitchFamily="18" charset="0"/>
              </a:rPr>
              <a:t>k</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关于矩阵</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共轭</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r>
              <a:rPr lang="zh-CN" altLang="en-US" dirty="0">
                <a:latin typeface="Times New Roman" panose="02020603050405020304" pitchFamily="18" charset="0"/>
                <a:ea typeface="楷体" panose="02010609060101010101" pitchFamily="49" charset="-122"/>
                <a:cs typeface="Times New Roman" panose="02020603050405020304" pitchFamily="18" charset="0"/>
              </a:rPr>
              <a:t>更合理的优化方向与</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向量</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d</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zh-CN" altLang="en-US" dirty="0">
                <a:latin typeface="Times New Roman" panose="02020603050405020304" pitchFamily="18" charset="0"/>
                <a:ea typeface="楷体" panose="02010609060101010101" pitchFamily="49" charset="-122"/>
                <a:cs typeface="Times New Roman" panose="02020603050405020304" pitchFamily="18" charset="0"/>
              </a:rPr>
              <a:t>关于</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共轭</a:t>
            </a:r>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a:p>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a:p>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a:p>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Tree>
    <p:custDataLst>
      <p:tags r:id="rId1"/>
    </p:custDataLst>
    <p:extLst>
      <p:ext uri="{BB962C8B-B14F-4D97-AF65-F5344CB8AC3E}">
        <p14:creationId xmlns:p14="http://schemas.microsoft.com/office/powerpoint/2010/main" val="16932378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宋体" panose="02010600030101010101" pitchFamily="2" charset="-122"/>
                <a:ea typeface="宋体" panose="02010600030101010101" pitchFamily="2" charset="-122"/>
              </a:rPr>
              <a:t>共轭优化方向</a:t>
            </a:r>
            <a:endParaRPr lang="zh-CN" altLang="en-US" dirty="0">
              <a:latin typeface="宋体" panose="02010600030101010101" pitchFamily="2" charset="-122"/>
              <a:ea typeface="宋体" panose="02010600030101010101" pitchFamily="2" charset="-122"/>
            </a:endParaRPr>
          </a:p>
        </p:txBody>
      </p:sp>
      <p:sp>
        <p:nvSpPr>
          <p:cNvPr id="3" name="内容占位符 2"/>
          <p:cNvSpPr>
            <a:spLocks noGrp="1"/>
          </p:cNvSpPr>
          <p:nvPr>
            <p:ph idx="1"/>
          </p:nvPr>
        </p:nvSpPr>
        <p:spPr/>
        <p:txBody>
          <a:bodyPr>
            <a:normAutofit lnSpcReduction="10000"/>
          </a:bodyPr>
          <a:lstStyle/>
          <a:p>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相比直接沿着</a:t>
            </a:r>
            <a:r>
              <a:rPr lang="en-US" altLang="zh-CN" i="1" dirty="0" smtClean="0">
                <a:latin typeface="Times New Roman" panose="02020603050405020304" pitchFamily="18" charset="0"/>
                <a:ea typeface="楷体" panose="02010609060101010101" pitchFamily="49" charset="-122"/>
                <a:cs typeface="Times New Roman" panose="02020603050405020304" pitchFamily="18" charset="0"/>
              </a:rPr>
              <a:t>f</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x</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的梯度迭代，共轭优化方向可以用下面步骤构造：</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计算</a:t>
            </a:r>
            <a:r>
              <a:rPr lang="en-US" altLang="zh-CN" i="1" dirty="0" smtClean="0">
                <a:latin typeface="Times New Roman" panose="02020603050405020304" pitchFamily="18" charset="0"/>
                <a:ea typeface="楷体" panose="02010609060101010101" pitchFamily="49" charset="-122"/>
                <a:cs typeface="Times New Roman" panose="02020603050405020304" pitchFamily="18" charset="0"/>
              </a:rPr>
              <a:t>f</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x</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在</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x</a:t>
            </a:r>
            <a:r>
              <a:rPr lang="en-US" altLang="zh-CN" i="1" baseline="30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的梯度</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pPr marL="0" indent="0" algn="ctr">
              <a:buNone/>
            </a:pPr>
            <a:r>
              <a:rPr lang="en-US" altLang="zh-CN"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i="1" dirty="0">
                <a:latin typeface="Times New Roman" panose="02020603050405020304" pitchFamily="18" charset="0"/>
                <a:ea typeface="楷体" panose="02010609060101010101" pitchFamily="49" charset="-122"/>
                <a:cs typeface="Times New Roman" panose="02020603050405020304" pitchFamily="18" charset="0"/>
              </a:rPr>
              <a:t>f</a:t>
            </a:r>
            <a:r>
              <a:rPr lang="en-US" altLang="zh-CN"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b="1" dirty="0" err="1">
                <a:latin typeface="Times New Roman" panose="02020603050405020304" pitchFamily="18" charset="0"/>
                <a:ea typeface="楷体" panose="02010609060101010101" pitchFamily="49" charset="-122"/>
                <a:cs typeface="Times New Roman" panose="02020603050405020304" pitchFamily="18" charset="0"/>
              </a:rPr>
              <a:t>x</a:t>
            </a:r>
            <a:r>
              <a:rPr lang="en-US" altLang="zh-CN" i="1" baseline="30000" dirty="0" err="1">
                <a:latin typeface="Times New Roman" panose="02020603050405020304" pitchFamily="18" charset="0"/>
                <a:ea typeface="楷体" panose="02010609060101010101" pitchFamily="49" charset="-122"/>
                <a:cs typeface="Times New Roman" panose="02020603050405020304" pitchFamily="18" charset="0"/>
              </a:rPr>
              <a:t>k</a:t>
            </a:r>
            <a:r>
              <a:rPr lang="en-US" altLang="zh-CN"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i="1" baseline="30000"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Ax</a:t>
            </a:r>
            <a:r>
              <a:rPr lang="en-US" altLang="zh-CN" i="1" baseline="30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a:t>
            </a:r>
            <a:r>
              <a:rPr lang="en-US" altLang="zh-CN"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b</a:t>
            </a:r>
            <a:endParaRPr lang="en-US" altLang="zh-CN" b="1" dirty="0">
              <a:latin typeface="Times New Roman" panose="02020603050405020304" pitchFamily="18" charset="0"/>
              <a:ea typeface="楷体" panose="02010609060101010101" pitchFamily="49" charset="-122"/>
              <a:cs typeface="Times New Roman" panose="02020603050405020304" pitchFamily="18" charset="0"/>
            </a:endParaRPr>
          </a:p>
          <a:p>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设</a:t>
            </a:r>
            <a:r>
              <a:rPr lang="en-US" altLang="zh-CN" b="1" dirty="0" err="1">
                <a:latin typeface="Times New Roman" panose="02020603050405020304" pitchFamily="18" charset="0"/>
                <a:ea typeface="楷体" panose="02010609060101010101" pitchFamily="49" charset="-122"/>
                <a:cs typeface="Times New Roman" panose="02020603050405020304" pitchFamily="18" charset="0"/>
              </a:rPr>
              <a:t>d</a:t>
            </a:r>
            <a:r>
              <a:rPr lang="en-US" altLang="zh-CN" i="1" baseline="-25000" dirty="0" err="1">
                <a:latin typeface="Times New Roman" panose="02020603050405020304" pitchFamily="18" charset="0"/>
                <a:ea typeface="楷体" panose="02010609060101010101" pitchFamily="49" charset="-122"/>
                <a:cs typeface="Times New Roman" panose="02020603050405020304" pitchFamily="18" charset="0"/>
              </a:rPr>
              <a:t>k</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是与</a:t>
            </a:r>
            <a:r>
              <a:rPr lang="en-US" altLang="zh-CN"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i="1" dirty="0">
                <a:latin typeface="Times New Roman" panose="02020603050405020304" pitchFamily="18" charset="0"/>
                <a:ea typeface="楷体" panose="02010609060101010101" pitchFamily="49" charset="-122"/>
                <a:cs typeface="Times New Roman" panose="02020603050405020304" pitchFamily="18" charset="0"/>
              </a:rPr>
              <a:t>f</a:t>
            </a:r>
            <a:r>
              <a:rPr lang="en-US" altLang="zh-CN"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b="1" dirty="0" err="1">
                <a:latin typeface="Times New Roman" panose="02020603050405020304" pitchFamily="18" charset="0"/>
                <a:ea typeface="楷体" panose="02010609060101010101" pitchFamily="49" charset="-122"/>
                <a:cs typeface="Times New Roman" panose="02020603050405020304" pitchFamily="18" charset="0"/>
              </a:rPr>
              <a:t>x</a:t>
            </a:r>
            <a:r>
              <a:rPr lang="en-US" altLang="zh-CN" i="1" baseline="30000" dirty="0" err="1">
                <a:latin typeface="Times New Roman" panose="02020603050405020304" pitchFamily="18" charset="0"/>
                <a:ea typeface="楷体" panose="02010609060101010101" pitchFamily="49" charset="-122"/>
                <a:cs typeface="Times New Roman" panose="02020603050405020304" pitchFamily="18" charset="0"/>
              </a:rPr>
              <a:t>k</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垂直的向量：</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pPr marL="0" indent="0" algn="ctr">
              <a:buNone/>
            </a:pP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d</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baseline="30000" dirty="0" err="1" smtClean="0">
                <a:latin typeface="Times New Roman" panose="02020603050405020304" pitchFamily="18" charset="0"/>
                <a:ea typeface="楷体" panose="02010609060101010101" pitchFamily="49" charset="-122"/>
                <a:cs typeface="Times New Roman" panose="02020603050405020304" pitchFamily="18" charset="0"/>
              </a:rPr>
              <a:t>T</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Ax</a:t>
            </a:r>
            <a:r>
              <a:rPr lang="en-US" altLang="zh-CN" i="1" baseline="30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a:t>
            </a:r>
            <a:r>
              <a:rPr lang="en-US" altLang="zh-CN"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b</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 0</a:t>
            </a:r>
          </a:p>
          <a:p>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构造与向量</a:t>
            </a:r>
            <a:r>
              <a:rPr lang="en-US" altLang="zh-CN" b="1" dirty="0" err="1">
                <a:latin typeface="Times New Roman" panose="02020603050405020304" pitchFamily="18" charset="0"/>
                <a:ea typeface="楷体" panose="02010609060101010101" pitchFamily="49" charset="-122"/>
                <a:cs typeface="Times New Roman" panose="02020603050405020304" pitchFamily="18" charset="0"/>
              </a:rPr>
              <a:t>d</a:t>
            </a:r>
            <a:r>
              <a:rPr lang="en-US" altLang="zh-CN" i="1" baseline="-25000" dirty="0" err="1">
                <a:latin typeface="Times New Roman" panose="02020603050405020304" pitchFamily="18" charset="0"/>
                <a:ea typeface="楷体" panose="02010609060101010101" pitchFamily="49" charset="-122"/>
                <a:cs typeface="Times New Roman" panose="02020603050405020304" pitchFamily="18" charset="0"/>
              </a:rPr>
              <a:t>k</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关于矩阵</a:t>
            </a: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A</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共轭的向量</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d</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baseline="-25000" dirty="0" smtClean="0">
                <a:latin typeface="Times New Roman" panose="02020603050405020304" pitchFamily="18" charset="0"/>
                <a:ea typeface="楷体" panose="02010609060101010101" pitchFamily="49" charset="-122"/>
                <a:cs typeface="Times New Roman" panose="02020603050405020304" pitchFamily="18" charset="0"/>
              </a:rPr>
              <a:t> + 1</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a:t>
            </a:r>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a:p>
            <a:pPr marL="0" indent="0" algn="ctr">
              <a:buNone/>
            </a:pP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d</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baseline="30000" dirty="0" err="1" smtClean="0">
                <a:latin typeface="Times New Roman" panose="02020603050405020304" pitchFamily="18" charset="0"/>
                <a:ea typeface="楷体" panose="02010609060101010101" pitchFamily="49" charset="-122"/>
                <a:cs typeface="Times New Roman" panose="02020603050405020304" pitchFamily="18" charset="0"/>
              </a:rPr>
              <a:t>T</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Ad</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baseline="-25000" dirty="0" smtClean="0">
                <a:latin typeface="Times New Roman" panose="02020603050405020304" pitchFamily="18" charset="0"/>
                <a:ea typeface="楷体" panose="02010609060101010101" pitchFamily="49" charset="-122"/>
                <a:cs typeface="Times New Roman" panose="02020603050405020304" pitchFamily="18" charset="0"/>
              </a:rPr>
              <a:t> </a:t>
            </a:r>
            <a:r>
              <a:rPr lang="en-US" altLang="zh-CN" baseline="-25000" dirty="0">
                <a:latin typeface="Times New Roman" panose="02020603050405020304" pitchFamily="18" charset="0"/>
                <a:ea typeface="楷体" panose="02010609060101010101" pitchFamily="49" charset="-122"/>
                <a:cs typeface="Times New Roman" panose="02020603050405020304" pitchFamily="18" charset="0"/>
              </a:rPr>
              <a:t>+ 1</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 0</a:t>
            </a:r>
          </a:p>
          <a:p>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沿着</a:t>
            </a:r>
            <a:r>
              <a:rPr lang="en-US" altLang="zh-CN" b="1" dirty="0" err="1">
                <a:latin typeface="Times New Roman" panose="02020603050405020304" pitchFamily="18" charset="0"/>
                <a:ea typeface="楷体" panose="02010609060101010101" pitchFamily="49" charset="-122"/>
                <a:cs typeface="Times New Roman" panose="02020603050405020304" pitchFamily="18" charset="0"/>
              </a:rPr>
              <a:t>d</a:t>
            </a:r>
            <a:r>
              <a:rPr lang="en-US" altLang="zh-CN" i="1" baseline="-25000" dirty="0" err="1">
                <a:latin typeface="Times New Roman" panose="02020603050405020304" pitchFamily="18" charset="0"/>
                <a:ea typeface="楷体" panose="02010609060101010101" pitchFamily="49" charset="-122"/>
                <a:cs typeface="Times New Roman" panose="02020603050405020304" pitchFamily="18" charset="0"/>
              </a:rPr>
              <a:t>k</a:t>
            </a:r>
            <a:r>
              <a:rPr lang="en-US" altLang="zh-CN" baseline="-25000" dirty="0">
                <a:latin typeface="Times New Roman" panose="02020603050405020304" pitchFamily="18" charset="0"/>
                <a:ea typeface="楷体" panose="02010609060101010101" pitchFamily="49" charset="-122"/>
                <a:cs typeface="Times New Roman" panose="02020603050405020304" pitchFamily="18" charset="0"/>
              </a:rPr>
              <a:t> + </a:t>
            </a:r>
            <a:r>
              <a:rPr lang="en-US" altLang="zh-CN" baseline="-25000" dirty="0" smtClean="0">
                <a:latin typeface="Times New Roman" panose="02020603050405020304" pitchFamily="18" charset="0"/>
                <a:ea typeface="楷体" panose="02010609060101010101" pitchFamily="49" charset="-122"/>
                <a:cs typeface="Times New Roman" panose="02020603050405020304" pitchFamily="18" charset="0"/>
              </a:rPr>
              <a:t>1</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优化</a:t>
            </a: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x</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，比直接沿着梯度更快收敛</a:t>
            </a:r>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Tree>
    <p:custDataLst>
      <p:tags r:id="rId1"/>
    </p:custDataLst>
    <p:extLst>
      <p:ext uri="{BB962C8B-B14F-4D97-AF65-F5344CB8AC3E}">
        <p14:creationId xmlns:p14="http://schemas.microsoft.com/office/powerpoint/2010/main" val="1598624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宋体" panose="02010600030101010101" pitchFamily="2" charset="-122"/>
                <a:ea typeface="宋体" panose="02010600030101010101" pitchFamily="2" charset="-122"/>
              </a:rPr>
              <a:t>共轭优化方向</a:t>
            </a:r>
            <a:endParaRPr lang="zh-CN" altLang="en-US" dirty="0">
              <a:latin typeface="宋体" panose="02010600030101010101" pitchFamily="2" charset="-122"/>
              <a:ea typeface="宋体" panose="02010600030101010101" pitchFamily="2" charset="-122"/>
            </a:endParaRPr>
          </a:p>
        </p:txBody>
      </p:sp>
      <p:sp>
        <p:nvSpPr>
          <p:cNvPr id="3" name="内容占位符 2"/>
          <p:cNvSpPr>
            <a:spLocks noGrp="1"/>
          </p:cNvSpPr>
          <p:nvPr>
            <p:ph idx="1"/>
          </p:nvPr>
        </p:nvSpPr>
        <p:spPr>
          <a:xfrm>
            <a:off x="628650" y="5601809"/>
            <a:ext cx="7886700" cy="575153"/>
          </a:xfrm>
        </p:spPr>
        <p:txBody>
          <a:bodyPr/>
          <a:lstStyle/>
          <a:p>
            <a:r>
              <a:rPr lang="zh-CN" altLang="en-US" dirty="0" smtClean="0">
                <a:latin typeface="楷体" panose="02010609060101010101" pitchFamily="49" charset="-122"/>
                <a:ea typeface="楷体" panose="02010609060101010101" pitchFamily="49" charset="-122"/>
              </a:rPr>
              <a:t>共轭优化方向避免了曲折路径</a:t>
            </a:r>
            <a:endParaRPr lang="zh-CN" altLang="en-US" dirty="0">
              <a:latin typeface="楷体" panose="02010609060101010101" pitchFamily="49" charset="-122"/>
              <a:ea typeface="楷体" panose="02010609060101010101" pitchFamily="49" charset="-122"/>
            </a:endParaRPr>
          </a:p>
        </p:txBody>
      </p:sp>
      <p:grpSp>
        <p:nvGrpSpPr>
          <p:cNvPr id="4" name="Group 4"/>
          <p:cNvGrpSpPr>
            <a:grpSpLocks noChangeAspect="1"/>
          </p:cNvGrpSpPr>
          <p:nvPr/>
        </p:nvGrpSpPr>
        <p:grpSpPr bwMode="auto">
          <a:xfrm>
            <a:off x="1386681" y="2371486"/>
            <a:ext cx="6370638" cy="2549525"/>
            <a:chOff x="840" y="1081"/>
            <a:chExt cx="4013" cy="1606"/>
          </a:xfrm>
        </p:grpSpPr>
        <p:sp>
          <p:nvSpPr>
            <p:cNvPr id="5" name="Oval 6"/>
            <p:cNvSpPr>
              <a:spLocks noChangeArrowheads="1"/>
            </p:cNvSpPr>
            <p:nvPr/>
          </p:nvSpPr>
          <p:spPr bwMode="auto">
            <a:xfrm>
              <a:off x="840" y="1081"/>
              <a:ext cx="4013" cy="1606"/>
            </a:xfrm>
            <a:prstGeom prst="ellipse">
              <a:avLst/>
            </a:prstGeom>
            <a:noFill/>
            <a:ln w="19050" cap="rnd">
              <a:solidFill>
                <a:srgbClr val="7F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6" name="Oval 7"/>
            <p:cNvSpPr>
              <a:spLocks noChangeArrowheads="1"/>
            </p:cNvSpPr>
            <p:nvPr/>
          </p:nvSpPr>
          <p:spPr bwMode="auto">
            <a:xfrm>
              <a:off x="1394" y="1302"/>
              <a:ext cx="2906" cy="1164"/>
            </a:xfrm>
            <a:prstGeom prst="ellipse">
              <a:avLst/>
            </a:prstGeom>
            <a:noFill/>
            <a:ln w="19050" cap="rnd">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7" name="Oval 8"/>
            <p:cNvSpPr>
              <a:spLocks noChangeArrowheads="1"/>
            </p:cNvSpPr>
            <p:nvPr/>
          </p:nvSpPr>
          <p:spPr bwMode="auto">
            <a:xfrm>
              <a:off x="1795" y="1463"/>
              <a:ext cx="2104" cy="842"/>
            </a:xfrm>
            <a:prstGeom prst="ellipse">
              <a:avLst/>
            </a:prstGeom>
            <a:noFill/>
            <a:ln w="19050" cap="rnd">
              <a:solidFill>
                <a:srgbClr val="FF7F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8" name="Oval 9"/>
            <p:cNvSpPr>
              <a:spLocks noChangeArrowheads="1"/>
            </p:cNvSpPr>
            <p:nvPr/>
          </p:nvSpPr>
          <p:spPr bwMode="auto">
            <a:xfrm>
              <a:off x="2085" y="1579"/>
              <a:ext cx="1524" cy="610"/>
            </a:xfrm>
            <a:prstGeom prst="ellipse">
              <a:avLst/>
            </a:prstGeom>
            <a:noFill/>
            <a:ln w="19050" cap="rnd">
              <a:solidFill>
                <a:srgbClr val="FFFF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9" name="Oval 10"/>
            <p:cNvSpPr>
              <a:spLocks noChangeArrowheads="1"/>
            </p:cNvSpPr>
            <p:nvPr/>
          </p:nvSpPr>
          <p:spPr bwMode="auto">
            <a:xfrm>
              <a:off x="2295" y="1664"/>
              <a:ext cx="1103" cy="441"/>
            </a:xfrm>
            <a:prstGeom prst="ellipse">
              <a:avLst/>
            </a:prstGeom>
            <a:noFill/>
            <a:ln w="19050" cap="rnd">
              <a:solidFill>
                <a:srgbClr val="7FFF7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0" name="Oval 11"/>
            <p:cNvSpPr>
              <a:spLocks noChangeArrowheads="1"/>
            </p:cNvSpPr>
            <p:nvPr/>
          </p:nvSpPr>
          <p:spPr bwMode="auto">
            <a:xfrm>
              <a:off x="2447" y="1724"/>
              <a:ext cx="799" cy="320"/>
            </a:xfrm>
            <a:prstGeom prst="ellipse">
              <a:avLst/>
            </a:prstGeom>
            <a:noFill/>
            <a:ln w="19050" cap="rnd">
              <a:solidFill>
                <a:srgbClr val="00FF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1" name="Oval 12"/>
            <p:cNvSpPr>
              <a:spLocks noChangeArrowheads="1"/>
            </p:cNvSpPr>
            <p:nvPr/>
          </p:nvSpPr>
          <p:spPr bwMode="auto">
            <a:xfrm>
              <a:off x="2558" y="1768"/>
              <a:ext cx="578" cy="232"/>
            </a:xfrm>
            <a:prstGeom prst="ellipse">
              <a:avLst/>
            </a:prstGeom>
            <a:noFill/>
            <a:ln w="19050" cap="rnd">
              <a:solidFill>
                <a:srgbClr val="007F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2" name="Oval 13"/>
            <p:cNvSpPr>
              <a:spLocks noChangeArrowheads="1"/>
            </p:cNvSpPr>
            <p:nvPr/>
          </p:nvSpPr>
          <p:spPr bwMode="auto">
            <a:xfrm>
              <a:off x="2637" y="1800"/>
              <a:ext cx="419" cy="168"/>
            </a:xfrm>
            <a:prstGeom prst="ellipse">
              <a:avLst/>
            </a:prstGeom>
            <a:noFill/>
            <a:ln w="19050" cap="rnd">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3" name="Oval 14"/>
            <p:cNvSpPr>
              <a:spLocks noChangeArrowheads="1"/>
            </p:cNvSpPr>
            <p:nvPr/>
          </p:nvSpPr>
          <p:spPr bwMode="auto">
            <a:xfrm>
              <a:off x="2695" y="1823"/>
              <a:ext cx="304" cy="122"/>
            </a:xfrm>
            <a:prstGeom prst="ellipse">
              <a:avLst/>
            </a:prstGeom>
            <a:noFill/>
            <a:ln w="19050" cap="rnd">
              <a:solidFill>
                <a:srgbClr val="00007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4" name="Line 15"/>
            <p:cNvSpPr>
              <a:spLocks noChangeShapeType="1"/>
            </p:cNvSpPr>
            <p:nvPr/>
          </p:nvSpPr>
          <p:spPr bwMode="auto">
            <a:xfrm flipH="1">
              <a:off x="4196" y="1586"/>
              <a:ext cx="514" cy="514"/>
            </a:xfrm>
            <a:prstGeom prst="line">
              <a:avLst/>
            </a:prstGeom>
            <a:noFill/>
            <a:ln w="19050" cap="rnd">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5" name="Line 16"/>
            <p:cNvSpPr>
              <a:spLocks noChangeShapeType="1"/>
            </p:cNvSpPr>
            <p:nvPr/>
          </p:nvSpPr>
          <p:spPr bwMode="auto">
            <a:xfrm flipH="1" flipV="1">
              <a:off x="3824" y="1728"/>
              <a:ext cx="372" cy="372"/>
            </a:xfrm>
            <a:prstGeom prst="line">
              <a:avLst/>
            </a:prstGeom>
            <a:noFill/>
            <a:ln w="19050" cap="rnd">
              <a:solidFill>
                <a:srgbClr val="0070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6" name="Line 17"/>
            <p:cNvSpPr>
              <a:spLocks noChangeShapeType="1"/>
            </p:cNvSpPr>
            <p:nvPr/>
          </p:nvSpPr>
          <p:spPr bwMode="auto">
            <a:xfrm flipH="1">
              <a:off x="3554" y="1728"/>
              <a:ext cx="270" cy="270"/>
            </a:xfrm>
            <a:prstGeom prst="line">
              <a:avLst/>
            </a:prstGeom>
            <a:noFill/>
            <a:ln w="19050" cap="rnd">
              <a:solidFill>
                <a:srgbClr val="0070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7" name="Line 18"/>
            <p:cNvSpPr>
              <a:spLocks noChangeShapeType="1"/>
            </p:cNvSpPr>
            <p:nvPr/>
          </p:nvSpPr>
          <p:spPr bwMode="auto">
            <a:xfrm flipH="1" flipV="1">
              <a:off x="3359" y="1802"/>
              <a:ext cx="195" cy="196"/>
            </a:xfrm>
            <a:prstGeom prst="line">
              <a:avLst/>
            </a:prstGeom>
            <a:noFill/>
            <a:ln w="19050" cap="rnd">
              <a:solidFill>
                <a:srgbClr val="0070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8" name="Line 19"/>
            <p:cNvSpPr>
              <a:spLocks noChangeShapeType="1"/>
            </p:cNvSpPr>
            <p:nvPr/>
          </p:nvSpPr>
          <p:spPr bwMode="auto">
            <a:xfrm flipH="1">
              <a:off x="3218" y="1802"/>
              <a:ext cx="141" cy="141"/>
            </a:xfrm>
            <a:prstGeom prst="line">
              <a:avLst/>
            </a:prstGeom>
            <a:noFill/>
            <a:ln w="19050" cap="rnd">
              <a:solidFill>
                <a:srgbClr val="0070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9" name="Line 20"/>
            <p:cNvSpPr>
              <a:spLocks noChangeShapeType="1"/>
            </p:cNvSpPr>
            <p:nvPr/>
          </p:nvSpPr>
          <p:spPr bwMode="auto">
            <a:xfrm flipH="1" flipV="1">
              <a:off x="3115" y="1841"/>
              <a:ext cx="103" cy="102"/>
            </a:xfrm>
            <a:prstGeom prst="line">
              <a:avLst/>
            </a:prstGeom>
            <a:noFill/>
            <a:ln w="19050" cap="rnd">
              <a:solidFill>
                <a:srgbClr val="0070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0" name="Line 21"/>
            <p:cNvSpPr>
              <a:spLocks noChangeShapeType="1"/>
            </p:cNvSpPr>
            <p:nvPr/>
          </p:nvSpPr>
          <p:spPr bwMode="auto">
            <a:xfrm flipH="1">
              <a:off x="3041" y="1841"/>
              <a:ext cx="74" cy="74"/>
            </a:xfrm>
            <a:prstGeom prst="line">
              <a:avLst/>
            </a:prstGeom>
            <a:noFill/>
            <a:ln w="19050" cap="rnd">
              <a:solidFill>
                <a:srgbClr val="0070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1" name="Line 22"/>
            <p:cNvSpPr>
              <a:spLocks noChangeShapeType="1"/>
            </p:cNvSpPr>
            <p:nvPr/>
          </p:nvSpPr>
          <p:spPr bwMode="auto">
            <a:xfrm flipH="1" flipV="1">
              <a:off x="2988" y="1862"/>
              <a:ext cx="53" cy="53"/>
            </a:xfrm>
            <a:prstGeom prst="line">
              <a:avLst/>
            </a:prstGeom>
            <a:noFill/>
            <a:ln w="19050" cap="rnd">
              <a:solidFill>
                <a:srgbClr val="0070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2" name="Line 23"/>
            <p:cNvSpPr>
              <a:spLocks noChangeShapeType="1"/>
            </p:cNvSpPr>
            <p:nvPr/>
          </p:nvSpPr>
          <p:spPr bwMode="auto">
            <a:xfrm flipH="1" flipV="1">
              <a:off x="2847" y="1884"/>
              <a:ext cx="1349" cy="216"/>
            </a:xfrm>
            <a:prstGeom prst="line">
              <a:avLst/>
            </a:prstGeom>
            <a:noFill/>
            <a:ln w="19050" cap="rnd">
              <a:solidFill>
                <a:srgbClr val="FF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3" name="Oval 24"/>
            <p:cNvSpPr>
              <a:spLocks noChangeArrowheads="1"/>
            </p:cNvSpPr>
            <p:nvPr/>
          </p:nvSpPr>
          <p:spPr bwMode="auto">
            <a:xfrm>
              <a:off x="2823" y="1860"/>
              <a:ext cx="48" cy="48"/>
            </a:xfrm>
            <a:prstGeom prst="ellipse">
              <a:avLst/>
            </a:prstGeom>
            <a:solidFill>
              <a:srgbClr val="0070C0"/>
            </a:solidFill>
            <a:ln w="19050" cap="rnd">
              <a:solidFill>
                <a:schemeClr val="tx1"/>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4" name="Oval 26"/>
            <p:cNvSpPr>
              <a:spLocks noChangeArrowheads="1"/>
            </p:cNvSpPr>
            <p:nvPr/>
          </p:nvSpPr>
          <p:spPr bwMode="auto">
            <a:xfrm>
              <a:off x="4172" y="2076"/>
              <a:ext cx="48" cy="48"/>
            </a:xfrm>
            <a:prstGeom prst="ellipse">
              <a:avLst/>
            </a:prstGeom>
            <a:solidFill>
              <a:srgbClr val="444444"/>
            </a:solidFill>
            <a:ln w="12700" cap="rnd">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5" name="Oval 27"/>
            <p:cNvSpPr>
              <a:spLocks noChangeArrowheads="1"/>
            </p:cNvSpPr>
            <p:nvPr/>
          </p:nvSpPr>
          <p:spPr bwMode="auto">
            <a:xfrm>
              <a:off x="4172" y="2076"/>
              <a:ext cx="48" cy="48"/>
            </a:xfrm>
            <a:prstGeom prst="ellipse">
              <a:avLst/>
            </a:prstGeom>
            <a:noFill/>
            <a:ln w="12700"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pSp>
    </p:spTree>
    <p:custDataLst>
      <p:tags r:id="rId1"/>
    </p:custDataLst>
    <p:extLst>
      <p:ext uri="{BB962C8B-B14F-4D97-AF65-F5344CB8AC3E}">
        <p14:creationId xmlns:p14="http://schemas.microsoft.com/office/powerpoint/2010/main" val="180636848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宋体" panose="02010600030101010101" pitchFamily="2" charset="-122"/>
                <a:ea typeface="宋体" panose="02010600030101010101" pitchFamily="2" charset="-122"/>
              </a:rPr>
              <a:t>共轭优化方向的构造</a:t>
            </a:r>
            <a:endParaRPr lang="zh-CN" altLang="en-US" dirty="0">
              <a:latin typeface="宋体" panose="02010600030101010101" pitchFamily="2" charset="-122"/>
              <a:ea typeface="宋体" panose="02010600030101010101" pitchFamily="2" charset="-122"/>
            </a:endParaRPr>
          </a:p>
        </p:txBody>
      </p:sp>
      <p:sp>
        <p:nvSpPr>
          <p:cNvPr id="3" name="内容占位符 2"/>
          <p:cNvSpPr>
            <a:spLocks noGrp="1"/>
          </p:cNvSpPr>
          <p:nvPr>
            <p:ph idx="1"/>
          </p:nvPr>
        </p:nvSpPr>
        <p:spPr/>
        <p:txBody>
          <a:bodyPr/>
          <a:lstStyle/>
          <a:p>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每次迭代选择最优步长，都有</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pPr marL="0" indent="0" algn="ctr">
              <a:buNone/>
            </a:pP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x</a:t>
            </a:r>
            <a:r>
              <a:rPr lang="en-US" altLang="zh-CN" i="1" baseline="30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 </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x</a:t>
            </a:r>
            <a:r>
              <a:rPr lang="en-US" altLang="zh-CN" i="1" baseline="30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baseline="30000" dirty="0" smtClean="0">
                <a:latin typeface="Times New Roman" panose="02020603050405020304" pitchFamily="18" charset="0"/>
                <a:ea typeface="楷体" panose="02010609060101010101" pitchFamily="49" charset="-122"/>
                <a:cs typeface="Times New Roman" panose="02020603050405020304" pitchFamily="18" charset="0"/>
              </a:rPr>
              <a:t> – 1</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baseline="30000" dirty="0" smtClean="0">
                <a:latin typeface="Times New Roman" panose="02020603050405020304" pitchFamily="18" charset="0"/>
                <a:ea typeface="楷体" panose="02010609060101010101" pitchFamily="49" charset="-122"/>
                <a:cs typeface="Times New Roman" panose="02020603050405020304" pitchFamily="18" charset="0"/>
              </a:rPr>
              <a:t>T</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Ax</a:t>
            </a:r>
            <a:r>
              <a:rPr lang="en-US" altLang="zh-CN" i="1" baseline="30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 </a:t>
            </a: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b</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 0</a:t>
            </a:r>
          </a:p>
          <a:p>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把前一次迭代的优化方向记为</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v</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，满足</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pPr marL="0" indent="0" algn="ctr">
              <a:buNone/>
            </a:pP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x</a:t>
            </a:r>
            <a:r>
              <a:rPr lang="en-US" altLang="zh-CN" i="1" baseline="30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 </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x</a:t>
            </a:r>
            <a:r>
              <a:rPr lang="en-US" altLang="zh-CN" i="1" baseline="30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baseline="30000" dirty="0" smtClean="0">
                <a:latin typeface="Times New Roman" panose="02020603050405020304" pitchFamily="18" charset="0"/>
                <a:ea typeface="楷体" panose="02010609060101010101" pitchFamily="49" charset="-122"/>
                <a:cs typeface="Times New Roman" panose="02020603050405020304" pitchFamily="18" charset="0"/>
              </a:rPr>
              <a:t> – 1</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 </a:t>
            </a:r>
            <a:r>
              <a:rPr lang="en-US" altLang="zh-CN" i="1" dirty="0" err="1" smtClean="0">
                <a:latin typeface="Times New Roman" panose="02020603050405020304" pitchFamily="18" charset="0"/>
                <a:ea typeface="楷体" panose="02010609060101010101" pitchFamily="49" charset="-122"/>
                <a:cs typeface="Times New Roman" panose="02020603050405020304" pitchFamily="18" charset="0"/>
              </a:rPr>
              <a:t>t</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v</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endParaRPr lang="en-US" altLang="zh-CN" baseline="-25000" dirty="0">
              <a:latin typeface="Times New Roman" panose="02020603050405020304" pitchFamily="18" charset="0"/>
              <a:ea typeface="楷体" panose="02010609060101010101" pitchFamily="49" charset="-122"/>
              <a:cs typeface="Times New Roman" panose="02020603050405020304" pitchFamily="18" charset="0"/>
            </a:endParaRPr>
          </a:p>
          <a:p>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新的共轭优化方向</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v</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baseline="-25000" dirty="0">
                <a:latin typeface="Times New Roman" panose="02020603050405020304" pitchFamily="18" charset="0"/>
                <a:ea typeface="楷体" panose="02010609060101010101" pitchFamily="49" charset="-122"/>
                <a:cs typeface="Times New Roman" panose="02020603050405020304" pitchFamily="18" charset="0"/>
              </a:rPr>
              <a:t> + 1</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满足：</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pPr marL="0" indent="0" algn="ctr">
              <a:buNone/>
            </a:pP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v</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baseline="30000" dirty="0" err="1" smtClean="0">
                <a:latin typeface="Times New Roman" panose="02020603050405020304" pitchFamily="18" charset="0"/>
                <a:ea typeface="楷体" panose="02010609060101010101" pitchFamily="49" charset="-122"/>
                <a:cs typeface="Times New Roman" panose="02020603050405020304" pitchFamily="18" charset="0"/>
              </a:rPr>
              <a:t>T</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Av</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baseline="-25000" dirty="0" smtClean="0">
                <a:latin typeface="Times New Roman" panose="02020603050405020304" pitchFamily="18" charset="0"/>
                <a:ea typeface="楷体" panose="02010609060101010101" pitchFamily="49" charset="-122"/>
                <a:cs typeface="Times New Roman" panose="02020603050405020304" pitchFamily="18" charset="0"/>
              </a:rPr>
              <a:t> + 1</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 0</a:t>
            </a:r>
          </a:p>
          <a:p>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满足上面条件的</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v</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baseline="-25000" dirty="0" smtClean="0">
                <a:latin typeface="Times New Roman" panose="02020603050405020304" pitchFamily="18" charset="0"/>
                <a:ea typeface="楷体" panose="02010609060101010101" pitchFamily="49" charset="-122"/>
                <a:cs typeface="Times New Roman" panose="02020603050405020304" pitchFamily="18" charset="0"/>
              </a:rPr>
              <a:t> + 1</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有无限多个，如何构造</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a:p>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p:txBody>
      </p:sp>
    </p:spTree>
    <p:custDataLst>
      <p:tags r:id="rId1"/>
    </p:custDataLst>
    <p:extLst>
      <p:ext uri="{BB962C8B-B14F-4D97-AF65-F5344CB8AC3E}">
        <p14:creationId xmlns:p14="http://schemas.microsoft.com/office/powerpoint/2010/main" val="6147129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custDataLst>
              <p:tags r:id="rId2"/>
            </p:custDataLst>
          </p:nvPr>
        </p:nvSpPr>
        <p:spPr>
          <a:xfrm>
            <a:off x="914400" y="1264602"/>
            <a:ext cx="7207569" cy="883920"/>
          </a:xfrm>
          <a:prstGeom prst="rect">
            <a:avLst/>
          </a:prstGeom>
          <a:noFill/>
          <a:ln w="12700">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14:hiddenLine>
            </a:ext>
          </a:extLst>
        </p:spPr>
        <p:txBody>
          <a:bodyPr vert="horz" wrap="square" rtlCol="0" anchor="ctr">
            <a:spAutoFit/>
          </a:bodyPr>
          <a:lstStyle/>
          <a:p>
            <a:r>
              <a:rPr lang="zh-CN" altLang="en-US" sz="26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sym typeface="Microsoft Yahei" panose="020B0503020204020204" pitchFamily="34" charset="-122"/>
              </a:rPr>
              <a:t>在共轭梯度法中，新的共轭优化方向 </a:t>
            </a:r>
            <a:r>
              <a:rPr lang="en-US" altLang="zh-CN" sz="2600" b="1"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sym typeface="Microsoft Yahei" panose="020B0503020204020204" pitchFamily="34" charset="-122"/>
              </a:rPr>
              <a:t>v</a:t>
            </a:r>
            <a:r>
              <a:rPr lang="en-US" altLang="zh-CN" sz="2600" i="1" baseline="-250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sym typeface="Microsoft Yahei" panose="020B0503020204020204" pitchFamily="34" charset="-122"/>
              </a:rPr>
              <a:t>k</a:t>
            </a:r>
            <a:r>
              <a:rPr lang="en-US" altLang="zh-CN" sz="2600" baseline="-250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sym typeface="Microsoft Yahei" panose="020B0503020204020204" pitchFamily="34" charset="-122"/>
              </a:rPr>
              <a:t>+1</a:t>
            </a:r>
            <a:r>
              <a:rPr lang="en-US" altLang="zh-CN" sz="26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sym typeface="Microsoft Yahei" panose="020B0503020204020204" pitchFamily="34" charset="-122"/>
              </a:rPr>
              <a:t> </a:t>
            </a:r>
            <a:r>
              <a:rPr lang="zh-CN" altLang="en-US" sz="26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sym typeface="Microsoft Yahei" panose="020B0503020204020204" pitchFamily="34" charset="-122"/>
              </a:rPr>
              <a:t>需要满足哪一个条件</a:t>
            </a:r>
            <a:r>
              <a:rPr lang="en-US" altLang="zh-CN" sz="2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sym typeface="Microsoft Yahei" panose="020B0503020204020204" pitchFamily="34" charset="-122"/>
              </a:rPr>
              <a:t>?</a:t>
            </a:r>
            <a:endParaRPr lang="zh-CN" altLang="en-US" sz="2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sym typeface="Microsoft Yahei" panose="020B0503020204020204" pitchFamily="34" charset="-122"/>
            </a:endParaRPr>
          </a:p>
        </p:txBody>
      </p:sp>
      <p:sp>
        <p:nvSpPr>
          <p:cNvPr id="11" name="文本框 10"/>
          <p:cNvSpPr txBox="1"/>
          <p:nvPr>
            <p:custDataLst>
              <p:tags r:id="rId3"/>
            </p:custDataLst>
          </p:nvPr>
        </p:nvSpPr>
        <p:spPr>
          <a:xfrm>
            <a:off x="1828800" y="2863691"/>
            <a:ext cx="3492818" cy="487680"/>
          </a:xfrm>
          <a:prstGeom prst="rect">
            <a:avLst/>
          </a:prstGeom>
          <a:noFill/>
          <a:ln w="12700">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14:hiddenLine>
            </a:ext>
          </a:extLst>
        </p:spPr>
        <p:txBody>
          <a:bodyPr vert="horz" wrap="square" rtlCol="0" anchor="ctr">
            <a:spAutoFit/>
          </a:bodyPr>
          <a:lstStyle/>
          <a:p>
            <a:r>
              <a:rPr lang="en-US" altLang="zh-CN" sz="2600" b="1" dirty="0" err="1" smtClean="0">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sym typeface="Microsoft Yahei" panose="020B0503020204020204" pitchFamily="34" charset="-122"/>
              </a:rPr>
              <a:t>v</a:t>
            </a:r>
            <a:r>
              <a:rPr lang="en-US" altLang="zh-CN" sz="2600" i="1" baseline="-25000" dirty="0" err="1" smtClean="0">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sym typeface="Microsoft Yahei" panose="020B0503020204020204" pitchFamily="34" charset="-122"/>
              </a:rPr>
              <a:t>k</a:t>
            </a:r>
            <a:r>
              <a:rPr lang="en-US" altLang="zh-CN" sz="2600" i="1" baseline="30000" dirty="0" err="1" smtClean="0">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sym typeface="Microsoft Yahei" panose="020B0503020204020204" pitchFamily="34" charset="-122"/>
              </a:rPr>
              <a:t>T</a:t>
            </a:r>
            <a:r>
              <a:rPr lang="en-US" altLang="zh-CN" sz="2600" b="1" dirty="0" err="1" smtClean="0">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sym typeface="Microsoft Yahei" panose="020B0503020204020204" pitchFamily="34" charset="-122"/>
              </a:rPr>
              <a:t>v</a:t>
            </a:r>
            <a:r>
              <a:rPr lang="en-US" altLang="zh-CN" sz="2600" baseline="-25000" dirty="0" smtClean="0">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sym typeface="Microsoft Yahei" panose="020B0503020204020204" pitchFamily="34" charset="-122"/>
              </a:rPr>
              <a:t> </a:t>
            </a:r>
            <a:r>
              <a:rPr lang="en-US" altLang="zh-CN" sz="2600" i="1" baseline="-25000" dirty="0" smtClean="0">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sym typeface="Microsoft Yahei" panose="020B0503020204020204" pitchFamily="34" charset="-122"/>
              </a:rPr>
              <a:t>k</a:t>
            </a:r>
            <a:r>
              <a:rPr lang="en-US" altLang="zh-CN" sz="2600" baseline="-25000" dirty="0" smtClean="0">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sym typeface="Microsoft Yahei" panose="020B0503020204020204" pitchFamily="34" charset="-122"/>
              </a:rPr>
              <a:t>+1</a:t>
            </a:r>
            <a:r>
              <a:rPr lang="en-US" altLang="zh-CN" sz="2600" dirty="0" smtClean="0">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sym typeface="Microsoft Yahei" panose="020B0503020204020204" pitchFamily="34" charset="-122"/>
              </a:rPr>
              <a:t> = 0</a:t>
            </a:r>
            <a:endParaRPr lang="zh-CN" altLang="en-US" sz="2600" dirty="0">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sym typeface="Microsoft Yahei" panose="020B0503020204020204" pitchFamily="34" charset="-122"/>
            </a:endParaRPr>
          </a:p>
        </p:txBody>
      </p:sp>
      <p:sp>
        <p:nvSpPr>
          <p:cNvPr id="12" name="椭圆 11"/>
          <p:cNvSpPr>
            <a:spLocks noChangeAspect="1"/>
          </p:cNvSpPr>
          <p:nvPr>
            <p:custDataLst>
              <p:tags r:id="rId4"/>
            </p:custDataLst>
          </p:nvPr>
        </p:nvSpPr>
        <p:spPr>
          <a:xfrm>
            <a:off x="1114425" y="28503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Times New Roman" panose="02020603050405020304" pitchFamily="18" charset="0"/>
                <a:ea typeface="Microsoft Yahei" panose="020B0503020204020204" pitchFamily="34" charset="-122"/>
                <a:cs typeface="Times New Roman" panose="02020603050405020304" pitchFamily="18" charset="0"/>
                <a:sym typeface="Microsoft Yahei" panose="020B0503020204020204" pitchFamily="34" charset="-122"/>
              </a:rPr>
              <a:t>A</a:t>
            </a:r>
            <a:endParaRPr lang="zh-CN" altLang="en-US" sz="1600">
              <a:solidFill>
                <a:srgbClr val="FFFFFF"/>
              </a:solidFill>
              <a:latin typeface="Times New Roman" panose="02020603050405020304" pitchFamily="18" charset="0"/>
              <a:ea typeface="Microsoft Yahei" panose="020B0503020204020204" pitchFamily="34" charset="-122"/>
              <a:cs typeface="Times New Roman" panose="02020603050405020304" pitchFamily="18" charset="0"/>
              <a:sym typeface="Microsoft Yahei" panose="020B0503020204020204" pitchFamily="34" charset="-122"/>
            </a:endParaRPr>
          </a:p>
        </p:txBody>
      </p:sp>
      <p:sp>
        <p:nvSpPr>
          <p:cNvPr id="13" name="文本框 12"/>
          <p:cNvSpPr txBox="1"/>
          <p:nvPr>
            <p:custDataLst>
              <p:tags r:id="rId5"/>
            </p:custDataLst>
          </p:nvPr>
        </p:nvSpPr>
        <p:spPr>
          <a:xfrm>
            <a:off x="1828800" y="3720941"/>
            <a:ext cx="3823018" cy="487680"/>
          </a:xfrm>
          <a:prstGeom prst="rect">
            <a:avLst/>
          </a:prstGeom>
          <a:noFill/>
          <a:ln w="12700">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14:hiddenLine>
            </a:ext>
          </a:extLst>
        </p:spPr>
        <p:txBody>
          <a:bodyPr vert="horz" wrap="square" rtlCol="0" anchor="ctr">
            <a:spAutoFit/>
          </a:bodyPr>
          <a:lstStyle/>
          <a:p>
            <a:r>
              <a:rPr lang="fr-FR" altLang="zh-CN" sz="2600" b="1" dirty="0" smtClean="0">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sym typeface="Microsoft Yahei" panose="020B0503020204020204" pitchFamily="34" charset="-122"/>
              </a:rPr>
              <a:t>v</a:t>
            </a:r>
            <a:r>
              <a:rPr lang="fr-FR" altLang="zh-CN" sz="2600" i="1" baseline="-25000" dirty="0" smtClean="0">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sym typeface="Microsoft Yahei" panose="020B0503020204020204" pitchFamily="34" charset="-122"/>
              </a:rPr>
              <a:t>k</a:t>
            </a:r>
            <a:r>
              <a:rPr lang="fr-FR" altLang="zh-CN" sz="2600" i="1" baseline="30000" dirty="0" smtClean="0">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sym typeface="Microsoft Yahei" panose="020B0503020204020204" pitchFamily="34" charset="-122"/>
              </a:rPr>
              <a:t>T</a:t>
            </a:r>
            <a:r>
              <a:rPr lang="fr-FR" altLang="zh-CN" sz="2600" b="1" dirty="0" smtClean="0">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sym typeface="Microsoft Yahei" panose="020B0503020204020204" pitchFamily="34" charset="-122"/>
              </a:rPr>
              <a:t>Av</a:t>
            </a:r>
            <a:r>
              <a:rPr lang="fr-FR" altLang="zh-CN" sz="2600" i="1" baseline="-25000" dirty="0" smtClean="0">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sym typeface="Microsoft Yahei" panose="020B0503020204020204" pitchFamily="34" charset="-122"/>
              </a:rPr>
              <a:t>k</a:t>
            </a:r>
            <a:r>
              <a:rPr lang="fr-FR" altLang="zh-CN" sz="2600" baseline="-25000" dirty="0" smtClean="0">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sym typeface="Microsoft Yahei" panose="020B0503020204020204" pitchFamily="34" charset="-122"/>
              </a:rPr>
              <a:t>+1</a:t>
            </a:r>
            <a:r>
              <a:rPr lang="fr-FR" altLang="zh-CN" sz="2600" dirty="0" smtClean="0">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sym typeface="Microsoft Yahei" panose="020B0503020204020204" pitchFamily="34" charset="-122"/>
              </a:rPr>
              <a:t> = 0</a:t>
            </a:r>
            <a:endParaRPr lang="zh-CN" altLang="en-US" sz="2600" dirty="0">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sym typeface="Microsoft Yahei" panose="020B0503020204020204" pitchFamily="34" charset="-122"/>
            </a:endParaRPr>
          </a:p>
        </p:txBody>
      </p:sp>
      <p:sp>
        <p:nvSpPr>
          <p:cNvPr id="14" name="椭圆 13"/>
          <p:cNvSpPr>
            <a:spLocks noChangeAspect="1"/>
          </p:cNvSpPr>
          <p:nvPr>
            <p:custDataLst>
              <p:tags r:id="rId6"/>
            </p:custDataLst>
          </p:nvPr>
        </p:nvSpPr>
        <p:spPr>
          <a:xfrm>
            <a:off x="1114425" y="370760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Times New Roman" panose="02020603050405020304" pitchFamily="18" charset="0"/>
                <a:ea typeface="Microsoft Yahei" panose="020B0503020204020204" pitchFamily="34" charset="-122"/>
                <a:cs typeface="Times New Roman" panose="02020603050405020304" pitchFamily="18" charset="0"/>
                <a:sym typeface="Microsoft Yahei" panose="020B0503020204020204" pitchFamily="34" charset="-122"/>
              </a:rPr>
              <a:t>B</a:t>
            </a:r>
            <a:endParaRPr lang="zh-CN" altLang="en-US" sz="1600">
              <a:solidFill>
                <a:srgbClr val="FFFFFF"/>
              </a:solidFill>
              <a:latin typeface="Times New Roman" panose="02020603050405020304" pitchFamily="18" charset="0"/>
              <a:ea typeface="Microsoft Yahei" panose="020B0503020204020204" pitchFamily="34" charset="-122"/>
              <a:cs typeface="Times New Roman" panose="02020603050405020304" pitchFamily="18" charset="0"/>
              <a:sym typeface="Microsoft Yahei" panose="020B0503020204020204" pitchFamily="34" charset="-122"/>
            </a:endParaRPr>
          </a:p>
        </p:txBody>
      </p:sp>
      <p:sp>
        <p:nvSpPr>
          <p:cNvPr id="15" name="文本框 14"/>
          <p:cNvSpPr txBox="1"/>
          <p:nvPr>
            <p:custDataLst>
              <p:tags r:id="rId7"/>
            </p:custDataLst>
          </p:nvPr>
        </p:nvSpPr>
        <p:spPr>
          <a:xfrm>
            <a:off x="1828800" y="4578191"/>
            <a:ext cx="4150043" cy="487680"/>
          </a:xfrm>
          <a:prstGeom prst="rect">
            <a:avLst/>
          </a:prstGeom>
          <a:noFill/>
          <a:ln w="12700">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14:hiddenLine>
            </a:ext>
          </a:extLst>
        </p:spPr>
        <p:txBody>
          <a:bodyPr vert="horz" wrap="square" rtlCol="0" anchor="ctr">
            <a:spAutoFit/>
          </a:bodyPr>
          <a:lstStyle/>
          <a:p>
            <a:r>
              <a:rPr lang="en-US" altLang="zh-CN" sz="2600" b="1" dirty="0" smtClean="0">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sym typeface="Microsoft Yahei" panose="020B0503020204020204" pitchFamily="34" charset="-122"/>
              </a:rPr>
              <a:t>v</a:t>
            </a:r>
            <a:r>
              <a:rPr lang="en-US" altLang="zh-CN" sz="2600" i="1" baseline="-25000" dirty="0" smtClean="0">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sym typeface="Microsoft Yahei" panose="020B0503020204020204" pitchFamily="34" charset="-122"/>
              </a:rPr>
              <a:t>k</a:t>
            </a:r>
            <a:r>
              <a:rPr lang="en-US" altLang="zh-CN" sz="2600" baseline="-25000" dirty="0" smtClean="0">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sym typeface="Microsoft Yahei" panose="020B0503020204020204" pitchFamily="34" charset="-122"/>
              </a:rPr>
              <a:t>+1</a:t>
            </a:r>
            <a:r>
              <a:rPr lang="en-US" altLang="zh-CN" sz="2600" i="1" baseline="30000" dirty="0" smtClean="0">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sym typeface="Microsoft Yahei" panose="020B0503020204020204" pitchFamily="34" charset="-122"/>
              </a:rPr>
              <a:t>T</a:t>
            </a:r>
            <a:r>
              <a:rPr lang="en-US" altLang="zh-CN" sz="2600" b="1" dirty="0" smtClean="0">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sym typeface="Microsoft Yahei" panose="020B0503020204020204" pitchFamily="34" charset="-122"/>
              </a:rPr>
              <a:t>v</a:t>
            </a:r>
            <a:r>
              <a:rPr lang="en-US" altLang="zh-CN" sz="2600" i="1" baseline="-25000" dirty="0" smtClean="0">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sym typeface="Microsoft Yahei" panose="020B0503020204020204" pitchFamily="34" charset="-122"/>
              </a:rPr>
              <a:t>k</a:t>
            </a:r>
            <a:r>
              <a:rPr lang="en-US" altLang="zh-CN" sz="2600" baseline="-25000" dirty="0" smtClean="0">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sym typeface="Microsoft Yahei" panose="020B0503020204020204" pitchFamily="34" charset="-122"/>
              </a:rPr>
              <a:t>+1</a:t>
            </a:r>
            <a:r>
              <a:rPr lang="en-US" altLang="zh-CN" sz="2600" dirty="0" smtClean="0">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sym typeface="Microsoft Yahei" panose="020B0503020204020204" pitchFamily="34" charset="-122"/>
              </a:rPr>
              <a:t> = 1</a:t>
            </a:r>
            <a:endParaRPr lang="zh-CN" altLang="en-US" sz="2600" dirty="0">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sym typeface="Microsoft Yahei" panose="020B0503020204020204" pitchFamily="34" charset="-122"/>
            </a:endParaRPr>
          </a:p>
        </p:txBody>
      </p:sp>
      <p:sp>
        <p:nvSpPr>
          <p:cNvPr id="16" name="椭圆 15"/>
          <p:cNvSpPr>
            <a:spLocks noChangeAspect="1"/>
          </p:cNvSpPr>
          <p:nvPr>
            <p:custDataLst>
              <p:tags r:id="rId8"/>
            </p:custDataLst>
          </p:nvPr>
        </p:nvSpPr>
        <p:spPr>
          <a:xfrm>
            <a:off x="1114425" y="45648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Times New Roman" panose="02020603050405020304" pitchFamily="18" charset="0"/>
                <a:ea typeface="Microsoft Yahei" panose="020B0503020204020204" pitchFamily="34" charset="-122"/>
                <a:cs typeface="Times New Roman" panose="02020603050405020304" pitchFamily="18" charset="0"/>
                <a:sym typeface="Microsoft Yahei" panose="020B0503020204020204" pitchFamily="34" charset="-122"/>
              </a:rPr>
              <a:t>C</a:t>
            </a:r>
            <a:endParaRPr lang="zh-CN" altLang="en-US" sz="1600">
              <a:solidFill>
                <a:srgbClr val="FFFFFF"/>
              </a:solidFill>
              <a:latin typeface="Times New Roman" panose="02020603050405020304" pitchFamily="18" charset="0"/>
              <a:ea typeface="Microsoft Yahei" panose="020B0503020204020204" pitchFamily="34" charset="-122"/>
              <a:cs typeface="Times New Roman" panose="02020603050405020304" pitchFamily="18" charset="0"/>
              <a:sym typeface="Microsoft Yahei" panose="020B0503020204020204" pitchFamily="34" charset="-122"/>
            </a:endParaRPr>
          </a:p>
        </p:txBody>
      </p:sp>
      <p:sp>
        <p:nvSpPr>
          <p:cNvPr id="17" name="文本框 16"/>
          <p:cNvSpPr txBox="1"/>
          <p:nvPr>
            <p:custDataLst>
              <p:tags r:id="rId9"/>
            </p:custDataLst>
          </p:nvPr>
        </p:nvSpPr>
        <p:spPr>
          <a:xfrm>
            <a:off x="1828800" y="5435441"/>
            <a:ext cx="4480243" cy="487680"/>
          </a:xfrm>
          <a:prstGeom prst="rect">
            <a:avLst/>
          </a:prstGeom>
          <a:noFill/>
          <a:ln w="12700">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14:hiddenLine>
            </a:ext>
          </a:extLst>
        </p:spPr>
        <p:txBody>
          <a:bodyPr vert="horz" wrap="square" rtlCol="0" anchor="ctr">
            <a:spAutoFit/>
          </a:bodyPr>
          <a:lstStyle/>
          <a:p>
            <a:r>
              <a:rPr lang="fr-FR" altLang="zh-CN" sz="2600" b="1" dirty="0" smtClean="0">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sym typeface="Microsoft Yahei" panose="020B0503020204020204" pitchFamily="34" charset="-122"/>
              </a:rPr>
              <a:t>v</a:t>
            </a:r>
            <a:r>
              <a:rPr lang="fr-FR" altLang="zh-CN" sz="2600" i="1" baseline="-25000" dirty="0" smtClean="0">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sym typeface="Microsoft Yahei" panose="020B0503020204020204" pitchFamily="34" charset="-122"/>
              </a:rPr>
              <a:t>k</a:t>
            </a:r>
            <a:r>
              <a:rPr lang="fr-FR" altLang="zh-CN" sz="2600" baseline="-25000" dirty="0" smtClean="0">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sym typeface="Microsoft Yahei" panose="020B0503020204020204" pitchFamily="34" charset="-122"/>
              </a:rPr>
              <a:t>+1</a:t>
            </a:r>
            <a:r>
              <a:rPr lang="fr-FR" altLang="zh-CN" sz="2600" i="1" baseline="30000" dirty="0" smtClean="0">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sym typeface="Microsoft Yahei" panose="020B0503020204020204" pitchFamily="34" charset="-122"/>
              </a:rPr>
              <a:t>T</a:t>
            </a:r>
            <a:r>
              <a:rPr lang="fr-FR" altLang="zh-CN" sz="2600" b="1" dirty="0" smtClean="0">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sym typeface="Microsoft Yahei" panose="020B0503020204020204" pitchFamily="34" charset="-122"/>
              </a:rPr>
              <a:t>Av</a:t>
            </a:r>
            <a:r>
              <a:rPr lang="fr-FR" altLang="zh-CN" sz="2600" i="1" baseline="-25000" dirty="0" smtClean="0">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sym typeface="Microsoft Yahei" panose="020B0503020204020204" pitchFamily="34" charset="-122"/>
              </a:rPr>
              <a:t>k</a:t>
            </a:r>
            <a:r>
              <a:rPr lang="fr-FR" altLang="zh-CN" sz="2600" baseline="-25000" dirty="0" smtClean="0">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sym typeface="Microsoft Yahei" panose="020B0503020204020204" pitchFamily="34" charset="-122"/>
              </a:rPr>
              <a:t>+1</a:t>
            </a:r>
            <a:r>
              <a:rPr lang="fr-FR" altLang="zh-CN" sz="2600" dirty="0" smtClean="0">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sym typeface="Microsoft Yahei" panose="020B0503020204020204" pitchFamily="34" charset="-122"/>
              </a:rPr>
              <a:t> = 0</a:t>
            </a:r>
            <a:endParaRPr lang="zh-CN" altLang="en-US" sz="2600" dirty="0">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sym typeface="Microsoft Yahei" panose="020B0503020204020204" pitchFamily="34" charset="-122"/>
            </a:endParaRPr>
          </a:p>
        </p:txBody>
      </p:sp>
      <p:sp>
        <p:nvSpPr>
          <p:cNvPr id="18" name="椭圆 17"/>
          <p:cNvSpPr>
            <a:spLocks noChangeAspect="1"/>
          </p:cNvSpPr>
          <p:nvPr>
            <p:custDataLst>
              <p:tags r:id="rId10"/>
            </p:custDataLst>
          </p:nvPr>
        </p:nvSpPr>
        <p:spPr>
          <a:xfrm>
            <a:off x="1114425" y="54221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Times New Roman" panose="02020603050405020304" pitchFamily="18" charset="0"/>
                <a:ea typeface="Microsoft Yahei" panose="020B0503020204020204" pitchFamily="34" charset="-122"/>
                <a:cs typeface="Times New Roman" panose="02020603050405020304" pitchFamily="18" charset="0"/>
                <a:sym typeface="Microsoft Yahei" panose="020B0503020204020204" pitchFamily="34" charset="-122"/>
              </a:rPr>
              <a:t>D</a:t>
            </a:r>
            <a:endParaRPr lang="zh-CN" altLang="en-US" sz="1600">
              <a:solidFill>
                <a:srgbClr val="FFFFFF"/>
              </a:solidFill>
              <a:latin typeface="Times New Roman" panose="02020603050405020304" pitchFamily="18" charset="0"/>
              <a:ea typeface="Microsoft Yahei" panose="020B0503020204020204" pitchFamily="34" charset="-122"/>
              <a:cs typeface="Times New Roman" panose="02020603050405020304" pitchFamily="18" charset="0"/>
              <a:sym typeface="Microsoft Yahei" panose="020B0503020204020204" pitchFamily="34" charset="-122"/>
            </a:endParaRPr>
          </a:p>
        </p:txBody>
      </p:sp>
      <p:sp>
        <p:nvSpPr>
          <p:cNvPr id="19" name="圆角矩形 18"/>
          <p:cNvSpPr/>
          <p:nvPr>
            <p:custDataLst>
              <p:tags r:id="rId11"/>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9" name="组合 8"/>
          <p:cNvGrpSpPr/>
          <p:nvPr>
            <p:custDataLst>
              <p:tags r:id="rId12"/>
            </p:custDataLst>
          </p:nvPr>
        </p:nvGrpSpPr>
        <p:grpSpPr>
          <a:xfrm>
            <a:off x="0" y="0"/>
            <a:ext cx="9144000" cy="635000"/>
            <a:chOff x="0" y="0"/>
            <a:chExt cx="9144000" cy="635000"/>
          </a:xfrm>
        </p:grpSpPr>
        <p:sp>
          <p:nvSpPr>
            <p:cNvPr id="5" name="TitleBackground"/>
            <p:cNvSpPr/>
            <p:nvPr>
              <p:custDataLst>
                <p:tags r:id="rId14"/>
              </p:custDataLst>
            </p:nvPr>
          </p:nvSpPr>
          <p:spPr>
            <a:xfrm>
              <a:off x="0" y="0"/>
              <a:ext cx="9144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endPar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endPar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4" name="图片 3"/>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179196535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宋体" panose="02010600030101010101" pitchFamily="2" charset="-122"/>
                <a:ea typeface="宋体" panose="02010600030101010101" pitchFamily="2" charset="-122"/>
              </a:rPr>
              <a:t>共轭优化方向的构造</a:t>
            </a:r>
            <a:endParaRPr lang="zh-CN" altLang="en-US" dirty="0">
              <a:latin typeface="宋体" panose="02010600030101010101" pitchFamily="2" charset="-122"/>
              <a:ea typeface="宋体" panose="02010600030101010101" pitchFamily="2" charset="-122"/>
            </a:endParaRP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lnSpcReduction="10000"/>
              </a:bodyPr>
              <a:lstStyle/>
              <a:p>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从最快下降方向</a:t>
                </a: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b</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a:t>
                </a:r>
                <a:r>
                  <a:rPr lang="en-US" altLang="zh-CN"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Ax</a:t>
                </a:r>
                <a:r>
                  <a:rPr lang="en-US" altLang="zh-CN" i="1" baseline="30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中提取</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v</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baseline="-25000" dirty="0" smtClean="0">
                    <a:latin typeface="Times New Roman" panose="02020603050405020304" pitchFamily="18" charset="0"/>
                    <a:ea typeface="楷体" panose="02010609060101010101" pitchFamily="49" charset="-122"/>
                    <a:cs typeface="Times New Roman" panose="02020603050405020304" pitchFamily="18" charset="0"/>
                  </a:rPr>
                  <a:t> + 1</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，记</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pPr marL="0" indent="0" algn="ctr">
                  <a:buNone/>
                </a:pP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r</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 </a:t>
                </a: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b</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 </a:t>
                </a:r>
                <a:r>
                  <a:rPr lang="en-US" altLang="zh-CN" b="1" dirty="0" err="1">
                    <a:latin typeface="Times New Roman" panose="02020603050405020304" pitchFamily="18" charset="0"/>
                    <a:ea typeface="楷体" panose="02010609060101010101" pitchFamily="49" charset="-122"/>
                    <a:cs typeface="Times New Roman" panose="02020603050405020304" pitchFamily="18" charset="0"/>
                  </a:rPr>
                  <a:t>Ax</a:t>
                </a:r>
                <a:r>
                  <a:rPr lang="en-US" altLang="zh-CN" i="1" baseline="30000" dirty="0" err="1">
                    <a:latin typeface="Times New Roman" panose="02020603050405020304" pitchFamily="18" charset="0"/>
                    <a:ea typeface="楷体" panose="02010609060101010101" pitchFamily="49" charset="-122"/>
                    <a:cs typeface="Times New Roman" panose="02020603050405020304" pitchFamily="18" charset="0"/>
                  </a:rPr>
                  <a:t>k</a:t>
                </a:r>
                <a:endParaRPr lang="en-US" altLang="zh-CN" b="1" baseline="30000" dirty="0" smtClean="0">
                  <a:latin typeface="Times New Roman" panose="02020603050405020304" pitchFamily="18" charset="0"/>
                  <a:ea typeface="楷体" panose="02010609060101010101" pitchFamily="49" charset="-122"/>
                  <a:cs typeface="Times New Roman" panose="02020603050405020304" pitchFamily="18" charset="0"/>
                </a:endParaRPr>
              </a:p>
              <a:p>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设</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pPr marL="0" indent="0" algn="ctr">
                  <a:buNone/>
                </a:pP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v</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baseline="-25000" dirty="0" smtClean="0">
                    <a:latin typeface="Times New Roman" panose="02020603050405020304" pitchFamily="18" charset="0"/>
                    <a:ea typeface="楷体" panose="02010609060101010101" pitchFamily="49" charset="-122"/>
                    <a:cs typeface="Times New Roman" panose="02020603050405020304" pitchFamily="18" charset="0"/>
                  </a:rPr>
                  <a:t> + 1</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 </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r</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 </a:t>
                </a:r>
                <a:r>
                  <a:rPr lang="en-US" altLang="zh-CN" i="1" dirty="0" err="1" smtClean="0">
                    <a:latin typeface="Times New Roman" panose="02020603050405020304" pitchFamily="18" charset="0"/>
                    <a:ea typeface="楷体" panose="02010609060101010101" pitchFamily="49" charset="-122"/>
                    <a:cs typeface="Times New Roman" panose="02020603050405020304" pitchFamily="18" charset="0"/>
                  </a:rPr>
                  <a:t>s</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v</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endParaRPr lang="en-US" altLang="zh-CN" baseline="-25000" dirty="0" smtClean="0">
                  <a:latin typeface="Times New Roman" panose="02020603050405020304" pitchFamily="18" charset="0"/>
                  <a:ea typeface="楷体" panose="02010609060101010101" pitchFamily="49" charset="-122"/>
                  <a:cs typeface="Times New Roman" panose="02020603050405020304" pitchFamily="18" charset="0"/>
                </a:endParaRPr>
              </a:p>
              <a:p>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代入共轭条件：</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pPr marL="0" indent="0" algn="ctr">
                  <a:buNone/>
                </a:pP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v</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baseline="30000" dirty="0" err="1" smtClean="0">
                    <a:latin typeface="Times New Roman" panose="02020603050405020304" pitchFamily="18" charset="0"/>
                    <a:ea typeface="楷体" panose="02010609060101010101" pitchFamily="49" charset="-122"/>
                    <a:cs typeface="Times New Roman" panose="02020603050405020304" pitchFamily="18" charset="0"/>
                  </a:rPr>
                  <a:t>T</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A</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r</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a:t>
                </a:r>
                <a:r>
                  <a:rPr lang="en-US" altLang="zh-CN"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i="1" dirty="0" err="1" smtClean="0">
                    <a:latin typeface="Times New Roman" panose="02020603050405020304" pitchFamily="18" charset="0"/>
                    <a:ea typeface="楷体" panose="02010609060101010101" pitchFamily="49" charset="-122"/>
                    <a:cs typeface="Times New Roman" panose="02020603050405020304" pitchFamily="18" charset="0"/>
                  </a:rPr>
                  <a:t>s</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v</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 0</a:t>
                </a:r>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a:p>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解出：</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ea typeface="楷体" panose="02010609060101010101" pitchFamily="49" charset="-122"/>
                              <a:cs typeface="Times New Roman" panose="02020603050405020304" pitchFamily="18" charset="0"/>
                            </a:rPr>
                          </m:ctrlPr>
                        </m:sSubPr>
                        <m:e>
                          <m:r>
                            <a:rPr lang="en-US" altLang="zh-CN" b="0" i="1" smtClean="0">
                              <a:latin typeface="Cambria Math" panose="02040503050406030204" pitchFamily="18" charset="0"/>
                              <a:ea typeface="楷体" panose="02010609060101010101" pitchFamily="49" charset="-122"/>
                              <a:cs typeface="Times New Roman" panose="02020603050405020304" pitchFamily="18" charset="0"/>
                            </a:rPr>
                            <m:t>𝑠</m:t>
                          </m:r>
                        </m:e>
                        <m:sub>
                          <m:r>
                            <a:rPr lang="en-US" altLang="zh-CN" b="0" i="1" smtClean="0">
                              <a:latin typeface="Cambria Math" panose="02040503050406030204" pitchFamily="18" charset="0"/>
                              <a:ea typeface="楷体" panose="02010609060101010101" pitchFamily="49" charset="-122"/>
                              <a:cs typeface="Times New Roman" panose="02020603050405020304" pitchFamily="18" charset="0"/>
                            </a:rPr>
                            <m:t>𝑘</m:t>
                          </m:r>
                        </m:sub>
                      </m:sSub>
                      <m:r>
                        <a:rPr lang="en-US" altLang="zh-CN" b="0" i="1" smtClean="0">
                          <a:latin typeface="Cambria Math" panose="02040503050406030204" pitchFamily="18" charset="0"/>
                          <a:ea typeface="楷体" panose="02010609060101010101" pitchFamily="49" charset="-122"/>
                          <a:cs typeface="Times New Roman" panose="02020603050405020304" pitchFamily="18" charset="0"/>
                        </a:rPr>
                        <m:t>=</m:t>
                      </m:r>
                      <m:f>
                        <m:fPr>
                          <m:ctrlPr>
                            <a:rPr lang="en-US" altLang="zh-CN" b="0" i="1" smtClean="0">
                              <a:latin typeface="Cambria Math" panose="02040503050406030204" pitchFamily="18" charset="0"/>
                              <a:ea typeface="楷体" panose="02010609060101010101" pitchFamily="49" charset="-122"/>
                              <a:cs typeface="Times New Roman" panose="02020603050405020304" pitchFamily="18" charset="0"/>
                            </a:rPr>
                          </m:ctrlPr>
                        </m:fPr>
                        <m:num>
                          <m:sSubSup>
                            <m:sSubSupPr>
                              <m:ctrlPr>
                                <a:rPr lang="en-US" altLang="zh-CN" i="1">
                                  <a:latin typeface="Cambria Math" panose="02040503050406030204" pitchFamily="18" charset="0"/>
                                  <a:ea typeface="楷体" panose="02010609060101010101" pitchFamily="49" charset="-122"/>
                                  <a:cs typeface="Times New Roman" panose="02020603050405020304" pitchFamily="18" charset="0"/>
                                </a:rPr>
                              </m:ctrlPr>
                            </m:sSubSupPr>
                            <m:e>
                              <m:r>
                                <a:rPr lang="en-US" altLang="zh-CN" b="1">
                                  <a:latin typeface="Cambria Math" panose="02040503050406030204" pitchFamily="18" charset="0"/>
                                  <a:ea typeface="楷体" panose="02010609060101010101" pitchFamily="49" charset="-122"/>
                                  <a:cs typeface="Times New Roman" panose="02020603050405020304" pitchFamily="18" charset="0"/>
                                </a:rPr>
                                <m:t>𝐯</m:t>
                              </m:r>
                            </m:e>
                            <m:sub>
                              <m:r>
                                <a:rPr lang="en-US" altLang="zh-CN" i="1">
                                  <a:latin typeface="Cambria Math" panose="02040503050406030204" pitchFamily="18" charset="0"/>
                                  <a:ea typeface="楷体" panose="02010609060101010101" pitchFamily="49" charset="-122"/>
                                  <a:cs typeface="Times New Roman" panose="02020603050405020304" pitchFamily="18" charset="0"/>
                                </a:rPr>
                                <m:t>𝑘</m:t>
                              </m:r>
                            </m:sub>
                            <m:sup>
                              <m:r>
                                <a:rPr lang="en-US" altLang="zh-CN" i="1">
                                  <a:latin typeface="Cambria Math" panose="02040503050406030204" pitchFamily="18" charset="0"/>
                                  <a:ea typeface="楷体" panose="02010609060101010101" pitchFamily="49" charset="-122"/>
                                  <a:cs typeface="Times New Roman" panose="02020603050405020304" pitchFamily="18" charset="0"/>
                                </a:rPr>
                                <m:t>𝑇</m:t>
                              </m:r>
                            </m:sup>
                          </m:sSubSup>
                          <m:r>
                            <a:rPr lang="en-US" altLang="zh-CN" b="1">
                              <a:latin typeface="Cambria Math" panose="02040503050406030204" pitchFamily="18" charset="0"/>
                              <a:ea typeface="楷体" panose="02010609060101010101" pitchFamily="49" charset="-122"/>
                              <a:cs typeface="Times New Roman" panose="02020603050405020304" pitchFamily="18" charset="0"/>
                            </a:rPr>
                            <m:t>𝐀</m:t>
                          </m:r>
                          <m:sSub>
                            <m:sSubPr>
                              <m:ctrlPr>
                                <a:rPr lang="en-US" altLang="zh-CN" i="1">
                                  <a:latin typeface="Cambria Math" panose="02040503050406030204" pitchFamily="18" charset="0"/>
                                  <a:ea typeface="楷体" panose="02010609060101010101" pitchFamily="49" charset="-122"/>
                                  <a:cs typeface="Times New Roman" panose="02020603050405020304" pitchFamily="18" charset="0"/>
                                </a:rPr>
                              </m:ctrlPr>
                            </m:sSubPr>
                            <m:e>
                              <m:r>
                                <a:rPr lang="en-US" altLang="zh-CN" b="1">
                                  <a:latin typeface="Cambria Math" panose="02040503050406030204" pitchFamily="18" charset="0"/>
                                  <a:ea typeface="楷体" panose="02010609060101010101" pitchFamily="49" charset="-122"/>
                                  <a:cs typeface="Times New Roman" panose="02020603050405020304" pitchFamily="18" charset="0"/>
                                </a:rPr>
                                <m:t>𝐫</m:t>
                              </m:r>
                            </m:e>
                            <m:sub>
                              <m:r>
                                <a:rPr lang="en-US" altLang="zh-CN" i="1">
                                  <a:latin typeface="Cambria Math" panose="02040503050406030204" pitchFamily="18" charset="0"/>
                                  <a:ea typeface="楷体" panose="02010609060101010101" pitchFamily="49" charset="-122"/>
                                  <a:cs typeface="Times New Roman" panose="02020603050405020304" pitchFamily="18" charset="0"/>
                                </a:rPr>
                                <m:t>𝑘</m:t>
                              </m:r>
                            </m:sub>
                          </m:sSub>
                        </m:num>
                        <m:den>
                          <m:sSubSup>
                            <m:sSubSupPr>
                              <m:ctrlPr>
                                <a:rPr lang="en-US" altLang="zh-CN" b="0" i="1" smtClean="0">
                                  <a:latin typeface="Cambria Math" panose="02040503050406030204" pitchFamily="18" charset="0"/>
                                  <a:ea typeface="楷体" panose="02010609060101010101" pitchFamily="49" charset="-122"/>
                                  <a:cs typeface="Times New Roman" panose="02020603050405020304" pitchFamily="18" charset="0"/>
                                </a:rPr>
                              </m:ctrlPr>
                            </m:sSubSupPr>
                            <m:e>
                              <m:r>
                                <a:rPr lang="en-US" altLang="zh-CN" b="1" i="0" smtClean="0">
                                  <a:latin typeface="Cambria Math" panose="02040503050406030204" pitchFamily="18" charset="0"/>
                                  <a:ea typeface="楷体" panose="02010609060101010101" pitchFamily="49" charset="-122"/>
                                  <a:cs typeface="Times New Roman" panose="02020603050405020304" pitchFamily="18" charset="0"/>
                                </a:rPr>
                                <m:t>𝐯</m:t>
                              </m:r>
                            </m:e>
                            <m:sub>
                              <m:r>
                                <a:rPr lang="en-US" altLang="zh-CN" b="0" i="1" smtClean="0">
                                  <a:latin typeface="Cambria Math" panose="02040503050406030204" pitchFamily="18" charset="0"/>
                                  <a:ea typeface="楷体" panose="02010609060101010101" pitchFamily="49" charset="-122"/>
                                  <a:cs typeface="Times New Roman" panose="02020603050405020304" pitchFamily="18" charset="0"/>
                                </a:rPr>
                                <m:t>𝑘</m:t>
                              </m:r>
                            </m:sub>
                            <m:sup>
                              <m:r>
                                <a:rPr lang="en-US" altLang="zh-CN" b="0" i="1" smtClean="0">
                                  <a:latin typeface="Cambria Math" panose="02040503050406030204" pitchFamily="18" charset="0"/>
                                  <a:ea typeface="楷体" panose="02010609060101010101" pitchFamily="49" charset="-122"/>
                                  <a:cs typeface="Times New Roman" panose="02020603050405020304" pitchFamily="18" charset="0"/>
                                </a:rPr>
                                <m:t>𝑇</m:t>
                              </m:r>
                            </m:sup>
                          </m:sSubSup>
                          <m:r>
                            <a:rPr lang="en-US" altLang="zh-CN" b="0" i="1" smtClean="0">
                              <a:latin typeface="Cambria Math" panose="02040503050406030204" pitchFamily="18" charset="0"/>
                              <a:ea typeface="楷体" panose="02010609060101010101" pitchFamily="49" charset="-122"/>
                              <a:cs typeface="Times New Roman" panose="02020603050405020304" pitchFamily="18" charset="0"/>
                            </a:rPr>
                            <m:t>𝐴</m:t>
                          </m:r>
                          <m:sSub>
                            <m:sSubPr>
                              <m:ctrlPr>
                                <a:rPr lang="en-US" altLang="zh-CN" b="0" i="1" smtClean="0">
                                  <a:latin typeface="Cambria Math" panose="02040503050406030204" pitchFamily="18" charset="0"/>
                                  <a:ea typeface="楷体" panose="02010609060101010101" pitchFamily="49" charset="-122"/>
                                  <a:cs typeface="Times New Roman" panose="02020603050405020304" pitchFamily="18" charset="0"/>
                                </a:rPr>
                              </m:ctrlPr>
                            </m:sSubPr>
                            <m:e>
                              <m:r>
                                <a:rPr lang="en-US" altLang="zh-CN" b="1" i="0" smtClean="0">
                                  <a:latin typeface="Cambria Math" panose="02040503050406030204" pitchFamily="18" charset="0"/>
                                  <a:ea typeface="楷体" panose="02010609060101010101" pitchFamily="49" charset="-122"/>
                                  <a:cs typeface="Times New Roman" panose="02020603050405020304" pitchFamily="18" charset="0"/>
                                </a:rPr>
                                <m:t>𝐯</m:t>
                              </m:r>
                            </m:e>
                            <m:sub>
                              <m:r>
                                <a:rPr lang="en-US" altLang="zh-CN" b="0" i="1" smtClean="0">
                                  <a:latin typeface="Cambria Math" panose="02040503050406030204" pitchFamily="18" charset="0"/>
                                  <a:ea typeface="楷体" panose="02010609060101010101" pitchFamily="49" charset="-122"/>
                                  <a:cs typeface="Times New Roman" panose="02020603050405020304" pitchFamily="18" charset="0"/>
                                </a:rPr>
                                <m:t>𝑘</m:t>
                              </m:r>
                            </m:sub>
                          </m:sSub>
                        </m:den>
                      </m:f>
                    </m:oMath>
                  </m:oMathPara>
                </a14:m>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3"/>
                <a:stretch>
                  <a:fillRect l="-1391" t="-3782"/>
                </a:stretch>
              </a:blipFill>
            </p:spPr>
            <p:txBody>
              <a:bodyPr/>
              <a:lstStyle/>
              <a:p>
                <a:r>
                  <a:rPr lang="zh-CN" altLang="en-US">
                    <a:noFill/>
                  </a:rPr>
                  <a:t> </a:t>
                </a:r>
              </a:p>
            </p:txBody>
          </p:sp>
        </mc:Fallback>
      </mc:AlternateContent>
    </p:spTree>
    <p:custDataLst>
      <p:tags r:id="rId1"/>
    </p:custDataLst>
    <p:extLst>
      <p:ext uri="{BB962C8B-B14F-4D97-AF65-F5344CB8AC3E}">
        <p14:creationId xmlns:p14="http://schemas.microsoft.com/office/powerpoint/2010/main" val="12142347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宋体" panose="02010600030101010101" pitchFamily="2" charset="-122"/>
                <a:ea typeface="宋体" panose="02010600030101010101" pitchFamily="2" charset="-122"/>
              </a:rPr>
              <a:t>迭代步长</a:t>
            </a:r>
            <a:endParaRPr lang="zh-CN" altLang="en-US" dirty="0">
              <a:latin typeface="宋体" panose="02010600030101010101" pitchFamily="2" charset="-122"/>
              <a:ea typeface="宋体" panose="02010600030101010101" pitchFamily="2" charset="-122"/>
            </a:endParaRP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628650" y="1825625"/>
                <a:ext cx="7886700" cy="4351338"/>
              </a:xfrm>
            </p:spPr>
            <p:txBody>
              <a:bodyPr>
                <a:normAutofit lnSpcReduction="10000"/>
              </a:bodyPr>
              <a:lstStyle/>
              <a:p>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沿着</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v</a:t>
                </a:r>
                <a:r>
                  <a:rPr lang="en-US" altLang="zh-CN" i="1" baseline="-25000" dirty="0" err="1">
                    <a:latin typeface="Times New Roman" panose="02020603050405020304" pitchFamily="18" charset="0"/>
                    <a:ea typeface="楷体" panose="02010609060101010101" pitchFamily="49" charset="-122"/>
                    <a:cs typeface="Times New Roman" panose="02020603050405020304" pitchFamily="18" charset="0"/>
                  </a:rPr>
                  <a:t>k</a:t>
                </a:r>
                <a:r>
                  <a:rPr lang="en-US" altLang="zh-CN" i="1" baseline="-25000"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aseline="-25000" dirty="0">
                    <a:latin typeface="Times New Roman" panose="02020603050405020304" pitchFamily="18" charset="0"/>
                    <a:ea typeface="楷体" panose="02010609060101010101" pitchFamily="49" charset="-122"/>
                    <a:cs typeface="Times New Roman" panose="02020603050405020304" pitchFamily="18" charset="0"/>
                  </a:rPr>
                  <a:t> 1</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优化</a:t>
                </a: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x</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pPr marL="0" indent="0" algn="ctr">
                  <a:buNone/>
                </a:pP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x</a:t>
                </a:r>
                <a:r>
                  <a:rPr lang="en-US" altLang="zh-CN" i="1" baseline="30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baseline="30000" dirty="0" smtClean="0">
                    <a:latin typeface="Times New Roman" panose="02020603050405020304" pitchFamily="18" charset="0"/>
                    <a:ea typeface="楷体" panose="02010609060101010101" pitchFamily="49" charset="-122"/>
                    <a:cs typeface="Times New Roman" panose="02020603050405020304" pitchFamily="18" charset="0"/>
                  </a:rPr>
                  <a:t> + 1</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 </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x</a:t>
                </a:r>
                <a:r>
                  <a:rPr lang="en-US" altLang="zh-CN" i="1" baseline="30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 </a:t>
                </a:r>
                <a:r>
                  <a:rPr lang="en-US" altLang="zh-CN" i="1" dirty="0" err="1" smtClean="0">
                    <a:latin typeface="Times New Roman" panose="02020603050405020304" pitchFamily="18" charset="0"/>
                    <a:ea typeface="楷体" panose="02010609060101010101" pitchFamily="49" charset="-122"/>
                    <a:cs typeface="Times New Roman" panose="02020603050405020304" pitchFamily="18" charset="0"/>
                  </a:rPr>
                  <a:t>t</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baseline="-25000" dirty="0" smtClean="0">
                    <a:latin typeface="Times New Roman" panose="02020603050405020304" pitchFamily="18" charset="0"/>
                    <a:ea typeface="楷体" panose="02010609060101010101" pitchFamily="49" charset="-122"/>
                    <a:cs typeface="Times New Roman" panose="02020603050405020304" pitchFamily="18" charset="0"/>
                  </a:rPr>
                  <a:t> + 1</a:t>
                </a: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v</a:t>
                </a:r>
                <a:r>
                  <a:rPr lang="en-US" altLang="zh-CN" i="1" baseline="-25000" dirty="0" smtClean="0">
                    <a:latin typeface="Times New Roman" panose="02020603050405020304" pitchFamily="18" charset="0"/>
                    <a:ea typeface="楷体" panose="02010609060101010101" pitchFamily="49" charset="-122"/>
                    <a:cs typeface="Times New Roman" panose="02020603050405020304" pitchFamily="18" charset="0"/>
                  </a:rPr>
                  <a:t>k +</a:t>
                </a:r>
                <a:r>
                  <a:rPr lang="en-US" altLang="zh-CN" baseline="-25000" dirty="0" smtClean="0">
                    <a:latin typeface="Times New Roman" panose="02020603050405020304" pitchFamily="18" charset="0"/>
                    <a:ea typeface="楷体" panose="02010609060101010101" pitchFamily="49" charset="-122"/>
                    <a:cs typeface="Times New Roman" panose="02020603050405020304" pitchFamily="18" charset="0"/>
                  </a:rPr>
                  <a:t> 1</a:t>
                </a:r>
              </a:p>
              <a:p>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最优步长</a:t>
                </a:r>
                <a:r>
                  <a:rPr lang="en-US" altLang="zh-CN" i="1" dirty="0" err="1" smtClean="0">
                    <a:latin typeface="Times New Roman" panose="02020603050405020304" pitchFamily="18" charset="0"/>
                    <a:ea typeface="楷体" panose="02010609060101010101" pitchFamily="49" charset="-122"/>
                    <a:cs typeface="Times New Roman" panose="02020603050405020304" pitchFamily="18" charset="0"/>
                  </a:rPr>
                  <a:t>t</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baseline="-25000" dirty="0" smtClean="0">
                    <a:latin typeface="Times New Roman" panose="02020603050405020304" pitchFamily="18" charset="0"/>
                    <a:ea typeface="楷体" panose="02010609060101010101" pitchFamily="49" charset="-122"/>
                    <a:cs typeface="Times New Roman" panose="02020603050405020304" pitchFamily="18" charset="0"/>
                  </a:rPr>
                  <a:t> + 1</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满足</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pPr marL="0" indent="0" algn="ctr">
                  <a:buNone/>
                </a:pP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v</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baseline="-25000" dirty="0" smtClean="0">
                    <a:latin typeface="Times New Roman" panose="02020603050405020304" pitchFamily="18" charset="0"/>
                    <a:ea typeface="楷体" panose="02010609060101010101" pitchFamily="49" charset="-122"/>
                    <a:cs typeface="Times New Roman" panose="02020603050405020304" pitchFamily="18" charset="0"/>
                  </a:rPr>
                  <a:t> + 1</a:t>
                </a:r>
                <a:r>
                  <a:rPr lang="en-US" altLang="zh-CN" baseline="30000" dirty="0" smtClean="0">
                    <a:latin typeface="Times New Roman" panose="02020603050405020304" pitchFamily="18" charset="0"/>
                    <a:ea typeface="楷体" panose="02010609060101010101" pitchFamily="49" charset="-122"/>
                    <a:cs typeface="Times New Roman" panose="02020603050405020304" pitchFamily="18" charset="0"/>
                  </a:rPr>
                  <a:t>T</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A</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x</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 </a:t>
                </a:r>
                <a:r>
                  <a:rPr lang="en-US" altLang="zh-CN" i="1" dirty="0" err="1" smtClean="0">
                    <a:latin typeface="Times New Roman" panose="02020603050405020304" pitchFamily="18" charset="0"/>
                    <a:ea typeface="楷体" panose="02010609060101010101" pitchFamily="49" charset="-122"/>
                    <a:cs typeface="Times New Roman" panose="02020603050405020304" pitchFamily="18" charset="0"/>
                  </a:rPr>
                  <a:t>t</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baseline="-25000" dirty="0" smtClean="0">
                    <a:latin typeface="Times New Roman" panose="02020603050405020304" pitchFamily="18" charset="0"/>
                    <a:ea typeface="楷体" panose="02010609060101010101" pitchFamily="49" charset="-122"/>
                    <a:cs typeface="Times New Roman" panose="02020603050405020304" pitchFamily="18" charset="0"/>
                  </a:rPr>
                  <a:t> + 1</a:t>
                </a: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v</a:t>
                </a:r>
                <a:r>
                  <a:rPr lang="en-US" altLang="zh-CN" i="1" baseline="-25000" dirty="0"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baseline="-25000" dirty="0" smtClean="0">
                    <a:latin typeface="Times New Roman" panose="02020603050405020304" pitchFamily="18" charset="0"/>
                    <a:ea typeface="楷体" panose="02010609060101010101" pitchFamily="49" charset="-122"/>
                    <a:cs typeface="Times New Roman" panose="02020603050405020304" pitchFamily="18" charset="0"/>
                  </a:rPr>
                  <a:t> + 1</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 </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b</a:t>
                </a:r>
                <a:r>
                  <a:rPr lang="en-US" altLang="zh-CN" dirty="0">
                    <a:latin typeface="Times New Roman" panose="02020603050405020304" pitchFamily="18" charset="0"/>
                    <a:ea typeface="楷体" panose="02010609060101010101" pitchFamily="49" charset="-122"/>
                    <a:cs typeface="Times New Roman" panose="02020603050405020304" pitchFamily="18" charset="0"/>
                  </a:rPr>
                  <a:t>) = 0</a:t>
                </a:r>
              </a:p>
              <a:p>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即：</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pPr marL="0" indent="0" algn="ctr">
                  <a:buNone/>
                </a:pP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v</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baseline="-25000" dirty="0" smtClean="0">
                    <a:latin typeface="Times New Roman" panose="02020603050405020304" pitchFamily="18" charset="0"/>
                    <a:ea typeface="楷体" panose="02010609060101010101" pitchFamily="49" charset="-122"/>
                    <a:cs typeface="Times New Roman" panose="02020603050405020304" pitchFamily="18" charset="0"/>
                  </a:rPr>
                  <a:t> + 1</a:t>
                </a:r>
                <a:r>
                  <a:rPr lang="en-US" altLang="zh-CN" baseline="30000" dirty="0" smtClean="0">
                    <a:latin typeface="Times New Roman" panose="02020603050405020304" pitchFamily="18" charset="0"/>
                    <a:ea typeface="楷体" panose="02010609060101010101" pitchFamily="49" charset="-122"/>
                    <a:cs typeface="Times New Roman" panose="02020603050405020304" pitchFamily="18" charset="0"/>
                  </a:rPr>
                  <a:t>T</a:t>
                </a: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r</a:t>
                </a:r>
                <a:r>
                  <a:rPr lang="en-US" altLang="zh-CN" i="1" baseline="-25000" dirty="0"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 </a:t>
                </a:r>
                <a:r>
                  <a:rPr lang="en-US" altLang="zh-CN" i="1" dirty="0" err="1" smtClean="0">
                    <a:latin typeface="Times New Roman" panose="02020603050405020304" pitchFamily="18" charset="0"/>
                    <a:ea typeface="楷体" panose="02010609060101010101" pitchFamily="49" charset="-122"/>
                    <a:cs typeface="Times New Roman" panose="02020603050405020304" pitchFamily="18" charset="0"/>
                  </a:rPr>
                  <a:t>t</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baseline="-25000" dirty="0">
                    <a:latin typeface="Times New Roman" panose="02020603050405020304" pitchFamily="18" charset="0"/>
                    <a:ea typeface="楷体" panose="02010609060101010101" pitchFamily="49" charset="-122"/>
                    <a:cs typeface="Times New Roman" panose="02020603050405020304" pitchFamily="18" charset="0"/>
                  </a:rPr>
                  <a:t> + 1</a:t>
                </a: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v</a:t>
                </a:r>
                <a:r>
                  <a:rPr lang="en-US" altLang="zh-CN" i="1" baseline="-25000" dirty="0"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baseline="-25000" dirty="0" smtClean="0">
                    <a:latin typeface="Times New Roman" panose="02020603050405020304" pitchFamily="18" charset="0"/>
                    <a:ea typeface="楷体" panose="02010609060101010101" pitchFamily="49" charset="-122"/>
                    <a:cs typeface="Times New Roman" panose="02020603050405020304" pitchFamily="18" charset="0"/>
                  </a:rPr>
                  <a:t> </a:t>
                </a:r>
                <a:r>
                  <a:rPr lang="en-US" altLang="zh-CN" baseline="-25000"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aseline="-25000" dirty="0" smtClean="0">
                    <a:latin typeface="Times New Roman" panose="02020603050405020304" pitchFamily="18" charset="0"/>
                    <a:ea typeface="楷体" panose="02010609060101010101" pitchFamily="49" charset="-122"/>
                    <a:cs typeface="Times New Roman" panose="02020603050405020304" pitchFamily="18" charset="0"/>
                  </a:rPr>
                  <a:t>1</a:t>
                </a:r>
                <a:r>
                  <a:rPr lang="en-US" altLang="zh-CN" i="1" baseline="30000" dirty="0" smtClean="0">
                    <a:latin typeface="Times New Roman" panose="02020603050405020304" pitchFamily="18" charset="0"/>
                    <a:ea typeface="楷体" panose="02010609060101010101" pitchFamily="49" charset="-122"/>
                    <a:cs typeface="Times New Roman" panose="02020603050405020304" pitchFamily="18" charset="0"/>
                  </a:rPr>
                  <a:t>T</a:t>
                </a: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Av</a:t>
                </a:r>
                <a:r>
                  <a:rPr lang="en-US" altLang="zh-CN" i="1" baseline="-25000" dirty="0"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baseline="-25000" dirty="0">
                    <a:latin typeface="Times New Roman" panose="02020603050405020304" pitchFamily="18" charset="0"/>
                    <a:ea typeface="楷体" panose="02010609060101010101" pitchFamily="49" charset="-122"/>
                    <a:cs typeface="Times New Roman" panose="02020603050405020304" pitchFamily="18" charset="0"/>
                  </a:rPr>
                  <a:t> + 1</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 0</a:t>
                </a:r>
              </a:p>
              <a:p>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解出</a:t>
                </a:r>
                <a:r>
                  <a:rPr lang="zh-CN" altLang="en-US" dirty="0">
                    <a:latin typeface="Times New Roman" panose="02020603050405020304" pitchFamily="18" charset="0"/>
                    <a:ea typeface="楷体" panose="02010609060101010101" pitchFamily="49" charset="-122"/>
                    <a:cs typeface="Times New Roman" panose="02020603050405020304" pitchFamily="18" charset="0"/>
                  </a:rPr>
                  <a:t>：</a:t>
                </a:r>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ea typeface="楷体" panose="02010609060101010101" pitchFamily="49" charset="-122"/>
                              <a:cs typeface="Times New Roman" panose="02020603050405020304" pitchFamily="18" charset="0"/>
                            </a:rPr>
                          </m:ctrlPr>
                        </m:sSubPr>
                        <m:e>
                          <m:r>
                            <a:rPr lang="en-US" altLang="zh-CN" b="0" i="1" smtClean="0">
                              <a:latin typeface="Cambria Math" panose="02040503050406030204" pitchFamily="18" charset="0"/>
                              <a:ea typeface="楷体" panose="02010609060101010101" pitchFamily="49" charset="-122"/>
                              <a:cs typeface="Times New Roman" panose="02020603050405020304" pitchFamily="18" charset="0"/>
                            </a:rPr>
                            <m:t>𝑡</m:t>
                          </m:r>
                        </m:e>
                        <m:sub>
                          <m:r>
                            <a:rPr lang="en-US" altLang="zh-CN" b="0" i="1" smtClean="0">
                              <a:latin typeface="Cambria Math" panose="02040503050406030204" pitchFamily="18" charset="0"/>
                              <a:ea typeface="楷体" panose="02010609060101010101" pitchFamily="49" charset="-122"/>
                              <a:cs typeface="Times New Roman" panose="02020603050405020304" pitchFamily="18" charset="0"/>
                            </a:rPr>
                            <m:t>𝑘</m:t>
                          </m:r>
                          <m:r>
                            <a:rPr lang="en-US" altLang="zh-CN" b="0" i="1" smtClean="0">
                              <a:latin typeface="Cambria Math" panose="02040503050406030204" pitchFamily="18" charset="0"/>
                              <a:ea typeface="楷体" panose="02010609060101010101" pitchFamily="49" charset="-122"/>
                              <a:cs typeface="Times New Roman" panose="02020603050405020304" pitchFamily="18" charset="0"/>
                            </a:rPr>
                            <m:t>+1</m:t>
                          </m:r>
                        </m:sub>
                      </m:sSub>
                      <m:r>
                        <a:rPr lang="en-US" altLang="zh-CN" b="0" i="1" smtClean="0">
                          <a:latin typeface="Cambria Math" panose="02040503050406030204" pitchFamily="18" charset="0"/>
                          <a:ea typeface="楷体" panose="02010609060101010101" pitchFamily="49" charset="-122"/>
                          <a:cs typeface="Times New Roman" panose="02020603050405020304" pitchFamily="18" charset="0"/>
                        </a:rPr>
                        <m:t>=</m:t>
                      </m:r>
                      <m:f>
                        <m:fPr>
                          <m:ctrlPr>
                            <a:rPr lang="en-US" altLang="zh-CN" b="0" i="1" smtClean="0">
                              <a:latin typeface="Cambria Math" panose="02040503050406030204" pitchFamily="18" charset="0"/>
                              <a:ea typeface="楷体" panose="02010609060101010101" pitchFamily="49" charset="-122"/>
                              <a:cs typeface="Times New Roman" panose="02020603050405020304" pitchFamily="18" charset="0"/>
                            </a:rPr>
                          </m:ctrlPr>
                        </m:fPr>
                        <m:num>
                          <m:sSubSup>
                            <m:sSubSupPr>
                              <m:ctrlPr>
                                <a:rPr lang="en-US" altLang="zh-CN" b="0" i="1" smtClean="0">
                                  <a:latin typeface="Cambria Math" panose="02040503050406030204" pitchFamily="18" charset="0"/>
                                  <a:ea typeface="楷体" panose="02010609060101010101" pitchFamily="49" charset="-122"/>
                                  <a:cs typeface="Times New Roman" panose="02020603050405020304" pitchFamily="18" charset="0"/>
                                </a:rPr>
                              </m:ctrlPr>
                            </m:sSubSupPr>
                            <m:e>
                              <m:r>
                                <a:rPr lang="en-US" altLang="zh-CN" b="1" i="0" smtClean="0">
                                  <a:latin typeface="Cambria Math" panose="02040503050406030204" pitchFamily="18" charset="0"/>
                                  <a:ea typeface="楷体" panose="02010609060101010101" pitchFamily="49" charset="-122"/>
                                  <a:cs typeface="Times New Roman" panose="02020603050405020304" pitchFamily="18" charset="0"/>
                                </a:rPr>
                                <m:t>𝐯</m:t>
                              </m:r>
                            </m:e>
                            <m:sub>
                              <m:r>
                                <a:rPr lang="en-US" altLang="zh-CN" b="0" i="1" smtClean="0">
                                  <a:latin typeface="Cambria Math" panose="02040503050406030204" pitchFamily="18" charset="0"/>
                                  <a:ea typeface="楷体" panose="02010609060101010101" pitchFamily="49" charset="-122"/>
                                  <a:cs typeface="Times New Roman" panose="02020603050405020304" pitchFamily="18" charset="0"/>
                                </a:rPr>
                                <m:t>𝑘</m:t>
                              </m:r>
                              <m:r>
                                <a:rPr lang="en-US" altLang="zh-CN" b="0" i="1" smtClean="0">
                                  <a:latin typeface="Cambria Math" panose="02040503050406030204" pitchFamily="18" charset="0"/>
                                  <a:ea typeface="楷体" panose="02010609060101010101" pitchFamily="49" charset="-122"/>
                                  <a:cs typeface="Times New Roman" panose="02020603050405020304" pitchFamily="18" charset="0"/>
                                </a:rPr>
                                <m:t>+1</m:t>
                              </m:r>
                            </m:sub>
                            <m:sup>
                              <m:r>
                                <a:rPr lang="en-US" altLang="zh-CN" b="0" i="1" smtClean="0">
                                  <a:latin typeface="Cambria Math" panose="02040503050406030204" pitchFamily="18" charset="0"/>
                                  <a:ea typeface="楷体" panose="02010609060101010101" pitchFamily="49" charset="-122"/>
                                  <a:cs typeface="Times New Roman" panose="02020603050405020304" pitchFamily="18" charset="0"/>
                                </a:rPr>
                                <m:t>𝑇</m:t>
                              </m:r>
                            </m:sup>
                          </m:sSubSup>
                          <m:sSub>
                            <m:sSubPr>
                              <m:ctrlPr>
                                <a:rPr lang="en-US" altLang="zh-CN" b="0" i="1" smtClean="0">
                                  <a:latin typeface="Cambria Math" panose="02040503050406030204" pitchFamily="18" charset="0"/>
                                  <a:ea typeface="楷体" panose="02010609060101010101" pitchFamily="49" charset="-122"/>
                                  <a:cs typeface="Times New Roman" panose="02020603050405020304" pitchFamily="18" charset="0"/>
                                </a:rPr>
                              </m:ctrlPr>
                            </m:sSubPr>
                            <m:e>
                              <m:r>
                                <a:rPr lang="en-US" altLang="zh-CN" b="1" i="0" smtClean="0">
                                  <a:latin typeface="Cambria Math" panose="02040503050406030204" pitchFamily="18" charset="0"/>
                                  <a:ea typeface="楷体" panose="02010609060101010101" pitchFamily="49" charset="-122"/>
                                  <a:cs typeface="Times New Roman" panose="02020603050405020304" pitchFamily="18" charset="0"/>
                                </a:rPr>
                                <m:t>𝐫</m:t>
                              </m:r>
                            </m:e>
                            <m:sub>
                              <m:r>
                                <a:rPr lang="en-US" altLang="zh-CN" b="0" i="1" smtClean="0">
                                  <a:latin typeface="Cambria Math" panose="02040503050406030204" pitchFamily="18" charset="0"/>
                                  <a:ea typeface="楷体" panose="02010609060101010101" pitchFamily="49" charset="-122"/>
                                  <a:cs typeface="Times New Roman" panose="02020603050405020304" pitchFamily="18" charset="0"/>
                                </a:rPr>
                                <m:t>𝑘</m:t>
                              </m:r>
                            </m:sub>
                          </m:sSub>
                        </m:num>
                        <m:den>
                          <m:sSubSup>
                            <m:sSubSupPr>
                              <m:ctrlPr>
                                <a:rPr lang="en-US" altLang="zh-CN" b="0" i="1" smtClean="0">
                                  <a:latin typeface="Cambria Math" panose="02040503050406030204" pitchFamily="18" charset="0"/>
                                  <a:ea typeface="楷体" panose="02010609060101010101" pitchFamily="49" charset="-122"/>
                                  <a:cs typeface="Times New Roman" panose="02020603050405020304" pitchFamily="18" charset="0"/>
                                </a:rPr>
                              </m:ctrlPr>
                            </m:sSubSupPr>
                            <m:e>
                              <m:r>
                                <a:rPr lang="en-US" altLang="zh-CN" b="1" i="0" smtClean="0">
                                  <a:latin typeface="Cambria Math" panose="02040503050406030204" pitchFamily="18" charset="0"/>
                                  <a:ea typeface="楷体" panose="02010609060101010101" pitchFamily="49" charset="-122"/>
                                  <a:cs typeface="Times New Roman" panose="02020603050405020304" pitchFamily="18" charset="0"/>
                                </a:rPr>
                                <m:t>𝐯</m:t>
                              </m:r>
                            </m:e>
                            <m:sub>
                              <m:r>
                                <a:rPr lang="en-US" altLang="zh-CN" b="0" i="1" smtClean="0">
                                  <a:latin typeface="Cambria Math" panose="02040503050406030204" pitchFamily="18" charset="0"/>
                                  <a:ea typeface="楷体" panose="02010609060101010101" pitchFamily="49" charset="-122"/>
                                  <a:cs typeface="Times New Roman" panose="02020603050405020304" pitchFamily="18" charset="0"/>
                                </a:rPr>
                                <m:t>𝑘</m:t>
                              </m:r>
                              <m:r>
                                <a:rPr lang="en-US" altLang="zh-CN" b="0" i="1" smtClean="0">
                                  <a:latin typeface="Cambria Math" panose="02040503050406030204" pitchFamily="18" charset="0"/>
                                  <a:ea typeface="楷体" panose="02010609060101010101" pitchFamily="49" charset="-122"/>
                                  <a:cs typeface="Times New Roman" panose="02020603050405020304" pitchFamily="18" charset="0"/>
                                </a:rPr>
                                <m:t>+1</m:t>
                              </m:r>
                            </m:sub>
                            <m:sup>
                              <m:r>
                                <a:rPr lang="en-US" altLang="zh-CN" b="0" i="1" smtClean="0">
                                  <a:latin typeface="Cambria Math" panose="02040503050406030204" pitchFamily="18" charset="0"/>
                                  <a:ea typeface="楷体" panose="02010609060101010101" pitchFamily="49" charset="-122"/>
                                  <a:cs typeface="Times New Roman" panose="02020603050405020304" pitchFamily="18" charset="0"/>
                                </a:rPr>
                                <m:t>𝑇</m:t>
                              </m:r>
                            </m:sup>
                          </m:sSubSup>
                          <m:r>
                            <a:rPr lang="en-US" altLang="zh-CN" b="1" i="0" smtClean="0">
                              <a:latin typeface="Cambria Math" panose="02040503050406030204" pitchFamily="18" charset="0"/>
                              <a:ea typeface="楷体" panose="02010609060101010101" pitchFamily="49" charset="-122"/>
                              <a:cs typeface="Times New Roman" panose="02020603050405020304" pitchFamily="18" charset="0"/>
                            </a:rPr>
                            <m:t>𝐀</m:t>
                          </m:r>
                          <m:sSub>
                            <m:sSubPr>
                              <m:ctrlPr>
                                <a:rPr lang="en-US" altLang="zh-CN" b="0" i="1" smtClean="0">
                                  <a:latin typeface="Cambria Math" panose="02040503050406030204" pitchFamily="18" charset="0"/>
                                  <a:ea typeface="楷体" panose="02010609060101010101" pitchFamily="49" charset="-122"/>
                                  <a:cs typeface="Times New Roman" panose="02020603050405020304" pitchFamily="18" charset="0"/>
                                </a:rPr>
                              </m:ctrlPr>
                            </m:sSubPr>
                            <m:e>
                              <m:r>
                                <a:rPr lang="en-US" altLang="zh-CN" b="1" i="0" smtClean="0">
                                  <a:latin typeface="Cambria Math" panose="02040503050406030204" pitchFamily="18" charset="0"/>
                                  <a:ea typeface="楷体" panose="02010609060101010101" pitchFamily="49" charset="-122"/>
                                  <a:cs typeface="Times New Roman" panose="02020603050405020304" pitchFamily="18" charset="0"/>
                                </a:rPr>
                                <m:t>𝐯</m:t>
                              </m:r>
                            </m:e>
                            <m:sub>
                              <m:r>
                                <a:rPr lang="en-US" altLang="zh-CN" b="0" i="1" smtClean="0">
                                  <a:latin typeface="Cambria Math" panose="02040503050406030204" pitchFamily="18" charset="0"/>
                                  <a:ea typeface="楷体" panose="02010609060101010101" pitchFamily="49" charset="-122"/>
                                  <a:cs typeface="Times New Roman" panose="02020603050405020304" pitchFamily="18" charset="0"/>
                                </a:rPr>
                                <m:t>𝑘</m:t>
                              </m:r>
                              <m:r>
                                <a:rPr lang="en-US" altLang="zh-CN" b="0" i="1" smtClean="0">
                                  <a:latin typeface="Cambria Math" panose="02040503050406030204" pitchFamily="18" charset="0"/>
                                  <a:ea typeface="楷体" panose="02010609060101010101" pitchFamily="49" charset="-122"/>
                                  <a:cs typeface="Times New Roman" panose="02020603050405020304" pitchFamily="18" charset="0"/>
                                </a:rPr>
                                <m:t>+1</m:t>
                              </m:r>
                            </m:sub>
                          </m:sSub>
                        </m:den>
                      </m:f>
                    </m:oMath>
                  </m:oMathPara>
                </a14:m>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628650" y="1825625"/>
                <a:ext cx="7886700" cy="4351338"/>
              </a:xfrm>
              <a:blipFill>
                <a:blip r:embed="rId3"/>
                <a:stretch>
                  <a:fillRect l="-1391" t="-3782"/>
                </a:stretch>
              </a:blipFill>
            </p:spPr>
            <p:txBody>
              <a:bodyPr/>
              <a:lstStyle/>
              <a:p>
                <a:r>
                  <a:rPr lang="zh-CN" altLang="en-US">
                    <a:noFill/>
                  </a:rPr>
                  <a:t> </a:t>
                </a:r>
              </a:p>
            </p:txBody>
          </p:sp>
        </mc:Fallback>
      </mc:AlternateContent>
    </p:spTree>
    <p:custDataLst>
      <p:tags r:id="rId1"/>
    </p:custDataLst>
    <p:extLst>
      <p:ext uri="{BB962C8B-B14F-4D97-AF65-F5344CB8AC3E}">
        <p14:creationId xmlns:p14="http://schemas.microsoft.com/office/powerpoint/2010/main" val="1442656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宋体" panose="02010600030101010101" pitchFamily="2" charset="-122"/>
                <a:ea typeface="宋体" panose="02010600030101010101" pitchFamily="2" charset="-122"/>
              </a:rPr>
              <a:t>完整迭代过程</a:t>
            </a:r>
            <a:endParaRPr lang="zh-CN" altLang="en-US" dirty="0">
              <a:latin typeface="宋体" panose="02010600030101010101" pitchFamily="2" charset="-122"/>
              <a:ea typeface="宋体" panose="02010600030101010101" pitchFamily="2" charset="-122"/>
            </a:endParaRP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给定正定对称矩阵</a:t>
                </a: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A</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i="1" dirty="0" smtClean="0">
                    <a:latin typeface="Times New Roman" panose="02020603050405020304" pitchFamily="18" charset="0"/>
                    <a:ea typeface="楷体" panose="02010609060101010101" pitchFamily="49" charset="-122"/>
                    <a:cs typeface="Times New Roman" panose="02020603050405020304" pitchFamily="18" charset="0"/>
                  </a:rPr>
                  <a:t>n</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维列向量</a:t>
                </a: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b</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x</a:t>
                </a:r>
                <a:r>
                  <a:rPr lang="en-US" altLang="zh-CN" i="1" baseline="30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和</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v</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baseline="-25000" dirty="0" smtClean="0">
                    <a:latin typeface="Times New Roman" panose="02020603050405020304" pitchFamily="18" charset="0"/>
                    <a:ea typeface="楷体" panose="02010609060101010101" pitchFamily="49" charset="-122"/>
                    <a:cs typeface="Times New Roman" panose="02020603050405020304" pitchFamily="18" charset="0"/>
                  </a:rPr>
                  <a:t> </a:t>
                </a:r>
              </a:p>
              <a:p>
                <a:pPr marL="0" indent="0" algn="ctr">
                  <a:buNone/>
                </a:pP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r</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 </a:t>
                </a: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b</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 </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Ax</a:t>
                </a:r>
                <a:r>
                  <a:rPr lang="en-US" altLang="zh-CN" i="1" baseline="30000" dirty="0" err="1" smtClean="0">
                    <a:latin typeface="Times New Roman" panose="02020603050405020304" pitchFamily="18" charset="0"/>
                    <a:ea typeface="楷体" panose="02010609060101010101" pitchFamily="49" charset="-122"/>
                    <a:cs typeface="Times New Roman" panose="02020603050405020304" pitchFamily="18" charset="0"/>
                  </a:rPr>
                  <a:t>k</a:t>
                </a:r>
                <a:endParaRPr lang="en-US" altLang="zh-CN" i="1" baseline="30000" dirty="0" smtClean="0">
                  <a:latin typeface="Times New Roman" panose="02020603050405020304" pitchFamily="18" charset="0"/>
                  <a:ea typeface="楷体" panose="02010609060101010101" pitchFamily="49" charset="-122"/>
                  <a:cs typeface="Times New Roman" panose="02020603050405020304" pitchFamily="18" charset="0"/>
                </a:endParaRPr>
              </a:p>
              <a:p>
                <a:pPr marL="0" indent="0" algn="ctr">
                  <a:buNone/>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𝑠</m:t>
                          </m:r>
                        </m:e>
                        <m:sub>
                          <m:r>
                            <a:rPr lang="en-US" altLang="zh-CN" b="0" i="1" smtClean="0">
                              <a:latin typeface="Cambria Math" panose="02040503050406030204" pitchFamily="18" charset="0"/>
                            </a:rPr>
                            <m:t>𝑘</m:t>
                          </m:r>
                        </m:sub>
                      </m:sSub>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sSubSup>
                            <m:sSubSupPr>
                              <m:ctrlPr>
                                <a:rPr lang="en-US" altLang="zh-CN" b="0" i="1" smtClean="0">
                                  <a:latin typeface="Cambria Math" panose="02040503050406030204" pitchFamily="18" charset="0"/>
                                </a:rPr>
                              </m:ctrlPr>
                            </m:sSubSupPr>
                            <m:e>
                              <m:r>
                                <a:rPr lang="en-US" altLang="zh-CN" b="1" i="0" smtClean="0">
                                  <a:latin typeface="Cambria Math" panose="02040503050406030204" pitchFamily="18" charset="0"/>
                                </a:rPr>
                                <m:t>𝐯</m:t>
                              </m:r>
                            </m:e>
                            <m:sub>
                              <m:r>
                                <a:rPr lang="en-US" altLang="zh-CN" b="0" i="1" smtClean="0">
                                  <a:latin typeface="Cambria Math" panose="02040503050406030204" pitchFamily="18" charset="0"/>
                                </a:rPr>
                                <m:t>𝑘</m:t>
                              </m:r>
                            </m:sub>
                            <m:sup>
                              <m:r>
                                <a:rPr lang="en-US" altLang="zh-CN" b="0" i="1" smtClean="0">
                                  <a:latin typeface="Cambria Math" panose="02040503050406030204" pitchFamily="18" charset="0"/>
                                </a:rPr>
                                <m:t>𝑇</m:t>
                              </m:r>
                            </m:sup>
                          </m:sSubSup>
                          <m:r>
                            <a:rPr lang="en-US" altLang="zh-CN" b="1" i="0" smtClean="0">
                              <a:latin typeface="Cambria Math" panose="02040503050406030204" pitchFamily="18" charset="0"/>
                            </a:rPr>
                            <m:t>𝐀</m:t>
                          </m:r>
                          <m:sSub>
                            <m:sSubPr>
                              <m:ctrlPr>
                                <a:rPr lang="en-US" altLang="zh-CN" b="0" i="1" smtClean="0">
                                  <a:latin typeface="Cambria Math" panose="02040503050406030204" pitchFamily="18" charset="0"/>
                                </a:rPr>
                              </m:ctrlPr>
                            </m:sSubPr>
                            <m:e>
                              <m:r>
                                <a:rPr lang="en-US" altLang="zh-CN" b="1" i="0" smtClean="0">
                                  <a:latin typeface="Cambria Math" panose="02040503050406030204" pitchFamily="18" charset="0"/>
                                </a:rPr>
                                <m:t>𝐫</m:t>
                              </m:r>
                            </m:e>
                            <m:sub>
                              <m:r>
                                <a:rPr lang="en-US" altLang="zh-CN" b="0" i="1" smtClean="0">
                                  <a:latin typeface="Cambria Math" panose="02040503050406030204" pitchFamily="18" charset="0"/>
                                </a:rPr>
                                <m:t>𝑘</m:t>
                              </m:r>
                            </m:sub>
                          </m:sSub>
                        </m:num>
                        <m:den>
                          <m:sSubSup>
                            <m:sSubSupPr>
                              <m:ctrlPr>
                                <a:rPr lang="en-US" altLang="zh-CN" b="0" i="1" smtClean="0">
                                  <a:latin typeface="Cambria Math" panose="02040503050406030204" pitchFamily="18" charset="0"/>
                                </a:rPr>
                              </m:ctrlPr>
                            </m:sSubSupPr>
                            <m:e>
                              <m:r>
                                <a:rPr lang="en-US" altLang="zh-CN" b="1" i="0" smtClean="0">
                                  <a:latin typeface="Cambria Math" panose="02040503050406030204" pitchFamily="18" charset="0"/>
                                </a:rPr>
                                <m:t>𝐯</m:t>
                              </m:r>
                            </m:e>
                            <m:sub>
                              <m:r>
                                <a:rPr lang="en-US" altLang="zh-CN" b="0" i="1" smtClean="0">
                                  <a:latin typeface="Cambria Math" panose="02040503050406030204" pitchFamily="18" charset="0"/>
                                </a:rPr>
                                <m:t>𝑘</m:t>
                              </m:r>
                            </m:sub>
                            <m:sup>
                              <m:r>
                                <a:rPr lang="en-US" altLang="zh-CN" b="0" i="1" smtClean="0">
                                  <a:latin typeface="Cambria Math" panose="02040503050406030204" pitchFamily="18" charset="0"/>
                                </a:rPr>
                                <m:t>𝑇</m:t>
                              </m:r>
                            </m:sup>
                          </m:sSubSup>
                          <m:r>
                            <a:rPr lang="en-US" altLang="zh-CN" b="1" i="0" smtClean="0">
                              <a:latin typeface="Cambria Math" panose="02040503050406030204" pitchFamily="18" charset="0"/>
                            </a:rPr>
                            <m:t>𝐀</m:t>
                          </m:r>
                          <m:sSub>
                            <m:sSubPr>
                              <m:ctrlPr>
                                <a:rPr lang="en-US" altLang="zh-CN" b="0" i="1" smtClean="0">
                                  <a:latin typeface="Cambria Math" panose="02040503050406030204" pitchFamily="18" charset="0"/>
                                </a:rPr>
                              </m:ctrlPr>
                            </m:sSubPr>
                            <m:e>
                              <m:r>
                                <a:rPr lang="en-US" altLang="zh-CN" b="1" i="0" smtClean="0">
                                  <a:latin typeface="Cambria Math" panose="02040503050406030204" pitchFamily="18" charset="0"/>
                                </a:rPr>
                                <m:t>𝐯</m:t>
                              </m:r>
                            </m:e>
                            <m:sub>
                              <m:r>
                                <a:rPr lang="en-US" altLang="zh-CN" b="0" i="1" smtClean="0">
                                  <a:latin typeface="Cambria Math" panose="02040503050406030204" pitchFamily="18" charset="0"/>
                                </a:rPr>
                                <m:t>𝑘</m:t>
                              </m:r>
                            </m:sub>
                          </m:sSub>
                        </m:den>
                      </m:f>
                    </m:oMath>
                  </m:oMathPara>
                </a14:m>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pPr marL="0" indent="0" algn="ctr">
                  <a:buNone/>
                </a:pP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v</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baseline="-25000" dirty="0" smtClean="0">
                    <a:latin typeface="Times New Roman" panose="02020603050405020304" pitchFamily="18" charset="0"/>
                    <a:ea typeface="楷体" panose="02010609060101010101" pitchFamily="49" charset="-122"/>
                    <a:cs typeface="Times New Roman" panose="02020603050405020304" pitchFamily="18" charset="0"/>
                  </a:rPr>
                  <a:t> + 1</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 </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r</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 </a:t>
                </a:r>
                <a:r>
                  <a:rPr lang="en-US" altLang="zh-CN" i="1" dirty="0" err="1" smtClean="0">
                    <a:latin typeface="Times New Roman" panose="02020603050405020304" pitchFamily="18" charset="0"/>
                    <a:ea typeface="楷体" panose="02010609060101010101" pitchFamily="49" charset="-122"/>
                    <a:cs typeface="Times New Roman" panose="02020603050405020304" pitchFamily="18" charset="0"/>
                  </a:rPr>
                  <a:t>s</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baseline="-25000" dirty="0" smtClean="0">
                    <a:latin typeface="Times New Roman" panose="02020603050405020304" pitchFamily="18" charset="0"/>
                    <a:ea typeface="楷体" panose="02010609060101010101" pitchFamily="49" charset="-122"/>
                    <a:cs typeface="Times New Roman" panose="02020603050405020304" pitchFamily="18" charset="0"/>
                  </a:rPr>
                  <a:t> </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v</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endParaRPr lang="en-US" altLang="zh-CN" baseline="-25000" dirty="0" smtClean="0">
                  <a:latin typeface="Times New Roman" panose="02020603050405020304" pitchFamily="18" charset="0"/>
                  <a:ea typeface="楷体" panose="02010609060101010101" pitchFamily="49" charset="-122"/>
                  <a:cs typeface="Times New Roman" panose="02020603050405020304" pitchFamily="18" charset="0"/>
                </a:endParaRPr>
              </a:p>
              <a:p>
                <a:pPr marL="0" indent="0" algn="ctr">
                  <a:buNone/>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ea typeface="楷体" panose="02010609060101010101" pitchFamily="49" charset="-122"/>
                              <a:cs typeface="Times New Roman" panose="02020603050405020304" pitchFamily="18" charset="0"/>
                            </a:rPr>
                          </m:ctrlPr>
                        </m:sSubPr>
                        <m:e>
                          <m:r>
                            <a:rPr lang="en-US" altLang="zh-CN" i="1">
                              <a:latin typeface="Cambria Math" panose="02040503050406030204" pitchFamily="18" charset="0"/>
                              <a:ea typeface="楷体" panose="02010609060101010101" pitchFamily="49" charset="-122"/>
                              <a:cs typeface="Times New Roman" panose="02020603050405020304" pitchFamily="18" charset="0"/>
                            </a:rPr>
                            <m:t>𝑡</m:t>
                          </m:r>
                        </m:e>
                        <m:sub>
                          <m:r>
                            <a:rPr lang="en-US" altLang="zh-CN" i="1">
                              <a:latin typeface="Cambria Math" panose="02040503050406030204" pitchFamily="18" charset="0"/>
                              <a:ea typeface="楷体" panose="02010609060101010101" pitchFamily="49" charset="-122"/>
                              <a:cs typeface="Times New Roman" panose="02020603050405020304" pitchFamily="18" charset="0"/>
                            </a:rPr>
                            <m:t>𝑘</m:t>
                          </m:r>
                          <m:r>
                            <a:rPr lang="en-US" altLang="zh-CN" b="0" i="1" smtClean="0">
                              <a:latin typeface="Cambria Math" panose="02040503050406030204" pitchFamily="18" charset="0"/>
                              <a:ea typeface="楷体" panose="02010609060101010101" pitchFamily="49" charset="-122"/>
                              <a:cs typeface="Times New Roman" panose="02020603050405020304" pitchFamily="18" charset="0"/>
                            </a:rPr>
                            <m:t>+1</m:t>
                          </m:r>
                        </m:sub>
                      </m:sSub>
                      <m:r>
                        <a:rPr lang="en-US" altLang="zh-CN" i="1">
                          <a:latin typeface="Cambria Math" panose="02040503050406030204" pitchFamily="18" charset="0"/>
                          <a:ea typeface="楷体" panose="02010609060101010101" pitchFamily="49" charset="-122"/>
                          <a:cs typeface="Times New Roman" panose="02020603050405020304" pitchFamily="18" charset="0"/>
                        </a:rPr>
                        <m:t>=</m:t>
                      </m:r>
                      <m:f>
                        <m:fPr>
                          <m:ctrlPr>
                            <a:rPr lang="en-US" altLang="zh-CN" i="1">
                              <a:latin typeface="Cambria Math" panose="02040503050406030204" pitchFamily="18" charset="0"/>
                              <a:ea typeface="楷体" panose="02010609060101010101" pitchFamily="49" charset="-122"/>
                              <a:cs typeface="Times New Roman" panose="02020603050405020304" pitchFamily="18" charset="0"/>
                            </a:rPr>
                          </m:ctrlPr>
                        </m:fPr>
                        <m:num>
                          <m:sSubSup>
                            <m:sSubSupPr>
                              <m:ctrlPr>
                                <a:rPr lang="en-US" altLang="zh-CN" i="1">
                                  <a:latin typeface="Cambria Math" panose="02040503050406030204" pitchFamily="18" charset="0"/>
                                  <a:ea typeface="楷体" panose="02010609060101010101" pitchFamily="49" charset="-122"/>
                                  <a:cs typeface="Times New Roman" panose="02020603050405020304" pitchFamily="18" charset="0"/>
                                </a:rPr>
                              </m:ctrlPr>
                            </m:sSubSupPr>
                            <m:e>
                              <m:r>
                                <a:rPr lang="en-US" altLang="zh-CN" b="1">
                                  <a:latin typeface="Cambria Math" panose="02040503050406030204" pitchFamily="18" charset="0"/>
                                  <a:ea typeface="楷体" panose="02010609060101010101" pitchFamily="49" charset="-122"/>
                                  <a:cs typeface="Times New Roman" panose="02020603050405020304" pitchFamily="18" charset="0"/>
                                </a:rPr>
                                <m:t>𝐯</m:t>
                              </m:r>
                            </m:e>
                            <m:sub>
                              <m:r>
                                <a:rPr lang="en-US" altLang="zh-CN" i="1">
                                  <a:latin typeface="Cambria Math" panose="02040503050406030204" pitchFamily="18" charset="0"/>
                                  <a:ea typeface="楷体" panose="02010609060101010101" pitchFamily="49" charset="-122"/>
                                  <a:cs typeface="Times New Roman" panose="02020603050405020304" pitchFamily="18" charset="0"/>
                                </a:rPr>
                                <m:t>𝑘</m:t>
                              </m:r>
                              <m:r>
                                <a:rPr lang="en-US" altLang="zh-CN" b="0" i="1" smtClean="0">
                                  <a:latin typeface="Cambria Math" panose="02040503050406030204" pitchFamily="18" charset="0"/>
                                  <a:ea typeface="楷体" panose="02010609060101010101" pitchFamily="49" charset="-122"/>
                                  <a:cs typeface="Times New Roman" panose="02020603050405020304" pitchFamily="18" charset="0"/>
                                </a:rPr>
                                <m:t>+1</m:t>
                              </m:r>
                            </m:sub>
                            <m:sup>
                              <m:r>
                                <a:rPr lang="en-US" altLang="zh-CN" i="1">
                                  <a:latin typeface="Cambria Math" panose="02040503050406030204" pitchFamily="18" charset="0"/>
                                  <a:ea typeface="楷体" panose="02010609060101010101" pitchFamily="49" charset="-122"/>
                                  <a:cs typeface="Times New Roman" panose="02020603050405020304" pitchFamily="18" charset="0"/>
                                </a:rPr>
                                <m:t>𝑇</m:t>
                              </m:r>
                            </m:sup>
                          </m:sSubSup>
                          <m:sSub>
                            <m:sSubPr>
                              <m:ctrlPr>
                                <a:rPr lang="en-US" altLang="zh-CN" i="1">
                                  <a:latin typeface="Cambria Math" panose="02040503050406030204" pitchFamily="18" charset="0"/>
                                  <a:ea typeface="楷体" panose="02010609060101010101" pitchFamily="49" charset="-122"/>
                                  <a:cs typeface="Times New Roman" panose="02020603050405020304" pitchFamily="18" charset="0"/>
                                </a:rPr>
                              </m:ctrlPr>
                            </m:sSubPr>
                            <m:e>
                              <m:r>
                                <a:rPr lang="en-US" altLang="zh-CN" b="1">
                                  <a:latin typeface="Cambria Math" panose="02040503050406030204" pitchFamily="18" charset="0"/>
                                  <a:ea typeface="楷体" panose="02010609060101010101" pitchFamily="49" charset="-122"/>
                                  <a:cs typeface="Times New Roman" panose="02020603050405020304" pitchFamily="18" charset="0"/>
                                </a:rPr>
                                <m:t>𝐫</m:t>
                              </m:r>
                            </m:e>
                            <m:sub>
                              <m:r>
                                <a:rPr lang="en-US" altLang="zh-CN" i="1">
                                  <a:latin typeface="Cambria Math" panose="02040503050406030204" pitchFamily="18" charset="0"/>
                                  <a:ea typeface="楷体" panose="02010609060101010101" pitchFamily="49" charset="-122"/>
                                  <a:cs typeface="Times New Roman" panose="02020603050405020304" pitchFamily="18" charset="0"/>
                                </a:rPr>
                                <m:t>𝑘</m:t>
                              </m:r>
                            </m:sub>
                          </m:sSub>
                        </m:num>
                        <m:den>
                          <m:sSubSup>
                            <m:sSubSupPr>
                              <m:ctrlPr>
                                <a:rPr lang="en-US" altLang="zh-CN" i="1">
                                  <a:latin typeface="Cambria Math" panose="02040503050406030204" pitchFamily="18" charset="0"/>
                                  <a:ea typeface="楷体" panose="02010609060101010101" pitchFamily="49" charset="-122"/>
                                  <a:cs typeface="Times New Roman" panose="02020603050405020304" pitchFamily="18" charset="0"/>
                                </a:rPr>
                              </m:ctrlPr>
                            </m:sSubSupPr>
                            <m:e>
                              <m:r>
                                <a:rPr lang="en-US" altLang="zh-CN" b="1">
                                  <a:latin typeface="Cambria Math" panose="02040503050406030204" pitchFamily="18" charset="0"/>
                                  <a:ea typeface="楷体" panose="02010609060101010101" pitchFamily="49" charset="-122"/>
                                  <a:cs typeface="Times New Roman" panose="02020603050405020304" pitchFamily="18" charset="0"/>
                                </a:rPr>
                                <m:t>𝐯</m:t>
                              </m:r>
                            </m:e>
                            <m:sub>
                              <m:r>
                                <a:rPr lang="en-US" altLang="zh-CN" i="1">
                                  <a:latin typeface="Cambria Math" panose="02040503050406030204" pitchFamily="18" charset="0"/>
                                  <a:ea typeface="楷体" panose="02010609060101010101" pitchFamily="49" charset="-122"/>
                                  <a:cs typeface="Times New Roman" panose="02020603050405020304" pitchFamily="18" charset="0"/>
                                </a:rPr>
                                <m:t>𝑘</m:t>
                              </m:r>
                              <m:r>
                                <a:rPr lang="en-US" altLang="zh-CN" b="0" i="1" smtClean="0">
                                  <a:latin typeface="Cambria Math" panose="02040503050406030204" pitchFamily="18" charset="0"/>
                                  <a:ea typeface="楷体" panose="02010609060101010101" pitchFamily="49" charset="-122"/>
                                  <a:cs typeface="Times New Roman" panose="02020603050405020304" pitchFamily="18" charset="0"/>
                                </a:rPr>
                                <m:t>+1</m:t>
                              </m:r>
                            </m:sub>
                            <m:sup>
                              <m:r>
                                <a:rPr lang="en-US" altLang="zh-CN" i="1">
                                  <a:latin typeface="Cambria Math" panose="02040503050406030204" pitchFamily="18" charset="0"/>
                                  <a:ea typeface="楷体" panose="02010609060101010101" pitchFamily="49" charset="-122"/>
                                  <a:cs typeface="Times New Roman" panose="02020603050405020304" pitchFamily="18" charset="0"/>
                                </a:rPr>
                                <m:t>𝑇</m:t>
                              </m:r>
                            </m:sup>
                          </m:sSubSup>
                          <m:r>
                            <a:rPr lang="en-US" altLang="zh-CN" b="1">
                              <a:latin typeface="Cambria Math" panose="02040503050406030204" pitchFamily="18" charset="0"/>
                              <a:ea typeface="楷体" panose="02010609060101010101" pitchFamily="49" charset="-122"/>
                              <a:cs typeface="Times New Roman" panose="02020603050405020304" pitchFamily="18" charset="0"/>
                            </a:rPr>
                            <m:t>𝐀</m:t>
                          </m:r>
                          <m:sSub>
                            <m:sSubPr>
                              <m:ctrlPr>
                                <a:rPr lang="en-US" altLang="zh-CN" i="1">
                                  <a:latin typeface="Cambria Math" panose="02040503050406030204" pitchFamily="18" charset="0"/>
                                  <a:ea typeface="楷体" panose="02010609060101010101" pitchFamily="49" charset="-122"/>
                                  <a:cs typeface="Times New Roman" panose="02020603050405020304" pitchFamily="18" charset="0"/>
                                </a:rPr>
                              </m:ctrlPr>
                            </m:sSubPr>
                            <m:e>
                              <m:r>
                                <a:rPr lang="en-US" altLang="zh-CN" b="1">
                                  <a:latin typeface="Cambria Math" panose="02040503050406030204" pitchFamily="18" charset="0"/>
                                  <a:ea typeface="楷体" panose="02010609060101010101" pitchFamily="49" charset="-122"/>
                                  <a:cs typeface="Times New Roman" panose="02020603050405020304" pitchFamily="18" charset="0"/>
                                </a:rPr>
                                <m:t>𝐯</m:t>
                              </m:r>
                            </m:e>
                            <m:sub>
                              <m:r>
                                <a:rPr lang="en-US" altLang="zh-CN" i="1">
                                  <a:latin typeface="Cambria Math" panose="02040503050406030204" pitchFamily="18" charset="0"/>
                                  <a:ea typeface="楷体" panose="02010609060101010101" pitchFamily="49" charset="-122"/>
                                  <a:cs typeface="Times New Roman" panose="02020603050405020304" pitchFamily="18" charset="0"/>
                                </a:rPr>
                                <m:t>𝑘</m:t>
                              </m:r>
                              <m:r>
                                <a:rPr lang="en-US" altLang="zh-CN" b="0" i="1" smtClean="0">
                                  <a:latin typeface="Cambria Math" panose="02040503050406030204" pitchFamily="18" charset="0"/>
                                  <a:ea typeface="楷体" panose="02010609060101010101" pitchFamily="49" charset="-122"/>
                                  <a:cs typeface="Times New Roman" panose="02020603050405020304" pitchFamily="18" charset="0"/>
                                </a:rPr>
                                <m:t>+1</m:t>
                              </m:r>
                            </m:sub>
                          </m:sSub>
                        </m:den>
                      </m:f>
                    </m:oMath>
                  </m:oMathPara>
                </a14:m>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pPr marL="0" indent="0" algn="ctr">
                  <a:buNone/>
                </a:pPr>
                <a:r>
                  <a:rPr lang="en-US" altLang="zh-CN" b="1" dirty="0" err="1">
                    <a:latin typeface="Times New Roman" panose="02020603050405020304" pitchFamily="18" charset="0"/>
                    <a:ea typeface="楷体" panose="02010609060101010101" pitchFamily="49" charset="-122"/>
                    <a:cs typeface="Times New Roman" panose="02020603050405020304" pitchFamily="18" charset="0"/>
                  </a:rPr>
                  <a:t>x</a:t>
                </a:r>
                <a:r>
                  <a:rPr lang="en-US" altLang="zh-CN" i="1" baseline="30000" dirty="0" err="1">
                    <a:latin typeface="Times New Roman" panose="02020603050405020304" pitchFamily="18" charset="0"/>
                    <a:ea typeface="楷体" panose="02010609060101010101" pitchFamily="49" charset="-122"/>
                    <a:cs typeface="Times New Roman" panose="02020603050405020304" pitchFamily="18" charset="0"/>
                  </a:rPr>
                  <a:t>k</a:t>
                </a:r>
                <a:r>
                  <a:rPr lang="en-US" altLang="zh-CN" baseline="30000" dirty="0">
                    <a:latin typeface="Times New Roman" panose="02020603050405020304" pitchFamily="18" charset="0"/>
                    <a:ea typeface="楷体" panose="02010609060101010101" pitchFamily="49" charset="-122"/>
                    <a:cs typeface="Times New Roman" panose="02020603050405020304" pitchFamily="18" charset="0"/>
                  </a:rPr>
                  <a:t> + 1</a:t>
                </a:r>
                <a:r>
                  <a:rPr lang="en-US" altLang="zh-CN" dirty="0">
                    <a:latin typeface="Times New Roman" panose="02020603050405020304" pitchFamily="18" charset="0"/>
                    <a:ea typeface="楷体" panose="02010609060101010101" pitchFamily="49" charset="-122"/>
                    <a:cs typeface="Times New Roman" panose="02020603050405020304" pitchFamily="18" charset="0"/>
                  </a:rPr>
                  <a:t> = </a:t>
                </a:r>
                <a:r>
                  <a:rPr lang="en-US" altLang="zh-CN" b="1" dirty="0" err="1">
                    <a:latin typeface="Times New Roman" panose="02020603050405020304" pitchFamily="18" charset="0"/>
                    <a:ea typeface="楷体" panose="02010609060101010101" pitchFamily="49" charset="-122"/>
                    <a:cs typeface="Times New Roman" panose="02020603050405020304" pitchFamily="18" charset="0"/>
                  </a:rPr>
                  <a:t>x</a:t>
                </a:r>
                <a:r>
                  <a:rPr lang="en-US" altLang="zh-CN" i="1" baseline="30000" dirty="0" err="1">
                    <a:latin typeface="Times New Roman" panose="02020603050405020304" pitchFamily="18" charset="0"/>
                    <a:ea typeface="楷体" panose="02010609060101010101" pitchFamily="49" charset="-122"/>
                    <a:cs typeface="Times New Roman" panose="02020603050405020304" pitchFamily="18" charset="0"/>
                  </a:rPr>
                  <a:t>k</a:t>
                </a:r>
                <a:r>
                  <a:rPr lang="en-US" altLang="zh-CN" dirty="0">
                    <a:latin typeface="Times New Roman" panose="02020603050405020304" pitchFamily="18" charset="0"/>
                    <a:ea typeface="楷体" panose="02010609060101010101" pitchFamily="49" charset="-122"/>
                    <a:cs typeface="Times New Roman" panose="02020603050405020304" pitchFamily="18" charset="0"/>
                  </a:rPr>
                  <a:t> + </a:t>
                </a:r>
                <a:r>
                  <a:rPr lang="en-US" altLang="zh-CN" i="1" dirty="0" err="1" smtClean="0">
                    <a:latin typeface="Times New Roman" panose="02020603050405020304" pitchFamily="18" charset="0"/>
                    <a:ea typeface="楷体" panose="02010609060101010101" pitchFamily="49" charset="-122"/>
                    <a:cs typeface="Times New Roman" panose="02020603050405020304" pitchFamily="18" charset="0"/>
                  </a:rPr>
                  <a:t>t</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baseline="-25000" dirty="0">
                    <a:latin typeface="Times New Roman" panose="02020603050405020304" pitchFamily="18" charset="0"/>
                    <a:ea typeface="楷体" panose="02010609060101010101" pitchFamily="49" charset="-122"/>
                    <a:cs typeface="Times New Roman" panose="02020603050405020304" pitchFamily="18" charset="0"/>
                  </a:rPr>
                  <a:t> + 1</a:t>
                </a: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v</a:t>
                </a:r>
                <a:r>
                  <a:rPr lang="en-US" altLang="zh-CN" i="1" baseline="-25000" dirty="0"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baseline="-25000" dirty="0" smtClean="0">
                    <a:latin typeface="Times New Roman" panose="02020603050405020304" pitchFamily="18" charset="0"/>
                    <a:ea typeface="楷体" panose="02010609060101010101" pitchFamily="49" charset="-122"/>
                    <a:cs typeface="Times New Roman" panose="02020603050405020304" pitchFamily="18" charset="0"/>
                  </a:rPr>
                  <a:t> + 1</a:t>
                </a:r>
                <a:endParaRPr lang="en-US" altLang="zh-CN" baseline="-25000" dirty="0">
                  <a:latin typeface="Times New Roman" panose="02020603050405020304" pitchFamily="18" charset="0"/>
                  <a:ea typeface="楷体" panose="02010609060101010101" pitchFamily="49" charset="-122"/>
                  <a:cs typeface="Times New Roman" panose="02020603050405020304" pitchFamily="18" charset="0"/>
                </a:endParaRPr>
              </a:p>
              <a:p>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初始状态可以把</a:t>
                </a: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x</a:t>
                </a:r>
                <a:r>
                  <a:rPr lang="en-US" altLang="zh-CN" baseline="30000" dirty="0" smtClean="0">
                    <a:latin typeface="Times New Roman" panose="02020603050405020304" pitchFamily="18" charset="0"/>
                    <a:ea typeface="楷体" panose="02010609060101010101" pitchFamily="49" charset="-122"/>
                    <a:cs typeface="Times New Roman" panose="02020603050405020304" pitchFamily="18" charset="0"/>
                  </a:rPr>
                  <a:t>0</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可为</a:t>
                </a: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0</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v</a:t>
                </a:r>
                <a:r>
                  <a:rPr lang="en-US" altLang="zh-CN" baseline="-25000" dirty="0" smtClean="0">
                    <a:latin typeface="Times New Roman" panose="02020603050405020304" pitchFamily="18" charset="0"/>
                    <a:ea typeface="楷体" panose="02010609060101010101" pitchFamily="49" charset="-122"/>
                    <a:cs typeface="Times New Roman" panose="02020603050405020304" pitchFamily="18" charset="0"/>
                  </a:rPr>
                  <a:t>0</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写为</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0</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向量</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3"/>
                <a:stretch>
                  <a:fillRect l="-1391" t="-2801" b="-2381"/>
                </a:stretch>
              </a:blipFill>
            </p:spPr>
            <p:txBody>
              <a:bodyPr/>
              <a:lstStyle/>
              <a:p>
                <a:r>
                  <a:rPr lang="zh-CN" altLang="en-US">
                    <a:noFill/>
                  </a:rPr>
                  <a:t> </a:t>
                </a:r>
              </a:p>
            </p:txBody>
          </p:sp>
        </mc:Fallback>
      </mc:AlternateContent>
    </p:spTree>
    <p:custDataLst>
      <p:tags r:id="rId1"/>
    </p:custDataLst>
    <p:extLst>
      <p:ext uri="{BB962C8B-B14F-4D97-AF65-F5344CB8AC3E}">
        <p14:creationId xmlns:p14="http://schemas.microsoft.com/office/powerpoint/2010/main" val="23815731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宋体" panose="02010600030101010101" pitchFamily="2" charset="-122"/>
                <a:ea typeface="宋体" panose="02010600030101010101" pitchFamily="2" charset="-122"/>
              </a:rPr>
              <a:t>关键变量的关系</a:t>
            </a:r>
            <a:endParaRPr lang="zh-CN" altLang="en-US" dirty="0">
              <a:latin typeface="宋体" panose="02010600030101010101" pitchFamily="2" charset="-122"/>
              <a:ea typeface="宋体" panose="02010600030101010101" pitchFamily="2" charset="-122"/>
            </a:endParaRPr>
          </a:p>
        </p:txBody>
      </p:sp>
      <p:sp>
        <p:nvSpPr>
          <p:cNvPr id="3" name="内容占位符 2"/>
          <p:cNvSpPr>
            <a:spLocks noGrp="1"/>
          </p:cNvSpPr>
          <p:nvPr>
            <p:ph idx="1"/>
          </p:nvPr>
        </p:nvSpPr>
        <p:spPr/>
        <p:txBody>
          <a:bodyPr/>
          <a:lstStyle/>
          <a:p>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r</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是</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x</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位置对应的</a:t>
            </a:r>
            <a:r>
              <a:rPr lang="en-US" altLang="zh-CN" i="1" dirty="0" smtClean="0">
                <a:latin typeface="Times New Roman" panose="02020603050405020304" pitchFamily="18" charset="0"/>
                <a:ea typeface="楷体" panose="02010609060101010101" pitchFamily="49" charset="-122"/>
                <a:cs typeface="Times New Roman" panose="02020603050405020304" pitchFamily="18" charset="0"/>
              </a:rPr>
              <a:t>f</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梯度的方向，满足递推关系：</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pPr marL="0" indent="0" algn="ctr">
              <a:buNone/>
            </a:pP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r</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 </a:t>
            </a: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b</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 </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Ax</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 </a:t>
            </a: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b</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 </a:t>
            </a: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A</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x</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baseline="-25000" dirty="0" smtClean="0">
                <a:latin typeface="Times New Roman" panose="02020603050405020304" pitchFamily="18" charset="0"/>
                <a:ea typeface="楷体" panose="02010609060101010101" pitchFamily="49" charset="-122"/>
                <a:cs typeface="Times New Roman" panose="02020603050405020304" pitchFamily="18" charset="0"/>
              </a:rPr>
              <a:t> – 1</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 </a:t>
            </a:r>
            <a:r>
              <a:rPr lang="en-US" altLang="zh-CN" i="1" dirty="0" err="1" smtClean="0">
                <a:latin typeface="Times New Roman" panose="02020603050405020304" pitchFamily="18" charset="0"/>
                <a:ea typeface="楷体" panose="02010609060101010101" pitchFamily="49" charset="-122"/>
                <a:cs typeface="Times New Roman" panose="02020603050405020304" pitchFamily="18" charset="0"/>
              </a:rPr>
              <a:t>t</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v</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p>
          <a:p>
            <a:pPr marL="0" indent="0" algn="ctr">
              <a:buNone/>
            </a:pP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a:t>
            </a: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b</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 </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Ax</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baseline="-25000"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aseline="-25000" dirty="0" smtClean="0">
                <a:latin typeface="Times New Roman" panose="02020603050405020304" pitchFamily="18" charset="0"/>
                <a:ea typeface="楷体" panose="02010609060101010101" pitchFamily="49" charset="-122"/>
                <a:cs typeface="Times New Roman" panose="02020603050405020304" pitchFamily="18" charset="0"/>
              </a:rPr>
              <a:t>– 1</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 </a:t>
            </a:r>
            <a:r>
              <a:rPr lang="en-US" altLang="zh-CN" i="1" dirty="0" err="1" smtClean="0">
                <a:latin typeface="Times New Roman" panose="02020603050405020304" pitchFamily="18" charset="0"/>
                <a:ea typeface="楷体" panose="02010609060101010101" pitchFamily="49" charset="-122"/>
                <a:cs typeface="Times New Roman" panose="02020603050405020304" pitchFamily="18" charset="0"/>
              </a:rPr>
              <a:t>t</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Av</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 </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r</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baseline="-25000" dirty="0">
                <a:latin typeface="Times New Roman" panose="02020603050405020304" pitchFamily="18" charset="0"/>
                <a:ea typeface="楷体" panose="02010609060101010101" pitchFamily="49" charset="-122"/>
                <a:cs typeface="Times New Roman" panose="02020603050405020304" pitchFamily="18" charset="0"/>
              </a:rPr>
              <a:t> – 1</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 </a:t>
            </a:r>
            <a:r>
              <a:rPr lang="en-US" altLang="zh-CN" i="1" dirty="0" err="1" smtClean="0">
                <a:latin typeface="Times New Roman" panose="02020603050405020304" pitchFamily="18" charset="0"/>
                <a:ea typeface="楷体" panose="02010609060101010101" pitchFamily="49" charset="-122"/>
                <a:cs typeface="Times New Roman" panose="02020603050405020304" pitchFamily="18" charset="0"/>
              </a:rPr>
              <a:t>t</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Av</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endParaRPr lang="en-US" altLang="zh-CN" baseline="-25000" dirty="0" smtClean="0">
              <a:latin typeface="Times New Roman" panose="02020603050405020304" pitchFamily="18" charset="0"/>
              <a:ea typeface="楷体" panose="02010609060101010101" pitchFamily="49" charset="-122"/>
              <a:cs typeface="Times New Roman" panose="02020603050405020304" pitchFamily="18" charset="0"/>
            </a:endParaRPr>
          </a:p>
          <a:p>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其中</a:t>
            </a:r>
            <a:r>
              <a:rPr lang="en-US" altLang="zh-CN" i="1" dirty="0" err="1" smtClean="0">
                <a:latin typeface="Times New Roman" panose="02020603050405020304" pitchFamily="18" charset="0"/>
                <a:ea typeface="楷体" panose="02010609060101010101" pitchFamily="49" charset="-122"/>
                <a:cs typeface="Times New Roman" panose="02020603050405020304" pitchFamily="18" charset="0"/>
              </a:rPr>
              <a:t>t</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的值需要保证</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r</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与</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v</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垂直</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v</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是每次迭代优化方向，满足递推关系：</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pPr marL="0" indent="0" algn="ctr">
              <a:buNone/>
            </a:pP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v</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 </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r</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baseline="-25000" dirty="0" smtClean="0">
                <a:latin typeface="Times New Roman" panose="02020603050405020304" pitchFamily="18" charset="0"/>
                <a:ea typeface="楷体" panose="02010609060101010101" pitchFamily="49" charset="-122"/>
                <a:cs typeface="Times New Roman" panose="02020603050405020304" pitchFamily="18" charset="0"/>
              </a:rPr>
              <a:t> – 1</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 </a:t>
            </a:r>
            <a:r>
              <a:rPr lang="en-US" altLang="zh-CN" i="1" dirty="0" err="1" smtClean="0">
                <a:latin typeface="Times New Roman" panose="02020603050405020304" pitchFamily="18" charset="0"/>
                <a:ea typeface="楷体" panose="02010609060101010101" pitchFamily="49" charset="-122"/>
                <a:cs typeface="Times New Roman" panose="02020603050405020304" pitchFamily="18" charset="0"/>
              </a:rPr>
              <a:t>s</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baseline="-25000" dirty="0" smtClean="0">
                <a:latin typeface="Times New Roman" panose="02020603050405020304" pitchFamily="18" charset="0"/>
                <a:ea typeface="楷体" panose="02010609060101010101" pitchFamily="49" charset="-122"/>
                <a:cs typeface="Times New Roman" panose="02020603050405020304" pitchFamily="18" charset="0"/>
              </a:rPr>
              <a:t> – 1</a:t>
            </a: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v</a:t>
            </a:r>
            <a:r>
              <a:rPr lang="en-US" altLang="zh-CN" i="1" baseline="-25000" dirty="0"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baseline="-25000" dirty="0" smtClean="0">
                <a:latin typeface="Times New Roman" panose="02020603050405020304" pitchFamily="18" charset="0"/>
                <a:ea typeface="楷体" panose="02010609060101010101" pitchFamily="49" charset="-122"/>
                <a:cs typeface="Times New Roman" panose="02020603050405020304" pitchFamily="18" charset="0"/>
              </a:rPr>
              <a:t> – 1</a:t>
            </a:r>
          </a:p>
          <a:p>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其中</a:t>
            </a:r>
            <a:r>
              <a:rPr lang="en-US" altLang="zh-CN" i="1" dirty="0" err="1" smtClean="0">
                <a:latin typeface="Times New Roman" panose="02020603050405020304" pitchFamily="18" charset="0"/>
                <a:ea typeface="楷体" panose="02010609060101010101" pitchFamily="49" charset="-122"/>
                <a:cs typeface="Times New Roman" panose="02020603050405020304" pitchFamily="18" charset="0"/>
              </a:rPr>
              <a:t>s</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baseline="-25000" dirty="0" smtClean="0">
                <a:latin typeface="Times New Roman" panose="02020603050405020304" pitchFamily="18" charset="0"/>
                <a:ea typeface="楷体" panose="02010609060101010101" pitchFamily="49" charset="-122"/>
                <a:cs typeface="Times New Roman" panose="02020603050405020304" pitchFamily="18" charset="0"/>
              </a:rPr>
              <a:t> – 1</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的值需要保证</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v</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与</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v</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baseline="-25000" dirty="0" smtClean="0">
                <a:latin typeface="Times New Roman" panose="02020603050405020304" pitchFamily="18" charset="0"/>
                <a:ea typeface="楷体" panose="02010609060101010101" pitchFamily="49" charset="-122"/>
                <a:cs typeface="Times New Roman" panose="02020603050405020304" pitchFamily="18" charset="0"/>
              </a:rPr>
              <a:t> – 1</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关于</a:t>
            </a: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A</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共轭</a:t>
            </a:r>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a:p>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p:txBody>
      </p:sp>
    </p:spTree>
    <p:custDataLst>
      <p:tags r:id="rId1"/>
    </p:custDataLst>
    <p:extLst>
      <p:ext uri="{BB962C8B-B14F-4D97-AF65-F5344CB8AC3E}">
        <p14:creationId xmlns:p14="http://schemas.microsoft.com/office/powerpoint/2010/main" val="34611212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宋体" panose="02010600030101010101" pitchFamily="2" charset="-122"/>
                <a:ea typeface="宋体" panose="02010600030101010101" pitchFamily="2" charset="-122"/>
              </a:rPr>
              <a:t>关键变量的关系</a:t>
            </a:r>
            <a:endParaRPr lang="zh-CN" altLang="en-US" dirty="0">
              <a:latin typeface="宋体" panose="02010600030101010101" pitchFamily="2" charset="-122"/>
              <a:ea typeface="宋体" panose="02010600030101010101" pitchFamily="2" charset="-122"/>
            </a:endParaRPr>
          </a:p>
        </p:txBody>
      </p:sp>
      <p:sp>
        <p:nvSpPr>
          <p:cNvPr id="40" name="文本框 39"/>
          <p:cNvSpPr txBox="1"/>
          <p:nvPr/>
        </p:nvSpPr>
        <p:spPr>
          <a:xfrm>
            <a:off x="958444" y="2994953"/>
            <a:ext cx="463588" cy="523220"/>
          </a:xfrm>
          <a:prstGeom prst="rect">
            <a:avLst/>
          </a:prstGeom>
          <a:noFill/>
        </p:spPr>
        <p:txBody>
          <a:bodyPr wrap="none" rtlCol="0">
            <a:spAutoFit/>
          </a:bodyPr>
          <a:lstStyle/>
          <a:p>
            <a:pPr algn="ctr"/>
            <a:r>
              <a:rPr lang="en-US" altLang="zh-CN" sz="2800" b="1" dirty="0" smtClean="0">
                <a:latin typeface="Times New Roman" panose="02020603050405020304" pitchFamily="18" charset="0"/>
                <a:cs typeface="Times New Roman" panose="02020603050405020304" pitchFamily="18" charset="0"/>
              </a:rPr>
              <a:t>r</a:t>
            </a:r>
            <a:r>
              <a:rPr lang="en-US" altLang="zh-CN" sz="2800" baseline="-25000" dirty="0" smtClean="0">
                <a:latin typeface="Times New Roman" panose="02020603050405020304" pitchFamily="18" charset="0"/>
                <a:cs typeface="Times New Roman" panose="02020603050405020304" pitchFamily="18" charset="0"/>
              </a:rPr>
              <a:t>0</a:t>
            </a:r>
            <a:endParaRPr lang="zh-CN" altLang="en-US" sz="2800" baseline="-25000" dirty="0">
              <a:latin typeface="Times New Roman" panose="02020603050405020304" pitchFamily="18" charset="0"/>
              <a:cs typeface="Times New Roman" panose="02020603050405020304" pitchFamily="18" charset="0"/>
            </a:endParaRPr>
          </a:p>
        </p:txBody>
      </p:sp>
      <p:sp>
        <p:nvSpPr>
          <p:cNvPr id="50" name="文本框 49"/>
          <p:cNvSpPr txBox="1"/>
          <p:nvPr/>
        </p:nvSpPr>
        <p:spPr>
          <a:xfrm>
            <a:off x="4256703" y="1883258"/>
            <a:ext cx="710451" cy="523220"/>
          </a:xfrm>
          <a:prstGeom prst="rect">
            <a:avLst/>
          </a:prstGeom>
          <a:noFill/>
        </p:spPr>
        <p:txBody>
          <a:bodyPr wrap="none" rtlCol="0">
            <a:spAutoFit/>
          </a:bodyPr>
          <a:lstStyle/>
          <a:p>
            <a:r>
              <a:rPr lang="en-US" altLang="zh-CN" sz="2800" b="1" dirty="0" err="1" smtClean="0">
                <a:latin typeface="Times New Roman" panose="02020603050405020304" pitchFamily="18" charset="0"/>
                <a:cs typeface="Times New Roman" panose="02020603050405020304" pitchFamily="18" charset="0"/>
              </a:rPr>
              <a:t>v</a:t>
            </a:r>
            <a:r>
              <a:rPr lang="en-US" altLang="zh-CN" sz="2800" i="1" baseline="-25000" dirty="0" err="1" smtClean="0">
                <a:latin typeface="Times New Roman" panose="02020603050405020304" pitchFamily="18" charset="0"/>
                <a:cs typeface="Times New Roman" panose="02020603050405020304" pitchFamily="18" charset="0"/>
              </a:rPr>
              <a:t>k</a:t>
            </a:r>
            <a:r>
              <a:rPr lang="en-US" altLang="zh-CN" sz="2800" baseline="-25000" dirty="0" smtClean="0">
                <a:latin typeface="Times New Roman" panose="02020603050405020304" pitchFamily="18" charset="0"/>
                <a:cs typeface="Times New Roman" panose="02020603050405020304" pitchFamily="18" charset="0"/>
              </a:rPr>
              <a:t>–1</a:t>
            </a:r>
            <a:endParaRPr lang="zh-CN" altLang="en-US" sz="2800" baseline="-25000" dirty="0">
              <a:latin typeface="Times New Roman" panose="02020603050405020304" pitchFamily="18" charset="0"/>
              <a:cs typeface="Times New Roman" panose="02020603050405020304" pitchFamily="18" charset="0"/>
            </a:endParaRPr>
          </a:p>
        </p:txBody>
      </p:sp>
      <p:grpSp>
        <p:nvGrpSpPr>
          <p:cNvPr id="8" name="组合 7"/>
          <p:cNvGrpSpPr/>
          <p:nvPr/>
        </p:nvGrpSpPr>
        <p:grpSpPr>
          <a:xfrm>
            <a:off x="1383826" y="1884753"/>
            <a:ext cx="1204428" cy="1218447"/>
            <a:chOff x="1383826" y="1884753"/>
            <a:chExt cx="1204428" cy="1218447"/>
          </a:xfrm>
        </p:grpSpPr>
        <p:sp>
          <p:nvSpPr>
            <p:cNvPr id="49" name="文本框 48"/>
            <p:cNvSpPr txBox="1"/>
            <p:nvPr/>
          </p:nvSpPr>
          <p:spPr>
            <a:xfrm>
              <a:off x="2103826" y="1884753"/>
              <a:ext cx="484428"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v</a:t>
              </a:r>
              <a:r>
                <a:rPr lang="en-US" altLang="zh-CN" sz="2800" baseline="-25000" dirty="0" smtClean="0">
                  <a:latin typeface="Times New Roman" panose="02020603050405020304" pitchFamily="18" charset="0"/>
                  <a:cs typeface="Times New Roman" panose="02020603050405020304" pitchFamily="18" charset="0"/>
                </a:rPr>
                <a:t>1</a:t>
              </a:r>
              <a:endParaRPr lang="zh-CN" altLang="en-US" sz="2800" baseline="-25000" dirty="0">
                <a:latin typeface="Times New Roman" panose="02020603050405020304" pitchFamily="18" charset="0"/>
                <a:cs typeface="Times New Roman" panose="02020603050405020304" pitchFamily="18" charset="0"/>
              </a:endParaRPr>
            </a:p>
          </p:txBody>
        </p:sp>
        <p:cxnSp>
          <p:nvCxnSpPr>
            <p:cNvPr id="56" name="直接箭头连接符 55"/>
            <p:cNvCxnSpPr/>
            <p:nvPr/>
          </p:nvCxnSpPr>
          <p:spPr>
            <a:xfrm flipV="1">
              <a:off x="1383826" y="2383200"/>
              <a:ext cx="720000" cy="72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4" name="组合 13"/>
          <p:cNvGrpSpPr/>
          <p:nvPr/>
        </p:nvGrpSpPr>
        <p:grpSpPr>
          <a:xfrm>
            <a:off x="4720291" y="1883258"/>
            <a:ext cx="1204428" cy="1219942"/>
            <a:chOff x="4720291" y="1883258"/>
            <a:chExt cx="1204428" cy="1219942"/>
          </a:xfrm>
        </p:grpSpPr>
        <p:cxnSp>
          <p:nvCxnSpPr>
            <p:cNvPr id="52" name="直接箭头连接符 51"/>
            <p:cNvCxnSpPr/>
            <p:nvPr/>
          </p:nvCxnSpPr>
          <p:spPr>
            <a:xfrm>
              <a:off x="4720291" y="2146269"/>
              <a:ext cx="72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3" name="文本框 52"/>
            <p:cNvSpPr txBox="1"/>
            <p:nvPr/>
          </p:nvSpPr>
          <p:spPr>
            <a:xfrm>
              <a:off x="5440291" y="1883258"/>
              <a:ext cx="484428" cy="523220"/>
            </a:xfrm>
            <a:prstGeom prst="rect">
              <a:avLst/>
            </a:prstGeom>
            <a:noFill/>
          </p:spPr>
          <p:txBody>
            <a:bodyPr wrap="none" rtlCol="0">
              <a:spAutoFit/>
            </a:bodyPr>
            <a:lstStyle/>
            <a:p>
              <a:r>
                <a:rPr lang="en-US" altLang="zh-CN" sz="2800" b="1" dirty="0" err="1" smtClean="0">
                  <a:latin typeface="Times New Roman" panose="02020603050405020304" pitchFamily="18" charset="0"/>
                  <a:cs typeface="Times New Roman" panose="02020603050405020304" pitchFamily="18" charset="0"/>
                </a:rPr>
                <a:t>v</a:t>
              </a:r>
              <a:r>
                <a:rPr lang="en-US" altLang="zh-CN" sz="2800" i="1" baseline="-25000" dirty="0" err="1" smtClean="0">
                  <a:latin typeface="Times New Roman" panose="02020603050405020304" pitchFamily="18" charset="0"/>
                  <a:cs typeface="Times New Roman" panose="02020603050405020304" pitchFamily="18" charset="0"/>
                </a:rPr>
                <a:t>k</a:t>
              </a:r>
              <a:endParaRPr lang="zh-CN" altLang="en-US" sz="2800" i="1" baseline="-25000" dirty="0">
                <a:latin typeface="Times New Roman" panose="02020603050405020304" pitchFamily="18" charset="0"/>
                <a:cs typeface="Times New Roman" panose="02020603050405020304" pitchFamily="18" charset="0"/>
              </a:endParaRPr>
            </a:p>
          </p:txBody>
        </p:sp>
        <p:cxnSp>
          <p:nvCxnSpPr>
            <p:cNvPr id="58" name="直接箭头连接符 57"/>
            <p:cNvCxnSpPr/>
            <p:nvPr/>
          </p:nvCxnSpPr>
          <p:spPr>
            <a:xfrm flipV="1">
              <a:off x="4729591" y="2383200"/>
              <a:ext cx="720000" cy="72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6" name="组合 15"/>
          <p:cNvGrpSpPr/>
          <p:nvPr/>
        </p:nvGrpSpPr>
        <p:grpSpPr>
          <a:xfrm>
            <a:off x="5891269" y="1883258"/>
            <a:ext cx="1457488" cy="1219942"/>
            <a:chOff x="5891269" y="1883258"/>
            <a:chExt cx="1457488" cy="1219942"/>
          </a:xfrm>
        </p:grpSpPr>
        <p:cxnSp>
          <p:nvCxnSpPr>
            <p:cNvPr id="54" name="直接箭头连接符 53"/>
            <p:cNvCxnSpPr/>
            <p:nvPr/>
          </p:nvCxnSpPr>
          <p:spPr>
            <a:xfrm>
              <a:off x="5903879" y="2147624"/>
              <a:ext cx="72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5" name="文本框 54"/>
            <p:cNvSpPr txBox="1"/>
            <p:nvPr/>
          </p:nvSpPr>
          <p:spPr>
            <a:xfrm>
              <a:off x="6623879" y="1883258"/>
              <a:ext cx="724878"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v</a:t>
              </a:r>
              <a:r>
                <a:rPr lang="en-US" altLang="zh-CN" sz="2800" i="1" baseline="-25000" dirty="0" smtClean="0">
                  <a:latin typeface="Times New Roman" panose="02020603050405020304" pitchFamily="18" charset="0"/>
                  <a:cs typeface="Times New Roman" panose="02020603050405020304" pitchFamily="18" charset="0"/>
                </a:rPr>
                <a:t>k</a:t>
              </a:r>
              <a:r>
                <a:rPr lang="en-US" altLang="zh-CN" sz="2800" baseline="-25000" dirty="0" smtClean="0">
                  <a:latin typeface="Times New Roman" panose="02020603050405020304" pitchFamily="18" charset="0"/>
                  <a:cs typeface="Times New Roman" panose="02020603050405020304" pitchFamily="18" charset="0"/>
                </a:rPr>
                <a:t>+1</a:t>
              </a:r>
              <a:endParaRPr lang="zh-CN" altLang="en-US" sz="2800" baseline="-25000" dirty="0">
                <a:latin typeface="Times New Roman" panose="02020603050405020304" pitchFamily="18" charset="0"/>
                <a:cs typeface="Times New Roman" panose="02020603050405020304" pitchFamily="18" charset="0"/>
              </a:endParaRPr>
            </a:p>
          </p:txBody>
        </p:sp>
        <p:cxnSp>
          <p:nvCxnSpPr>
            <p:cNvPr id="59" name="直接箭头连接符 58"/>
            <p:cNvCxnSpPr/>
            <p:nvPr/>
          </p:nvCxnSpPr>
          <p:spPr>
            <a:xfrm flipV="1">
              <a:off x="5891269" y="2383200"/>
              <a:ext cx="720000" cy="72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9" name="组合 8"/>
          <p:cNvGrpSpPr/>
          <p:nvPr/>
        </p:nvGrpSpPr>
        <p:grpSpPr>
          <a:xfrm>
            <a:off x="1383826" y="2382826"/>
            <a:ext cx="1215650" cy="1135347"/>
            <a:chOff x="1383826" y="2382826"/>
            <a:chExt cx="1215650" cy="1135347"/>
          </a:xfrm>
        </p:grpSpPr>
        <p:sp>
          <p:nvSpPr>
            <p:cNvPr id="42" name="文本框 41"/>
            <p:cNvSpPr txBox="1"/>
            <p:nvPr/>
          </p:nvSpPr>
          <p:spPr>
            <a:xfrm>
              <a:off x="2103826" y="2994953"/>
              <a:ext cx="463588"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r</a:t>
              </a:r>
              <a:r>
                <a:rPr lang="en-US" altLang="zh-CN" sz="2800" baseline="-25000" dirty="0" smtClean="0">
                  <a:latin typeface="Times New Roman" panose="02020603050405020304" pitchFamily="18" charset="0"/>
                  <a:cs typeface="Times New Roman" panose="02020603050405020304" pitchFamily="18" charset="0"/>
                </a:rPr>
                <a:t>1</a:t>
              </a:r>
              <a:endParaRPr lang="zh-CN" altLang="en-US" sz="2800" baseline="-25000" dirty="0">
                <a:latin typeface="Times New Roman" panose="02020603050405020304" pitchFamily="18" charset="0"/>
                <a:cs typeface="Times New Roman" panose="02020603050405020304" pitchFamily="18" charset="0"/>
              </a:endParaRPr>
            </a:p>
          </p:txBody>
        </p:sp>
        <p:cxnSp>
          <p:nvCxnSpPr>
            <p:cNvPr id="43" name="直接箭头连接符 42"/>
            <p:cNvCxnSpPr/>
            <p:nvPr/>
          </p:nvCxnSpPr>
          <p:spPr>
            <a:xfrm>
              <a:off x="1383826" y="3255302"/>
              <a:ext cx="72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直接箭头连接符 59"/>
            <p:cNvCxnSpPr/>
            <p:nvPr/>
          </p:nvCxnSpPr>
          <p:spPr>
            <a:xfrm>
              <a:off x="2346040" y="2382826"/>
              <a:ext cx="0" cy="72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6" name="文本框 65"/>
            <p:cNvSpPr txBox="1"/>
            <p:nvPr/>
          </p:nvSpPr>
          <p:spPr>
            <a:xfrm>
              <a:off x="2155124" y="2401290"/>
              <a:ext cx="444352"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A</a:t>
              </a:r>
              <a:endParaRPr lang="zh-CN" altLang="en-US" sz="2800" b="1" dirty="0">
                <a:latin typeface="Times New Roman" panose="02020603050405020304" pitchFamily="18" charset="0"/>
                <a:cs typeface="Times New Roman" panose="02020603050405020304" pitchFamily="18" charset="0"/>
              </a:endParaRPr>
            </a:p>
          </p:txBody>
        </p:sp>
      </p:grpSp>
      <p:grpSp>
        <p:nvGrpSpPr>
          <p:cNvPr id="13" name="组合 12"/>
          <p:cNvGrpSpPr/>
          <p:nvPr/>
        </p:nvGrpSpPr>
        <p:grpSpPr>
          <a:xfrm>
            <a:off x="4256703" y="2383200"/>
            <a:ext cx="689612" cy="1136140"/>
            <a:chOff x="4256703" y="2383200"/>
            <a:chExt cx="689612" cy="1136140"/>
          </a:xfrm>
        </p:grpSpPr>
        <p:sp>
          <p:nvSpPr>
            <p:cNvPr id="45" name="文本框 44"/>
            <p:cNvSpPr txBox="1"/>
            <p:nvPr/>
          </p:nvSpPr>
          <p:spPr>
            <a:xfrm>
              <a:off x="4256703" y="2996120"/>
              <a:ext cx="689612" cy="523220"/>
            </a:xfrm>
            <a:prstGeom prst="rect">
              <a:avLst/>
            </a:prstGeom>
            <a:noFill/>
          </p:spPr>
          <p:txBody>
            <a:bodyPr wrap="none" rtlCol="0">
              <a:spAutoFit/>
            </a:bodyPr>
            <a:lstStyle/>
            <a:p>
              <a:r>
                <a:rPr lang="en-US" altLang="zh-CN" sz="2800" b="1" dirty="0" err="1" smtClean="0">
                  <a:latin typeface="Times New Roman" panose="02020603050405020304" pitchFamily="18" charset="0"/>
                  <a:cs typeface="Times New Roman" panose="02020603050405020304" pitchFamily="18" charset="0"/>
                </a:rPr>
                <a:t>r</a:t>
              </a:r>
              <a:r>
                <a:rPr lang="en-US" altLang="zh-CN" sz="2800" i="1" baseline="-25000" dirty="0" err="1" smtClean="0">
                  <a:latin typeface="Times New Roman" panose="02020603050405020304" pitchFamily="18" charset="0"/>
                  <a:cs typeface="Times New Roman" panose="02020603050405020304" pitchFamily="18" charset="0"/>
                </a:rPr>
                <a:t>k</a:t>
              </a:r>
              <a:r>
                <a:rPr lang="en-US" altLang="zh-CN" sz="2800" baseline="-25000" dirty="0" smtClean="0">
                  <a:latin typeface="Times New Roman" panose="02020603050405020304" pitchFamily="18" charset="0"/>
                  <a:cs typeface="Times New Roman" panose="02020603050405020304" pitchFamily="18" charset="0"/>
                </a:rPr>
                <a:t>–1</a:t>
              </a:r>
              <a:endParaRPr lang="zh-CN" altLang="en-US" sz="2800" baseline="-25000" dirty="0">
                <a:latin typeface="Times New Roman" panose="02020603050405020304" pitchFamily="18" charset="0"/>
                <a:cs typeface="Times New Roman" panose="02020603050405020304" pitchFamily="18" charset="0"/>
              </a:endParaRPr>
            </a:p>
          </p:txBody>
        </p:sp>
        <p:cxnSp>
          <p:nvCxnSpPr>
            <p:cNvPr id="61" name="直接箭头连接符 60"/>
            <p:cNvCxnSpPr/>
            <p:nvPr/>
          </p:nvCxnSpPr>
          <p:spPr>
            <a:xfrm>
              <a:off x="4488497" y="2383200"/>
              <a:ext cx="0" cy="72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7" name="文本框 66"/>
            <p:cNvSpPr txBox="1"/>
            <p:nvPr/>
          </p:nvSpPr>
          <p:spPr>
            <a:xfrm>
              <a:off x="4296460" y="2413564"/>
              <a:ext cx="444352"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A</a:t>
              </a:r>
              <a:endParaRPr lang="zh-CN" altLang="en-US" sz="2800" b="1" dirty="0">
                <a:latin typeface="Times New Roman" panose="02020603050405020304" pitchFamily="18" charset="0"/>
                <a:cs typeface="Times New Roman" panose="02020603050405020304" pitchFamily="18" charset="0"/>
              </a:endParaRPr>
            </a:p>
          </p:txBody>
        </p:sp>
      </p:grpSp>
      <p:grpSp>
        <p:nvGrpSpPr>
          <p:cNvPr id="15" name="组合 14"/>
          <p:cNvGrpSpPr/>
          <p:nvPr/>
        </p:nvGrpSpPr>
        <p:grpSpPr>
          <a:xfrm>
            <a:off x="4720291" y="2383200"/>
            <a:ext cx="1204428" cy="1135708"/>
            <a:chOff x="4720291" y="2383200"/>
            <a:chExt cx="1204428" cy="1135708"/>
          </a:xfrm>
        </p:grpSpPr>
        <p:cxnSp>
          <p:nvCxnSpPr>
            <p:cNvPr id="46" name="直接箭头连接符 45"/>
            <p:cNvCxnSpPr/>
            <p:nvPr/>
          </p:nvCxnSpPr>
          <p:spPr>
            <a:xfrm>
              <a:off x="4720291" y="3256469"/>
              <a:ext cx="72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7" name="文本框 46"/>
            <p:cNvSpPr txBox="1"/>
            <p:nvPr/>
          </p:nvSpPr>
          <p:spPr>
            <a:xfrm>
              <a:off x="5440291" y="2995688"/>
              <a:ext cx="463588" cy="523220"/>
            </a:xfrm>
            <a:prstGeom prst="rect">
              <a:avLst/>
            </a:prstGeom>
            <a:noFill/>
          </p:spPr>
          <p:txBody>
            <a:bodyPr wrap="none" rtlCol="0">
              <a:spAutoFit/>
            </a:bodyPr>
            <a:lstStyle/>
            <a:p>
              <a:r>
                <a:rPr lang="en-US" altLang="zh-CN" sz="2800" b="1" dirty="0" err="1" smtClean="0">
                  <a:latin typeface="Times New Roman" panose="02020603050405020304" pitchFamily="18" charset="0"/>
                  <a:cs typeface="Times New Roman" panose="02020603050405020304" pitchFamily="18" charset="0"/>
                </a:rPr>
                <a:t>r</a:t>
              </a:r>
              <a:r>
                <a:rPr lang="en-US" altLang="zh-CN" sz="2800" i="1" baseline="-25000" dirty="0" err="1" smtClean="0">
                  <a:latin typeface="Times New Roman" panose="02020603050405020304" pitchFamily="18" charset="0"/>
                  <a:cs typeface="Times New Roman" panose="02020603050405020304" pitchFamily="18" charset="0"/>
                </a:rPr>
                <a:t>k</a:t>
              </a:r>
              <a:endParaRPr lang="zh-CN" altLang="en-US" sz="2800" i="1" baseline="-25000" dirty="0">
                <a:latin typeface="Times New Roman" panose="02020603050405020304" pitchFamily="18" charset="0"/>
                <a:cs typeface="Times New Roman" panose="02020603050405020304" pitchFamily="18" charset="0"/>
              </a:endParaRPr>
            </a:p>
          </p:txBody>
        </p:sp>
        <p:cxnSp>
          <p:nvCxnSpPr>
            <p:cNvPr id="62" name="直接箭头连接符 61"/>
            <p:cNvCxnSpPr/>
            <p:nvPr/>
          </p:nvCxnSpPr>
          <p:spPr>
            <a:xfrm>
              <a:off x="5672085" y="2383200"/>
              <a:ext cx="0" cy="72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8" name="文本框 67"/>
            <p:cNvSpPr txBox="1"/>
            <p:nvPr/>
          </p:nvSpPr>
          <p:spPr>
            <a:xfrm>
              <a:off x="5480367" y="2403812"/>
              <a:ext cx="444352"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A</a:t>
              </a:r>
              <a:endParaRPr lang="zh-CN" altLang="en-US" sz="2800" b="1" dirty="0">
                <a:latin typeface="Times New Roman" panose="02020603050405020304" pitchFamily="18" charset="0"/>
                <a:cs typeface="Times New Roman" panose="02020603050405020304" pitchFamily="18" charset="0"/>
              </a:endParaRPr>
            </a:p>
          </p:txBody>
        </p:sp>
      </p:grpSp>
      <p:grpSp>
        <p:nvGrpSpPr>
          <p:cNvPr id="17" name="组合 16"/>
          <p:cNvGrpSpPr/>
          <p:nvPr/>
        </p:nvGrpSpPr>
        <p:grpSpPr>
          <a:xfrm>
            <a:off x="5903879" y="2383200"/>
            <a:ext cx="1414340" cy="1135708"/>
            <a:chOff x="5903879" y="2383200"/>
            <a:chExt cx="1414340" cy="1135708"/>
          </a:xfrm>
        </p:grpSpPr>
        <p:cxnSp>
          <p:nvCxnSpPr>
            <p:cNvPr id="48" name="直接箭头连接符 47"/>
            <p:cNvCxnSpPr/>
            <p:nvPr/>
          </p:nvCxnSpPr>
          <p:spPr>
            <a:xfrm>
              <a:off x="5903879" y="3255302"/>
              <a:ext cx="72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4" name="文本框 63"/>
            <p:cNvSpPr txBox="1"/>
            <p:nvPr/>
          </p:nvSpPr>
          <p:spPr>
            <a:xfrm>
              <a:off x="6614180" y="2995688"/>
              <a:ext cx="704039"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r</a:t>
              </a:r>
              <a:r>
                <a:rPr lang="en-US" altLang="zh-CN" sz="2800" i="1" baseline="-25000" dirty="0" smtClean="0">
                  <a:latin typeface="Times New Roman" panose="02020603050405020304" pitchFamily="18" charset="0"/>
                  <a:cs typeface="Times New Roman" panose="02020603050405020304" pitchFamily="18" charset="0"/>
                </a:rPr>
                <a:t>k</a:t>
              </a:r>
              <a:r>
                <a:rPr lang="en-US" altLang="zh-CN" sz="2800" baseline="-25000" dirty="0" smtClean="0">
                  <a:latin typeface="Times New Roman" panose="02020603050405020304" pitchFamily="18" charset="0"/>
                  <a:cs typeface="Times New Roman" panose="02020603050405020304" pitchFamily="18" charset="0"/>
                </a:rPr>
                <a:t>+1</a:t>
              </a:r>
              <a:endParaRPr lang="zh-CN" altLang="en-US" sz="2800" baseline="-25000" dirty="0">
                <a:latin typeface="Times New Roman" panose="02020603050405020304" pitchFamily="18" charset="0"/>
                <a:cs typeface="Times New Roman" panose="02020603050405020304" pitchFamily="18" charset="0"/>
              </a:endParaRPr>
            </a:p>
          </p:txBody>
        </p:sp>
        <p:cxnSp>
          <p:nvCxnSpPr>
            <p:cNvPr id="65" name="直接箭头连接符 64"/>
            <p:cNvCxnSpPr/>
            <p:nvPr/>
          </p:nvCxnSpPr>
          <p:spPr>
            <a:xfrm>
              <a:off x="6840524" y="2383200"/>
              <a:ext cx="0" cy="72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9" name="文本框 68"/>
            <p:cNvSpPr txBox="1"/>
            <p:nvPr/>
          </p:nvSpPr>
          <p:spPr>
            <a:xfrm>
              <a:off x="6663955" y="2414919"/>
              <a:ext cx="444352"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A</a:t>
              </a:r>
              <a:endParaRPr lang="zh-CN" altLang="en-US" sz="2800" b="1" dirty="0">
                <a:latin typeface="Times New Roman" panose="02020603050405020304" pitchFamily="18" charset="0"/>
                <a:cs typeface="Times New Roman" panose="02020603050405020304" pitchFamily="18" charset="0"/>
              </a:endParaRPr>
            </a:p>
          </p:txBody>
        </p:sp>
      </p:grpSp>
      <p:grpSp>
        <p:nvGrpSpPr>
          <p:cNvPr id="12" name="组合 11"/>
          <p:cNvGrpSpPr/>
          <p:nvPr/>
        </p:nvGrpSpPr>
        <p:grpSpPr>
          <a:xfrm>
            <a:off x="3733177" y="1789658"/>
            <a:ext cx="558827" cy="1639250"/>
            <a:chOff x="3733177" y="1789658"/>
            <a:chExt cx="558827" cy="1639250"/>
          </a:xfrm>
        </p:grpSpPr>
        <p:sp>
          <p:nvSpPr>
            <p:cNvPr id="63" name="文本框 62"/>
            <p:cNvSpPr txBox="1"/>
            <p:nvPr/>
          </p:nvSpPr>
          <p:spPr>
            <a:xfrm>
              <a:off x="3733177" y="2905688"/>
              <a:ext cx="543739"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a:t>
              </a:r>
              <a:endParaRPr lang="zh-CN" altLang="en-US" sz="2800" baseline="-25000" dirty="0">
                <a:latin typeface="Times New Roman" panose="02020603050405020304" pitchFamily="18" charset="0"/>
                <a:cs typeface="Times New Roman" panose="02020603050405020304" pitchFamily="18" charset="0"/>
              </a:endParaRPr>
            </a:p>
          </p:txBody>
        </p:sp>
        <p:sp>
          <p:nvSpPr>
            <p:cNvPr id="70" name="文本框 69"/>
            <p:cNvSpPr txBox="1"/>
            <p:nvPr/>
          </p:nvSpPr>
          <p:spPr>
            <a:xfrm>
              <a:off x="3748265" y="1789658"/>
              <a:ext cx="543739"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a:t>
              </a:r>
              <a:endParaRPr lang="zh-CN" altLang="en-US" sz="2800" baseline="-25000" dirty="0">
                <a:latin typeface="Times New Roman" panose="02020603050405020304" pitchFamily="18" charset="0"/>
                <a:cs typeface="Times New Roman" panose="02020603050405020304" pitchFamily="18" charset="0"/>
              </a:endParaRPr>
            </a:p>
          </p:txBody>
        </p:sp>
      </p:grpSp>
      <p:grpSp>
        <p:nvGrpSpPr>
          <p:cNvPr id="10" name="组合 9"/>
          <p:cNvGrpSpPr/>
          <p:nvPr/>
        </p:nvGrpSpPr>
        <p:grpSpPr>
          <a:xfrm>
            <a:off x="2567414" y="1883258"/>
            <a:ext cx="1213728" cy="1219942"/>
            <a:chOff x="2567414" y="1883258"/>
            <a:chExt cx="1213728" cy="1219942"/>
          </a:xfrm>
        </p:grpSpPr>
        <p:cxnSp>
          <p:nvCxnSpPr>
            <p:cNvPr id="51" name="直接箭头连接符 50"/>
            <p:cNvCxnSpPr/>
            <p:nvPr/>
          </p:nvCxnSpPr>
          <p:spPr>
            <a:xfrm>
              <a:off x="2567414" y="2145102"/>
              <a:ext cx="72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直接箭头连接符 56"/>
            <p:cNvCxnSpPr/>
            <p:nvPr/>
          </p:nvCxnSpPr>
          <p:spPr>
            <a:xfrm flipV="1">
              <a:off x="2588254" y="2383200"/>
              <a:ext cx="720000" cy="72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1" name="文本框 70"/>
            <p:cNvSpPr txBox="1"/>
            <p:nvPr/>
          </p:nvSpPr>
          <p:spPr>
            <a:xfrm>
              <a:off x="3296714" y="1883258"/>
              <a:ext cx="484428"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v</a:t>
              </a:r>
              <a:r>
                <a:rPr lang="en-US" altLang="zh-CN" sz="2800" baseline="-25000" dirty="0" smtClean="0">
                  <a:latin typeface="Times New Roman" panose="02020603050405020304" pitchFamily="18" charset="0"/>
                  <a:cs typeface="Times New Roman" panose="02020603050405020304" pitchFamily="18" charset="0"/>
                </a:rPr>
                <a:t>2</a:t>
              </a:r>
              <a:endParaRPr lang="zh-CN" altLang="en-US" sz="2800" baseline="-25000" dirty="0">
                <a:latin typeface="Times New Roman" panose="02020603050405020304" pitchFamily="18" charset="0"/>
                <a:cs typeface="Times New Roman" panose="02020603050405020304" pitchFamily="18" charset="0"/>
              </a:endParaRPr>
            </a:p>
          </p:txBody>
        </p:sp>
      </p:grpSp>
      <p:grpSp>
        <p:nvGrpSpPr>
          <p:cNvPr id="11" name="组合 10"/>
          <p:cNvGrpSpPr/>
          <p:nvPr/>
        </p:nvGrpSpPr>
        <p:grpSpPr>
          <a:xfrm>
            <a:off x="2567414" y="2382826"/>
            <a:ext cx="1214000" cy="1136082"/>
            <a:chOff x="2567414" y="2382826"/>
            <a:chExt cx="1214000" cy="1136082"/>
          </a:xfrm>
        </p:grpSpPr>
        <p:cxnSp>
          <p:nvCxnSpPr>
            <p:cNvPr id="44" name="直接箭头连接符 43"/>
            <p:cNvCxnSpPr/>
            <p:nvPr/>
          </p:nvCxnSpPr>
          <p:spPr>
            <a:xfrm>
              <a:off x="2567414" y="3255302"/>
              <a:ext cx="72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2" name="文本框 71"/>
            <p:cNvSpPr txBox="1"/>
            <p:nvPr/>
          </p:nvSpPr>
          <p:spPr>
            <a:xfrm>
              <a:off x="3304619" y="2995688"/>
              <a:ext cx="463588"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r</a:t>
              </a:r>
              <a:r>
                <a:rPr lang="en-US" altLang="zh-CN" sz="2800" baseline="-25000" dirty="0" smtClean="0">
                  <a:latin typeface="Times New Roman" panose="02020603050405020304" pitchFamily="18" charset="0"/>
                  <a:cs typeface="Times New Roman" panose="02020603050405020304" pitchFamily="18" charset="0"/>
                </a:rPr>
                <a:t>2</a:t>
              </a:r>
              <a:endParaRPr lang="zh-CN" altLang="en-US" sz="2800" baseline="-25000" dirty="0">
                <a:latin typeface="Times New Roman" panose="02020603050405020304" pitchFamily="18" charset="0"/>
                <a:cs typeface="Times New Roman" panose="02020603050405020304" pitchFamily="18" charset="0"/>
              </a:endParaRPr>
            </a:p>
          </p:txBody>
        </p:sp>
        <p:cxnSp>
          <p:nvCxnSpPr>
            <p:cNvPr id="73" name="直接箭头连接符 72"/>
            <p:cNvCxnSpPr/>
            <p:nvPr/>
          </p:nvCxnSpPr>
          <p:spPr>
            <a:xfrm>
              <a:off x="3527978" y="2382826"/>
              <a:ext cx="0" cy="72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4" name="文本框 73"/>
            <p:cNvSpPr txBox="1"/>
            <p:nvPr/>
          </p:nvSpPr>
          <p:spPr>
            <a:xfrm>
              <a:off x="3337062" y="2401290"/>
              <a:ext cx="444352"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A</a:t>
              </a:r>
              <a:endParaRPr lang="zh-CN" altLang="en-US" sz="2800" b="1" dirty="0">
                <a:latin typeface="Times New Roman" panose="02020603050405020304" pitchFamily="18" charset="0"/>
                <a:cs typeface="Times New Roman" panose="02020603050405020304" pitchFamily="18" charset="0"/>
              </a:endParaRPr>
            </a:p>
          </p:txBody>
        </p:sp>
      </p:grpSp>
      <p:grpSp>
        <p:nvGrpSpPr>
          <p:cNvPr id="18" name="组合 17"/>
          <p:cNvGrpSpPr/>
          <p:nvPr/>
        </p:nvGrpSpPr>
        <p:grpSpPr>
          <a:xfrm>
            <a:off x="7268021" y="1788347"/>
            <a:ext cx="596628" cy="1640836"/>
            <a:chOff x="7268021" y="1788347"/>
            <a:chExt cx="596628" cy="1640836"/>
          </a:xfrm>
        </p:grpSpPr>
        <p:sp>
          <p:nvSpPr>
            <p:cNvPr id="75" name="文本框 74"/>
            <p:cNvSpPr txBox="1"/>
            <p:nvPr/>
          </p:nvSpPr>
          <p:spPr>
            <a:xfrm>
              <a:off x="7268021" y="1788347"/>
              <a:ext cx="543739"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a:t>
              </a:r>
              <a:endParaRPr lang="zh-CN" altLang="en-US" sz="2800" baseline="-25000" dirty="0">
                <a:latin typeface="Times New Roman" panose="02020603050405020304" pitchFamily="18" charset="0"/>
                <a:cs typeface="Times New Roman" panose="02020603050405020304" pitchFamily="18" charset="0"/>
              </a:endParaRPr>
            </a:p>
          </p:txBody>
        </p:sp>
        <p:sp>
          <p:nvSpPr>
            <p:cNvPr id="76" name="文本框 75"/>
            <p:cNvSpPr txBox="1"/>
            <p:nvPr/>
          </p:nvSpPr>
          <p:spPr>
            <a:xfrm>
              <a:off x="7320910" y="2905963"/>
              <a:ext cx="543739"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a:t>
              </a:r>
              <a:endParaRPr lang="zh-CN" altLang="en-US" sz="2800" baseline="-25000" dirty="0">
                <a:latin typeface="Times New Roman" panose="02020603050405020304" pitchFamily="18" charset="0"/>
                <a:cs typeface="Times New Roman" panose="02020603050405020304" pitchFamily="18" charset="0"/>
              </a:endParaRPr>
            </a:p>
          </p:txBody>
        </p:sp>
      </p:grpSp>
    </p:spTree>
    <p:custDataLst>
      <p:tags r:id="rId1"/>
    </p:custDataLst>
    <p:extLst>
      <p:ext uri="{BB962C8B-B14F-4D97-AF65-F5344CB8AC3E}">
        <p14:creationId xmlns:p14="http://schemas.microsoft.com/office/powerpoint/2010/main" val="277876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7"/>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P spid="50"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宋体" panose="02010600030101010101" pitchFamily="2" charset="-122"/>
                <a:ea typeface="宋体" panose="02010600030101010101" pitchFamily="2" charset="-122"/>
              </a:rPr>
              <a:t>关键变量的关系</a:t>
            </a:r>
            <a:endParaRPr lang="zh-CN" altLang="en-US" dirty="0">
              <a:latin typeface="宋体" panose="02010600030101010101" pitchFamily="2" charset="-122"/>
              <a:ea typeface="宋体" panose="02010600030101010101" pitchFamily="2" charset="-122"/>
            </a:endParaRPr>
          </a:p>
        </p:txBody>
      </p:sp>
      <p:sp>
        <p:nvSpPr>
          <p:cNvPr id="41" name="内容占位符 2"/>
          <p:cNvSpPr>
            <a:spLocks noGrp="1"/>
          </p:cNvSpPr>
          <p:nvPr>
            <p:ph idx="1"/>
          </p:nvPr>
        </p:nvSpPr>
        <p:spPr>
          <a:xfrm>
            <a:off x="628650" y="4145871"/>
            <a:ext cx="7886700" cy="2031091"/>
          </a:xfrm>
        </p:spPr>
        <p:txBody>
          <a:bodyPr/>
          <a:lstStyle/>
          <a:p>
            <a:r>
              <a:rPr lang="zh-CN" altLang="en-US" dirty="0">
                <a:latin typeface="Times New Roman" panose="02020603050405020304" pitchFamily="18" charset="0"/>
                <a:ea typeface="楷体" panose="02010609060101010101" pitchFamily="49" charset="-122"/>
                <a:cs typeface="Times New Roman" panose="02020603050405020304" pitchFamily="18" charset="0"/>
              </a:rPr>
              <a:t>每个</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r</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都</a:t>
            </a:r>
            <a:r>
              <a:rPr lang="zh-CN" altLang="en-US" dirty="0">
                <a:latin typeface="Times New Roman" panose="02020603050405020304" pitchFamily="18" charset="0"/>
                <a:ea typeface="楷体" panose="02010609060101010101" pitchFamily="49" charset="-122"/>
                <a:cs typeface="Times New Roman" panose="02020603050405020304" pitchFamily="18" charset="0"/>
              </a:rPr>
              <a:t>由它</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左边</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r</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baseline="-25000" dirty="0" smtClean="0">
                <a:latin typeface="Times New Roman" panose="02020603050405020304" pitchFamily="18" charset="0"/>
                <a:ea typeface="楷体" panose="02010609060101010101" pitchFamily="49" charset="-122"/>
                <a:cs typeface="Times New Roman" panose="02020603050405020304" pitchFamily="18" charset="0"/>
              </a:rPr>
              <a:t> – 1</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与上方</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Av</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组成</a:t>
            </a:r>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a:p>
            <a:r>
              <a:rPr lang="zh-CN" altLang="en-US" dirty="0">
                <a:latin typeface="Times New Roman" panose="02020603050405020304" pitchFamily="18" charset="0"/>
                <a:ea typeface="楷体" panose="02010609060101010101" pitchFamily="49" charset="-122"/>
                <a:cs typeface="Times New Roman" panose="02020603050405020304" pitchFamily="18" charset="0"/>
              </a:rPr>
              <a:t>每个</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r</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都</a:t>
            </a:r>
            <a:r>
              <a:rPr lang="zh-CN" altLang="en-US" dirty="0">
                <a:latin typeface="Times New Roman" panose="02020603050405020304" pitchFamily="18" charset="0"/>
                <a:ea typeface="楷体" panose="02010609060101010101" pitchFamily="49" charset="-122"/>
                <a:cs typeface="Times New Roman" panose="02020603050405020304" pitchFamily="18" charset="0"/>
              </a:rPr>
              <a:t>与上方的</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v</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垂直</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最佳优化步长的要求</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a:p>
            <a:r>
              <a:rPr lang="zh-CN" altLang="en-US" dirty="0">
                <a:latin typeface="Times New Roman" panose="02020603050405020304" pitchFamily="18" charset="0"/>
                <a:ea typeface="楷体" panose="02010609060101010101" pitchFamily="49" charset="-122"/>
                <a:cs typeface="Times New Roman" panose="02020603050405020304" pitchFamily="18" charset="0"/>
              </a:rPr>
              <a:t>每个</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v</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由</a:t>
            </a:r>
            <a:r>
              <a:rPr lang="zh-CN" altLang="en-US" dirty="0">
                <a:latin typeface="Times New Roman" panose="02020603050405020304" pitchFamily="18" charset="0"/>
                <a:ea typeface="楷体" panose="02010609060101010101" pitchFamily="49" charset="-122"/>
                <a:cs typeface="Times New Roman" panose="02020603050405020304" pitchFamily="18" charset="0"/>
              </a:rPr>
              <a:t>左下的</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r</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baseline="-25000" dirty="0" smtClean="0">
                <a:latin typeface="Times New Roman" panose="02020603050405020304" pitchFamily="18" charset="0"/>
                <a:ea typeface="楷体" panose="02010609060101010101" pitchFamily="49" charset="-122"/>
                <a:cs typeface="Times New Roman" panose="02020603050405020304" pitchFamily="18" charset="0"/>
              </a:rPr>
              <a:t> – 1</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与</a:t>
            </a:r>
            <a:r>
              <a:rPr lang="zh-CN" altLang="en-US" dirty="0">
                <a:latin typeface="Times New Roman" panose="02020603050405020304" pitchFamily="18" charset="0"/>
                <a:ea typeface="楷体" panose="02010609060101010101" pitchFamily="49" charset="-122"/>
                <a:cs typeface="Times New Roman" panose="02020603050405020304" pitchFamily="18" charset="0"/>
              </a:rPr>
              <a:t>左边的</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v</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baseline="-25000" dirty="0" smtClean="0">
                <a:latin typeface="Times New Roman" panose="02020603050405020304" pitchFamily="18" charset="0"/>
                <a:ea typeface="楷体" panose="02010609060101010101" pitchFamily="49" charset="-122"/>
                <a:cs typeface="Times New Roman" panose="02020603050405020304" pitchFamily="18" charset="0"/>
              </a:rPr>
              <a:t> – 1</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组成</a:t>
            </a:r>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a:p>
            <a:r>
              <a:rPr lang="zh-CN" altLang="en-US" dirty="0">
                <a:latin typeface="Times New Roman" panose="02020603050405020304" pitchFamily="18" charset="0"/>
                <a:ea typeface="楷体" panose="02010609060101010101" pitchFamily="49" charset="-122"/>
                <a:cs typeface="Times New Roman" panose="02020603050405020304" pitchFamily="18" charset="0"/>
              </a:rPr>
              <a:t>每个</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v</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都</a:t>
            </a:r>
            <a:r>
              <a:rPr lang="zh-CN" altLang="en-US" dirty="0">
                <a:latin typeface="Times New Roman" panose="02020603050405020304" pitchFamily="18" charset="0"/>
                <a:ea typeface="楷体" panose="02010609060101010101" pitchFamily="49" charset="-122"/>
                <a:cs typeface="Times New Roman" panose="02020603050405020304" pitchFamily="18" charset="0"/>
              </a:rPr>
              <a:t>与左边的</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v</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baseline="-25000" dirty="0" smtClean="0">
                <a:latin typeface="Times New Roman" panose="02020603050405020304" pitchFamily="18" charset="0"/>
                <a:ea typeface="楷体" panose="02010609060101010101" pitchFamily="49" charset="-122"/>
                <a:cs typeface="Times New Roman" panose="02020603050405020304" pitchFamily="18" charset="0"/>
              </a:rPr>
              <a:t> – 1</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关于</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共轭</a:t>
            </a:r>
            <a:endParaRPr lang="zh-CN" altLang="en-US" b="1" dirty="0">
              <a:latin typeface="Times New Roman" panose="02020603050405020304" pitchFamily="18" charset="0"/>
              <a:ea typeface="楷体" panose="02010609060101010101" pitchFamily="49" charset="-122"/>
              <a:cs typeface="Times New Roman" panose="02020603050405020304" pitchFamily="18" charset="0"/>
            </a:endParaRPr>
          </a:p>
          <a:p>
            <a:endParaRPr lang="zh-CN" altLang="en-US" dirty="0"/>
          </a:p>
        </p:txBody>
      </p:sp>
      <p:sp>
        <p:nvSpPr>
          <p:cNvPr id="77" name="文本框 76"/>
          <p:cNvSpPr txBox="1"/>
          <p:nvPr/>
        </p:nvSpPr>
        <p:spPr>
          <a:xfrm>
            <a:off x="958444" y="2994953"/>
            <a:ext cx="463588" cy="523220"/>
          </a:xfrm>
          <a:prstGeom prst="rect">
            <a:avLst/>
          </a:prstGeom>
          <a:noFill/>
        </p:spPr>
        <p:txBody>
          <a:bodyPr wrap="none" rtlCol="0">
            <a:spAutoFit/>
          </a:bodyPr>
          <a:lstStyle/>
          <a:p>
            <a:pPr algn="ctr"/>
            <a:r>
              <a:rPr lang="en-US" altLang="zh-CN" sz="2800" b="1" dirty="0" smtClean="0">
                <a:latin typeface="Times New Roman" panose="02020603050405020304" pitchFamily="18" charset="0"/>
                <a:cs typeface="Times New Roman" panose="02020603050405020304" pitchFamily="18" charset="0"/>
              </a:rPr>
              <a:t>r</a:t>
            </a:r>
            <a:r>
              <a:rPr lang="en-US" altLang="zh-CN" sz="2800" baseline="-25000" dirty="0" smtClean="0">
                <a:latin typeface="Times New Roman" panose="02020603050405020304" pitchFamily="18" charset="0"/>
                <a:cs typeface="Times New Roman" panose="02020603050405020304" pitchFamily="18" charset="0"/>
              </a:rPr>
              <a:t>0</a:t>
            </a:r>
            <a:endParaRPr lang="zh-CN" altLang="en-US" sz="2800" baseline="-25000" dirty="0">
              <a:latin typeface="Times New Roman" panose="02020603050405020304" pitchFamily="18" charset="0"/>
              <a:cs typeface="Times New Roman" panose="02020603050405020304" pitchFamily="18" charset="0"/>
            </a:endParaRPr>
          </a:p>
        </p:txBody>
      </p:sp>
      <p:sp>
        <p:nvSpPr>
          <p:cNvPr id="78" name="文本框 77"/>
          <p:cNvSpPr txBox="1"/>
          <p:nvPr/>
        </p:nvSpPr>
        <p:spPr>
          <a:xfrm>
            <a:off x="2103826" y="2994953"/>
            <a:ext cx="463588"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r</a:t>
            </a:r>
            <a:r>
              <a:rPr lang="en-US" altLang="zh-CN" sz="2800" baseline="-25000" dirty="0" smtClean="0">
                <a:latin typeface="Times New Roman" panose="02020603050405020304" pitchFamily="18" charset="0"/>
                <a:cs typeface="Times New Roman" panose="02020603050405020304" pitchFamily="18" charset="0"/>
              </a:rPr>
              <a:t>1</a:t>
            </a:r>
            <a:endParaRPr lang="zh-CN" altLang="en-US" sz="2800" baseline="-25000" dirty="0">
              <a:latin typeface="Times New Roman" panose="02020603050405020304" pitchFamily="18" charset="0"/>
              <a:cs typeface="Times New Roman" panose="02020603050405020304" pitchFamily="18" charset="0"/>
            </a:endParaRPr>
          </a:p>
        </p:txBody>
      </p:sp>
      <p:cxnSp>
        <p:nvCxnSpPr>
          <p:cNvPr id="79" name="直接箭头连接符 78"/>
          <p:cNvCxnSpPr/>
          <p:nvPr/>
        </p:nvCxnSpPr>
        <p:spPr>
          <a:xfrm>
            <a:off x="1383826" y="3255302"/>
            <a:ext cx="72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0" name="直接箭头连接符 79"/>
          <p:cNvCxnSpPr/>
          <p:nvPr/>
        </p:nvCxnSpPr>
        <p:spPr>
          <a:xfrm>
            <a:off x="2567414" y="3255302"/>
            <a:ext cx="72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1" name="文本框 80"/>
          <p:cNvSpPr txBox="1"/>
          <p:nvPr/>
        </p:nvSpPr>
        <p:spPr>
          <a:xfrm>
            <a:off x="4256703" y="2996120"/>
            <a:ext cx="689612" cy="523220"/>
          </a:xfrm>
          <a:prstGeom prst="rect">
            <a:avLst/>
          </a:prstGeom>
          <a:noFill/>
        </p:spPr>
        <p:txBody>
          <a:bodyPr wrap="none" rtlCol="0">
            <a:spAutoFit/>
          </a:bodyPr>
          <a:lstStyle/>
          <a:p>
            <a:r>
              <a:rPr lang="en-US" altLang="zh-CN" sz="2800" b="1" dirty="0" err="1" smtClean="0">
                <a:latin typeface="Times New Roman" panose="02020603050405020304" pitchFamily="18" charset="0"/>
                <a:cs typeface="Times New Roman" panose="02020603050405020304" pitchFamily="18" charset="0"/>
              </a:rPr>
              <a:t>r</a:t>
            </a:r>
            <a:r>
              <a:rPr lang="en-US" altLang="zh-CN" sz="2800" i="1" baseline="-25000" dirty="0" err="1" smtClean="0">
                <a:latin typeface="Times New Roman" panose="02020603050405020304" pitchFamily="18" charset="0"/>
                <a:cs typeface="Times New Roman" panose="02020603050405020304" pitchFamily="18" charset="0"/>
              </a:rPr>
              <a:t>k</a:t>
            </a:r>
            <a:r>
              <a:rPr lang="en-US" altLang="zh-CN" sz="2800" baseline="-25000" dirty="0" smtClean="0">
                <a:latin typeface="Times New Roman" panose="02020603050405020304" pitchFamily="18" charset="0"/>
                <a:cs typeface="Times New Roman" panose="02020603050405020304" pitchFamily="18" charset="0"/>
              </a:rPr>
              <a:t>–1</a:t>
            </a:r>
            <a:endParaRPr lang="zh-CN" altLang="en-US" sz="2800" baseline="-25000" dirty="0">
              <a:latin typeface="Times New Roman" panose="02020603050405020304" pitchFamily="18" charset="0"/>
              <a:cs typeface="Times New Roman" panose="02020603050405020304" pitchFamily="18" charset="0"/>
            </a:endParaRPr>
          </a:p>
        </p:txBody>
      </p:sp>
      <p:cxnSp>
        <p:nvCxnSpPr>
          <p:cNvPr id="82" name="直接箭头连接符 81"/>
          <p:cNvCxnSpPr/>
          <p:nvPr/>
        </p:nvCxnSpPr>
        <p:spPr>
          <a:xfrm>
            <a:off x="4720291" y="3256469"/>
            <a:ext cx="72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3" name="文本框 82"/>
          <p:cNvSpPr txBox="1"/>
          <p:nvPr/>
        </p:nvSpPr>
        <p:spPr>
          <a:xfrm>
            <a:off x="5440291" y="2995688"/>
            <a:ext cx="463588" cy="523220"/>
          </a:xfrm>
          <a:prstGeom prst="rect">
            <a:avLst/>
          </a:prstGeom>
          <a:noFill/>
        </p:spPr>
        <p:txBody>
          <a:bodyPr wrap="none" rtlCol="0">
            <a:spAutoFit/>
          </a:bodyPr>
          <a:lstStyle/>
          <a:p>
            <a:r>
              <a:rPr lang="en-US" altLang="zh-CN" sz="2800" b="1" dirty="0" err="1" smtClean="0">
                <a:latin typeface="Times New Roman" panose="02020603050405020304" pitchFamily="18" charset="0"/>
                <a:cs typeface="Times New Roman" panose="02020603050405020304" pitchFamily="18" charset="0"/>
              </a:rPr>
              <a:t>r</a:t>
            </a:r>
            <a:r>
              <a:rPr lang="en-US" altLang="zh-CN" sz="2800" i="1" baseline="-25000" dirty="0" err="1" smtClean="0">
                <a:latin typeface="Times New Roman" panose="02020603050405020304" pitchFamily="18" charset="0"/>
                <a:cs typeface="Times New Roman" panose="02020603050405020304" pitchFamily="18" charset="0"/>
              </a:rPr>
              <a:t>k</a:t>
            </a:r>
            <a:endParaRPr lang="zh-CN" altLang="en-US" sz="2800" i="1" baseline="-25000" dirty="0">
              <a:latin typeface="Times New Roman" panose="02020603050405020304" pitchFamily="18" charset="0"/>
              <a:cs typeface="Times New Roman" panose="02020603050405020304" pitchFamily="18" charset="0"/>
            </a:endParaRPr>
          </a:p>
        </p:txBody>
      </p:sp>
      <p:cxnSp>
        <p:nvCxnSpPr>
          <p:cNvPr id="84" name="直接箭头连接符 83"/>
          <p:cNvCxnSpPr/>
          <p:nvPr/>
        </p:nvCxnSpPr>
        <p:spPr>
          <a:xfrm>
            <a:off x="5903879" y="3255302"/>
            <a:ext cx="72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5" name="文本框 84"/>
          <p:cNvSpPr txBox="1"/>
          <p:nvPr/>
        </p:nvSpPr>
        <p:spPr>
          <a:xfrm>
            <a:off x="2103826" y="1884753"/>
            <a:ext cx="484428"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v</a:t>
            </a:r>
            <a:r>
              <a:rPr lang="en-US" altLang="zh-CN" sz="2800" baseline="-25000" dirty="0" smtClean="0">
                <a:latin typeface="Times New Roman" panose="02020603050405020304" pitchFamily="18" charset="0"/>
                <a:cs typeface="Times New Roman" panose="02020603050405020304" pitchFamily="18" charset="0"/>
              </a:rPr>
              <a:t>1</a:t>
            </a:r>
            <a:endParaRPr lang="zh-CN" altLang="en-US" sz="2800" baseline="-25000" dirty="0">
              <a:latin typeface="Times New Roman" panose="02020603050405020304" pitchFamily="18" charset="0"/>
              <a:cs typeface="Times New Roman" panose="02020603050405020304" pitchFamily="18" charset="0"/>
            </a:endParaRPr>
          </a:p>
        </p:txBody>
      </p:sp>
      <p:sp>
        <p:nvSpPr>
          <p:cNvPr id="86" name="文本框 85"/>
          <p:cNvSpPr txBox="1"/>
          <p:nvPr/>
        </p:nvSpPr>
        <p:spPr>
          <a:xfrm>
            <a:off x="4256703" y="1883258"/>
            <a:ext cx="710451" cy="523220"/>
          </a:xfrm>
          <a:prstGeom prst="rect">
            <a:avLst/>
          </a:prstGeom>
          <a:noFill/>
        </p:spPr>
        <p:txBody>
          <a:bodyPr wrap="none" rtlCol="0">
            <a:spAutoFit/>
          </a:bodyPr>
          <a:lstStyle/>
          <a:p>
            <a:r>
              <a:rPr lang="en-US" altLang="zh-CN" sz="2800" b="1" dirty="0" err="1" smtClean="0">
                <a:latin typeface="Times New Roman" panose="02020603050405020304" pitchFamily="18" charset="0"/>
                <a:cs typeface="Times New Roman" panose="02020603050405020304" pitchFamily="18" charset="0"/>
              </a:rPr>
              <a:t>v</a:t>
            </a:r>
            <a:r>
              <a:rPr lang="en-US" altLang="zh-CN" sz="2800" i="1" baseline="-25000" dirty="0" err="1" smtClean="0">
                <a:latin typeface="Times New Roman" panose="02020603050405020304" pitchFamily="18" charset="0"/>
                <a:cs typeface="Times New Roman" panose="02020603050405020304" pitchFamily="18" charset="0"/>
              </a:rPr>
              <a:t>k</a:t>
            </a:r>
            <a:r>
              <a:rPr lang="en-US" altLang="zh-CN" sz="2800" baseline="-25000" dirty="0" smtClean="0">
                <a:latin typeface="Times New Roman" panose="02020603050405020304" pitchFamily="18" charset="0"/>
                <a:cs typeface="Times New Roman" panose="02020603050405020304" pitchFamily="18" charset="0"/>
              </a:rPr>
              <a:t>–1</a:t>
            </a:r>
            <a:endParaRPr lang="zh-CN" altLang="en-US" sz="2800" baseline="-25000" dirty="0">
              <a:latin typeface="Times New Roman" panose="02020603050405020304" pitchFamily="18" charset="0"/>
              <a:cs typeface="Times New Roman" panose="02020603050405020304" pitchFamily="18" charset="0"/>
            </a:endParaRPr>
          </a:p>
        </p:txBody>
      </p:sp>
      <p:cxnSp>
        <p:nvCxnSpPr>
          <p:cNvPr id="87" name="直接箭头连接符 86"/>
          <p:cNvCxnSpPr/>
          <p:nvPr/>
        </p:nvCxnSpPr>
        <p:spPr>
          <a:xfrm>
            <a:off x="4720291" y="2146269"/>
            <a:ext cx="72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8" name="文本框 87"/>
          <p:cNvSpPr txBox="1"/>
          <p:nvPr/>
        </p:nvSpPr>
        <p:spPr>
          <a:xfrm>
            <a:off x="5440291" y="1883258"/>
            <a:ext cx="484428" cy="523220"/>
          </a:xfrm>
          <a:prstGeom prst="rect">
            <a:avLst/>
          </a:prstGeom>
          <a:noFill/>
        </p:spPr>
        <p:txBody>
          <a:bodyPr wrap="none" rtlCol="0">
            <a:spAutoFit/>
          </a:bodyPr>
          <a:lstStyle/>
          <a:p>
            <a:r>
              <a:rPr lang="en-US" altLang="zh-CN" sz="2800" b="1" dirty="0" err="1" smtClean="0">
                <a:latin typeface="Times New Roman" panose="02020603050405020304" pitchFamily="18" charset="0"/>
                <a:cs typeface="Times New Roman" panose="02020603050405020304" pitchFamily="18" charset="0"/>
              </a:rPr>
              <a:t>v</a:t>
            </a:r>
            <a:r>
              <a:rPr lang="en-US" altLang="zh-CN" sz="2800" i="1" baseline="-25000" dirty="0" err="1" smtClean="0">
                <a:latin typeface="Times New Roman" panose="02020603050405020304" pitchFamily="18" charset="0"/>
                <a:cs typeface="Times New Roman" panose="02020603050405020304" pitchFamily="18" charset="0"/>
              </a:rPr>
              <a:t>k</a:t>
            </a:r>
            <a:endParaRPr lang="zh-CN" altLang="en-US" sz="2800" i="1" baseline="-25000" dirty="0">
              <a:latin typeface="Times New Roman" panose="02020603050405020304" pitchFamily="18" charset="0"/>
              <a:cs typeface="Times New Roman" panose="02020603050405020304" pitchFamily="18" charset="0"/>
            </a:endParaRPr>
          </a:p>
        </p:txBody>
      </p:sp>
      <p:cxnSp>
        <p:nvCxnSpPr>
          <p:cNvPr id="89" name="直接箭头连接符 88"/>
          <p:cNvCxnSpPr/>
          <p:nvPr/>
        </p:nvCxnSpPr>
        <p:spPr>
          <a:xfrm>
            <a:off x="5903879" y="2147624"/>
            <a:ext cx="72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0" name="文本框 89"/>
          <p:cNvSpPr txBox="1"/>
          <p:nvPr/>
        </p:nvSpPr>
        <p:spPr>
          <a:xfrm>
            <a:off x="6623879" y="1883258"/>
            <a:ext cx="724878"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v</a:t>
            </a:r>
            <a:r>
              <a:rPr lang="en-US" altLang="zh-CN" sz="2800" i="1" baseline="-25000" dirty="0" smtClean="0">
                <a:latin typeface="Times New Roman" panose="02020603050405020304" pitchFamily="18" charset="0"/>
                <a:cs typeface="Times New Roman" panose="02020603050405020304" pitchFamily="18" charset="0"/>
              </a:rPr>
              <a:t>k</a:t>
            </a:r>
            <a:r>
              <a:rPr lang="en-US" altLang="zh-CN" sz="2800" baseline="-25000" dirty="0" smtClean="0">
                <a:latin typeface="Times New Roman" panose="02020603050405020304" pitchFamily="18" charset="0"/>
                <a:cs typeface="Times New Roman" panose="02020603050405020304" pitchFamily="18" charset="0"/>
              </a:rPr>
              <a:t>+1</a:t>
            </a:r>
            <a:endParaRPr lang="zh-CN" altLang="en-US" sz="2800" baseline="-25000" dirty="0">
              <a:latin typeface="Times New Roman" panose="02020603050405020304" pitchFamily="18" charset="0"/>
              <a:cs typeface="Times New Roman" panose="02020603050405020304" pitchFamily="18" charset="0"/>
            </a:endParaRPr>
          </a:p>
        </p:txBody>
      </p:sp>
      <p:cxnSp>
        <p:nvCxnSpPr>
          <p:cNvPr id="91" name="直接箭头连接符 90"/>
          <p:cNvCxnSpPr/>
          <p:nvPr/>
        </p:nvCxnSpPr>
        <p:spPr>
          <a:xfrm flipV="1">
            <a:off x="1383826" y="2383200"/>
            <a:ext cx="720000" cy="72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2" name="直接箭头连接符 91"/>
          <p:cNvCxnSpPr/>
          <p:nvPr/>
        </p:nvCxnSpPr>
        <p:spPr>
          <a:xfrm>
            <a:off x="2567414" y="2145102"/>
            <a:ext cx="72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3" name="直接箭头连接符 92"/>
          <p:cNvCxnSpPr/>
          <p:nvPr/>
        </p:nvCxnSpPr>
        <p:spPr>
          <a:xfrm flipV="1">
            <a:off x="2588254" y="2383200"/>
            <a:ext cx="720000" cy="72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4" name="直接箭头连接符 93"/>
          <p:cNvCxnSpPr/>
          <p:nvPr/>
        </p:nvCxnSpPr>
        <p:spPr>
          <a:xfrm flipV="1">
            <a:off x="4729591" y="2383200"/>
            <a:ext cx="720000" cy="72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5" name="直接箭头连接符 94"/>
          <p:cNvCxnSpPr/>
          <p:nvPr/>
        </p:nvCxnSpPr>
        <p:spPr>
          <a:xfrm flipV="1">
            <a:off x="5891269" y="2383200"/>
            <a:ext cx="720000" cy="72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6" name="直接箭头连接符 95"/>
          <p:cNvCxnSpPr/>
          <p:nvPr/>
        </p:nvCxnSpPr>
        <p:spPr>
          <a:xfrm>
            <a:off x="4488497" y="2383200"/>
            <a:ext cx="0" cy="72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7" name="直接箭头连接符 96"/>
          <p:cNvCxnSpPr/>
          <p:nvPr/>
        </p:nvCxnSpPr>
        <p:spPr>
          <a:xfrm>
            <a:off x="5672085" y="2383200"/>
            <a:ext cx="0" cy="72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8" name="文本框 97"/>
          <p:cNvSpPr txBox="1"/>
          <p:nvPr/>
        </p:nvSpPr>
        <p:spPr>
          <a:xfrm>
            <a:off x="6614180" y="2995688"/>
            <a:ext cx="704039"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r</a:t>
            </a:r>
            <a:r>
              <a:rPr lang="en-US" altLang="zh-CN" sz="2800" i="1" baseline="-25000" dirty="0" smtClean="0">
                <a:latin typeface="Times New Roman" panose="02020603050405020304" pitchFamily="18" charset="0"/>
                <a:cs typeface="Times New Roman" panose="02020603050405020304" pitchFamily="18" charset="0"/>
              </a:rPr>
              <a:t>k</a:t>
            </a:r>
            <a:r>
              <a:rPr lang="en-US" altLang="zh-CN" sz="2800" baseline="-25000" dirty="0" smtClean="0">
                <a:latin typeface="Times New Roman" panose="02020603050405020304" pitchFamily="18" charset="0"/>
                <a:cs typeface="Times New Roman" panose="02020603050405020304" pitchFamily="18" charset="0"/>
              </a:rPr>
              <a:t>+1</a:t>
            </a:r>
            <a:endParaRPr lang="zh-CN" altLang="en-US" sz="2800" baseline="-25000" dirty="0">
              <a:latin typeface="Times New Roman" panose="02020603050405020304" pitchFamily="18" charset="0"/>
              <a:cs typeface="Times New Roman" panose="02020603050405020304" pitchFamily="18" charset="0"/>
            </a:endParaRPr>
          </a:p>
        </p:txBody>
      </p:sp>
      <p:cxnSp>
        <p:nvCxnSpPr>
          <p:cNvPr id="99" name="直接箭头连接符 98"/>
          <p:cNvCxnSpPr/>
          <p:nvPr/>
        </p:nvCxnSpPr>
        <p:spPr>
          <a:xfrm>
            <a:off x="6840524" y="2383200"/>
            <a:ext cx="0" cy="72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00" name="组合 99"/>
          <p:cNvGrpSpPr/>
          <p:nvPr/>
        </p:nvGrpSpPr>
        <p:grpSpPr>
          <a:xfrm>
            <a:off x="2155124" y="2382826"/>
            <a:ext cx="444352" cy="720000"/>
            <a:chOff x="2155124" y="2382826"/>
            <a:chExt cx="444352" cy="720000"/>
          </a:xfrm>
        </p:grpSpPr>
        <p:cxnSp>
          <p:nvCxnSpPr>
            <p:cNvPr id="101" name="直接箭头连接符 100"/>
            <p:cNvCxnSpPr/>
            <p:nvPr/>
          </p:nvCxnSpPr>
          <p:spPr>
            <a:xfrm>
              <a:off x="2346040" y="2382826"/>
              <a:ext cx="0" cy="72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2" name="文本框 101"/>
            <p:cNvSpPr txBox="1"/>
            <p:nvPr/>
          </p:nvSpPr>
          <p:spPr>
            <a:xfrm>
              <a:off x="2155124" y="2401290"/>
              <a:ext cx="444352"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A</a:t>
              </a:r>
              <a:endParaRPr lang="zh-CN" altLang="en-US" sz="2800" b="1" dirty="0">
                <a:latin typeface="Times New Roman" panose="02020603050405020304" pitchFamily="18" charset="0"/>
                <a:cs typeface="Times New Roman" panose="02020603050405020304" pitchFamily="18" charset="0"/>
              </a:endParaRPr>
            </a:p>
          </p:txBody>
        </p:sp>
      </p:grpSp>
      <p:sp>
        <p:nvSpPr>
          <p:cNvPr id="103" name="文本框 102"/>
          <p:cNvSpPr txBox="1"/>
          <p:nvPr/>
        </p:nvSpPr>
        <p:spPr>
          <a:xfrm>
            <a:off x="4296460" y="2413564"/>
            <a:ext cx="444352"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A</a:t>
            </a:r>
            <a:endParaRPr lang="zh-CN" altLang="en-US" sz="2800" b="1" dirty="0">
              <a:latin typeface="Times New Roman" panose="02020603050405020304" pitchFamily="18" charset="0"/>
              <a:cs typeface="Times New Roman" panose="02020603050405020304" pitchFamily="18" charset="0"/>
            </a:endParaRPr>
          </a:p>
        </p:txBody>
      </p:sp>
      <p:sp>
        <p:nvSpPr>
          <p:cNvPr id="104" name="文本框 103"/>
          <p:cNvSpPr txBox="1"/>
          <p:nvPr/>
        </p:nvSpPr>
        <p:spPr>
          <a:xfrm>
            <a:off x="5480367" y="2403812"/>
            <a:ext cx="444352"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A</a:t>
            </a:r>
            <a:endParaRPr lang="zh-CN" altLang="en-US" sz="2800" b="1" dirty="0">
              <a:latin typeface="Times New Roman" panose="02020603050405020304" pitchFamily="18" charset="0"/>
              <a:cs typeface="Times New Roman" panose="02020603050405020304" pitchFamily="18" charset="0"/>
            </a:endParaRPr>
          </a:p>
        </p:txBody>
      </p:sp>
      <p:sp>
        <p:nvSpPr>
          <p:cNvPr id="105" name="文本框 104"/>
          <p:cNvSpPr txBox="1"/>
          <p:nvPr/>
        </p:nvSpPr>
        <p:spPr>
          <a:xfrm>
            <a:off x="6663955" y="2414919"/>
            <a:ext cx="444352"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A</a:t>
            </a:r>
            <a:endParaRPr lang="zh-CN" altLang="en-US" sz="2800" b="1" dirty="0">
              <a:latin typeface="Times New Roman" panose="02020603050405020304" pitchFamily="18" charset="0"/>
              <a:cs typeface="Times New Roman" panose="02020603050405020304" pitchFamily="18" charset="0"/>
            </a:endParaRPr>
          </a:p>
        </p:txBody>
      </p:sp>
      <p:sp>
        <p:nvSpPr>
          <p:cNvPr id="106" name="文本框 105"/>
          <p:cNvSpPr txBox="1"/>
          <p:nvPr/>
        </p:nvSpPr>
        <p:spPr>
          <a:xfrm>
            <a:off x="3733177" y="2905688"/>
            <a:ext cx="543739"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a:t>
            </a:r>
            <a:endParaRPr lang="zh-CN" altLang="en-US" sz="2800" baseline="-25000" dirty="0">
              <a:latin typeface="Times New Roman" panose="02020603050405020304" pitchFamily="18" charset="0"/>
              <a:cs typeface="Times New Roman" panose="02020603050405020304" pitchFamily="18" charset="0"/>
            </a:endParaRPr>
          </a:p>
        </p:txBody>
      </p:sp>
      <p:sp>
        <p:nvSpPr>
          <p:cNvPr id="107" name="文本框 106"/>
          <p:cNvSpPr txBox="1"/>
          <p:nvPr/>
        </p:nvSpPr>
        <p:spPr>
          <a:xfrm>
            <a:off x="3748265" y="1789658"/>
            <a:ext cx="543739"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a:t>
            </a:r>
            <a:endParaRPr lang="zh-CN" altLang="en-US" sz="2800" baseline="-25000" dirty="0">
              <a:latin typeface="Times New Roman" panose="02020603050405020304" pitchFamily="18" charset="0"/>
              <a:cs typeface="Times New Roman" panose="02020603050405020304" pitchFamily="18" charset="0"/>
            </a:endParaRPr>
          </a:p>
        </p:txBody>
      </p:sp>
      <p:sp>
        <p:nvSpPr>
          <p:cNvPr id="108" name="文本框 107"/>
          <p:cNvSpPr txBox="1"/>
          <p:nvPr/>
        </p:nvSpPr>
        <p:spPr>
          <a:xfrm>
            <a:off x="3296714" y="1883258"/>
            <a:ext cx="484428"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v</a:t>
            </a:r>
            <a:r>
              <a:rPr lang="en-US" altLang="zh-CN" sz="2800" baseline="-25000" dirty="0" smtClean="0">
                <a:latin typeface="Times New Roman" panose="02020603050405020304" pitchFamily="18" charset="0"/>
                <a:cs typeface="Times New Roman" panose="02020603050405020304" pitchFamily="18" charset="0"/>
              </a:rPr>
              <a:t>2</a:t>
            </a:r>
            <a:endParaRPr lang="zh-CN" altLang="en-US" sz="2800" baseline="-25000" dirty="0">
              <a:latin typeface="Times New Roman" panose="02020603050405020304" pitchFamily="18" charset="0"/>
              <a:cs typeface="Times New Roman" panose="02020603050405020304" pitchFamily="18" charset="0"/>
            </a:endParaRPr>
          </a:p>
        </p:txBody>
      </p:sp>
      <p:sp>
        <p:nvSpPr>
          <p:cNvPr id="109" name="文本框 108"/>
          <p:cNvSpPr txBox="1"/>
          <p:nvPr/>
        </p:nvSpPr>
        <p:spPr>
          <a:xfrm>
            <a:off x="3304619" y="2995688"/>
            <a:ext cx="463588"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r</a:t>
            </a:r>
            <a:r>
              <a:rPr lang="en-US" altLang="zh-CN" sz="2800" baseline="-25000" dirty="0" smtClean="0">
                <a:latin typeface="Times New Roman" panose="02020603050405020304" pitchFamily="18" charset="0"/>
                <a:cs typeface="Times New Roman" panose="02020603050405020304" pitchFamily="18" charset="0"/>
              </a:rPr>
              <a:t>2</a:t>
            </a:r>
            <a:endParaRPr lang="zh-CN" altLang="en-US" sz="2800" baseline="-25000" dirty="0">
              <a:latin typeface="Times New Roman" panose="02020603050405020304" pitchFamily="18" charset="0"/>
              <a:cs typeface="Times New Roman" panose="02020603050405020304" pitchFamily="18" charset="0"/>
            </a:endParaRPr>
          </a:p>
        </p:txBody>
      </p:sp>
      <p:grpSp>
        <p:nvGrpSpPr>
          <p:cNvPr id="110" name="组合 109"/>
          <p:cNvGrpSpPr/>
          <p:nvPr/>
        </p:nvGrpSpPr>
        <p:grpSpPr>
          <a:xfrm>
            <a:off x="3337062" y="2382826"/>
            <a:ext cx="444352" cy="720000"/>
            <a:chOff x="3337062" y="2382826"/>
            <a:chExt cx="444352" cy="720000"/>
          </a:xfrm>
        </p:grpSpPr>
        <p:cxnSp>
          <p:nvCxnSpPr>
            <p:cNvPr id="111" name="直接箭头连接符 110"/>
            <p:cNvCxnSpPr/>
            <p:nvPr/>
          </p:nvCxnSpPr>
          <p:spPr>
            <a:xfrm>
              <a:off x="3527978" y="2382826"/>
              <a:ext cx="0" cy="72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2" name="文本框 111"/>
            <p:cNvSpPr txBox="1"/>
            <p:nvPr/>
          </p:nvSpPr>
          <p:spPr>
            <a:xfrm>
              <a:off x="3337062" y="2401290"/>
              <a:ext cx="444352"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A</a:t>
              </a:r>
              <a:endParaRPr lang="zh-CN" altLang="en-US" sz="2800" b="1" dirty="0">
                <a:latin typeface="Times New Roman" panose="02020603050405020304" pitchFamily="18" charset="0"/>
                <a:cs typeface="Times New Roman" panose="02020603050405020304" pitchFamily="18" charset="0"/>
              </a:endParaRPr>
            </a:p>
          </p:txBody>
        </p:sp>
      </p:grpSp>
      <p:sp>
        <p:nvSpPr>
          <p:cNvPr id="113" name="文本框 112"/>
          <p:cNvSpPr txBox="1"/>
          <p:nvPr/>
        </p:nvSpPr>
        <p:spPr>
          <a:xfrm>
            <a:off x="7268021" y="1788347"/>
            <a:ext cx="543739"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a:t>
            </a:r>
            <a:endParaRPr lang="zh-CN" altLang="en-US" sz="2800" baseline="-25000" dirty="0">
              <a:latin typeface="Times New Roman" panose="02020603050405020304" pitchFamily="18" charset="0"/>
              <a:cs typeface="Times New Roman" panose="02020603050405020304" pitchFamily="18" charset="0"/>
            </a:endParaRPr>
          </a:p>
        </p:txBody>
      </p:sp>
      <p:sp>
        <p:nvSpPr>
          <p:cNvPr id="114" name="文本框 113"/>
          <p:cNvSpPr txBox="1"/>
          <p:nvPr/>
        </p:nvSpPr>
        <p:spPr>
          <a:xfrm>
            <a:off x="7320910" y="2905963"/>
            <a:ext cx="543739"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a:t>
            </a:r>
            <a:endParaRPr lang="zh-CN" altLang="en-US" sz="2800" baseline="-25000" dirty="0">
              <a:latin typeface="Times New Roman" panose="02020603050405020304" pitchFamily="18" charset="0"/>
              <a:cs typeface="Times New Roman" panose="02020603050405020304" pitchFamily="18" charset="0"/>
            </a:endParaRPr>
          </a:p>
        </p:txBody>
      </p:sp>
    </p:spTree>
    <p:custDataLst>
      <p:tags r:id="rId1"/>
    </p:custDataLst>
    <p:extLst>
      <p:ext uri="{BB962C8B-B14F-4D97-AF65-F5344CB8AC3E}">
        <p14:creationId xmlns:p14="http://schemas.microsoft.com/office/powerpoint/2010/main" val="2674717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宋体" panose="02010600030101010101" pitchFamily="2" charset="-122"/>
                <a:ea typeface="宋体" panose="02010600030101010101" pitchFamily="2" charset="-122"/>
              </a:rPr>
              <a:t>关键变量的关系</a:t>
            </a:r>
            <a:endParaRPr lang="zh-CN" altLang="en-US" dirty="0">
              <a:latin typeface="宋体" panose="02010600030101010101" pitchFamily="2" charset="-122"/>
              <a:ea typeface="宋体" panose="02010600030101010101" pitchFamily="2" charset="-122"/>
            </a:endParaRPr>
          </a:p>
        </p:txBody>
      </p:sp>
      <p:sp>
        <p:nvSpPr>
          <p:cNvPr id="3" name="内容占位符 2"/>
          <p:cNvSpPr>
            <a:spLocks noGrp="1"/>
          </p:cNvSpPr>
          <p:nvPr>
            <p:ph idx="1"/>
          </p:nvPr>
        </p:nvSpPr>
        <p:spPr>
          <a:xfrm>
            <a:off x="628650" y="3734347"/>
            <a:ext cx="7886700" cy="2442616"/>
          </a:xfrm>
        </p:spPr>
        <p:txBody>
          <a:bodyPr>
            <a:normAutofit lnSpcReduction="10000"/>
          </a:bodyPr>
          <a:lstStyle/>
          <a:p>
            <a:pPr marL="0" indent="0">
              <a:buNone/>
            </a:pP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下面证明对每个</a:t>
            </a:r>
            <a:r>
              <a:rPr lang="en-US" altLang="zh-CN" i="1" dirty="0" smtClean="0">
                <a:latin typeface="Times New Roman" panose="02020603050405020304" pitchFamily="18" charset="0"/>
                <a:ea typeface="楷体" panose="02010609060101010101" pitchFamily="49" charset="-122"/>
                <a:cs typeface="Times New Roman" panose="02020603050405020304" pitchFamily="18" charset="0"/>
              </a:rPr>
              <a:t>k</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，都有</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r</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与</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r</a:t>
            </a:r>
            <a:r>
              <a:rPr lang="en-US" altLang="zh-CN"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baseline="-25000" dirty="0" smtClean="0">
                <a:latin typeface="Times New Roman" panose="02020603050405020304" pitchFamily="18" charset="0"/>
                <a:ea typeface="楷体" panose="02010609060101010101" pitchFamily="49" charset="-122"/>
                <a:cs typeface="Times New Roman" panose="02020603050405020304" pitchFamily="18" charset="0"/>
              </a:rPr>
              <a:t> – 1</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垂直</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先证</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r</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与</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v</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baseline="-25000" dirty="0" smtClean="0">
                <a:latin typeface="Times New Roman" panose="02020603050405020304" pitchFamily="18" charset="0"/>
                <a:ea typeface="楷体" panose="02010609060101010101" pitchFamily="49" charset="-122"/>
                <a:cs typeface="Times New Roman" panose="02020603050405020304" pitchFamily="18" charset="0"/>
              </a:rPr>
              <a:t> – 1</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垂直：</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r>
              <a:rPr lang="zh-CN" altLang="en-US" b="1" dirty="0" smtClean="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r</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是</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r</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baseline="-25000" dirty="0" smtClean="0">
                <a:latin typeface="Times New Roman" panose="02020603050405020304" pitchFamily="18" charset="0"/>
                <a:ea typeface="楷体" panose="02010609060101010101" pitchFamily="49" charset="-122"/>
                <a:cs typeface="Times New Roman" panose="02020603050405020304" pitchFamily="18" charset="0"/>
              </a:rPr>
              <a:t> – 1</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与</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Av</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的线性组合</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r>
              <a:rPr lang="zh-CN" altLang="en-US" b="1" dirty="0" smtClean="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r</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baseline="-25000" dirty="0" smtClean="0">
                <a:latin typeface="Times New Roman" panose="02020603050405020304" pitchFamily="18" charset="0"/>
                <a:ea typeface="楷体" panose="02010609060101010101" pitchFamily="49" charset="-122"/>
                <a:cs typeface="Times New Roman" panose="02020603050405020304" pitchFamily="18" charset="0"/>
              </a:rPr>
              <a:t> – 1</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与</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v</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baseline="-25000" dirty="0" smtClean="0">
                <a:latin typeface="Times New Roman" panose="02020603050405020304" pitchFamily="18" charset="0"/>
                <a:ea typeface="楷体" panose="02010609060101010101" pitchFamily="49" charset="-122"/>
                <a:cs typeface="Times New Roman" panose="02020603050405020304" pitchFamily="18" charset="0"/>
              </a:rPr>
              <a:t> – 1</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垂直，</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Av</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与</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v</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baseline="-25000" dirty="0" smtClean="0">
                <a:latin typeface="Times New Roman" panose="02020603050405020304" pitchFamily="18" charset="0"/>
                <a:ea typeface="楷体" panose="02010609060101010101" pitchFamily="49" charset="-122"/>
                <a:cs typeface="Times New Roman" panose="02020603050405020304" pitchFamily="18" charset="0"/>
              </a:rPr>
              <a:t> – 1</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垂直</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源于共轭性质</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p>
          <a:p>
            <a:pPr marL="0" indent="0">
              <a:buNone/>
            </a:pPr>
            <a:r>
              <a:rPr lang="zh-CN" altLang="en-US" b="1" dirty="0" smtClean="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r</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与</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v</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baseline="-25000" dirty="0" smtClean="0">
                <a:latin typeface="Times New Roman" panose="02020603050405020304" pitchFamily="18" charset="0"/>
                <a:ea typeface="楷体" panose="02010609060101010101" pitchFamily="49" charset="-122"/>
                <a:cs typeface="Times New Roman" panose="02020603050405020304" pitchFamily="18" charset="0"/>
              </a:rPr>
              <a:t> – 1</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垂直</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0" name="文本框 39"/>
          <p:cNvSpPr txBox="1"/>
          <p:nvPr/>
        </p:nvSpPr>
        <p:spPr>
          <a:xfrm>
            <a:off x="958444" y="2994953"/>
            <a:ext cx="463588" cy="523220"/>
          </a:xfrm>
          <a:prstGeom prst="rect">
            <a:avLst/>
          </a:prstGeom>
          <a:noFill/>
        </p:spPr>
        <p:txBody>
          <a:bodyPr wrap="none" rtlCol="0">
            <a:spAutoFit/>
          </a:bodyPr>
          <a:lstStyle/>
          <a:p>
            <a:pPr algn="ctr"/>
            <a:r>
              <a:rPr lang="en-US" altLang="zh-CN" sz="2800" b="1" dirty="0" smtClean="0">
                <a:latin typeface="Times New Roman" panose="02020603050405020304" pitchFamily="18" charset="0"/>
                <a:cs typeface="Times New Roman" panose="02020603050405020304" pitchFamily="18" charset="0"/>
              </a:rPr>
              <a:t>r</a:t>
            </a:r>
            <a:r>
              <a:rPr lang="en-US" altLang="zh-CN" sz="2800" baseline="-25000" dirty="0" smtClean="0">
                <a:latin typeface="Times New Roman" panose="02020603050405020304" pitchFamily="18" charset="0"/>
                <a:cs typeface="Times New Roman" panose="02020603050405020304" pitchFamily="18" charset="0"/>
              </a:rPr>
              <a:t>0</a:t>
            </a:r>
            <a:endParaRPr lang="zh-CN" altLang="en-US" sz="2800" baseline="-25000" dirty="0">
              <a:latin typeface="Times New Roman" panose="02020603050405020304" pitchFamily="18" charset="0"/>
              <a:cs typeface="Times New Roman" panose="02020603050405020304" pitchFamily="18" charset="0"/>
            </a:endParaRPr>
          </a:p>
        </p:txBody>
      </p:sp>
      <p:sp>
        <p:nvSpPr>
          <p:cNvPr id="41" name="文本框 40"/>
          <p:cNvSpPr txBox="1"/>
          <p:nvPr/>
        </p:nvSpPr>
        <p:spPr>
          <a:xfrm>
            <a:off x="2103826" y="2994953"/>
            <a:ext cx="463588"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r</a:t>
            </a:r>
            <a:r>
              <a:rPr lang="en-US" altLang="zh-CN" sz="2800" baseline="-25000" dirty="0" smtClean="0">
                <a:latin typeface="Times New Roman" panose="02020603050405020304" pitchFamily="18" charset="0"/>
                <a:cs typeface="Times New Roman" panose="02020603050405020304" pitchFamily="18" charset="0"/>
              </a:rPr>
              <a:t>1</a:t>
            </a:r>
            <a:endParaRPr lang="zh-CN" altLang="en-US" sz="2800" baseline="-25000" dirty="0">
              <a:latin typeface="Times New Roman" panose="02020603050405020304" pitchFamily="18" charset="0"/>
              <a:cs typeface="Times New Roman" panose="02020603050405020304" pitchFamily="18" charset="0"/>
            </a:endParaRPr>
          </a:p>
        </p:txBody>
      </p:sp>
      <p:cxnSp>
        <p:nvCxnSpPr>
          <p:cNvPr id="42" name="直接箭头连接符 41"/>
          <p:cNvCxnSpPr/>
          <p:nvPr/>
        </p:nvCxnSpPr>
        <p:spPr>
          <a:xfrm>
            <a:off x="1383826" y="3255302"/>
            <a:ext cx="72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接箭头连接符 42"/>
          <p:cNvCxnSpPr/>
          <p:nvPr/>
        </p:nvCxnSpPr>
        <p:spPr>
          <a:xfrm>
            <a:off x="2567414" y="3255302"/>
            <a:ext cx="72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4" name="文本框 43"/>
          <p:cNvSpPr txBox="1"/>
          <p:nvPr/>
        </p:nvSpPr>
        <p:spPr>
          <a:xfrm>
            <a:off x="4256703" y="2996120"/>
            <a:ext cx="689612" cy="523220"/>
          </a:xfrm>
          <a:prstGeom prst="rect">
            <a:avLst/>
          </a:prstGeom>
          <a:noFill/>
        </p:spPr>
        <p:txBody>
          <a:bodyPr wrap="none" rtlCol="0">
            <a:spAutoFit/>
          </a:bodyPr>
          <a:lstStyle/>
          <a:p>
            <a:r>
              <a:rPr lang="en-US" altLang="zh-CN" sz="2800" b="1" dirty="0" err="1" smtClean="0">
                <a:latin typeface="Times New Roman" panose="02020603050405020304" pitchFamily="18" charset="0"/>
                <a:cs typeface="Times New Roman" panose="02020603050405020304" pitchFamily="18" charset="0"/>
              </a:rPr>
              <a:t>r</a:t>
            </a:r>
            <a:r>
              <a:rPr lang="en-US" altLang="zh-CN" sz="2800" i="1" baseline="-25000" dirty="0" err="1" smtClean="0">
                <a:latin typeface="Times New Roman" panose="02020603050405020304" pitchFamily="18" charset="0"/>
                <a:cs typeface="Times New Roman" panose="02020603050405020304" pitchFamily="18" charset="0"/>
              </a:rPr>
              <a:t>k</a:t>
            </a:r>
            <a:r>
              <a:rPr lang="en-US" altLang="zh-CN" sz="2800" baseline="-25000" dirty="0" smtClean="0">
                <a:latin typeface="Times New Roman" panose="02020603050405020304" pitchFamily="18" charset="0"/>
                <a:cs typeface="Times New Roman" panose="02020603050405020304" pitchFamily="18" charset="0"/>
              </a:rPr>
              <a:t>–1</a:t>
            </a:r>
            <a:endParaRPr lang="zh-CN" altLang="en-US" sz="2800" baseline="-25000" dirty="0">
              <a:latin typeface="Times New Roman" panose="02020603050405020304" pitchFamily="18" charset="0"/>
              <a:cs typeface="Times New Roman" panose="02020603050405020304" pitchFamily="18" charset="0"/>
            </a:endParaRPr>
          </a:p>
        </p:txBody>
      </p:sp>
      <p:cxnSp>
        <p:nvCxnSpPr>
          <p:cNvPr id="45" name="直接箭头连接符 44"/>
          <p:cNvCxnSpPr/>
          <p:nvPr/>
        </p:nvCxnSpPr>
        <p:spPr>
          <a:xfrm>
            <a:off x="4720291" y="3256469"/>
            <a:ext cx="72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6" name="文本框 45"/>
          <p:cNvSpPr txBox="1"/>
          <p:nvPr/>
        </p:nvSpPr>
        <p:spPr>
          <a:xfrm>
            <a:off x="5440291" y="2995688"/>
            <a:ext cx="463588" cy="523220"/>
          </a:xfrm>
          <a:prstGeom prst="rect">
            <a:avLst/>
          </a:prstGeom>
          <a:noFill/>
        </p:spPr>
        <p:txBody>
          <a:bodyPr wrap="none" rtlCol="0">
            <a:spAutoFit/>
          </a:bodyPr>
          <a:lstStyle/>
          <a:p>
            <a:r>
              <a:rPr lang="en-US" altLang="zh-CN" sz="2800" b="1" dirty="0" err="1" smtClean="0">
                <a:latin typeface="Times New Roman" panose="02020603050405020304" pitchFamily="18" charset="0"/>
                <a:cs typeface="Times New Roman" panose="02020603050405020304" pitchFamily="18" charset="0"/>
              </a:rPr>
              <a:t>r</a:t>
            </a:r>
            <a:r>
              <a:rPr lang="en-US" altLang="zh-CN" sz="2800" i="1" baseline="-25000" dirty="0" err="1" smtClean="0">
                <a:latin typeface="Times New Roman" panose="02020603050405020304" pitchFamily="18" charset="0"/>
                <a:cs typeface="Times New Roman" panose="02020603050405020304" pitchFamily="18" charset="0"/>
              </a:rPr>
              <a:t>k</a:t>
            </a:r>
            <a:endParaRPr lang="zh-CN" altLang="en-US" sz="2800" i="1" baseline="-25000" dirty="0">
              <a:latin typeface="Times New Roman" panose="02020603050405020304" pitchFamily="18" charset="0"/>
              <a:cs typeface="Times New Roman" panose="02020603050405020304" pitchFamily="18" charset="0"/>
            </a:endParaRPr>
          </a:p>
        </p:txBody>
      </p:sp>
      <p:cxnSp>
        <p:nvCxnSpPr>
          <p:cNvPr id="47" name="直接箭头连接符 46"/>
          <p:cNvCxnSpPr/>
          <p:nvPr/>
        </p:nvCxnSpPr>
        <p:spPr>
          <a:xfrm>
            <a:off x="5903879" y="3255302"/>
            <a:ext cx="72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8" name="文本框 47"/>
          <p:cNvSpPr txBox="1"/>
          <p:nvPr/>
        </p:nvSpPr>
        <p:spPr>
          <a:xfrm>
            <a:off x="2103826" y="1884753"/>
            <a:ext cx="484428"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v</a:t>
            </a:r>
            <a:r>
              <a:rPr lang="en-US" altLang="zh-CN" sz="2800" baseline="-25000" dirty="0" smtClean="0">
                <a:latin typeface="Times New Roman" panose="02020603050405020304" pitchFamily="18" charset="0"/>
                <a:cs typeface="Times New Roman" panose="02020603050405020304" pitchFamily="18" charset="0"/>
              </a:rPr>
              <a:t>1</a:t>
            </a:r>
            <a:endParaRPr lang="zh-CN" altLang="en-US" sz="2800" baseline="-25000" dirty="0">
              <a:latin typeface="Times New Roman" panose="02020603050405020304" pitchFamily="18" charset="0"/>
              <a:cs typeface="Times New Roman" panose="02020603050405020304" pitchFamily="18" charset="0"/>
            </a:endParaRPr>
          </a:p>
        </p:txBody>
      </p:sp>
      <p:sp>
        <p:nvSpPr>
          <p:cNvPr id="49" name="文本框 48"/>
          <p:cNvSpPr txBox="1"/>
          <p:nvPr/>
        </p:nvSpPr>
        <p:spPr>
          <a:xfrm>
            <a:off x="4256703" y="1883258"/>
            <a:ext cx="710451" cy="523220"/>
          </a:xfrm>
          <a:prstGeom prst="rect">
            <a:avLst/>
          </a:prstGeom>
          <a:noFill/>
        </p:spPr>
        <p:txBody>
          <a:bodyPr wrap="none" rtlCol="0">
            <a:spAutoFit/>
          </a:bodyPr>
          <a:lstStyle/>
          <a:p>
            <a:r>
              <a:rPr lang="en-US" altLang="zh-CN" sz="2800" b="1" dirty="0" err="1" smtClean="0">
                <a:latin typeface="Times New Roman" panose="02020603050405020304" pitchFamily="18" charset="0"/>
                <a:cs typeface="Times New Roman" panose="02020603050405020304" pitchFamily="18" charset="0"/>
              </a:rPr>
              <a:t>v</a:t>
            </a:r>
            <a:r>
              <a:rPr lang="en-US" altLang="zh-CN" sz="2800" i="1" baseline="-25000" dirty="0" err="1" smtClean="0">
                <a:latin typeface="Times New Roman" panose="02020603050405020304" pitchFamily="18" charset="0"/>
                <a:cs typeface="Times New Roman" panose="02020603050405020304" pitchFamily="18" charset="0"/>
              </a:rPr>
              <a:t>k</a:t>
            </a:r>
            <a:r>
              <a:rPr lang="en-US" altLang="zh-CN" sz="2800" baseline="-25000" dirty="0" smtClean="0">
                <a:latin typeface="Times New Roman" panose="02020603050405020304" pitchFamily="18" charset="0"/>
                <a:cs typeface="Times New Roman" panose="02020603050405020304" pitchFamily="18" charset="0"/>
              </a:rPr>
              <a:t>–1</a:t>
            </a:r>
            <a:endParaRPr lang="zh-CN" altLang="en-US" sz="2800" baseline="-25000" dirty="0">
              <a:latin typeface="Times New Roman" panose="02020603050405020304" pitchFamily="18" charset="0"/>
              <a:cs typeface="Times New Roman" panose="02020603050405020304" pitchFamily="18" charset="0"/>
            </a:endParaRPr>
          </a:p>
        </p:txBody>
      </p:sp>
      <p:cxnSp>
        <p:nvCxnSpPr>
          <p:cNvPr id="50" name="直接箭头连接符 49"/>
          <p:cNvCxnSpPr/>
          <p:nvPr/>
        </p:nvCxnSpPr>
        <p:spPr>
          <a:xfrm>
            <a:off x="4720291" y="2146269"/>
            <a:ext cx="72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1" name="文本框 50"/>
          <p:cNvSpPr txBox="1"/>
          <p:nvPr/>
        </p:nvSpPr>
        <p:spPr>
          <a:xfrm>
            <a:off x="5440291" y="1883258"/>
            <a:ext cx="484428" cy="523220"/>
          </a:xfrm>
          <a:prstGeom prst="rect">
            <a:avLst/>
          </a:prstGeom>
          <a:noFill/>
        </p:spPr>
        <p:txBody>
          <a:bodyPr wrap="none" rtlCol="0">
            <a:spAutoFit/>
          </a:bodyPr>
          <a:lstStyle/>
          <a:p>
            <a:r>
              <a:rPr lang="en-US" altLang="zh-CN" sz="2800" b="1" dirty="0" err="1" smtClean="0">
                <a:latin typeface="Times New Roman" panose="02020603050405020304" pitchFamily="18" charset="0"/>
                <a:cs typeface="Times New Roman" panose="02020603050405020304" pitchFamily="18" charset="0"/>
              </a:rPr>
              <a:t>v</a:t>
            </a:r>
            <a:r>
              <a:rPr lang="en-US" altLang="zh-CN" sz="2800" i="1" baseline="-25000" dirty="0" err="1" smtClean="0">
                <a:latin typeface="Times New Roman" panose="02020603050405020304" pitchFamily="18" charset="0"/>
                <a:cs typeface="Times New Roman" panose="02020603050405020304" pitchFamily="18" charset="0"/>
              </a:rPr>
              <a:t>k</a:t>
            </a:r>
            <a:endParaRPr lang="zh-CN" altLang="en-US" sz="2800" i="1" baseline="-25000" dirty="0">
              <a:latin typeface="Times New Roman" panose="02020603050405020304" pitchFamily="18" charset="0"/>
              <a:cs typeface="Times New Roman" panose="02020603050405020304" pitchFamily="18" charset="0"/>
            </a:endParaRPr>
          </a:p>
        </p:txBody>
      </p:sp>
      <p:cxnSp>
        <p:nvCxnSpPr>
          <p:cNvPr id="52" name="直接箭头连接符 51"/>
          <p:cNvCxnSpPr/>
          <p:nvPr/>
        </p:nvCxnSpPr>
        <p:spPr>
          <a:xfrm>
            <a:off x="5903879" y="2147624"/>
            <a:ext cx="72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3" name="文本框 52"/>
          <p:cNvSpPr txBox="1"/>
          <p:nvPr/>
        </p:nvSpPr>
        <p:spPr>
          <a:xfrm>
            <a:off x="6623879" y="1883258"/>
            <a:ext cx="724878"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v</a:t>
            </a:r>
            <a:r>
              <a:rPr lang="en-US" altLang="zh-CN" sz="2800" i="1" baseline="-25000" dirty="0" smtClean="0">
                <a:latin typeface="Times New Roman" panose="02020603050405020304" pitchFamily="18" charset="0"/>
                <a:cs typeface="Times New Roman" panose="02020603050405020304" pitchFamily="18" charset="0"/>
              </a:rPr>
              <a:t>k</a:t>
            </a:r>
            <a:r>
              <a:rPr lang="en-US" altLang="zh-CN" sz="2800" baseline="-25000" dirty="0" smtClean="0">
                <a:latin typeface="Times New Roman" panose="02020603050405020304" pitchFamily="18" charset="0"/>
                <a:cs typeface="Times New Roman" panose="02020603050405020304" pitchFamily="18" charset="0"/>
              </a:rPr>
              <a:t>+1</a:t>
            </a:r>
            <a:endParaRPr lang="zh-CN" altLang="en-US" sz="2800" baseline="-25000" dirty="0">
              <a:latin typeface="Times New Roman" panose="02020603050405020304" pitchFamily="18" charset="0"/>
              <a:cs typeface="Times New Roman" panose="02020603050405020304" pitchFamily="18" charset="0"/>
            </a:endParaRPr>
          </a:p>
        </p:txBody>
      </p:sp>
      <p:cxnSp>
        <p:nvCxnSpPr>
          <p:cNvPr id="54" name="直接箭头连接符 53"/>
          <p:cNvCxnSpPr/>
          <p:nvPr/>
        </p:nvCxnSpPr>
        <p:spPr>
          <a:xfrm flipV="1">
            <a:off x="1383826" y="2383200"/>
            <a:ext cx="720000" cy="72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直接箭头连接符 54"/>
          <p:cNvCxnSpPr/>
          <p:nvPr/>
        </p:nvCxnSpPr>
        <p:spPr>
          <a:xfrm>
            <a:off x="2567414" y="2145102"/>
            <a:ext cx="72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6" name="直接箭头连接符 55"/>
          <p:cNvCxnSpPr/>
          <p:nvPr/>
        </p:nvCxnSpPr>
        <p:spPr>
          <a:xfrm flipV="1">
            <a:off x="2588254" y="2383200"/>
            <a:ext cx="720000" cy="72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直接箭头连接符 56"/>
          <p:cNvCxnSpPr/>
          <p:nvPr/>
        </p:nvCxnSpPr>
        <p:spPr>
          <a:xfrm flipV="1">
            <a:off x="4729591" y="2383200"/>
            <a:ext cx="720000" cy="72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8" name="直接箭头连接符 57"/>
          <p:cNvCxnSpPr/>
          <p:nvPr/>
        </p:nvCxnSpPr>
        <p:spPr>
          <a:xfrm flipV="1">
            <a:off x="5891269" y="2383200"/>
            <a:ext cx="720000" cy="72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9" name="直接箭头连接符 58"/>
          <p:cNvCxnSpPr/>
          <p:nvPr/>
        </p:nvCxnSpPr>
        <p:spPr>
          <a:xfrm>
            <a:off x="4488497" y="2383200"/>
            <a:ext cx="0" cy="72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直接箭头连接符 59"/>
          <p:cNvCxnSpPr/>
          <p:nvPr/>
        </p:nvCxnSpPr>
        <p:spPr>
          <a:xfrm>
            <a:off x="5672085" y="2383200"/>
            <a:ext cx="0" cy="72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1" name="文本框 60"/>
          <p:cNvSpPr txBox="1"/>
          <p:nvPr/>
        </p:nvSpPr>
        <p:spPr>
          <a:xfrm>
            <a:off x="6614180" y="2995688"/>
            <a:ext cx="704039"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r</a:t>
            </a:r>
            <a:r>
              <a:rPr lang="en-US" altLang="zh-CN" sz="2800" i="1" baseline="-25000" dirty="0" smtClean="0">
                <a:latin typeface="Times New Roman" panose="02020603050405020304" pitchFamily="18" charset="0"/>
                <a:cs typeface="Times New Roman" panose="02020603050405020304" pitchFamily="18" charset="0"/>
              </a:rPr>
              <a:t>k</a:t>
            </a:r>
            <a:r>
              <a:rPr lang="en-US" altLang="zh-CN" sz="2800" baseline="-25000" dirty="0" smtClean="0">
                <a:latin typeface="Times New Roman" panose="02020603050405020304" pitchFamily="18" charset="0"/>
                <a:cs typeface="Times New Roman" panose="02020603050405020304" pitchFamily="18" charset="0"/>
              </a:rPr>
              <a:t>+1</a:t>
            </a:r>
            <a:endParaRPr lang="zh-CN" altLang="en-US" sz="2800" baseline="-25000" dirty="0">
              <a:latin typeface="Times New Roman" panose="02020603050405020304" pitchFamily="18" charset="0"/>
              <a:cs typeface="Times New Roman" panose="02020603050405020304" pitchFamily="18" charset="0"/>
            </a:endParaRPr>
          </a:p>
        </p:txBody>
      </p:sp>
      <p:cxnSp>
        <p:nvCxnSpPr>
          <p:cNvPr id="62" name="直接箭头连接符 61"/>
          <p:cNvCxnSpPr/>
          <p:nvPr/>
        </p:nvCxnSpPr>
        <p:spPr>
          <a:xfrm>
            <a:off x="6840524" y="2383200"/>
            <a:ext cx="0" cy="72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63" name="组合 62"/>
          <p:cNvGrpSpPr/>
          <p:nvPr/>
        </p:nvGrpSpPr>
        <p:grpSpPr>
          <a:xfrm>
            <a:off x="2155124" y="2382826"/>
            <a:ext cx="444352" cy="720000"/>
            <a:chOff x="2155124" y="2382826"/>
            <a:chExt cx="444352" cy="720000"/>
          </a:xfrm>
        </p:grpSpPr>
        <p:cxnSp>
          <p:nvCxnSpPr>
            <p:cNvPr id="64" name="直接箭头连接符 63"/>
            <p:cNvCxnSpPr/>
            <p:nvPr/>
          </p:nvCxnSpPr>
          <p:spPr>
            <a:xfrm>
              <a:off x="2346040" y="2382826"/>
              <a:ext cx="0" cy="72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5" name="文本框 64"/>
            <p:cNvSpPr txBox="1"/>
            <p:nvPr/>
          </p:nvSpPr>
          <p:spPr>
            <a:xfrm>
              <a:off x="2155124" y="2401290"/>
              <a:ext cx="444352"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A</a:t>
              </a:r>
              <a:endParaRPr lang="zh-CN" altLang="en-US" sz="2800" b="1" dirty="0">
                <a:latin typeface="Times New Roman" panose="02020603050405020304" pitchFamily="18" charset="0"/>
                <a:cs typeface="Times New Roman" panose="02020603050405020304" pitchFamily="18" charset="0"/>
              </a:endParaRPr>
            </a:p>
          </p:txBody>
        </p:sp>
      </p:grpSp>
      <p:sp>
        <p:nvSpPr>
          <p:cNvPr id="66" name="文本框 65"/>
          <p:cNvSpPr txBox="1"/>
          <p:nvPr/>
        </p:nvSpPr>
        <p:spPr>
          <a:xfrm>
            <a:off x="4296460" y="2413564"/>
            <a:ext cx="444352"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A</a:t>
            </a:r>
            <a:endParaRPr lang="zh-CN" altLang="en-US" sz="2800" b="1" dirty="0">
              <a:latin typeface="Times New Roman" panose="02020603050405020304" pitchFamily="18" charset="0"/>
              <a:cs typeface="Times New Roman" panose="02020603050405020304" pitchFamily="18" charset="0"/>
            </a:endParaRPr>
          </a:p>
        </p:txBody>
      </p:sp>
      <p:sp>
        <p:nvSpPr>
          <p:cNvPr id="67" name="文本框 66"/>
          <p:cNvSpPr txBox="1"/>
          <p:nvPr/>
        </p:nvSpPr>
        <p:spPr>
          <a:xfrm>
            <a:off x="5480367" y="2403812"/>
            <a:ext cx="444352"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A</a:t>
            </a:r>
            <a:endParaRPr lang="zh-CN" altLang="en-US" sz="2800" b="1" dirty="0">
              <a:latin typeface="Times New Roman" panose="02020603050405020304" pitchFamily="18" charset="0"/>
              <a:cs typeface="Times New Roman" panose="02020603050405020304" pitchFamily="18" charset="0"/>
            </a:endParaRPr>
          </a:p>
        </p:txBody>
      </p:sp>
      <p:sp>
        <p:nvSpPr>
          <p:cNvPr id="68" name="文本框 67"/>
          <p:cNvSpPr txBox="1"/>
          <p:nvPr/>
        </p:nvSpPr>
        <p:spPr>
          <a:xfrm>
            <a:off x="6663955" y="2414919"/>
            <a:ext cx="444352"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A</a:t>
            </a:r>
            <a:endParaRPr lang="zh-CN" altLang="en-US" sz="2800" b="1" dirty="0">
              <a:latin typeface="Times New Roman" panose="02020603050405020304" pitchFamily="18" charset="0"/>
              <a:cs typeface="Times New Roman" panose="02020603050405020304" pitchFamily="18" charset="0"/>
            </a:endParaRPr>
          </a:p>
        </p:txBody>
      </p:sp>
      <p:sp>
        <p:nvSpPr>
          <p:cNvPr id="69" name="文本框 68"/>
          <p:cNvSpPr txBox="1"/>
          <p:nvPr/>
        </p:nvSpPr>
        <p:spPr>
          <a:xfrm>
            <a:off x="3733177" y="2905688"/>
            <a:ext cx="543739"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a:t>
            </a:r>
            <a:endParaRPr lang="zh-CN" altLang="en-US" sz="2800" baseline="-25000" dirty="0">
              <a:latin typeface="Times New Roman" panose="02020603050405020304" pitchFamily="18" charset="0"/>
              <a:cs typeface="Times New Roman" panose="02020603050405020304" pitchFamily="18" charset="0"/>
            </a:endParaRPr>
          </a:p>
        </p:txBody>
      </p:sp>
      <p:sp>
        <p:nvSpPr>
          <p:cNvPr id="70" name="文本框 69"/>
          <p:cNvSpPr txBox="1"/>
          <p:nvPr/>
        </p:nvSpPr>
        <p:spPr>
          <a:xfrm>
            <a:off x="3748265" y="1789658"/>
            <a:ext cx="543739"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a:t>
            </a:r>
            <a:endParaRPr lang="zh-CN" altLang="en-US" sz="2800" baseline="-25000" dirty="0">
              <a:latin typeface="Times New Roman" panose="02020603050405020304" pitchFamily="18" charset="0"/>
              <a:cs typeface="Times New Roman" panose="02020603050405020304" pitchFamily="18" charset="0"/>
            </a:endParaRPr>
          </a:p>
        </p:txBody>
      </p:sp>
      <p:sp>
        <p:nvSpPr>
          <p:cNvPr id="71" name="文本框 70"/>
          <p:cNvSpPr txBox="1"/>
          <p:nvPr/>
        </p:nvSpPr>
        <p:spPr>
          <a:xfrm>
            <a:off x="3296714" y="1883258"/>
            <a:ext cx="484428"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v</a:t>
            </a:r>
            <a:r>
              <a:rPr lang="en-US" altLang="zh-CN" sz="2800" baseline="-25000" dirty="0" smtClean="0">
                <a:latin typeface="Times New Roman" panose="02020603050405020304" pitchFamily="18" charset="0"/>
                <a:cs typeface="Times New Roman" panose="02020603050405020304" pitchFamily="18" charset="0"/>
              </a:rPr>
              <a:t>2</a:t>
            </a:r>
            <a:endParaRPr lang="zh-CN" altLang="en-US" sz="2800" baseline="-25000" dirty="0">
              <a:latin typeface="Times New Roman" panose="02020603050405020304" pitchFamily="18" charset="0"/>
              <a:cs typeface="Times New Roman" panose="02020603050405020304" pitchFamily="18" charset="0"/>
            </a:endParaRPr>
          </a:p>
        </p:txBody>
      </p:sp>
      <p:sp>
        <p:nvSpPr>
          <p:cNvPr id="72" name="文本框 71"/>
          <p:cNvSpPr txBox="1"/>
          <p:nvPr/>
        </p:nvSpPr>
        <p:spPr>
          <a:xfrm>
            <a:off x="3304619" y="2995688"/>
            <a:ext cx="463588"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r</a:t>
            </a:r>
            <a:r>
              <a:rPr lang="en-US" altLang="zh-CN" sz="2800" baseline="-25000" dirty="0" smtClean="0">
                <a:latin typeface="Times New Roman" panose="02020603050405020304" pitchFamily="18" charset="0"/>
                <a:cs typeface="Times New Roman" panose="02020603050405020304" pitchFamily="18" charset="0"/>
              </a:rPr>
              <a:t>2</a:t>
            </a:r>
            <a:endParaRPr lang="zh-CN" altLang="en-US" sz="2800" baseline="-25000" dirty="0">
              <a:latin typeface="Times New Roman" panose="02020603050405020304" pitchFamily="18" charset="0"/>
              <a:cs typeface="Times New Roman" panose="02020603050405020304" pitchFamily="18" charset="0"/>
            </a:endParaRPr>
          </a:p>
        </p:txBody>
      </p:sp>
      <p:grpSp>
        <p:nvGrpSpPr>
          <p:cNvPr id="73" name="组合 72"/>
          <p:cNvGrpSpPr/>
          <p:nvPr/>
        </p:nvGrpSpPr>
        <p:grpSpPr>
          <a:xfrm>
            <a:off x="3337062" y="2382826"/>
            <a:ext cx="444352" cy="720000"/>
            <a:chOff x="3337062" y="2382826"/>
            <a:chExt cx="444352" cy="720000"/>
          </a:xfrm>
        </p:grpSpPr>
        <p:cxnSp>
          <p:nvCxnSpPr>
            <p:cNvPr id="74" name="直接箭头连接符 73"/>
            <p:cNvCxnSpPr/>
            <p:nvPr/>
          </p:nvCxnSpPr>
          <p:spPr>
            <a:xfrm>
              <a:off x="3527978" y="2382826"/>
              <a:ext cx="0" cy="72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5" name="文本框 74"/>
            <p:cNvSpPr txBox="1"/>
            <p:nvPr/>
          </p:nvSpPr>
          <p:spPr>
            <a:xfrm>
              <a:off x="3337062" y="2401290"/>
              <a:ext cx="444352"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A</a:t>
              </a:r>
              <a:endParaRPr lang="zh-CN" altLang="en-US" sz="2800" b="1" dirty="0">
                <a:latin typeface="Times New Roman" panose="02020603050405020304" pitchFamily="18" charset="0"/>
                <a:cs typeface="Times New Roman" panose="02020603050405020304" pitchFamily="18" charset="0"/>
              </a:endParaRPr>
            </a:p>
          </p:txBody>
        </p:sp>
      </p:grpSp>
      <p:sp>
        <p:nvSpPr>
          <p:cNvPr id="76" name="文本框 75"/>
          <p:cNvSpPr txBox="1"/>
          <p:nvPr/>
        </p:nvSpPr>
        <p:spPr>
          <a:xfrm>
            <a:off x="7268021" y="1788347"/>
            <a:ext cx="543739"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a:t>
            </a:r>
            <a:endParaRPr lang="zh-CN" altLang="en-US" sz="2800" baseline="-25000" dirty="0">
              <a:latin typeface="Times New Roman" panose="02020603050405020304" pitchFamily="18" charset="0"/>
              <a:cs typeface="Times New Roman" panose="02020603050405020304" pitchFamily="18" charset="0"/>
            </a:endParaRPr>
          </a:p>
        </p:txBody>
      </p:sp>
      <p:sp>
        <p:nvSpPr>
          <p:cNvPr id="77" name="文本框 76"/>
          <p:cNvSpPr txBox="1"/>
          <p:nvPr/>
        </p:nvSpPr>
        <p:spPr>
          <a:xfrm>
            <a:off x="7320910" y="2905963"/>
            <a:ext cx="543739"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a:t>
            </a:r>
            <a:endParaRPr lang="zh-CN" altLang="en-US" sz="2800" baseline="-25000" dirty="0">
              <a:latin typeface="Times New Roman" panose="02020603050405020304" pitchFamily="18" charset="0"/>
              <a:cs typeface="Times New Roman" panose="02020603050405020304" pitchFamily="18" charset="0"/>
            </a:endParaRPr>
          </a:p>
        </p:txBody>
      </p:sp>
    </p:spTree>
    <p:custDataLst>
      <p:tags r:id="rId1"/>
    </p:custDataLst>
    <p:extLst>
      <p:ext uri="{BB962C8B-B14F-4D97-AF65-F5344CB8AC3E}">
        <p14:creationId xmlns:p14="http://schemas.microsoft.com/office/powerpoint/2010/main" val="14901149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宋体" panose="02010600030101010101" pitchFamily="2" charset="-122"/>
                <a:ea typeface="宋体" panose="02010600030101010101" pitchFamily="2" charset="-122"/>
              </a:rPr>
              <a:t>关键变量的关系</a:t>
            </a:r>
            <a:endParaRPr lang="zh-CN" altLang="en-US" dirty="0">
              <a:latin typeface="宋体" panose="02010600030101010101" pitchFamily="2" charset="-122"/>
              <a:ea typeface="宋体" panose="02010600030101010101" pitchFamily="2" charset="-122"/>
            </a:endParaRPr>
          </a:p>
        </p:txBody>
      </p:sp>
      <p:sp>
        <p:nvSpPr>
          <p:cNvPr id="3" name="内容占位符 2"/>
          <p:cNvSpPr>
            <a:spLocks noGrp="1"/>
          </p:cNvSpPr>
          <p:nvPr>
            <p:ph idx="1"/>
          </p:nvPr>
        </p:nvSpPr>
        <p:spPr>
          <a:xfrm>
            <a:off x="628650" y="3734347"/>
            <a:ext cx="7886700" cy="2442616"/>
          </a:xfrm>
        </p:spPr>
        <p:txBody>
          <a:bodyPr>
            <a:normAutofit/>
          </a:bodyPr>
          <a:lstStyle/>
          <a:p>
            <a:pPr marL="0" indent="0">
              <a:buNone/>
            </a:pP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利用前面的结果证明</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r</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与</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r</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baseline="-25000" dirty="0" smtClean="0">
                <a:latin typeface="Times New Roman" panose="02020603050405020304" pitchFamily="18" charset="0"/>
                <a:ea typeface="楷体" panose="02010609060101010101" pitchFamily="49" charset="-122"/>
                <a:cs typeface="Times New Roman" panose="02020603050405020304" pitchFamily="18" charset="0"/>
              </a:rPr>
              <a:t> – 1</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垂直：</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r>
              <a:rPr lang="zh-CN" altLang="en-US" b="1" dirty="0" smtClean="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v</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由</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r</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baseline="-25000" dirty="0" smtClean="0">
                <a:latin typeface="Times New Roman" panose="02020603050405020304" pitchFamily="18" charset="0"/>
                <a:ea typeface="楷体" panose="02010609060101010101" pitchFamily="49" charset="-122"/>
                <a:cs typeface="Times New Roman" panose="02020603050405020304" pitchFamily="18" charset="0"/>
              </a:rPr>
              <a:t> – 1</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与</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v</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baseline="-25000" dirty="0" smtClean="0">
                <a:latin typeface="Times New Roman" panose="02020603050405020304" pitchFamily="18" charset="0"/>
                <a:ea typeface="楷体" panose="02010609060101010101" pitchFamily="49" charset="-122"/>
                <a:cs typeface="Times New Roman" panose="02020603050405020304" pitchFamily="18" charset="0"/>
              </a:rPr>
              <a:t> – 1</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组合而成</a:t>
            </a:r>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r>
              <a:rPr lang="zh-CN" altLang="en-US" b="1" dirty="0" smtClean="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v</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与</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r</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垂直，</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v</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baseline="-25000" dirty="0" smtClean="0">
                <a:latin typeface="Times New Roman" panose="02020603050405020304" pitchFamily="18" charset="0"/>
                <a:ea typeface="楷体" panose="02010609060101010101" pitchFamily="49" charset="-122"/>
                <a:cs typeface="Times New Roman" panose="02020603050405020304" pitchFamily="18" charset="0"/>
              </a:rPr>
              <a:t> – 1</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也与</a:t>
            </a:r>
            <a:r>
              <a:rPr lang="en-US" altLang="zh-CN" dirty="0" err="1" smtClean="0">
                <a:latin typeface="Times New Roman" panose="02020603050405020304" pitchFamily="18" charset="0"/>
                <a:ea typeface="楷体" panose="02010609060101010101" pitchFamily="49" charset="-122"/>
                <a:cs typeface="Times New Roman" panose="02020603050405020304" pitchFamily="18" charset="0"/>
              </a:rPr>
              <a:t>rk</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垂直</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r>
              <a:rPr lang="zh-CN" altLang="en-US" b="1" dirty="0" smtClean="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r</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与</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r</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baseline="-25000" dirty="0" smtClean="0">
                <a:latin typeface="Times New Roman" panose="02020603050405020304" pitchFamily="18" charset="0"/>
                <a:ea typeface="楷体" panose="02010609060101010101" pitchFamily="49" charset="-122"/>
                <a:cs typeface="Times New Roman" panose="02020603050405020304" pitchFamily="18" charset="0"/>
              </a:rPr>
              <a:t> – 1</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垂直</a:t>
            </a:r>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a:p>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0" name="文本框 39"/>
          <p:cNvSpPr txBox="1"/>
          <p:nvPr/>
        </p:nvSpPr>
        <p:spPr>
          <a:xfrm>
            <a:off x="958444" y="2994953"/>
            <a:ext cx="463588" cy="523220"/>
          </a:xfrm>
          <a:prstGeom prst="rect">
            <a:avLst/>
          </a:prstGeom>
          <a:noFill/>
        </p:spPr>
        <p:txBody>
          <a:bodyPr wrap="none" rtlCol="0">
            <a:spAutoFit/>
          </a:bodyPr>
          <a:lstStyle/>
          <a:p>
            <a:pPr algn="ctr"/>
            <a:r>
              <a:rPr lang="en-US" altLang="zh-CN" sz="2800" b="1" dirty="0" smtClean="0">
                <a:latin typeface="Times New Roman" panose="02020603050405020304" pitchFamily="18" charset="0"/>
                <a:cs typeface="Times New Roman" panose="02020603050405020304" pitchFamily="18" charset="0"/>
              </a:rPr>
              <a:t>r</a:t>
            </a:r>
            <a:r>
              <a:rPr lang="en-US" altLang="zh-CN" sz="2800" baseline="-25000" dirty="0" smtClean="0">
                <a:latin typeface="Times New Roman" panose="02020603050405020304" pitchFamily="18" charset="0"/>
                <a:cs typeface="Times New Roman" panose="02020603050405020304" pitchFamily="18" charset="0"/>
              </a:rPr>
              <a:t>0</a:t>
            </a:r>
            <a:endParaRPr lang="zh-CN" altLang="en-US" sz="2800" baseline="-25000" dirty="0">
              <a:latin typeface="Times New Roman" panose="02020603050405020304" pitchFamily="18" charset="0"/>
              <a:cs typeface="Times New Roman" panose="02020603050405020304" pitchFamily="18" charset="0"/>
            </a:endParaRPr>
          </a:p>
        </p:txBody>
      </p:sp>
      <p:sp>
        <p:nvSpPr>
          <p:cNvPr id="41" name="文本框 40"/>
          <p:cNvSpPr txBox="1"/>
          <p:nvPr/>
        </p:nvSpPr>
        <p:spPr>
          <a:xfrm>
            <a:off x="2103826" y="2994953"/>
            <a:ext cx="463588"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r</a:t>
            </a:r>
            <a:r>
              <a:rPr lang="en-US" altLang="zh-CN" sz="2800" baseline="-25000" dirty="0" smtClean="0">
                <a:latin typeface="Times New Roman" panose="02020603050405020304" pitchFamily="18" charset="0"/>
                <a:cs typeface="Times New Roman" panose="02020603050405020304" pitchFamily="18" charset="0"/>
              </a:rPr>
              <a:t>1</a:t>
            </a:r>
            <a:endParaRPr lang="zh-CN" altLang="en-US" sz="2800" baseline="-25000" dirty="0">
              <a:latin typeface="Times New Roman" panose="02020603050405020304" pitchFamily="18" charset="0"/>
              <a:cs typeface="Times New Roman" panose="02020603050405020304" pitchFamily="18" charset="0"/>
            </a:endParaRPr>
          </a:p>
        </p:txBody>
      </p:sp>
      <p:cxnSp>
        <p:nvCxnSpPr>
          <p:cNvPr id="42" name="直接箭头连接符 41"/>
          <p:cNvCxnSpPr/>
          <p:nvPr/>
        </p:nvCxnSpPr>
        <p:spPr>
          <a:xfrm>
            <a:off x="1383826" y="3255302"/>
            <a:ext cx="72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接箭头连接符 42"/>
          <p:cNvCxnSpPr/>
          <p:nvPr/>
        </p:nvCxnSpPr>
        <p:spPr>
          <a:xfrm>
            <a:off x="2567414" y="3255302"/>
            <a:ext cx="72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4" name="文本框 43"/>
          <p:cNvSpPr txBox="1"/>
          <p:nvPr/>
        </p:nvSpPr>
        <p:spPr>
          <a:xfrm>
            <a:off x="4256703" y="2996120"/>
            <a:ext cx="689612" cy="523220"/>
          </a:xfrm>
          <a:prstGeom prst="rect">
            <a:avLst/>
          </a:prstGeom>
          <a:noFill/>
        </p:spPr>
        <p:txBody>
          <a:bodyPr wrap="none" rtlCol="0">
            <a:spAutoFit/>
          </a:bodyPr>
          <a:lstStyle/>
          <a:p>
            <a:r>
              <a:rPr lang="en-US" altLang="zh-CN" sz="2800" b="1" dirty="0" err="1" smtClean="0">
                <a:latin typeface="Times New Roman" panose="02020603050405020304" pitchFamily="18" charset="0"/>
                <a:cs typeface="Times New Roman" panose="02020603050405020304" pitchFamily="18" charset="0"/>
              </a:rPr>
              <a:t>r</a:t>
            </a:r>
            <a:r>
              <a:rPr lang="en-US" altLang="zh-CN" sz="2800" i="1" baseline="-25000" dirty="0" err="1" smtClean="0">
                <a:latin typeface="Times New Roman" panose="02020603050405020304" pitchFamily="18" charset="0"/>
                <a:cs typeface="Times New Roman" panose="02020603050405020304" pitchFamily="18" charset="0"/>
              </a:rPr>
              <a:t>k</a:t>
            </a:r>
            <a:r>
              <a:rPr lang="en-US" altLang="zh-CN" sz="2800" baseline="-25000" dirty="0" smtClean="0">
                <a:latin typeface="Times New Roman" panose="02020603050405020304" pitchFamily="18" charset="0"/>
                <a:cs typeface="Times New Roman" panose="02020603050405020304" pitchFamily="18" charset="0"/>
              </a:rPr>
              <a:t>–1</a:t>
            </a:r>
            <a:endParaRPr lang="zh-CN" altLang="en-US" sz="2800" baseline="-25000" dirty="0">
              <a:latin typeface="Times New Roman" panose="02020603050405020304" pitchFamily="18" charset="0"/>
              <a:cs typeface="Times New Roman" panose="02020603050405020304" pitchFamily="18" charset="0"/>
            </a:endParaRPr>
          </a:p>
        </p:txBody>
      </p:sp>
      <p:cxnSp>
        <p:nvCxnSpPr>
          <p:cNvPr id="45" name="直接箭头连接符 44"/>
          <p:cNvCxnSpPr/>
          <p:nvPr/>
        </p:nvCxnSpPr>
        <p:spPr>
          <a:xfrm>
            <a:off x="4720291" y="3256469"/>
            <a:ext cx="72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6" name="文本框 45"/>
          <p:cNvSpPr txBox="1"/>
          <p:nvPr/>
        </p:nvSpPr>
        <p:spPr>
          <a:xfrm>
            <a:off x="5440291" y="2995688"/>
            <a:ext cx="463588" cy="523220"/>
          </a:xfrm>
          <a:prstGeom prst="rect">
            <a:avLst/>
          </a:prstGeom>
          <a:noFill/>
        </p:spPr>
        <p:txBody>
          <a:bodyPr wrap="none" rtlCol="0">
            <a:spAutoFit/>
          </a:bodyPr>
          <a:lstStyle/>
          <a:p>
            <a:r>
              <a:rPr lang="en-US" altLang="zh-CN" sz="2800" b="1" dirty="0" err="1" smtClean="0">
                <a:latin typeface="Times New Roman" panose="02020603050405020304" pitchFamily="18" charset="0"/>
                <a:cs typeface="Times New Roman" panose="02020603050405020304" pitchFamily="18" charset="0"/>
              </a:rPr>
              <a:t>r</a:t>
            </a:r>
            <a:r>
              <a:rPr lang="en-US" altLang="zh-CN" sz="2800" i="1" baseline="-25000" dirty="0" err="1" smtClean="0">
                <a:latin typeface="Times New Roman" panose="02020603050405020304" pitchFamily="18" charset="0"/>
                <a:cs typeface="Times New Roman" panose="02020603050405020304" pitchFamily="18" charset="0"/>
              </a:rPr>
              <a:t>k</a:t>
            </a:r>
            <a:endParaRPr lang="zh-CN" altLang="en-US" sz="2800" i="1" baseline="-25000" dirty="0">
              <a:latin typeface="Times New Roman" panose="02020603050405020304" pitchFamily="18" charset="0"/>
              <a:cs typeface="Times New Roman" panose="02020603050405020304" pitchFamily="18" charset="0"/>
            </a:endParaRPr>
          </a:p>
        </p:txBody>
      </p:sp>
      <p:cxnSp>
        <p:nvCxnSpPr>
          <p:cNvPr id="47" name="直接箭头连接符 46"/>
          <p:cNvCxnSpPr/>
          <p:nvPr/>
        </p:nvCxnSpPr>
        <p:spPr>
          <a:xfrm>
            <a:off x="5903879" y="3255302"/>
            <a:ext cx="72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8" name="文本框 47"/>
          <p:cNvSpPr txBox="1"/>
          <p:nvPr/>
        </p:nvSpPr>
        <p:spPr>
          <a:xfrm>
            <a:off x="2103826" y="1884753"/>
            <a:ext cx="484428"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v</a:t>
            </a:r>
            <a:r>
              <a:rPr lang="en-US" altLang="zh-CN" sz="2800" baseline="-25000" dirty="0" smtClean="0">
                <a:latin typeface="Times New Roman" panose="02020603050405020304" pitchFamily="18" charset="0"/>
                <a:cs typeface="Times New Roman" panose="02020603050405020304" pitchFamily="18" charset="0"/>
              </a:rPr>
              <a:t>1</a:t>
            </a:r>
            <a:endParaRPr lang="zh-CN" altLang="en-US" sz="2800" baseline="-25000" dirty="0">
              <a:latin typeface="Times New Roman" panose="02020603050405020304" pitchFamily="18" charset="0"/>
              <a:cs typeface="Times New Roman" panose="02020603050405020304" pitchFamily="18" charset="0"/>
            </a:endParaRPr>
          </a:p>
        </p:txBody>
      </p:sp>
      <p:sp>
        <p:nvSpPr>
          <p:cNvPr id="49" name="文本框 48"/>
          <p:cNvSpPr txBox="1"/>
          <p:nvPr/>
        </p:nvSpPr>
        <p:spPr>
          <a:xfrm>
            <a:off x="4256703" y="1883258"/>
            <a:ext cx="710451" cy="523220"/>
          </a:xfrm>
          <a:prstGeom prst="rect">
            <a:avLst/>
          </a:prstGeom>
          <a:noFill/>
        </p:spPr>
        <p:txBody>
          <a:bodyPr wrap="none" rtlCol="0">
            <a:spAutoFit/>
          </a:bodyPr>
          <a:lstStyle/>
          <a:p>
            <a:r>
              <a:rPr lang="en-US" altLang="zh-CN" sz="2800" b="1" dirty="0" err="1" smtClean="0">
                <a:latin typeface="Times New Roman" panose="02020603050405020304" pitchFamily="18" charset="0"/>
                <a:cs typeface="Times New Roman" panose="02020603050405020304" pitchFamily="18" charset="0"/>
              </a:rPr>
              <a:t>v</a:t>
            </a:r>
            <a:r>
              <a:rPr lang="en-US" altLang="zh-CN" sz="2800" i="1" baseline="-25000" dirty="0" err="1" smtClean="0">
                <a:latin typeface="Times New Roman" panose="02020603050405020304" pitchFamily="18" charset="0"/>
                <a:cs typeface="Times New Roman" panose="02020603050405020304" pitchFamily="18" charset="0"/>
              </a:rPr>
              <a:t>k</a:t>
            </a:r>
            <a:r>
              <a:rPr lang="en-US" altLang="zh-CN" sz="2800" baseline="-25000" dirty="0" smtClean="0">
                <a:latin typeface="Times New Roman" panose="02020603050405020304" pitchFamily="18" charset="0"/>
                <a:cs typeface="Times New Roman" panose="02020603050405020304" pitchFamily="18" charset="0"/>
              </a:rPr>
              <a:t>–1</a:t>
            </a:r>
            <a:endParaRPr lang="zh-CN" altLang="en-US" sz="2800" baseline="-25000" dirty="0">
              <a:latin typeface="Times New Roman" panose="02020603050405020304" pitchFamily="18" charset="0"/>
              <a:cs typeface="Times New Roman" panose="02020603050405020304" pitchFamily="18" charset="0"/>
            </a:endParaRPr>
          </a:p>
        </p:txBody>
      </p:sp>
      <p:cxnSp>
        <p:nvCxnSpPr>
          <p:cNvPr id="50" name="直接箭头连接符 49"/>
          <p:cNvCxnSpPr/>
          <p:nvPr/>
        </p:nvCxnSpPr>
        <p:spPr>
          <a:xfrm>
            <a:off x="4720291" y="2146269"/>
            <a:ext cx="72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1" name="文本框 50"/>
          <p:cNvSpPr txBox="1"/>
          <p:nvPr/>
        </p:nvSpPr>
        <p:spPr>
          <a:xfrm>
            <a:off x="5440291" y="1883258"/>
            <a:ext cx="484428" cy="523220"/>
          </a:xfrm>
          <a:prstGeom prst="rect">
            <a:avLst/>
          </a:prstGeom>
          <a:noFill/>
        </p:spPr>
        <p:txBody>
          <a:bodyPr wrap="none" rtlCol="0">
            <a:spAutoFit/>
          </a:bodyPr>
          <a:lstStyle/>
          <a:p>
            <a:r>
              <a:rPr lang="en-US" altLang="zh-CN" sz="2800" b="1" dirty="0" err="1" smtClean="0">
                <a:latin typeface="Times New Roman" panose="02020603050405020304" pitchFamily="18" charset="0"/>
                <a:cs typeface="Times New Roman" panose="02020603050405020304" pitchFamily="18" charset="0"/>
              </a:rPr>
              <a:t>v</a:t>
            </a:r>
            <a:r>
              <a:rPr lang="en-US" altLang="zh-CN" sz="2800" i="1" baseline="-25000" dirty="0" err="1" smtClean="0">
                <a:latin typeface="Times New Roman" panose="02020603050405020304" pitchFamily="18" charset="0"/>
                <a:cs typeface="Times New Roman" panose="02020603050405020304" pitchFamily="18" charset="0"/>
              </a:rPr>
              <a:t>k</a:t>
            </a:r>
            <a:endParaRPr lang="zh-CN" altLang="en-US" sz="2800" i="1" baseline="-25000" dirty="0">
              <a:latin typeface="Times New Roman" panose="02020603050405020304" pitchFamily="18" charset="0"/>
              <a:cs typeface="Times New Roman" panose="02020603050405020304" pitchFamily="18" charset="0"/>
            </a:endParaRPr>
          </a:p>
        </p:txBody>
      </p:sp>
      <p:cxnSp>
        <p:nvCxnSpPr>
          <p:cNvPr id="52" name="直接箭头连接符 51"/>
          <p:cNvCxnSpPr/>
          <p:nvPr/>
        </p:nvCxnSpPr>
        <p:spPr>
          <a:xfrm>
            <a:off x="5903879" y="2147624"/>
            <a:ext cx="72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3" name="文本框 52"/>
          <p:cNvSpPr txBox="1"/>
          <p:nvPr/>
        </p:nvSpPr>
        <p:spPr>
          <a:xfrm>
            <a:off x="6623879" y="1883258"/>
            <a:ext cx="724878"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v</a:t>
            </a:r>
            <a:r>
              <a:rPr lang="en-US" altLang="zh-CN" sz="2800" i="1" baseline="-25000" dirty="0" smtClean="0">
                <a:latin typeface="Times New Roman" panose="02020603050405020304" pitchFamily="18" charset="0"/>
                <a:cs typeface="Times New Roman" panose="02020603050405020304" pitchFamily="18" charset="0"/>
              </a:rPr>
              <a:t>k</a:t>
            </a:r>
            <a:r>
              <a:rPr lang="en-US" altLang="zh-CN" sz="2800" baseline="-25000" dirty="0" smtClean="0">
                <a:latin typeface="Times New Roman" panose="02020603050405020304" pitchFamily="18" charset="0"/>
                <a:cs typeface="Times New Roman" panose="02020603050405020304" pitchFamily="18" charset="0"/>
              </a:rPr>
              <a:t>+1</a:t>
            </a:r>
            <a:endParaRPr lang="zh-CN" altLang="en-US" sz="2800" baseline="-25000" dirty="0">
              <a:latin typeface="Times New Roman" panose="02020603050405020304" pitchFamily="18" charset="0"/>
              <a:cs typeface="Times New Roman" panose="02020603050405020304" pitchFamily="18" charset="0"/>
            </a:endParaRPr>
          </a:p>
        </p:txBody>
      </p:sp>
      <p:cxnSp>
        <p:nvCxnSpPr>
          <p:cNvPr id="54" name="直接箭头连接符 53"/>
          <p:cNvCxnSpPr/>
          <p:nvPr/>
        </p:nvCxnSpPr>
        <p:spPr>
          <a:xfrm flipV="1">
            <a:off x="1383826" y="2383200"/>
            <a:ext cx="720000" cy="72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直接箭头连接符 54"/>
          <p:cNvCxnSpPr/>
          <p:nvPr/>
        </p:nvCxnSpPr>
        <p:spPr>
          <a:xfrm>
            <a:off x="2567414" y="2145102"/>
            <a:ext cx="72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6" name="直接箭头连接符 55"/>
          <p:cNvCxnSpPr/>
          <p:nvPr/>
        </p:nvCxnSpPr>
        <p:spPr>
          <a:xfrm flipV="1">
            <a:off x="2588254" y="2383200"/>
            <a:ext cx="720000" cy="72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直接箭头连接符 56"/>
          <p:cNvCxnSpPr/>
          <p:nvPr/>
        </p:nvCxnSpPr>
        <p:spPr>
          <a:xfrm flipV="1">
            <a:off x="4729591" y="2383200"/>
            <a:ext cx="720000" cy="72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8" name="直接箭头连接符 57"/>
          <p:cNvCxnSpPr/>
          <p:nvPr/>
        </p:nvCxnSpPr>
        <p:spPr>
          <a:xfrm flipV="1">
            <a:off x="5891269" y="2383200"/>
            <a:ext cx="720000" cy="72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9" name="直接箭头连接符 58"/>
          <p:cNvCxnSpPr/>
          <p:nvPr/>
        </p:nvCxnSpPr>
        <p:spPr>
          <a:xfrm>
            <a:off x="4488497" y="2383200"/>
            <a:ext cx="0" cy="72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直接箭头连接符 59"/>
          <p:cNvCxnSpPr/>
          <p:nvPr/>
        </p:nvCxnSpPr>
        <p:spPr>
          <a:xfrm>
            <a:off x="5672085" y="2383200"/>
            <a:ext cx="0" cy="72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1" name="文本框 60"/>
          <p:cNvSpPr txBox="1"/>
          <p:nvPr/>
        </p:nvSpPr>
        <p:spPr>
          <a:xfrm>
            <a:off x="6614180" y="2995688"/>
            <a:ext cx="704039"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r</a:t>
            </a:r>
            <a:r>
              <a:rPr lang="en-US" altLang="zh-CN" sz="2800" i="1" baseline="-25000" dirty="0" smtClean="0">
                <a:latin typeface="Times New Roman" panose="02020603050405020304" pitchFamily="18" charset="0"/>
                <a:cs typeface="Times New Roman" panose="02020603050405020304" pitchFamily="18" charset="0"/>
              </a:rPr>
              <a:t>k</a:t>
            </a:r>
            <a:r>
              <a:rPr lang="en-US" altLang="zh-CN" sz="2800" baseline="-25000" dirty="0" smtClean="0">
                <a:latin typeface="Times New Roman" panose="02020603050405020304" pitchFamily="18" charset="0"/>
                <a:cs typeface="Times New Roman" panose="02020603050405020304" pitchFamily="18" charset="0"/>
              </a:rPr>
              <a:t>+1</a:t>
            </a:r>
            <a:endParaRPr lang="zh-CN" altLang="en-US" sz="2800" baseline="-25000" dirty="0">
              <a:latin typeface="Times New Roman" panose="02020603050405020304" pitchFamily="18" charset="0"/>
              <a:cs typeface="Times New Roman" panose="02020603050405020304" pitchFamily="18" charset="0"/>
            </a:endParaRPr>
          </a:p>
        </p:txBody>
      </p:sp>
      <p:cxnSp>
        <p:nvCxnSpPr>
          <p:cNvPr id="62" name="直接箭头连接符 61"/>
          <p:cNvCxnSpPr/>
          <p:nvPr/>
        </p:nvCxnSpPr>
        <p:spPr>
          <a:xfrm>
            <a:off x="6840524" y="2383200"/>
            <a:ext cx="0" cy="72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63" name="组合 62"/>
          <p:cNvGrpSpPr/>
          <p:nvPr/>
        </p:nvGrpSpPr>
        <p:grpSpPr>
          <a:xfrm>
            <a:off x="2155124" y="2382826"/>
            <a:ext cx="444352" cy="720000"/>
            <a:chOff x="2155124" y="2382826"/>
            <a:chExt cx="444352" cy="720000"/>
          </a:xfrm>
        </p:grpSpPr>
        <p:cxnSp>
          <p:nvCxnSpPr>
            <p:cNvPr id="64" name="直接箭头连接符 63"/>
            <p:cNvCxnSpPr/>
            <p:nvPr/>
          </p:nvCxnSpPr>
          <p:spPr>
            <a:xfrm>
              <a:off x="2346040" y="2382826"/>
              <a:ext cx="0" cy="72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5" name="文本框 64"/>
            <p:cNvSpPr txBox="1"/>
            <p:nvPr/>
          </p:nvSpPr>
          <p:spPr>
            <a:xfrm>
              <a:off x="2155124" y="2401290"/>
              <a:ext cx="444352"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A</a:t>
              </a:r>
              <a:endParaRPr lang="zh-CN" altLang="en-US" sz="2800" b="1" dirty="0">
                <a:latin typeface="Times New Roman" panose="02020603050405020304" pitchFamily="18" charset="0"/>
                <a:cs typeface="Times New Roman" panose="02020603050405020304" pitchFamily="18" charset="0"/>
              </a:endParaRPr>
            </a:p>
          </p:txBody>
        </p:sp>
      </p:grpSp>
      <p:sp>
        <p:nvSpPr>
          <p:cNvPr id="66" name="文本框 65"/>
          <p:cNvSpPr txBox="1"/>
          <p:nvPr/>
        </p:nvSpPr>
        <p:spPr>
          <a:xfrm>
            <a:off x="4296460" y="2413564"/>
            <a:ext cx="444352"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A</a:t>
            </a:r>
            <a:endParaRPr lang="zh-CN" altLang="en-US" sz="2800" b="1" dirty="0">
              <a:latin typeface="Times New Roman" panose="02020603050405020304" pitchFamily="18" charset="0"/>
              <a:cs typeface="Times New Roman" panose="02020603050405020304" pitchFamily="18" charset="0"/>
            </a:endParaRPr>
          </a:p>
        </p:txBody>
      </p:sp>
      <p:sp>
        <p:nvSpPr>
          <p:cNvPr id="67" name="文本框 66"/>
          <p:cNvSpPr txBox="1"/>
          <p:nvPr/>
        </p:nvSpPr>
        <p:spPr>
          <a:xfrm>
            <a:off x="5480367" y="2403812"/>
            <a:ext cx="444352"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A</a:t>
            </a:r>
            <a:endParaRPr lang="zh-CN" altLang="en-US" sz="2800" b="1" dirty="0">
              <a:latin typeface="Times New Roman" panose="02020603050405020304" pitchFamily="18" charset="0"/>
              <a:cs typeface="Times New Roman" panose="02020603050405020304" pitchFamily="18" charset="0"/>
            </a:endParaRPr>
          </a:p>
        </p:txBody>
      </p:sp>
      <p:sp>
        <p:nvSpPr>
          <p:cNvPr id="68" name="文本框 67"/>
          <p:cNvSpPr txBox="1"/>
          <p:nvPr/>
        </p:nvSpPr>
        <p:spPr>
          <a:xfrm>
            <a:off x="6663955" y="2414919"/>
            <a:ext cx="444352"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A</a:t>
            </a:r>
            <a:endParaRPr lang="zh-CN" altLang="en-US" sz="2800" b="1" dirty="0">
              <a:latin typeface="Times New Roman" panose="02020603050405020304" pitchFamily="18" charset="0"/>
              <a:cs typeface="Times New Roman" panose="02020603050405020304" pitchFamily="18" charset="0"/>
            </a:endParaRPr>
          </a:p>
        </p:txBody>
      </p:sp>
      <p:sp>
        <p:nvSpPr>
          <p:cNvPr id="69" name="文本框 68"/>
          <p:cNvSpPr txBox="1"/>
          <p:nvPr/>
        </p:nvSpPr>
        <p:spPr>
          <a:xfrm>
            <a:off x="3733177" y="2905688"/>
            <a:ext cx="543739"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a:t>
            </a:r>
            <a:endParaRPr lang="zh-CN" altLang="en-US" sz="2800" baseline="-25000" dirty="0">
              <a:latin typeface="Times New Roman" panose="02020603050405020304" pitchFamily="18" charset="0"/>
              <a:cs typeface="Times New Roman" panose="02020603050405020304" pitchFamily="18" charset="0"/>
            </a:endParaRPr>
          </a:p>
        </p:txBody>
      </p:sp>
      <p:sp>
        <p:nvSpPr>
          <p:cNvPr id="70" name="文本框 69"/>
          <p:cNvSpPr txBox="1"/>
          <p:nvPr/>
        </p:nvSpPr>
        <p:spPr>
          <a:xfrm>
            <a:off x="3748265" y="1789658"/>
            <a:ext cx="543739"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a:t>
            </a:r>
            <a:endParaRPr lang="zh-CN" altLang="en-US" sz="2800" baseline="-25000" dirty="0">
              <a:latin typeface="Times New Roman" panose="02020603050405020304" pitchFamily="18" charset="0"/>
              <a:cs typeface="Times New Roman" panose="02020603050405020304" pitchFamily="18" charset="0"/>
            </a:endParaRPr>
          </a:p>
        </p:txBody>
      </p:sp>
      <p:sp>
        <p:nvSpPr>
          <p:cNvPr id="71" name="文本框 70"/>
          <p:cNvSpPr txBox="1"/>
          <p:nvPr/>
        </p:nvSpPr>
        <p:spPr>
          <a:xfrm>
            <a:off x="3296714" y="1883258"/>
            <a:ext cx="484428"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v</a:t>
            </a:r>
            <a:r>
              <a:rPr lang="en-US" altLang="zh-CN" sz="2800" baseline="-25000" dirty="0" smtClean="0">
                <a:latin typeface="Times New Roman" panose="02020603050405020304" pitchFamily="18" charset="0"/>
                <a:cs typeface="Times New Roman" panose="02020603050405020304" pitchFamily="18" charset="0"/>
              </a:rPr>
              <a:t>2</a:t>
            </a:r>
            <a:endParaRPr lang="zh-CN" altLang="en-US" sz="2800" baseline="-25000" dirty="0">
              <a:latin typeface="Times New Roman" panose="02020603050405020304" pitchFamily="18" charset="0"/>
              <a:cs typeface="Times New Roman" panose="02020603050405020304" pitchFamily="18" charset="0"/>
            </a:endParaRPr>
          </a:p>
        </p:txBody>
      </p:sp>
      <p:sp>
        <p:nvSpPr>
          <p:cNvPr id="72" name="文本框 71"/>
          <p:cNvSpPr txBox="1"/>
          <p:nvPr/>
        </p:nvSpPr>
        <p:spPr>
          <a:xfrm>
            <a:off x="3304619" y="2995688"/>
            <a:ext cx="463588"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r</a:t>
            </a:r>
            <a:r>
              <a:rPr lang="en-US" altLang="zh-CN" sz="2800" baseline="-25000" dirty="0" smtClean="0">
                <a:latin typeface="Times New Roman" panose="02020603050405020304" pitchFamily="18" charset="0"/>
                <a:cs typeface="Times New Roman" panose="02020603050405020304" pitchFamily="18" charset="0"/>
              </a:rPr>
              <a:t>2</a:t>
            </a:r>
            <a:endParaRPr lang="zh-CN" altLang="en-US" sz="2800" baseline="-25000" dirty="0">
              <a:latin typeface="Times New Roman" panose="02020603050405020304" pitchFamily="18" charset="0"/>
              <a:cs typeface="Times New Roman" panose="02020603050405020304" pitchFamily="18" charset="0"/>
            </a:endParaRPr>
          </a:p>
        </p:txBody>
      </p:sp>
      <p:grpSp>
        <p:nvGrpSpPr>
          <p:cNvPr id="73" name="组合 72"/>
          <p:cNvGrpSpPr/>
          <p:nvPr/>
        </p:nvGrpSpPr>
        <p:grpSpPr>
          <a:xfrm>
            <a:off x="3337062" y="2382826"/>
            <a:ext cx="444352" cy="720000"/>
            <a:chOff x="3337062" y="2382826"/>
            <a:chExt cx="444352" cy="720000"/>
          </a:xfrm>
        </p:grpSpPr>
        <p:cxnSp>
          <p:nvCxnSpPr>
            <p:cNvPr id="74" name="直接箭头连接符 73"/>
            <p:cNvCxnSpPr/>
            <p:nvPr/>
          </p:nvCxnSpPr>
          <p:spPr>
            <a:xfrm>
              <a:off x="3527978" y="2382826"/>
              <a:ext cx="0" cy="72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5" name="文本框 74"/>
            <p:cNvSpPr txBox="1"/>
            <p:nvPr/>
          </p:nvSpPr>
          <p:spPr>
            <a:xfrm>
              <a:off x="3337062" y="2401290"/>
              <a:ext cx="444352"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A</a:t>
              </a:r>
              <a:endParaRPr lang="zh-CN" altLang="en-US" sz="2800" b="1" dirty="0">
                <a:latin typeface="Times New Roman" panose="02020603050405020304" pitchFamily="18" charset="0"/>
                <a:cs typeface="Times New Roman" panose="02020603050405020304" pitchFamily="18" charset="0"/>
              </a:endParaRPr>
            </a:p>
          </p:txBody>
        </p:sp>
      </p:grpSp>
      <p:sp>
        <p:nvSpPr>
          <p:cNvPr id="76" name="文本框 75"/>
          <p:cNvSpPr txBox="1"/>
          <p:nvPr/>
        </p:nvSpPr>
        <p:spPr>
          <a:xfrm>
            <a:off x="7268021" y="1788347"/>
            <a:ext cx="543739"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a:t>
            </a:r>
            <a:endParaRPr lang="zh-CN" altLang="en-US" sz="2800" baseline="-25000" dirty="0">
              <a:latin typeface="Times New Roman" panose="02020603050405020304" pitchFamily="18" charset="0"/>
              <a:cs typeface="Times New Roman" panose="02020603050405020304" pitchFamily="18" charset="0"/>
            </a:endParaRPr>
          </a:p>
        </p:txBody>
      </p:sp>
      <p:sp>
        <p:nvSpPr>
          <p:cNvPr id="77" name="文本框 76"/>
          <p:cNvSpPr txBox="1"/>
          <p:nvPr/>
        </p:nvSpPr>
        <p:spPr>
          <a:xfrm>
            <a:off x="7320910" y="2905963"/>
            <a:ext cx="543739"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a:t>
            </a:r>
            <a:endParaRPr lang="zh-CN" altLang="en-US" sz="2800" baseline="-25000" dirty="0">
              <a:latin typeface="Times New Roman" panose="02020603050405020304" pitchFamily="18" charset="0"/>
              <a:cs typeface="Times New Roman" panose="02020603050405020304" pitchFamily="18" charset="0"/>
            </a:endParaRPr>
          </a:p>
        </p:txBody>
      </p:sp>
    </p:spTree>
    <p:custDataLst>
      <p:tags r:id="rId1"/>
    </p:custDataLst>
    <p:extLst>
      <p:ext uri="{BB962C8B-B14F-4D97-AF65-F5344CB8AC3E}">
        <p14:creationId xmlns:p14="http://schemas.microsoft.com/office/powerpoint/2010/main" val="29346785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宋体" panose="02010600030101010101" pitchFamily="2" charset="-122"/>
                <a:ea typeface="宋体" panose="02010600030101010101" pitchFamily="2" charset="-122"/>
              </a:rPr>
              <a:t>关键变量的关系</a:t>
            </a:r>
            <a:endParaRPr lang="zh-CN" altLang="en-US" dirty="0">
              <a:latin typeface="宋体" panose="02010600030101010101" pitchFamily="2" charset="-122"/>
              <a:ea typeface="宋体" panose="02010600030101010101" pitchFamily="2" charset="-122"/>
            </a:endParaRPr>
          </a:p>
        </p:txBody>
      </p:sp>
      <p:sp>
        <p:nvSpPr>
          <p:cNvPr id="3" name="内容占位符 2"/>
          <p:cNvSpPr>
            <a:spLocks noGrp="1"/>
          </p:cNvSpPr>
          <p:nvPr>
            <p:ph idx="1"/>
          </p:nvPr>
        </p:nvSpPr>
        <p:spPr>
          <a:xfrm>
            <a:off x="628650" y="3734347"/>
            <a:ext cx="7886700" cy="2442616"/>
          </a:xfrm>
        </p:spPr>
        <p:txBody>
          <a:bodyPr>
            <a:normAutofit lnSpcReduction="10000"/>
          </a:bodyPr>
          <a:lstStyle/>
          <a:p>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相邻的两个</a:t>
            </a: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r</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互相垂直</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相邻的两个</a:t>
            </a: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v</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关于</a:t>
            </a: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A</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共轭</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基于第二类数学归纳法证明：</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r</a:t>
            </a:r>
            <a:r>
              <a:rPr lang="en-US" altLang="zh-CN" baseline="-25000" dirty="0" smtClean="0">
                <a:latin typeface="Times New Roman" panose="02020603050405020304" pitchFamily="18" charset="0"/>
                <a:ea typeface="楷体" panose="02010609060101010101" pitchFamily="49" charset="-122"/>
                <a:cs typeface="Times New Roman" panose="02020603050405020304" pitchFamily="18" charset="0"/>
              </a:rPr>
              <a:t>0</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a:t>
            </a: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r</a:t>
            </a:r>
            <a:r>
              <a:rPr lang="en-US" altLang="zh-CN" baseline="-25000" dirty="0" smtClean="0">
                <a:latin typeface="Times New Roman" panose="02020603050405020304" pitchFamily="18" charset="0"/>
                <a:ea typeface="楷体" panose="02010609060101010101" pitchFamily="49" charset="-122"/>
                <a:cs typeface="Times New Roman" panose="02020603050405020304" pitchFamily="18" charset="0"/>
              </a:rPr>
              <a:t>1</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 </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r</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两两垂直</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v</a:t>
            </a:r>
            <a:r>
              <a:rPr lang="en-US" altLang="zh-CN" baseline="-25000" dirty="0" smtClean="0">
                <a:latin typeface="Times New Roman" panose="02020603050405020304" pitchFamily="18" charset="0"/>
                <a:ea typeface="楷体" panose="02010609060101010101" pitchFamily="49" charset="-122"/>
                <a:cs typeface="Times New Roman" panose="02020603050405020304" pitchFamily="18" charset="0"/>
              </a:rPr>
              <a:t>1</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a:t>
            </a: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v</a:t>
            </a:r>
            <a:r>
              <a:rPr lang="en-US" altLang="zh-CN" baseline="-25000" dirty="0" smtClean="0">
                <a:latin typeface="Times New Roman" panose="02020603050405020304" pitchFamily="18" charset="0"/>
                <a:ea typeface="楷体" panose="02010609060101010101" pitchFamily="49" charset="-122"/>
                <a:cs typeface="Times New Roman" panose="02020603050405020304" pitchFamily="18" charset="0"/>
              </a:rPr>
              <a:t>2</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 </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v</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a:t>
            </a:r>
            <a:r>
              <a:rPr lang="en-US" altLang="zh-CN"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两两共轭</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0" name="文本框 39"/>
          <p:cNvSpPr txBox="1"/>
          <p:nvPr/>
        </p:nvSpPr>
        <p:spPr>
          <a:xfrm>
            <a:off x="958444" y="2994953"/>
            <a:ext cx="463588" cy="523220"/>
          </a:xfrm>
          <a:prstGeom prst="rect">
            <a:avLst/>
          </a:prstGeom>
          <a:noFill/>
        </p:spPr>
        <p:txBody>
          <a:bodyPr wrap="none" rtlCol="0">
            <a:spAutoFit/>
          </a:bodyPr>
          <a:lstStyle/>
          <a:p>
            <a:pPr algn="ctr"/>
            <a:r>
              <a:rPr lang="en-US" altLang="zh-CN" sz="2800" b="1" dirty="0" smtClean="0">
                <a:latin typeface="Times New Roman" panose="02020603050405020304" pitchFamily="18" charset="0"/>
                <a:cs typeface="Times New Roman" panose="02020603050405020304" pitchFamily="18" charset="0"/>
              </a:rPr>
              <a:t>r</a:t>
            </a:r>
            <a:r>
              <a:rPr lang="en-US" altLang="zh-CN" sz="2800" baseline="-25000" dirty="0" smtClean="0">
                <a:latin typeface="Times New Roman" panose="02020603050405020304" pitchFamily="18" charset="0"/>
                <a:cs typeface="Times New Roman" panose="02020603050405020304" pitchFamily="18" charset="0"/>
              </a:rPr>
              <a:t>0</a:t>
            </a:r>
            <a:endParaRPr lang="zh-CN" altLang="en-US" sz="2800" baseline="-25000" dirty="0">
              <a:latin typeface="Times New Roman" panose="02020603050405020304" pitchFamily="18" charset="0"/>
              <a:cs typeface="Times New Roman" panose="02020603050405020304" pitchFamily="18" charset="0"/>
            </a:endParaRPr>
          </a:p>
        </p:txBody>
      </p:sp>
      <p:sp>
        <p:nvSpPr>
          <p:cNvPr id="41" name="文本框 40"/>
          <p:cNvSpPr txBox="1"/>
          <p:nvPr/>
        </p:nvSpPr>
        <p:spPr>
          <a:xfrm>
            <a:off x="2103826" y="2994953"/>
            <a:ext cx="463588"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r</a:t>
            </a:r>
            <a:r>
              <a:rPr lang="en-US" altLang="zh-CN" sz="2800" baseline="-25000" dirty="0" smtClean="0">
                <a:latin typeface="Times New Roman" panose="02020603050405020304" pitchFamily="18" charset="0"/>
                <a:cs typeface="Times New Roman" panose="02020603050405020304" pitchFamily="18" charset="0"/>
              </a:rPr>
              <a:t>1</a:t>
            </a:r>
            <a:endParaRPr lang="zh-CN" altLang="en-US" sz="2800" baseline="-25000" dirty="0">
              <a:latin typeface="Times New Roman" panose="02020603050405020304" pitchFamily="18" charset="0"/>
              <a:cs typeface="Times New Roman" panose="02020603050405020304" pitchFamily="18" charset="0"/>
            </a:endParaRPr>
          </a:p>
        </p:txBody>
      </p:sp>
      <p:cxnSp>
        <p:nvCxnSpPr>
          <p:cNvPr id="42" name="直接箭头连接符 41"/>
          <p:cNvCxnSpPr/>
          <p:nvPr/>
        </p:nvCxnSpPr>
        <p:spPr>
          <a:xfrm>
            <a:off x="1383826" y="3255302"/>
            <a:ext cx="72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接箭头连接符 42"/>
          <p:cNvCxnSpPr/>
          <p:nvPr/>
        </p:nvCxnSpPr>
        <p:spPr>
          <a:xfrm>
            <a:off x="2567414" y="3255302"/>
            <a:ext cx="72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4" name="文本框 43"/>
          <p:cNvSpPr txBox="1"/>
          <p:nvPr/>
        </p:nvSpPr>
        <p:spPr>
          <a:xfrm>
            <a:off x="4256703" y="2996120"/>
            <a:ext cx="689612" cy="523220"/>
          </a:xfrm>
          <a:prstGeom prst="rect">
            <a:avLst/>
          </a:prstGeom>
          <a:noFill/>
        </p:spPr>
        <p:txBody>
          <a:bodyPr wrap="none" rtlCol="0">
            <a:spAutoFit/>
          </a:bodyPr>
          <a:lstStyle/>
          <a:p>
            <a:r>
              <a:rPr lang="en-US" altLang="zh-CN" sz="2800" b="1" dirty="0" err="1" smtClean="0">
                <a:latin typeface="Times New Roman" panose="02020603050405020304" pitchFamily="18" charset="0"/>
                <a:cs typeface="Times New Roman" panose="02020603050405020304" pitchFamily="18" charset="0"/>
              </a:rPr>
              <a:t>r</a:t>
            </a:r>
            <a:r>
              <a:rPr lang="en-US" altLang="zh-CN" sz="2800" i="1" baseline="-25000" dirty="0" err="1" smtClean="0">
                <a:latin typeface="Times New Roman" panose="02020603050405020304" pitchFamily="18" charset="0"/>
                <a:cs typeface="Times New Roman" panose="02020603050405020304" pitchFamily="18" charset="0"/>
              </a:rPr>
              <a:t>k</a:t>
            </a:r>
            <a:r>
              <a:rPr lang="en-US" altLang="zh-CN" sz="2800" baseline="-25000" dirty="0" smtClean="0">
                <a:latin typeface="Times New Roman" panose="02020603050405020304" pitchFamily="18" charset="0"/>
                <a:cs typeface="Times New Roman" panose="02020603050405020304" pitchFamily="18" charset="0"/>
              </a:rPr>
              <a:t>–1</a:t>
            </a:r>
            <a:endParaRPr lang="zh-CN" altLang="en-US" sz="2800" baseline="-25000" dirty="0">
              <a:latin typeface="Times New Roman" panose="02020603050405020304" pitchFamily="18" charset="0"/>
              <a:cs typeface="Times New Roman" panose="02020603050405020304" pitchFamily="18" charset="0"/>
            </a:endParaRPr>
          </a:p>
        </p:txBody>
      </p:sp>
      <p:cxnSp>
        <p:nvCxnSpPr>
          <p:cNvPr id="45" name="直接箭头连接符 44"/>
          <p:cNvCxnSpPr/>
          <p:nvPr/>
        </p:nvCxnSpPr>
        <p:spPr>
          <a:xfrm>
            <a:off x="4720291" y="3256469"/>
            <a:ext cx="72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6" name="文本框 45"/>
          <p:cNvSpPr txBox="1"/>
          <p:nvPr/>
        </p:nvSpPr>
        <p:spPr>
          <a:xfrm>
            <a:off x="5440291" y="2995688"/>
            <a:ext cx="463588" cy="523220"/>
          </a:xfrm>
          <a:prstGeom prst="rect">
            <a:avLst/>
          </a:prstGeom>
          <a:noFill/>
        </p:spPr>
        <p:txBody>
          <a:bodyPr wrap="none" rtlCol="0">
            <a:spAutoFit/>
          </a:bodyPr>
          <a:lstStyle/>
          <a:p>
            <a:r>
              <a:rPr lang="en-US" altLang="zh-CN" sz="2800" b="1" dirty="0" err="1" smtClean="0">
                <a:latin typeface="Times New Roman" panose="02020603050405020304" pitchFamily="18" charset="0"/>
                <a:cs typeface="Times New Roman" panose="02020603050405020304" pitchFamily="18" charset="0"/>
              </a:rPr>
              <a:t>r</a:t>
            </a:r>
            <a:r>
              <a:rPr lang="en-US" altLang="zh-CN" sz="2800" i="1" baseline="-25000" dirty="0" err="1" smtClean="0">
                <a:latin typeface="Times New Roman" panose="02020603050405020304" pitchFamily="18" charset="0"/>
                <a:cs typeface="Times New Roman" panose="02020603050405020304" pitchFamily="18" charset="0"/>
              </a:rPr>
              <a:t>k</a:t>
            </a:r>
            <a:endParaRPr lang="zh-CN" altLang="en-US" sz="2800" i="1" baseline="-25000" dirty="0">
              <a:latin typeface="Times New Roman" panose="02020603050405020304" pitchFamily="18" charset="0"/>
              <a:cs typeface="Times New Roman" panose="02020603050405020304" pitchFamily="18" charset="0"/>
            </a:endParaRPr>
          </a:p>
        </p:txBody>
      </p:sp>
      <p:cxnSp>
        <p:nvCxnSpPr>
          <p:cNvPr id="47" name="直接箭头连接符 46"/>
          <p:cNvCxnSpPr/>
          <p:nvPr/>
        </p:nvCxnSpPr>
        <p:spPr>
          <a:xfrm>
            <a:off x="5903879" y="3255302"/>
            <a:ext cx="72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8" name="文本框 47"/>
          <p:cNvSpPr txBox="1"/>
          <p:nvPr/>
        </p:nvSpPr>
        <p:spPr>
          <a:xfrm>
            <a:off x="2103826" y="1884753"/>
            <a:ext cx="484428"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v</a:t>
            </a:r>
            <a:r>
              <a:rPr lang="en-US" altLang="zh-CN" sz="2800" baseline="-25000" dirty="0" smtClean="0">
                <a:latin typeface="Times New Roman" panose="02020603050405020304" pitchFamily="18" charset="0"/>
                <a:cs typeface="Times New Roman" panose="02020603050405020304" pitchFamily="18" charset="0"/>
              </a:rPr>
              <a:t>1</a:t>
            </a:r>
            <a:endParaRPr lang="zh-CN" altLang="en-US" sz="2800" baseline="-25000" dirty="0">
              <a:latin typeface="Times New Roman" panose="02020603050405020304" pitchFamily="18" charset="0"/>
              <a:cs typeface="Times New Roman" panose="02020603050405020304" pitchFamily="18" charset="0"/>
            </a:endParaRPr>
          </a:p>
        </p:txBody>
      </p:sp>
      <p:sp>
        <p:nvSpPr>
          <p:cNvPr id="49" name="文本框 48"/>
          <p:cNvSpPr txBox="1"/>
          <p:nvPr/>
        </p:nvSpPr>
        <p:spPr>
          <a:xfrm>
            <a:off x="4256703" y="1883258"/>
            <a:ext cx="710451" cy="523220"/>
          </a:xfrm>
          <a:prstGeom prst="rect">
            <a:avLst/>
          </a:prstGeom>
          <a:noFill/>
        </p:spPr>
        <p:txBody>
          <a:bodyPr wrap="none" rtlCol="0">
            <a:spAutoFit/>
          </a:bodyPr>
          <a:lstStyle/>
          <a:p>
            <a:r>
              <a:rPr lang="en-US" altLang="zh-CN" sz="2800" b="1" dirty="0" err="1" smtClean="0">
                <a:latin typeface="Times New Roman" panose="02020603050405020304" pitchFamily="18" charset="0"/>
                <a:cs typeface="Times New Roman" panose="02020603050405020304" pitchFamily="18" charset="0"/>
              </a:rPr>
              <a:t>v</a:t>
            </a:r>
            <a:r>
              <a:rPr lang="en-US" altLang="zh-CN" sz="2800" i="1" baseline="-25000" dirty="0" err="1" smtClean="0">
                <a:latin typeface="Times New Roman" panose="02020603050405020304" pitchFamily="18" charset="0"/>
                <a:cs typeface="Times New Roman" panose="02020603050405020304" pitchFamily="18" charset="0"/>
              </a:rPr>
              <a:t>k</a:t>
            </a:r>
            <a:r>
              <a:rPr lang="en-US" altLang="zh-CN" sz="2800" baseline="-25000" dirty="0" smtClean="0">
                <a:latin typeface="Times New Roman" panose="02020603050405020304" pitchFamily="18" charset="0"/>
                <a:cs typeface="Times New Roman" panose="02020603050405020304" pitchFamily="18" charset="0"/>
              </a:rPr>
              <a:t>–1</a:t>
            </a:r>
            <a:endParaRPr lang="zh-CN" altLang="en-US" sz="2800" baseline="-25000" dirty="0">
              <a:latin typeface="Times New Roman" panose="02020603050405020304" pitchFamily="18" charset="0"/>
              <a:cs typeface="Times New Roman" panose="02020603050405020304" pitchFamily="18" charset="0"/>
            </a:endParaRPr>
          </a:p>
        </p:txBody>
      </p:sp>
      <p:cxnSp>
        <p:nvCxnSpPr>
          <p:cNvPr id="50" name="直接箭头连接符 49"/>
          <p:cNvCxnSpPr/>
          <p:nvPr/>
        </p:nvCxnSpPr>
        <p:spPr>
          <a:xfrm>
            <a:off x="4720291" y="2146269"/>
            <a:ext cx="72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1" name="文本框 50"/>
          <p:cNvSpPr txBox="1"/>
          <p:nvPr/>
        </p:nvSpPr>
        <p:spPr>
          <a:xfrm>
            <a:off x="5440291" y="1883258"/>
            <a:ext cx="484428" cy="523220"/>
          </a:xfrm>
          <a:prstGeom prst="rect">
            <a:avLst/>
          </a:prstGeom>
          <a:noFill/>
        </p:spPr>
        <p:txBody>
          <a:bodyPr wrap="none" rtlCol="0">
            <a:spAutoFit/>
          </a:bodyPr>
          <a:lstStyle/>
          <a:p>
            <a:r>
              <a:rPr lang="en-US" altLang="zh-CN" sz="2800" b="1" dirty="0" err="1" smtClean="0">
                <a:latin typeface="Times New Roman" panose="02020603050405020304" pitchFamily="18" charset="0"/>
                <a:cs typeface="Times New Roman" panose="02020603050405020304" pitchFamily="18" charset="0"/>
              </a:rPr>
              <a:t>v</a:t>
            </a:r>
            <a:r>
              <a:rPr lang="en-US" altLang="zh-CN" sz="2800" i="1" baseline="-25000" dirty="0" err="1" smtClean="0">
                <a:latin typeface="Times New Roman" panose="02020603050405020304" pitchFamily="18" charset="0"/>
                <a:cs typeface="Times New Roman" panose="02020603050405020304" pitchFamily="18" charset="0"/>
              </a:rPr>
              <a:t>k</a:t>
            </a:r>
            <a:endParaRPr lang="zh-CN" altLang="en-US" sz="2800" i="1" baseline="-25000" dirty="0">
              <a:latin typeface="Times New Roman" panose="02020603050405020304" pitchFamily="18" charset="0"/>
              <a:cs typeface="Times New Roman" panose="02020603050405020304" pitchFamily="18" charset="0"/>
            </a:endParaRPr>
          </a:p>
        </p:txBody>
      </p:sp>
      <p:cxnSp>
        <p:nvCxnSpPr>
          <p:cNvPr id="52" name="直接箭头连接符 51"/>
          <p:cNvCxnSpPr/>
          <p:nvPr/>
        </p:nvCxnSpPr>
        <p:spPr>
          <a:xfrm>
            <a:off x="5903879" y="2147624"/>
            <a:ext cx="72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3" name="文本框 52"/>
          <p:cNvSpPr txBox="1"/>
          <p:nvPr/>
        </p:nvSpPr>
        <p:spPr>
          <a:xfrm>
            <a:off x="6623879" y="1883258"/>
            <a:ext cx="724878"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v</a:t>
            </a:r>
            <a:r>
              <a:rPr lang="en-US" altLang="zh-CN" sz="2800" i="1" baseline="-25000" dirty="0" smtClean="0">
                <a:latin typeface="Times New Roman" panose="02020603050405020304" pitchFamily="18" charset="0"/>
                <a:cs typeface="Times New Roman" panose="02020603050405020304" pitchFamily="18" charset="0"/>
              </a:rPr>
              <a:t>k</a:t>
            </a:r>
            <a:r>
              <a:rPr lang="en-US" altLang="zh-CN" sz="2800" baseline="-25000" dirty="0" smtClean="0">
                <a:latin typeface="Times New Roman" panose="02020603050405020304" pitchFamily="18" charset="0"/>
                <a:cs typeface="Times New Roman" panose="02020603050405020304" pitchFamily="18" charset="0"/>
              </a:rPr>
              <a:t>+1</a:t>
            </a:r>
            <a:endParaRPr lang="zh-CN" altLang="en-US" sz="2800" baseline="-25000" dirty="0">
              <a:latin typeface="Times New Roman" panose="02020603050405020304" pitchFamily="18" charset="0"/>
              <a:cs typeface="Times New Roman" panose="02020603050405020304" pitchFamily="18" charset="0"/>
            </a:endParaRPr>
          </a:p>
        </p:txBody>
      </p:sp>
      <p:cxnSp>
        <p:nvCxnSpPr>
          <p:cNvPr id="54" name="直接箭头连接符 53"/>
          <p:cNvCxnSpPr/>
          <p:nvPr/>
        </p:nvCxnSpPr>
        <p:spPr>
          <a:xfrm flipV="1">
            <a:off x="1383826" y="2383200"/>
            <a:ext cx="720000" cy="72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直接箭头连接符 54"/>
          <p:cNvCxnSpPr/>
          <p:nvPr/>
        </p:nvCxnSpPr>
        <p:spPr>
          <a:xfrm>
            <a:off x="2567414" y="2145102"/>
            <a:ext cx="72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6" name="直接箭头连接符 55"/>
          <p:cNvCxnSpPr/>
          <p:nvPr/>
        </p:nvCxnSpPr>
        <p:spPr>
          <a:xfrm flipV="1">
            <a:off x="2588254" y="2383200"/>
            <a:ext cx="720000" cy="72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直接箭头连接符 56"/>
          <p:cNvCxnSpPr/>
          <p:nvPr/>
        </p:nvCxnSpPr>
        <p:spPr>
          <a:xfrm flipV="1">
            <a:off x="4729591" y="2383200"/>
            <a:ext cx="720000" cy="72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8" name="直接箭头连接符 57"/>
          <p:cNvCxnSpPr/>
          <p:nvPr/>
        </p:nvCxnSpPr>
        <p:spPr>
          <a:xfrm flipV="1">
            <a:off x="5891269" y="2383200"/>
            <a:ext cx="720000" cy="72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9" name="直接箭头连接符 58"/>
          <p:cNvCxnSpPr/>
          <p:nvPr/>
        </p:nvCxnSpPr>
        <p:spPr>
          <a:xfrm>
            <a:off x="4488497" y="2383200"/>
            <a:ext cx="0" cy="72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直接箭头连接符 59"/>
          <p:cNvCxnSpPr/>
          <p:nvPr/>
        </p:nvCxnSpPr>
        <p:spPr>
          <a:xfrm>
            <a:off x="5672085" y="2383200"/>
            <a:ext cx="0" cy="72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1" name="文本框 60"/>
          <p:cNvSpPr txBox="1"/>
          <p:nvPr/>
        </p:nvSpPr>
        <p:spPr>
          <a:xfrm>
            <a:off x="6614180" y="2995688"/>
            <a:ext cx="704039"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r</a:t>
            </a:r>
            <a:r>
              <a:rPr lang="en-US" altLang="zh-CN" sz="2800" i="1" baseline="-25000" dirty="0" smtClean="0">
                <a:latin typeface="Times New Roman" panose="02020603050405020304" pitchFamily="18" charset="0"/>
                <a:cs typeface="Times New Roman" panose="02020603050405020304" pitchFamily="18" charset="0"/>
              </a:rPr>
              <a:t>k</a:t>
            </a:r>
            <a:r>
              <a:rPr lang="en-US" altLang="zh-CN" sz="2800" baseline="-25000" dirty="0" smtClean="0">
                <a:latin typeface="Times New Roman" panose="02020603050405020304" pitchFamily="18" charset="0"/>
                <a:cs typeface="Times New Roman" panose="02020603050405020304" pitchFamily="18" charset="0"/>
              </a:rPr>
              <a:t>+1</a:t>
            </a:r>
            <a:endParaRPr lang="zh-CN" altLang="en-US" sz="2800" baseline="-25000" dirty="0">
              <a:latin typeface="Times New Roman" panose="02020603050405020304" pitchFamily="18" charset="0"/>
              <a:cs typeface="Times New Roman" panose="02020603050405020304" pitchFamily="18" charset="0"/>
            </a:endParaRPr>
          </a:p>
        </p:txBody>
      </p:sp>
      <p:cxnSp>
        <p:nvCxnSpPr>
          <p:cNvPr id="62" name="直接箭头连接符 61"/>
          <p:cNvCxnSpPr/>
          <p:nvPr/>
        </p:nvCxnSpPr>
        <p:spPr>
          <a:xfrm>
            <a:off x="6840524" y="2383200"/>
            <a:ext cx="0" cy="72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63" name="组合 62"/>
          <p:cNvGrpSpPr/>
          <p:nvPr/>
        </p:nvGrpSpPr>
        <p:grpSpPr>
          <a:xfrm>
            <a:off x="2155124" y="2382826"/>
            <a:ext cx="444352" cy="720000"/>
            <a:chOff x="2155124" y="2382826"/>
            <a:chExt cx="444352" cy="720000"/>
          </a:xfrm>
        </p:grpSpPr>
        <p:cxnSp>
          <p:nvCxnSpPr>
            <p:cNvPr id="64" name="直接箭头连接符 63"/>
            <p:cNvCxnSpPr/>
            <p:nvPr/>
          </p:nvCxnSpPr>
          <p:spPr>
            <a:xfrm>
              <a:off x="2346040" y="2382826"/>
              <a:ext cx="0" cy="72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5" name="文本框 64"/>
            <p:cNvSpPr txBox="1"/>
            <p:nvPr/>
          </p:nvSpPr>
          <p:spPr>
            <a:xfrm>
              <a:off x="2155124" y="2401290"/>
              <a:ext cx="444352"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A</a:t>
              </a:r>
              <a:endParaRPr lang="zh-CN" altLang="en-US" sz="2800" b="1" dirty="0">
                <a:latin typeface="Times New Roman" panose="02020603050405020304" pitchFamily="18" charset="0"/>
                <a:cs typeface="Times New Roman" panose="02020603050405020304" pitchFamily="18" charset="0"/>
              </a:endParaRPr>
            </a:p>
          </p:txBody>
        </p:sp>
      </p:grpSp>
      <p:sp>
        <p:nvSpPr>
          <p:cNvPr id="66" name="文本框 65"/>
          <p:cNvSpPr txBox="1"/>
          <p:nvPr/>
        </p:nvSpPr>
        <p:spPr>
          <a:xfrm>
            <a:off x="4296460" y="2413564"/>
            <a:ext cx="444352"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A</a:t>
            </a:r>
            <a:endParaRPr lang="zh-CN" altLang="en-US" sz="2800" b="1" dirty="0">
              <a:latin typeface="Times New Roman" panose="02020603050405020304" pitchFamily="18" charset="0"/>
              <a:cs typeface="Times New Roman" panose="02020603050405020304" pitchFamily="18" charset="0"/>
            </a:endParaRPr>
          </a:p>
        </p:txBody>
      </p:sp>
      <p:sp>
        <p:nvSpPr>
          <p:cNvPr id="67" name="文本框 66"/>
          <p:cNvSpPr txBox="1"/>
          <p:nvPr/>
        </p:nvSpPr>
        <p:spPr>
          <a:xfrm>
            <a:off x="5480367" y="2403812"/>
            <a:ext cx="444352"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A</a:t>
            </a:r>
            <a:endParaRPr lang="zh-CN" altLang="en-US" sz="2800" b="1" dirty="0">
              <a:latin typeface="Times New Roman" panose="02020603050405020304" pitchFamily="18" charset="0"/>
              <a:cs typeface="Times New Roman" panose="02020603050405020304" pitchFamily="18" charset="0"/>
            </a:endParaRPr>
          </a:p>
        </p:txBody>
      </p:sp>
      <p:sp>
        <p:nvSpPr>
          <p:cNvPr id="68" name="文本框 67"/>
          <p:cNvSpPr txBox="1"/>
          <p:nvPr/>
        </p:nvSpPr>
        <p:spPr>
          <a:xfrm>
            <a:off x="6663955" y="2414919"/>
            <a:ext cx="444352"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A</a:t>
            </a:r>
            <a:endParaRPr lang="zh-CN" altLang="en-US" sz="2800" b="1" dirty="0">
              <a:latin typeface="Times New Roman" panose="02020603050405020304" pitchFamily="18" charset="0"/>
              <a:cs typeface="Times New Roman" panose="02020603050405020304" pitchFamily="18" charset="0"/>
            </a:endParaRPr>
          </a:p>
        </p:txBody>
      </p:sp>
      <p:sp>
        <p:nvSpPr>
          <p:cNvPr id="69" name="文本框 68"/>
          <p:cNvSpPr txBox="1"/>
          <p:nvPr/>
        </p:nvSpPr>
        <p:spPr>
          <a:xfrm>
            <a:off x="3733177" y="2905688"/>
            <a:ext cx="543739"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a:t>
            </a:r>
            <a:endParaRPr lang="zh-CN" altLang="en-US" sz="2800" baseline="-25000" dirty="0">
              <a:latin typeface="Times New Roman" panose="02020603050405020304" pitchFamily="18" charset="0"/>
              <a:cs typeface="Times New Roman" panose="02020603050405020304" pitchFamily="18" charset="0"/>
            </a:endParaRPr>
          </a:p>
        </p:txBody>
      </p:sp>
      <p:sp>
        <p:nvSpPr>
          <p:cNvPr id="70" name="文本框 69"/>
          <p:cNvSpPr txBox="1"/>
          <p:nvPr/>
        </p:nvSpPr>
        <p:spPr>
          <a:xfrm>
            <a:off x="3748265" y="1789658"/>
            <a:ext cx="543739"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a:t>
            </a:r>
            <a:endParaRPr lang="zh-CN" altLang="en-US" sz="2800" baseline="-25000" dirty="0">
              <a:latin typeface="Times New Roman" panose="02020603050405020304" pitchFamily="18" charset="0"/>
              <a:cs typeface="Times New Roman" panose="02020603050405020304" pitchFamily="18" charset="0"/>
            </a:endParaRPr>
          </a:p>
        </p:txBody>
      </p:sp>
      <p:sp>
        <p:nvSpPr>
          <p:cNvPr id="71" name="文本框 70"/>
          <p:cNvSpPr txBox="1"/>
          <p:nvPr/>
        </p:nvSpPr>
        <p:spPr>
          <a:xfrm>
            <a:off x="3296714" y="1883258"/>
            <a:ext cx="484428"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v</a:t>
            </a:r>
            <a:r>
              <a:rPr lang="en-US" altLang="zh-CN" sz="2800" baseline="-25000" dirty="0" smtClean="0">
                <a:latin typeface="Times New Roman" panose="02020603050405020304" pitchFamily="18" charset="0"/>
                <a:cs typeface="Times New Roman" panose="02020603050405020304" pitchFamily="18" charset="0"/>
              </a:rPr>
              <a:t>2</a:t>
            </a:r>
            <a:endParaRPr lang="zh-CN" altLang="en-US" sz="2800" baseline="-25000" dirty="0">
              <a:latin typeface="Times New Roman" panose="02020603050405020304" pitchFamily="18" charset="0"/>
              <a:cs typeface="Times New Roman" panose="02020603050405020304" pitchFamily="18" charset="0"/>
            </a:endParaRPr>
          </a:p>
        </p:txBody>
      </p:sp>
      <p:sp>
        <p:nvSpPr>
          <p:cNvPr id="72" name="文本框 71"/>
          <p:cNvSpPr txBox="1"/>
          <p:nvPr/>
        </p:nvSpPr>
        <p:spPr>
          <a:xfrm>
            <a:off x="3304619" y="2995688"/>
            <a:ext cx="463588"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r</a:t>
            </a:r>
            <a:r>
              <a:rPr lang="en-US" altLang="zh-CN" sz="2800" baseline="-25000" dirty="0" smtClean="0">
                <a:latin typeface="Times New Roman" panose="02020603050405020304" pitchFamily="18" charset="0"/>
                <a:cs typeface="Times New Roman" panose="02020603050405020304" pitchFamily="18" charset="0"/>
              </a:rPr>
              <a:t>2</a:t>
            </a:r>
            <a:endParaRPr lang="zh-CN" altLang="en-US" sz="2800" baseline="-25000" dirty="0">
              <a:latin typeface="Times New Roman" panose="02020603050405020304" pitchFamily="18" charset="0"/>
              <a:cs typeface="Times New Roman" panose="02020603050405020304" pitchFamily="18" charset="0"/>
            </a:endParaRPr>
          </a:p>
        </p:txBody>
      </p:sp>
      <p:grpSp>
        <p:nvGrpSpPr>
          <p:cNvPr id="73" name="组合 72"/>
          <p:cNvGrpSpPr/>
          <p:nvPr/>
        </p:nvGrpSpPr>
        <p:grpSpPr>
          <a:xfrm>
            <a:off x="3337062" y="2382826"/>
            <a:ext cx="444352" cy="720000"/>
            <a:chOff x="3337062" y="2382826"/>
            <a:chExt cx="444352" cy="720000"/>
          </a:xfrm>
        </p:grpSpPr>
        <p:cxnSp>
          <p:nvCxnSpPr>
            <p:cNvPr id="74" name="直接箭头连接符 73"/>
            <p:cNvCxnSpPr/>
            <p:nvPr/>
          </p:nvCxnSpPr>
          <p:spPr>
            <a:xfrm>
              <a:off x="3527978" y="2382826"/>
              <a:ext cx="0" cy="72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5" name="文本框 74"/>
            <p:cNvSpPr txBox="1"/>
            <p:nvPr/>
          </p:nvSpPr>
          <p:spPr>
            <a:xfrm>
              <a:off x="3337062" y="2401290"/>
              <a:ext cx="444352"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A</a:t>
              </a:r>
              <a:endParaRPr lang="zh-CN" altLang="en-US" sz="2800" b="1" dirty="0">
                <a:latin typeface="Times New Roman" panose="02020603050405020304" pitchFamily="18" charset="0"/>
                <a:cs typeface="Times New Roman" panose="02020603050405020304" pitchFamily="18" charset="0"/>
              </a:endParaRPr>
            </a:p>
          </p:txBody>
        </p:sp>
      </p:grpSp>
      <p:sp>
        <p:nvSpPr>
          <p:cNvPr id="76" name="文本框 75"/>
          <p:cNvSpPr txBox="1"/>
          <p:nvPr/>
        </p:nvSpPr>
        <p:spPr>
          <a:xfrm>
            <a:off x="7268021" y="1788347"/>
            <a:ext cx="543739"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a:t>
            </a:r>
            <a:endParaRPr lang="zh-CN" altLang="en-US" sz="2800" baseline="-25000" dirty="0">
              <a:latin typeface="Times New Roman" panose="02020603050405020304" pitchFamily="18" charset="0"/>
              <a:cs typeface="Times New Roman" panose="02020603050405020304" pitchFamily="18" charset="0"/>
            </a:endParaRPr>
          </a:p>
        </p:txBody>
      </p:sp>
      <p:sp>
        <p:nvSpPr>
          <p:cNvPr id="77" name="文本框 76"/>
          <p:cNvSpPr txBox="1"/>
          <p:nvPr/>
        </p:nvSpPr>
        <p:spPr>
          <a:xfrm>
            <a:off x="7320910" y="2905963"/>
            <a:ext cx="543739"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a:t>
            </a:r>
            <a:endParaRPr lang="zh-CN" altLang="en-US" sz="2800" baseline="-25000" dirty="0">
              <a:latin typeface="Times New Roman" panose="02020603050405020304" pitchFamily="18" charset="0"/>
              <a:cs typeface="Times New Roman" panose="02020603050405020304" pitchFamily="18" charset="0"/>
            </a:endParaRPr>
          </a:p>
        </p:txBody>
      </p:sp>
    </p:spTree>
    <p:custDataLst>
      <p:tags r:id="rId1"/>
    </p:custDataLst>
    <p:extLst>
      <p:ext uri="{BB962C8B-B14F-4D97-AF65-F5344CB8AC3E}">
        <p14:creationId xmlns:p14="http://schemas.microsoft.com/office/powerpoint/2010/main" val="3550946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custDataLst>
              <p:tags r:id="rId2"/>
            </p:custDataLst>
          </p:nvPr>
        </p:nvSpPr>
        <p:spPr>
          <a:xfrm>
            <a:off x="914400" y="1264602"/>
            <a:ext cx="7261544" cy="883920"/>
          </a:xfrm>
          <a:prstGeom prst="rect">
            <a:avLst/>
          </a:prstGeom>
          <a:noFill/>
          <a:ln w="12700">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14:hiddenLine>
            </a:ext>
          </a:extLst>
        </p:spPr>
        <p:txBody>
          <a:bodyPr vert="horz" wrap="square" rtlCol="0" anchor="ctr">
            <a:spAutoFit/>
          </a:bodyPr>
          <a:lstStyle/>
          <a:p>
            <a:r>
              <a:rPr lang="zh-CN" altLang="en-US" sz="26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sym typeface="Microsoft Yahei" panose="020B0503020204020204" pitchFamily="34" charset="-122"/>
              </a:rPr>
              <a:t>在共轭梯度法中，相邻的两个残差向量 </a:t>
            </a:r>
            <a:r>
              <a:rPr lang="en-US" altLang="zh-CN" sz="2600" b="1" dirty="0" err="1"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sym typeface="Microsoft Yahei" panose="020B0503020204020204" pitchFamily="34" charset="-122"/>
              </a:rPr>
              <a:t>r</a:t>
            </a:r>
            <a:r>
              <a:rPr lang="en-US" altLang="zh-CN" sz="2600" i="1" baseline="-25000" dirty="0" err="1"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sym typeface="Microsoft Yahei" panose="020B0503020204020204" pitchFamily="34" charset="-122"/>
              </a:rPr>
              <a:t>k</a:t>
            </a:r>
            <a:r>
              <a:rPr lang="en-US" altLang="zh-CN" sz="26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sym typeface="Microsoft Yahei" panose="020B0503020204020204" pitchFamily="34" charset="-122"/>
              </a:rPr>
              <a:t> </a:t>
            </a:r>
            <a:r>
              <a:rPr lang="zh-CN" altLang="en-US" sz="26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sym typeface="Microsoft Yahei" panose="020B0503020204020204" pitchFamily="34" charset="-122"/>
              </a:rPr>
              <a:t>和 </a:t>
            </a:r>
            <a:r>
              <a:rPr lang="en-US" altLang="zh-CN" sz="2600" b="1"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sym typeface="Microsoft Yahei" panose="020B0503020204020204" pitchFamily="34" charset="-122"/>
              </a:rPr>
              <a:t>r</a:t>
            </a:r>
            <a:r>
              <a:rPr lang="en-US" altLang="zh-CN" sz="2600" i="1" baseline="-250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sym typeface="Microsoft Yahei" panose="020B0503020204020204" pitchFamily="34" charset="-122"/>
              </a:rPr>
              <a:t>k</a:t>
            </a:r>
            <a:r>
              <a:rPr lang="en-US" altLang="zh-CN" sz="2600" baseline="-250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sym typeface="Microsoft Yahei" panose="020B0503020204020204" pitchFamily="34" charset="-122"/>
              </a:rPr>
              <a:t>+1</a:t>
            </a:r>
            <a:r>
              <a:rPr lang="en-US" altLang="zh-CN" sz="26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sym typeface="Microsoft Yahei" panose="020B0503020204020204" pitchFamily="34" charset="-122"/>
              </a:rPr>
              <a:t> </a:t>
            </a:r>
            <a:r>
              <a:rPr lang="zh-CN" altLang="en-US" sz="26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sym typeface="Microsoft Yahei" panose="020B0503020204020204" pitchFamily="34" charset="-122"/>
              </a:rPr>
              <a:t>之间的关系是</a:t>
            </a:r>
            <a:r>
              <a:rPr lang="en-US" altLang="zh-CN" sz="26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sym typeface="Microsoft Yahei" panose="020B0503020204020204" pitchFamily="34" charset="-122"/>
              </a:rPr>
              <a:t>?</a:t>
            </a:r>
            <a:endParaRPr lang="zh-CN" altLang="en-US" sz="2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sym typeface="Microsoft Yahei" panose="020B0503020204020204" pitchFamily="34" charset="-122"/>
            </a:endParaRPr>
          </a:p>
        </p:txBody>
      </p:sp>
      <p:sp>
        <p:nvSpPr>
          <p:cNvPr id="11" name="文本框 10"/>
          <p:cNvSpPr txBox="1"/>
          <p:nvPr>
            <p:custDataLst>
              <p:tags r:id="rId3"/>
            </p:custDataLst>
          </p:nvPr>
        </p:nvSpPr>
        <p:spPr>
          <a:xfrm>
            <a:off x="1828800" y="2863691"/>
            <a:ext cx="1602105" cy="487680"/>
          </a:xfrm>
          <a:prstGeom prst="rect">
            <a:avLst/>
          </a:prstGeom>
          <a:noFill/>
          <a:ln w="12700">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14:hiddenLine>
            </a:ext>
          </a:extLst>
        </p:spPr>
        <p:txBody>
          <a:bodyPr vert="horz" wrap="square" rtlCol="0" anchor="ctr">
            <a:spAutoFit/>
          </a:bodyPr>
          <a:lstStyle/>
          <a:p>
            <a:r>
              <a:rPr lang="zh-CN" altLang="en-US" sz="260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sym typeface="Microsoft Yahei" panose="020B0503020204020204" pitchFamily="34" charset="-122"/>
              </a:rPr>
              <a:t>互相垂直</a:t>
            </a:r>
            <a:endParaRPr lang="zh-CN" altLang="en-US" sz="2600">
              <a:solidFill>
                <a:srgbClr val="000000"/>
              </a:solidFill>
              <a:latin typeface="Times New Roman" panose="02020603050405020304" pitchFamily="18" charset="0"/>
              <a:ea typeface="楷体" panose="02010609060101010101" pitchFamily="49" charset="-122"/>
              <a:cs typeface="Times New Roman" panose="02020603050405020304" pitchFamily="18" charset="0"/>
              <a:sym typeface="Microsoft Yahei" panose="020B0503020204020204" pitchFamily="34" charset="-122"/>
            </a:endParaRPr>
          </a:p>
        </p:txBody>
      </p:sp>
      <p:sp>
        <p:nvSpPr>
          <p:cNvPr id="12" name="椭圆 11"/>
          <p:cNvSpPr>
            <a:spLocks noChangeAspect="1"/>
          </p:cNvSpPr>
          <p:nvPr>
            <p:custDataLst>
              <p:tags r:id="rId4"/>
            </p:custDataLst>
          </p:nvPr>
        </p:nvSpPr>
        <p:spPr>
          <a:xfrm>
            <a:off x="1114425" y="285035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Times New Roman" panose="02020603050405020304" pitchFamily="18" charset="0"/>
                <a:ea typeface="楷体" panose="02010609060101010101" pitchFamily="49" charset="-122"/>
                <a:cs typeface="Times New Roman" panose="02020603050405020304" pitchFamily="18" charset="0"/>
                <a:sym typeface="Microsoft Yahei" panose="020B0503020204020204" pitchFamily="34" charset="-122"/>
              </a:rPr>
              <a:t>A</a:t>
            </a:r>
            <a:endParaRPr lang="zh-CN" altLang="en-US" sz="1600">
              <a:solidFill>
                <a:srgbClr val="FFFFFF"/>
              </a:solidFill>
              <a:latin typeface="Times New Roman" panose="02020603050405020304" pitchFamily="18" charset="0"/>
              <a:ea typeface="楷体" panose="02010609060101010101" pitchFamily="49" charset="-122"/>
              <a:cs typeface="Times New Roman" panose="02020603050405020304" pitchFamily="18" charset="0"/>
              <a:sym typeface="Microsoft Yahei" panose="020B0503020204020204" pitchFamily="34" charset="-122"/>
            </a:endParaRPr>
          </a:p>
        </p:txBody>
      </p:sp>
      <p:sp>
        <p:nvSpPr>
          <p:cNvPr id="13" name="文本框 12"/>
          <p:cNvSpPr txBox="1"/>
          <p:nvPr>
            <p:custDataLst>
              <p:tags r:id="rId5"/>
            </p:custDataLst>
          </p:nvPr>
        </p:nvSpPr>
        <p:spPr>
          <a:xfrm>
            <a:off x="1828800" y="3720941"/>
            <a:ext cx="1602105" cy="487680"/>
          </a:xfrm>
          <a:prstGeom prst="rect">
            <a:avLst/>
          </a:prstGeom>
          <a:noFill/>
          <a:ln w="12700">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14:hiddenLine>
            </a:ext>
          </a:extLst>
        </p:spPr>
        <p:txBody>
          <a:bodyPr vert="horz" wrap="square" rtlCol="0" anchor="ctr">
            <a:spAutoFit/>
          </a:bodyPr>
          <a:lstStyle/>
          <a:p>
            <a:r>
              <a:rPr lang="zh-CN" altLang="en-US" sz="260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sym typeface="Microsoft Yahei" panose="020B0503020204020204" pitchFamily="34" charset="-122"/>
              </a:rPr>
              <a:t>线性相关</a:t>
            </a:r>
            <a:endParaRPr lang="zh-CN" altLang="en-US" sz="2600">
              <a:solidFill>
                <a:srgbClr val="000000"/>
              </a:solidFill>
              <a:latin typeface="Times New Roman" panose="02020603050405020304" pitchFamily="18" charset="0"/>
              <a:ea typeface="楷体" panose="02010609060101010101" pitchFamily="49" charset="-122"/>
              <a:cs typeface="Times New Roman" panose="02020603050405020304" pitchFamily="18" charset="0"/>
              <a:sym typeface="Microsoft Yahei" panose="020B0503020204020204" pitchFamily="34" charset="-122"/>
            </a:endParaRPr>
          </a:p>
        </p:txBody>
      </p:sp>
      <p:sp>
        <p:nvSpPr>
          <p:cNvPr id="14" name="椭圆 13"/>
          <p:cNvSpPr>
            <a:spLocks noChangeAspect="1"/>
          </p:cNvSpPr>
          <p:nvPr>
            <p:custDataLst>
              <p:tags r:id="rId6"/>
            </p:custDataLst>
          </p:nvPr>
        </p:nvSpPr>
        <p:spPr>
          <a:xfrm>
            <a:off x="1114425" y="37076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Times New Roman" panose="02020603050405020304" pitchFamily="18" charset="0"/>
                <a:ea typeface="楷体" panose="02010609060101010101" pitchFamily="49" charset="-122"/>
                <a:cs typeface="Times New Roman" panose="02020603050405020304" pitchFamily="18" charset="0"/>
                <a:sym typeface="Microsoft Yahei" panose="020B0503020204020204" pitchFamily="34" charset="-122"/>
              </a:rPr>
              <a:t>B</a:t>
            </a:r>
            <a:endParaRPr lang="zh-CN" altLang="en-US" sz="1600">
              <a:solidFill>
                <a:srgbClr val="FFFFFF"/>
              </a:solidFill>
              <a:latin typeface="Times New Roman" panose="02020603050405020304" pitchFamily="18" charset="0"/>
              <a:ea typeface="楷体" panose="02010609060101010101" pitchFamily="49" charset="-122"/>
              <a:cs typeface="Times New Roman" panose="02020603050405020304" pitchFamily="18" charset="0"/>
              <a:sym typeface="Microsoft Yahei" panose="020B0503020204020204" pitchFamily="34" charset="-122"/>
            </a:endParaRPr>
          </a:p>
        </p:txBody>
      </p:sp>
      <p:sp>
        <p:nvSpPr>
          <p:cNvPr id="15" name="文本框 14"/>
          <p:cNvSpPr txBox="1"/>
          <p:nvPr>
            <p:custDataLst>
              <p:tags r:id="rId7"/>
            </p:custDataLst>
          </p:nvPr>
        </p:nvSpPr>
        <p:spPr>
          <a:xfrm>
            <a:off x="1828800" y="4578191"/>
            <a:ext cx="1833880" cy="487680"/>
          </a:xfrm>
          <a:prstGeom prst="rect">
            <a:avLst/>
          </a:prstGeom>
          <a:noFill/>
          <a:ln w="12700">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14:hiddenLine>
            </a:ext>
          </a:extLst>
        </p:spPr>
        <p:txBody>
          <a:bodyPr vert="horz" wrap="square" rtlCol="0" anchor="ctr">
            <a:spAutoFit/>
          </a:bodyPr>
          <a:lstStyle/>
          <a:p>
            <a:r>
              <a:rPr lang="zh-CN" altLang="en-US" sz="260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sym typeface="Microsoft Yahei" panose="020B0503020204020204" pitchFamily="34" charset="-122"/>
              </a:rPr>
              <a:t>关于</a:t>
            </a:r>
            <a:r>
              <a:rPr lang="en-US" altLang="zh-CN" sz="260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sym typeface="Microsoft Yahei" panose="020B0503020204020204" pitchFamily="34" charset="-122"/>
              </a:rPr>
              <a:t>A</a:t>
            </a:r>
            <a:r>
              <a:rPr lang="zh-CN" altLang="en-US" sz="260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sym typeface="Microsoft Yahei" panose="020B0503020204020204" pitchFamily="34" charset="-122"/>
              </a:rPr>
              <a:t>共轭</a:t>
            </a:r>
            <a:endParaRPr lang="zh-CN" altLang="en-US" sz="2600">
              <a:solidFill>
                <a:srgbClr val="000000"/>
              </a:solidFill>
              <a:latin typeface="Times New Roman" panose="02020603050405020304" pitchFamily="18" charset="0"/>
              <a:ea typeface="楷体" panose="02010609060101010101" pitchFamily="49" charset="-122"/>
              <a:cs typeface="Times New Roman" panose="02020603050405020304" pitchFamily="18" charset="0"/>
              <a:sym typeface="Microsoft Yahei" panose="020B0503020204020204" pitchFamily="34" charset="-122"/>
            </a:endParaRPr>
          </a:p>
        </p:txBody>
      </p:sp>
      <p:sp>
        <p:nvSpPr>
          <p:cNvPr id="16" name="椭圆 15"/>
          <p:cNvSpPr>
            <a:spLocks noChangeAspect="1"/>
          </p:cNvSpPr>
          <p:nvPr>
            <p:custDataLst>
              <p:tags r:id="rId8"/>
            </p:custDataLst>
          </p:nvPr>
        </p:nvSpPr>
        <p:spPr>
          <a:xfrm>
            <a:off x="1114425" y="45648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Times New Roman" panose="02020603050405020304" pitchFamily="18" charset="0"/>
                <a:ea typeface="楷体" panose="02010609060101010101" pitchFamily="49" charset="-122"/>
                <a:cs typeface="Times New Roman" panose="02020603050405020304" pitchFamily="18" charset="0"/>
                <a:sym typeface="Microsoft Yahei" panose="020B0503020204020204" pitchFamily="34" charset="-122"/>
              </a:rPr>
              <a:t>C</a:t>
            </a:r>
            <a:endParaRPr lang="zh-CN" altLang="en-US" sz="1600">
              <a:solidFill>
                <a:srgbClr val="FFFFFF"/>
              </a:solidFill>
              <a:latin typeface="Times New Roman" panose="02020603050405020304" pitchFamily="18" charset="0"/>
              <a:ea typeface="楷体" panose="02010609060101010101" pitchFamily="49" charset="-122"/>
              <a:cs typeface="Times New Roman" panose="02020603050405020304" pitchFamily="18" charset="0"/>
              <a:sym typeface="Microsoft Yahei" panose="020B0503020204020204" pitchFamily="34" charset="-122"/>
            </a:endParaRPr>
          </a:p>
        </p:txBody>
      </p:sp>
      <p:sp>
        <p:nvSpPr>
          <p:cNvPr id="17" name="文本框 16"/>
          <p:cNvSpPr txBox="1"/>
          <p:nvPr>
            <p:custDataLst>
              <p:tags r:id="rId9"/>
            </p:custDataLst>
          </p:nvPr>
        </p:nvSpPr>
        <p:spPr>
          <a:xfrm>
            <a:off x="1828800" y="5435441"/>
            <a:ext cx="1932305" cy="487680"/>
          </a:xfrm>
          <a:prstGeom prst="rect">
            <a:avLst/>
          </a:prstGeom>
          <a:noFill/>
          <a:ln w="12700">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14:hiddenLine>
            </a:ext>
          </a:extLst>
        </p:spPr>
        <p:txBody>
          <a:bodyPr vert="horz" wrap="square" rtlCol="0" anchor="ctr">
            <a:spAutoFit/>
          </a:bodyPr>
          <a:lstStyle/>
          <a:p>
            <a:r>
              <a:rPr lang="zh-CN" altLang="en-US" sz="260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sym typeface="Microsoft Yahei" panose="020B0503020204020204" pitchFamily="34" charset="-122"/>
              </a:rPr>
              <a:t>无特殊关系</a:t>
            </a:r>
            <a:endParaRPr lang="zh-CN" altLang="en-US" sz="2600">
              <a:solidFill>
                <a:srgbClr val="000000"/>
              </a:solidFill>
              <a:latin typeface="Times New Roman" panose="02020603050405020304" pitchFamily="18" charset="0"/>
              <a:ea typeface="楷体" panose="02010609060101010101" pitchFamily="49" charset="-122"/>
              <a:cs typeface="Times New Roman" panose="02020603050405020304" pitchFamily="18" charset="0"/>
              <a:sym typeface="Microsoft Yahei" panose="020B0503020204020204" pitchFamily="34" charset="-122"/>
            </a:endParaRPr>
          </a:p>
        </p:txBody>
      </p:sp>
      <p:sp>
        <p:nvSpPr>
          <p:cNvPr id="18" name="椭圆 17"/>
          <p:cNvSpPr>
            <a:spLocks noChangeAspect="1"/>
          </p:cNvSpPr>
          <p:nvPr>
            <p:custDataLst>
              <p:tags r:id="rId10"/>
            </p:custDataLst>
          </p:nvPr>
        </p:nvSpPr>
        <p:spPr>
          <a:xfrm>
            <a:off x="1114425" y="54221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Times New Roman" panose="02020603050405020304" pitchFamily="18" charset="0"/>
                <a:ea typeface="楷体" panose="02010609060101010101" pitchFamily="49" charset="-122"/>
                <a:cs typeface="Times New Roman" panose="02020603050405020304" pitchFamily="18" charset="0"/>
                <a:sym typeface="Microsoft Yahei" panose="020B0503020204020204" pitchFamily="34" charset="-122"/>
              </a:rPr>
              <a:t>D</a:t>
            </a:r>
            <a:endParaRPr lang="zh-CN" altLang="en-US" sz="1600">
              <a:solidFill>
                <a:srgbClr val="FFFFFF"/>
              </a:solidFill>
              <a:latin typeface="Times New Roman" panose="02020603050405020304" pitchFamily="18" charset="0"/>
              <a:ea typeface="楷体" panose="02010609060101010101" pitchFamily="49" charset="-122"/>
              <a:cs typeface="Times New Roman" panose="02020603050405020304" pitchFamily="18" charset="0"/>
              <a:sym typeface="Microsoft Yahei" panose="020B0503020204020204" pitchFamily="34" charset="-122"/>
            </a:endParaRPr>
          </a:p>
        </p:txBody>
      </p:sp>
      <p:sp>
        <p:nvSpPr>
          <p:cNvPr id="19" name="圆角矩形 18"/>
          <p:cNvSpPr/>
          <p:nvPr>
            <p:custDataLst>
              <p:tags r:id="rId11"/>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9" name="组合 8"/>
          <p:cNvGrpSpPr/>
          <p:nvPr>
            <p:custDataLst>
              <p:tags r:id="rId12"/>
            </p:custDataLst>
          </p:nvPr>
        </p:nvGrpSpPr>
        <p:grpSpPr>
          <a:xfrm>
            <a:off x="0" y="0"/>
            <a:ext cx="9144000" cy="635000"/>
            <a:chOff x="0" y="0"/>
            <a:chExt cx="9144000" cy="635000"/>
          </a:xfrm>
        </p:grpSpPr>
        <p:sp>
          <p:nvSpPr>
            <p:cNvPr id="5" name="TitleBackground"/>
            <p:cNvSpPr/>
            <p:nvPr>
              <p:custDataLst>
                <p:tags r:id="rId14"/>
              </p:custDataLst>
            </p:nvPr>
          </p:nvSpPr>
          <p:spPr>
            <a:xfrm>
              <a:off x="0" y="0"/>
              <a:ext cx="9144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endPar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endPar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4" name="图片 3"/>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354341392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宋体" panose="02010600030101010101" pitchFamily="2" charset="-122"/>
                <a:ea typeface="宋体" panose="02010600030101010101" pitchFamily="2" charset="-122"/>
              </a:rPr>
              <a:t>关键变量的关系</a:t>
            </a:r>
            <a:endParaRPr lang="zh-CN" altLang="en-US" dirty="0">
              <a:latin typeface="宋体" panose="02010600030101010101" pitchFamily="2" charset="-122"/>
              <a:ea typeface="宋体" panose="02010600030101010101" pitchFamily="2" charset="-122"/>
            </a:endParaRPr>
          </a:p>
        </p:txBody>
      </p:sp>
      <p:sp>
        <p:nvSpPr>
          <p:cNvPr id="3" name="内容占位符 2"/>
          <p:cNvSpPr>
            <a:spLocks noGrp="1"/>
          </p:cNvSpPr>
          <p:nvPr>
            <p:ph idx="1"/>
          </p:nvPr>
        </p:nvSpPr>
        <p:spPr>
          <a:xfrm>
            <a:off x="628650" y="3734347"/>
            <a:ext cx="7886700" cy="2442616"/>
          </a:xfrm>
        </p:spPr>
        <p:txBody>
          <a:bodyPr>
            <a:normAutofit lnSpcReduction="10000"/>
          </a:bodyPr>
          <a:lstStyle/>
          <a:p>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归纳假设：</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设</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r</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与前面所有的</a:t>
            </a: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r</a:t>
            </a:r>
            <a:r>
              <a:rPr lang="en-US" altLang="zh-CN" baseline="-25000" dirty="0" smtClean="0">
                <a:latin typeface="Times New Roman" panose="02020603050405020304" pitchFamily="18" charset="0"/>
                <a:ea typeface="楷体" panose="02010609060101010101" pitchFamily="49" charset="-122"/>
                <a:cs typeface="Times New Roman" panose="02020603050405020304" pitchFamily="18" charset="0"/>
              </a:rPr>
              <a:t>0</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a:t>
            </a: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r</a:t>
            </a:r>
            <a:r>
              <a:rPr lang="en-US" altLang="zh-CN" baseline="-25000" dirty="0" smtClean="0">
                <a:latin typeface="Times New Roman" panose="02020603050405020304" pitchFamily="18" charset="0"/>
                <a:ea typeface="楷体" panose="02010609060101010101" pitchFamily="49" charset="-122"/>
                <a:cs typeface="Times New Roman" panose="02020603050405020304" pitchFamily="18" charset="0"/>
              </a:rPr>
              <a:t>1</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 </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r</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baseline="-25000" dirty="0" smtClean="0">
                <a:latin typeface="Times New Roman" panose="02020603050405020304" pitchFamily="18" charset="0"/>
                <a:ea typeface="楷体" panose="02010609060101010101" pitchFamily="49" charset="-122"/>
                <a:cs typeface="Times New Roman" panose="02020603050405020304" pitchFamily="18" charset="0"/>
              </a:rPr>
              <a:t> – 1</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都垂直</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且</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v</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与前面所有的</a:t>
            </a: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v</a:t>
            </a:r>
            <a:r>
              <a:rPr lang="en-US" altLang="zh-CN" baseline="-25000" dirty="0" smtClean="0">
                <a:latin typeface="Times New Roman" panose="02020603050405020304" pitchFamily="18" charset="0"/>
                <a:ea typeface="楷体" panose="02010609060101010101" pitchFamily="49" charset="-122"/>
                <a:cs typeface="Times New Roman" panose="02020603050405020304" pitchFamily="18" charset="0"/>
              </a:rPr>
              <a:t>1</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a:t>
            </a: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v</a:t>
            </a:r>
            <a:r>
              <a:rPr lang="en-US" altLang="zh-CN" baseline="-25000" dirty="0" smtClean="0">
                <a:latin typeface="Times New Roman" panose="02020603050405020304" pitchFamily="18" charset="0"/>
                <a:ea typeface="楷体" panose="02010609060101010101" pitchFamily="49" charset="-122"/>
                <a:cs typeface="Times New Roman" panose="02020603050405020304" pitchFamily="18" charset="0"/>
              </a:rPr>
              <a:t>2</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 </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v</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baseline="-25000" dirty="0" smtClean="0">
                <a:latin typeface="Times New Roman" panose="02020603050405020304" pitchFamily="18" charset="0"/>
                <a:ea typeface="楷体" panose="02010609060101010101" pitchFamily="49" charset="-122"/>
                <a:cs typeface="Times New Roman" panose="02020603050405020304" pitchFamily="18" charset="0"/>
              </a:rPr>
              <a:t> – 1</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都共轭</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用递推证明：</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r</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baseline="-25000" dirty="0" smtClean="0">
                <a:latin typeface="Times New Roman" panose="02020603050405020304" pitchFamily="18" charset="0"/>
                <a:ea typeface="楷体" panose="02010609060101010101" pitchFamily="49" charset="-122"/>
                <a:cs typeface="Times New Roman" panose="02020603050405020304" pitchFamily="18" charset="0"/>
              </a:rPr>
              <a:t> + 1</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和</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v</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baseline="-25000" dirty="0" smtClean="0">
                <a:latin typeface="Times New Roman" panose="02020603050405020304" pitchFamily="18" charset="0"/>
                <a:ea typeface="楷体" panose="02010609060101010101" pitchFamily="49" charset="-122"/>
                <a:cs typeface="Times New Roman" panose="02020603050405020304" pitchFamily="18" charset="0"/>
              </a:rPr>
              <a:t> + 1</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满足同样的性质</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0" name="文本框 39"/>
          <p:cNvSpPr txBox="1"/>
          <p:nvPr/>
        </p:nvSpPr>
        <p:spPr>
          <a:xfrm>
            <a:off x="958444" y="2994953"/>
            <a:ext cx="463588" cy="523220"/>
          </a:xfrm>
          <a:prstGeom prst="rect">
            <a:avLst/>
          </a:prstGeom>
          <a:noFill/>
        </p:spPr>
        <p:txBody>
          <a:bodyPr wrap="none" rtlCol="0">
            <a:spAutoFit/>
          </a:bodyPr>
          <a:lstStyle/>
          <a:p>
            <a:pPr algn="ctr"/>
            <a:r>
              <a:rPr lang="en-US" altLang="zh-CN" sz="2800" b="1" dirty="0" smtClean="0">
                <a:latin typeface="Times New Roman" panose="02020603050405020304" pitchFamily="18" charset="0"/>
                <a:cs typeface="Times New Roman" panose="02020603050405020304" pitchFamily="18" charset="0"/>
              </a:rPr>
              <a:t>r</a:t>
            </a:r>
            <a:r>
              <a:rPr lang="en-US" altLang="zh-CN" sz="2800" baseline="-25000" dirty="0" smtClean="0">
                <a:latin typeface="Times New Roman" panose="02020603050405020304" pitchFamily="18" charset="0"/>
                <a:cs typeface="Times New Roman" panose="02020603050405020304" pitchFamily="18" charset="0"/>
              </a:rPr>
              <a:t>0</a:t>
            </a:r>
            <a:endParaRPr lang="zh-CN" altLang="en-US" sz="2800" baseline="-25000" dirty="0">
              <a:latin typeface="Times New Roman" panose="02020603050405020304" pitchFamily="18" charset="0"/>
              <a:cs typeface="Times New Roman" panose="02020603050405020304" pitchFamily="18" charset="0"/>
            </a:endParaRPr>
          </a:p>
        </p:txBody>
      </p:sp>
      <p:sp>
        <p:nvSpPr>
          <p:cNvPr id="41" name="文本框 40"/>
          <p:cNvSpPr txBox="1"/>
          <p:nvPr/>
        </p:nvSpPr>
        <p:spPr>
          <a:xfrm>
            <a:off x="2103826" y="2994953"/>
            <a:ext cx="463588"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r</a:t>
            </a:r>
            <a:r>
              <a:rPr lang="en-US" altLang="zh-CN" sz="2800" baseline="-25000" dirty="0" smtClean="0">
                <a:latin typeface="Times New Roman" panose="02020603050405020304" pitchFamily="18" charset="0"/>
                <a:cs typeface="Times New Roman" panose="02020603050405020304" pitchFamily="18" charset="0"/>
              </a:rPr>
              <a:t>1</a:t>
            </a:r>
            <a:endParaRPr lang="zh-CN" altLang="en-US" sz="2800" baseline="-25000" dirty="0">
              <a:latin typeface="Times New Roman" panose="02020603050405020304" pitchFamily="18" charset="0"/>
              <a:cs typeface="Times New Roman" panose="02020603050405020304" pitchFamily="18" charset="0"/>
            </a:endParaRPr>
          </a:p>
        </p:txBody>
      </p:sp>
      <p:cxnSp>
        <p:nvCxnSpPr>
          <p:cNvPr id="42" name="直接箭头连接符 41"/>
          <p:cNvCxnSpPr/>
          <p:nvPr/>
        </p:nvCxnSpPr>
        <p:spPr>
          <a:xfrm>
            <a:off x="1383826" y="3255302"/>
            <a:ext cx="72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接箭头连接符 42"/>
          <p:cNvCxnSpPr/>
          <p:nvPr/>
        </p:nvCxnSpPr>
        <p:spPr>
          <a:xfrm>
            <a:off x="2567414" y="3255302"/>
            <a:ext cx="72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4" name="文本框 43"/>
          <p:cNvSpPr txBox="1"/>
          <p:nvPr/>
        </p:nvSpPr>
        <p:spPr>
          <a:xfrm>
            <a:off x="4256703" y="2996120"/>
            <a:ext cx="689612" cy="523220"/>
          </a:xfrm>
          <a:prstGeom prst="rect">
            <a:avLst/>
          </a:prstGeom>
          <a:noFill/>
        </p:spPr>
        <p:txBody>
          <a:bodyPr wrap="none" rtlCol="0">
            <a:spAutoFit/>
          </a:bodyPr>
          <a:lstStyle/>
          <a:p>
            <a:r>
              <a:rPr lang="en-US" altLang="zh-CN" sz="2800" b="1" dirty="0" err="1" smtClean="0">
                <a:latin typeface="Times New Roman" panose="02020603050405020304" pitchFamily="18" charset="0"/>
                <a:cs typeface="Times New Roman" panose="02020603050405020304" pitchFamily="18" charset="0"/>
              </a:rPr>
              <a:t>r</a:t>
            </a:r>
            <a:r>
              <a:rPr lang="en-US" altLang="zh-CN" sz="2800" i="1" baseline="-25000" dirty="0" err="1" smtClean="0">
                <a:latin typeface="Times New Roman" panose="02020603050405020304" pitchFamily="18" charset="0"/>
                <a:cs typeface="Times New Roman" panose="02020603050405020304" pitchFamily="18" charset="0"/>
              </a:rPr>
              <a:t>k</a:t>
            </a:r>
            <a:r>
              <a:rPr lang="en-US" altLang="zh-CN" sz="2800" baseline="-25000" dirty="0" smtClean="0">
                <a:latin typeface="Times New Roman" panose="02020603050405020304" pitchFamily="18" charset="0"/>
                <a:cs typeface="Times New Roman" panose="02020603050405020304" pitchFamily="18" charset="0"/>
              </a:rPr>
              <a:t>–1</a:t>
            </a:r>
            <a:endParaRPr lang="zh-CN" altLang="en-US" sz="2800" baseline="-25000" dirty="0">
              <a:latin typeface="Times New Roman" panose="02020603050405020304" pitchFamily="18" charset="0"/>
              <a:cs typeface="Times New Roman" panose="02020603050405020304" pitchFamily="18" charset="0"/>
            </a:endParaRPr>
          </a:p>
        </p:txBody>
      </p:sp>
      <p:cxnSp>
        <p:nvCxnSpPr>
          <p:cNvPr id="45" name="直接箭头连接符 44"/>
          <p:cNvCxnSpPr/>
          <p:nvPr/>
        </p:nvCxnSpPr>
        <p:spPr>
          <a:xfrm>
            <a:off x="4720291" y="3256469"/>
            <a:ext cx="72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6" name="文本框 45"/>
          <p:cNvSpPr txBox="1"/>
          <p:nvPr/>
        </p:nvSpPr>
        <p:spPr>
          <a:xfrm>
            <a:off x="5440291" y="2995688"/>
            <a:ext cx="463588" cy="523220"/>
          </a:xfrm>
          <a:prstGeom prst="rect">
            <a:avLst/>
          </a:prstGeom>
          <a:noFill/>
        </p:spPr>
        <p:txBody>
          <a:bodyPr wrap="none" rtlCol="0">
            <a:spAutoFit/>
          </a:bodyPr>
          <a:lstStyle/>
          <a:p>
            <a:r>
              <a:rPr lang="en-US" altLang="zh-CN" sz="2800" b="1" dirty="0" err="1" smtClean="0">
                <a:latin typeface="Times New Roman" panose="02020603050405020304" pitchFamily="18" charset="0"/>
                <a:cs typeface="Times New Roman" panose="02020603050405020304" pitchFamily="18" charset="0"/>
              </a:rPr>
              <a:t>r</a:t>
            </a:r>
            <a:r>
              <a:rPr lang="en-US" altLang="zh-CN" sz="2800" i="1" baseline="-25000" dirty="0" err="1" smtClean="0">
                <a:latin typeface="Times New Roman" panose="02020603050405020304" pitchFamily="18" charset="0"/>
                <a:cs typeface="Times New Roman" panose="02020603050405020304" pitchFamily="18" charset="0"/>
              </a:rPr>
              <a:t>k</a:t>
            </a:r>
            <a:endParaRPr lang="zh-CN" altLang="en-US" sz="2800" i="1" baseline="-25000" dirty="0">
              <a:latin typeface="Times New Roman" panose="02020603050405020304" pitchFamily="18" charset="0"/>
              <a:cs typeface="Times New Roman" panose="02020603050405020304" pitchFamily="18" charset="0"/>
            </a:endParaRPr>
          </a:p>
        </p:txBody>
      </p:sp>
      <p:cxnSp>
        <p:nvCxnSpPr>
          <p:cNvPr id="47" name="直接箭头连接符 46"/>
          <p:cNvCxnSpPr/>
          <p:nvPr/>
        </p:nvCxnSpPr>
        <p:spPr>
          <a:xfrm>
            <a:off x="5903879" y="3255302"/>
            <a:ext cx="72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8" name="文本框 47"/>
          <p:cNvSpPr txBox="1"/>
          <p:nvPr/>
        </p:nvSpPr>
        <p:spPr>
          <a:xfrm>
            <a:off x="2103826" y="1884753"/>
            <a:ext cx="484428"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v</a:t>
            </a:r>
            <a:r>
              <a:rPr lang="en-US" altLang="zh-CN" sz="2800" baseline="-25000" dirty="0" smtClean="0">
                <a:latin typeface="Times New Roman" panose="02020603050405020304" pitchFamily="18" charset="0"/>
                <a:cs typeface="Times New Roman" panose="02020603050405020304" pitchFamily="18" charset="0"/>
              </a:rPr>
              <a:t>1</a:t>
            </a:r>
            <a:endParaRPr lang="zh-CN" altLang="en-US" sz="2800" baseline="-25000" dirty="0">
              <a:latin typeface="Times New Roman" panose="02020603050405020304" pitchFamily="18" charset="0"/>
              <a:cs typeface="Times New Roman" panose="02020603050405020304" pitchFamily="18" charset="0"/>
            </a:endParaRPr>
          </a:p>
        </p:txBody>
      </p:sp>
      <p:sp>
        <p:nvSpPr>
          <p:cNvPr id="49" name="文本框 48"/>
          <p:cNvSpPr txBox="1"/>
          <p:nvPr/>
        </p:nvSpPr>
        <p:spPr>
          <a:xfrm>
            <a:off x="4256703" y="1883258"/>
            <a:ext cx="710451" cy="523220"/>
          </a:xfrm>
          <a:prstGeom prst="rect">
            <a:avLst/>
          </a:prstGeom>
          <a:noFill/>
        </p:spPr>
        <p:txBody>
          <a:bodyPr wrap="none" rtlCol="0">
            <a:spAutoFit/>
          </a:bodyPr>
          <a:lstStyle/>
          <a:p>
            <a:r>
              <a:rPr lang="en-US" altLang="zh-CN" sz="2800" b="1" dirty="0" err="1" smtClean="0">
                <a:latin typeface="Times New Roman" panose="02020603050405020304" pitchFamily="18" charset="0"/>
                <a:cs typeface="Times New Roman" panose="02020603050405020304" pitchFamily="18" charset="0"/>
              </a:rPr>
              <a:t>v</a:t>
            </a:r>
            <a:r>
              <a:rPr lang="en-US" altLang="zh-CN" sz="2800" i="1" baseline="-25000" dirty="0" err="1" smtClean="0">
                <a:latin typeface="Times New Roman" panose="02020603050405020304" pitchFamily="18" charset="0"/>
                <a:cs typeface="Times New Roman" panose="02020603050405020304" pitchFamily="18" charset="0"/>
              </a:rPr>
              <a:t>k</a:t>
            </a:r>
            <a:r>
              <a:rPr lang="en-US" altLang="zh-CN" sz="2800" baseline="-25000" dirty="0" smtClean="0">
                <a:latin typeface="Times New Roman" panose="02020603050405020304" pitchFamily="18" charset="0"/>
                <a:cs typeface="Times New Roman" panose="02020603050405020304" pitchFamily="18" charset="0"/>
              </a:rPr>
              <a:t>–1</a:t>
            </a:r>
            <a:endParaRPr lang="zh-CN" altLang="en-US" sz="2800" baseline="-25000" dirty="0">
              <a:latin typeface="Times New Roman" panose="02020603050405020304" pitchFamily="18" charset="0"/>
              <a:cs typeface="Times New Roman" panose="02020603050405020304" pitchFamily="18" charset="0"/>
            </a:endParaRPr>
          </a:p>
        </p:txBody>
      </p:sp>
      <p:cxnSp>
        <p:nvCxnSpPr>
          <p:cNvPr id="50" name="直接箭头连接符 49"/>
          <p:cNvCxnSpPr/>
          <p:nvPr/>
        </p:nvCxnSpPr>
        <p:spPr>
          <a:xfrm>
            <a:off x="4720291" y="2146269"/>
            <a:ext cx="72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1" name="文本框 50"/>
          <p:cNvSpPr txBox="1"/>
          <p:nvPr/>
        </p:nvSpPr>
        <p:spPr>
          <a:xfrm>
            <a:off x="5440291" y="1883258"/>
            <a:ext cx="484428" cy="523220"/>
          </a:xfrm>
          <a:prstGeom prst="rect">
            <a:avLst/>
          </a:prstGeom>
          <a:noFill/>
        </p:spPr>
        <p:txBody>
          <a:bodyPr wrap="none" rtlCol="0">
            <a:spAutoFit/>
          </a:bodyPr>
          <a:lstStyle/>
          <a:p>
            <a:r>
              <a:rPr lang="en-US" altLang="zh-CN" sz="2800" b="1" dirty="0" err="1" smtClean="0">
                <a:latin typeface="Times New Roman" panose="02020603050405020304" pitchFamily="18" charset="0"/>
                <a:cs typeface="Times New Roman" panose="02020603050405020304" pitchFamily="18" charset="0"/>
              </a:rPr>
              <a:t>v</a:t>
            </a:r>
            <a:r>
              <a:rPr lang="en-US" altLang="zh-CN" sz="2800" i="1" baseline="-25000" dirty="0" err="1" smtClean="0">
                <a:latin typeface="Times New Roman" panose="02020603050405020304" pitchFamily="18" charset="0"/>
                <a:cs typeface="Times New Roman" panose="02020603050405020304" pitchFamily="18" charset="0"/>
              </a:rPr>
              <a:t>k</a:t>
            </a:r>
            <a:endParaRPr lang="zh-CN" altLang="en-US" sz="2800" i="1" baseline="-25000" dirty="0">
              <a:latin typeface="Times New Roman" panose="02020603050405020304" pitchFamily="18" charset="0"/>
              <a:cs typeface="Times New Roman" panose="02020603050405020304" pitchFamily="18" charset="0"/>
            </a:endParaRPr>
          </a:p>
        </p:txBody>
      </p:sp>
      <p:cxnSp>
        <p:nvCxnSpPr>
          <p:cNvPr id="52" name="直接箭头连接符 51"/>
          <p:cNvCxnSpPr/>
          <p:nvPr/>
        </p:nvCxnSpPr>
        <p:spPr>
          <a:xfrm>
            <a:off x="5903879" y="2147624"/>
            <a:ext cx="72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3" name="文本框 52"/>
          <p:cNvSpPr txBox="1"/>
          <p:nvPr/>
        </p:nvSpPr>
        <p:spPr>
          <a:xfrm>
            <a:off x="6623879" y="1883258"/>
            <a:ext cx="724878"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v</a:t>
            </a:r>
            <a:r>
              <a:rPr lang="en-US" altLang="zh-CN" sz="2800" i="1" baseline="-25000" dirty="0" smtClean="0">
                <a:latin typeface="Times New Roman" panose="02020603050405020304" pitchFamily="18" charset="0"/>
                <a:cs typeface="Times New Roman" panose="02020603050405020304" pitchFamily="18" charset="0"/>
              </a:rPr>
              <a:t>k</a:t>
            </a:r>
            <a:r>
              <a:rPr lang="en-US" altLang="zh-CN" sz="2800" baseline="-25000" dirty="0" smtClean="0">
                <a:latin typeface="Times New Roman" panose="02020603050405020304" pitchFamily="18" charset="0"/>
                <a:cs typeface="Times New Roman" panose="02020603050405020304" pitchFamily="18" charset="0"/>
              </a:rPr>
              <a:t>+1</a:t>
            </a:r>
            <a:endParaRPr lang="zh-CN" altLang="en-US" sz="2800" baseline="-25000" dirty="0">
              <a:latin typeface="Times New Roman" panose="02020603050405020304" pitchFamily="18" charset="0"/>
              <a:cs typeface="Times New Roman" panose="02020603050405020304" pitchFamily="18" charset="0"/>
            </a:endParaRPr>
          </a:p>
        </p:txBody>
      </p:sp>
      <p:cxnSp>
        <p:nvCxnSpPr>
          <p:cNvPr id="54" name="直接箭头连接符 53"/>
          <p:cNvCxnSpPr/>
          <p:nvPr/>
        </p:nvCxnSpPr>
        <p:spPr>
          <a:xfrm flipV="1">
            <a:off x="1383826" y="2383200"/>
            <a:ext cx="720000" cy="72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直接箭头连接符 54"/>
          <p:cNvCxnSpPr/>
          <p:nvPr/>
        </p:nvCxnSpPr>
        <p:spPr>
          <a:xfrm>
            <a:off x="2567414" y="2145102"/>
            <a:ext cx="72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6" name="直接箭头连接符 55"/>
          <p:cNvCxnSpPr/>
          <p:nvPr/>
        </p:nvCxnSpPr>
        <p:spPr>
          <a:xfrm flipV="1">
            <a:off x="2588254" y="2383200"/>
            <a:ext cx="720000" cy="72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直接箭头连接符 56"/>
          <p:cNvCxnSpPr/>
          <p:nvPr/>
        </p:nvCxnSpPr>
        <p:spPr>
          <a:xfrm flipV="1">
            <a:off x="4729591" y="2383200"/>
            <a:ext cx="720000" cy="72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8" name="直接箭头连接符 57"/>
          <p:cNvCxnSpPr/>
          <p:nvPr/>
        </p:nvCxnSpPr>
        <p:spPr>
          <a:xfrm flipV="1">
            <a:off x="5891269" y="2383200"/>
            <a:ext cx="720000" cy="72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9" name="直接箭头连接符 58"/>
          <p:cNvCxnSpPr/>
          <p:nvPr/>
        </p:nvCxnSpPr>
        <p:spPr>
          <a:xfrm>
            <a:off x="4488497" y="2383200"/>
            <a:ext cx="0" cy="72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直接箭头连接符 59"/>
          <p:cNvCxnSpPr/>
          <p:nvPr/>
        </p:nvCxnSpPr>
        <p:spPr>
          <a:xfrm>
            <a:off x="5672085" y="2383200"/>
            <a:ext cx="0" cy="72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1" name="文本框 60"/>
          <p:cNvSpPr txBox="1"/>
          <p:nvPr/>
        </p:nvSpPr>
        <p:spPr>
          <a:xfrm>
            <a:off x="6614180" y="2995688"/>
            <a:ext cx="704039"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r</a:t>
            </a:r>
            <a:r>
              <a:rPr lang="en-US" altLang="zh-CN" sz="2800" i="1" baseline="-25000" dirty="0" smtClean="0">
                <a:latin typeface="Times New Roman" panose="02020603050405020304" pitchFamily="18" charset="0"/>
                <a:cs typeface="Times New Roman" panose="02020603050405020304" pitchFamily="18" charset="0"/>
              </a:rPr>
              <a:t>k</a:t>
            </a:r>
            <a:r>
              <a:rPr lang="en-US" altLang="zh-CN" sz="2800" baseline="-25000" dirty="0" smtClean="0">
                <a:latin typeface="Times New Roman" panose="02020603050405020304" pitchFamily="18" charset="0"/>
                <a:cs typeface="Times New Roman" panose="02020603050405020304" pitchFamily="18" charset="0"/>
              </a:rPr>
              <a:t>+1</a:t>
            </a:r>
            <a:endParaRPr lang="zh-CN" altLang="en-US" sz="2800" baseline="-25000" dirty="0">
              <a:latin typeface="Times New Roman" panose="02020603050405020304" pitchFamily="18" charset="0"/>
              <a:cs typeface="Times New Roman" panose="02020603050405020304" pitchFamily="18" charset="0"/>
            </a:endParaRPr>
          </a:p>
        </p:txBody>
      </p:sp>
      <p:cxnSp>
        <p:nvCxnSpPr>
          <p:cNvPr id="62" name="直接箭头连接符 61"/>
          <p:cNvCxnSpPr/>
          <p:nvPr/>
        </p:nvCxnSpPr>
        <p:spPr>
          <a:xfrm>
            <a:off x="6840524" y="2383200"/>
            <a:ext cx="0" cy="72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63" name="组合 62"/>
          <p:cNvGrpSpPr/>
          <p:nvPr/>
        </p:nvGrpSpPr>
        <p:grpSpPr>
          <a:xfrm>
            <a:off x="2155124" y="2382826"/>
            <a:ext cx="444352" cy="720000"/>
            <a:chOff x="2155124" y="2382826"/>
            <a:chExt cx="444352" cy="720000"/>
          </a:xfrm>
        </p:grpSpPr>
        <p:cxnSp>
          <p:nvCxnSpPr>
            <p:cNvPr id="64" name="直接箭头连接符 63"/>
            <p:cNvCxnSpPr/>
            <p:nvPr/>
          </p:nvCxnSpPr>
          <p:spPr>
            <a:xfrm>
              <a:off x="2346040" y="2382826"/>
              <a:ext cx="0" cy="72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5" name="文本框 64"/>
            <p:cNvSpPr txBox="1"/>
            <p:nvPr/>
          </p:nvSpPr>
          <p:spPr>
            <a:xfrm>
              <a:off x="2155124" y="2401290"/>
              <a:ext cx="444352"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A</a:t>
              </a:r>
              <a:endParaRPr lang="zh-CN" altLang="en-US" sz="2800" b="1" dirty="0">
                <a:latin typeface="Times New Roman" panose="02020603050405020304" pitchFamily="18" charset="0"/>
                <a:cs typeface="Times New Roman" panose="02020603050405020304" pitchFamily="18" charset="0"/>
              </a:endParaRPr>
            </a:p>
          </p:txBody>
        </p:sp>
      </p:grpSp>
      <p:sp>
        <p:nvSpPr>
          <p:cNvPr id="66" name="文本框 65"/>
          <p:cNvSpPr txBox="1"/>
          <p:nvPr/>
        </p:nvSpPr>
        <p:spPr>
          <a:xfrm>
            <a:off x="4296460" y="2413564"/>
            <a:ext cx="444352"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A</a:t>
            </a:r>
            <a:endParaRPr lang="zh-CN" altLang="en-US" sz="2800" b="1" dirty="0">
              <a:latin typeface="Times New Roman" panose="02020603050405020304" pitchFamily="18" charset="0"/>
              <a:cs typeface="Times New Roman" panose="02020603050405020304" pitchFamily="18" charset="0"/>
            </a:endParaRPr>
          </a:p>
        </p:txBody>
      </p:sp>
      <p:sp>
        <p:nvSpPr>
          <p:cNvPr id="67" name="文本框 66"/>
          <p:cNvSpPr txBox="1"/>
          <p:nvPr/>
        </p:nvSpPr>
        <p:spPr>
          <a:xfrm>
            <a:off x="5480367" y="2403812"/>
            <a:ext cx="444352"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A</a:t>
            </a:r>
            <a:endParaRPr lang="zh-CN" altLang="en-US" sz="2800" b="1" dirty="0">
              <a:latin typeface="Times New Roman" panose="02020603050405020304" pitchFamily="18" charset="0"/>
              <a:cs typeface="Times New Roman" panose="02020603050405020304" pitchFamily="18" charset="0"/>
            </a:endParaRPr>
          </a:p>
        </p:txBody>
      </p:sp>
      <p:sp>
        <p:nvSpPr>
          <p:cNvPr id="68" name="文本框 67"/>
          <p:cNvSpPr txBox="1"/>
          <p:nvPr/>
        </p:nvSpPr>
        <p:spPr>
          <a:xfrm>
            <a:off x="6663955" y="2414919"/>
            <a:ext cx="444352"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A</a:t>
            </a:r>
            <a:endParaRPr lang="zh-CN" altLang="en-US" sz="2800" b="1" dirty="0">
              <a:latin typeface="Times New Roman" panose="02020603050405020304" pitchFamily="18" charset="0"/>
              <a:cs typeface="Times New Roman" panose="02020603050405020304" pitchFamily="18" charset="0"/>
            </a:endParaRPr>
          </a:p>
        </p:txBody>
      </p:sp>
      <p:sp>
        <p:nvSpPr>
          <p:cNvPr id="69" name="文本框 68"/>
          <p:cNvSpPr txBox="1"/>
          <p:nvPr/>
        </p:nvSpPr>
        <p:spPr>
          <a:xfrm>
            <a:off x="3733177" y="2905688"/>
            <a:ext cx="543739"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a:t>
            </a:r>
            <a:endParaRPr lang="zh-CN" altLang="en-US" sz="2800" baseline="-25000" dirty="0">
              <a:latin typeface="Times New Roman" panose="02020603050405020304" pitchFamily="18" charset="0"/>
              <a:cs typeface="Times New Roman" panose="02020603050405020304" pitchFamily="18" charset="0"/>
            </a:endParaRPr>
          </a:p>
        </p:txBody>
      </p:sp>
      <p:sp>
        <p:nvSpPr>
          <p:cNvPr id="70" name="文本框 69"/>
          <p:cNvSpPr txBox="1"/>
          <p:nvPr/>
        </p:nvSpPr>
        <p:spPr>
          <a:xfrm>
            <a:off x="3748265" y="1789658"/>
            <a:ext cx="543739"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a:t>
            </a:r>
            <a:endParaRPr lang="zh-CN" altLang="en-US" sz="2800" baseline="-25000" dirty="0">
              <a:latin typeface="Times New Roman" panose="02020603050405020304" pitchFamily="18" charset="0"/>
              <a:cs typeface="Times New Roman" panose="02020603050405020304" pitchFamily="18" charset="0"/>
            </a:endParaRPr>
          </a:p>
        </p:txBody>
      </p:sp>
      <p:sp>
        <p:nvSpPr>
          <p:cNvPr id="71" name="文本框 70"/>
          <p:cNvSpPr txBox="1"/>
          <p:nvPr/>
        </p:nvSpPr>
        <p:spPr>
          <a:xfrm>
            <a:off x="3296714" y="1883258"/>
            <a:ext cx="484428"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v</a:t>
            </a:r>
            <a:r>
              <a:rPr lang="en-US" altLang="zh-CN" sz="2800" baseline="-25000" dirty="0" smtClean="0">
                <a:latin typeface="Times New Roman" panose="02020603050405020304" pitchFamily="18" charset="0"/>
                <a:cs typeface="Times New Roman" panose="02020603050405020304" pitchFamily="18" charset="0"/>
              </a:rPr>
              <a:t>2</a:t>
            </a:r>
            <a:endParaRPr lang="zh-CN" altLang="en-US" sz="2800" baseline="-25000" dirty="0">
              <a:latin typeface="Times New Roman" panose="02020603050405020304" pitchFamily="18" charset="0"/>
              <a:cs typeface="Times New Roman" panose="02020603050405020304" pitchFamily="18" charset="0"/>
            </a:endParaRPr>
          </a:p>
        </p:txBody>
      </p:sp>
      <p:sp>
        <p:nvSpPr>
          <p:cNvPr id="72" name="文本框 71"/>
          <p:cNvSpPr txBox="1"/>
          <p:nvPr/>
        </p:nvSpPr>
        <p:spPr>
          <a:xfrm>
            <a:off x="3304619" y="2995688"/>
            <a:ext cx="463588"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r</a:t>
            </a:r>
            <a:r>
              <a:rPr lang="en-US" altLang="zh-CN" sz="2800" baseline="-25000" dirty="0" smtClean="0">
                <a:latin typeface="Times New Roman" panose="02020603050405020304" pitchFamily="18" charset="0"/>
                <a:cs typeface="Times New Roman" panose="02020603050405020304" pitchFamily="18" charset="0"/>
              </a:rPr>
              <a:t>2</a:t>
            </a:r>
            <a:endParaRPr lang="zh-CN" altLang="en-US" sz="2800" baseline="-25000" dirty="0">
              <a:latin typeface="Times New Roman" panose="02020603050405020304" pitchFamily="18" charset="0"/>
              <a:cs typeface="Times New Roman" panose="02020603050405020304" pitchFamily="18" charset="0"/>
            </a:endParaRPr>
          </a:p>
        </p:txBody>
      </p:sp>
      <p:grpSp>
        <p:nvGrpSpPr>
          <p:cNvPr id="73" name="组合 72"/>
          <p:cNvGrpSpPr/>
          <p:nvPr/>
        </p:nvGrpSpPr>
        <p:grpSpPr>
          <a:xfrm>
            <a:off x="3337062" y="2382826"/>
            <a:ext cx="444352" cy="720000"/>
            <a:chOff x="3337062" y="2382826"/>
            <a:chExt cx="444352" cy="720000"/>
          </a:xfrm>
        </p:grpSpPr>
        <p:cxnSp>
          <p:nvCxnSpPr>
            <p:cNvPr id="74" name="直接箭头连接符 73"/>
            <p:cNvCxnSpPr/>
            <p:nvPr/>
          </p:nvCxnSpPr>
          <p:spPr>
            <a:xfrm>
              <a:off x="3527978" y="2382826"/>
              <a:ext cx="0" cy="72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5" name="文本框 74"/>
            <p:cNvSpPr txBox="1"/>
            <p:nvPr/>
          </p:nvSpPr>
          <p:spPr>
            <a:xfrm>
              <a:off x="3337062" y="2401290"/>
              <a:ext cx="444352"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A</a:t>
              </a:r>
              <a:endParaRPr lang="zh-CN" altLang="en-US" sz="2800" b="1" dirty="0">
                <a:latin typeface="Times New Roman" panose="02020603050405020304" pitchFamily="18" charset="0"/>
                <a:cs typeface="Times New Roman" panose="02020603050405020304" pitchFamily="18" charset="0"/>
              </a:endParaRPr>
            </a:p>
          </p:txBody>
        </p:sp>
      </p:grpSp>
      <p:sp>
        <p:nvSpPr>
          <p:cNvPr id="76" name="文本框 75"/>
          <p:cNvSpPr txBox="1"/>
          <p:nvPr/>
        </p:nvSpPr>
        <p:spPr>
          <a:xfrm>
            <a:off x="7268021" y="1788347"/>
            <a:ext cx="543739"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a:t>
            </a:r>
            <a:endParaRPr lang="zh-CN" altLang="en-US" sz="2800" baseline="-25000" dirty="0">
              <a:latin typeface="Times New Roman" panose="02020603050405020304" pitchFamily="18" charset="0"/>
              <a:cs typeface="Times New Roman" panose="02020603050405020304" pitchFamily="18" charset="0"/>
            </a:endParaRPr>
          </a:p>
        </p:txBody>
      </p:sp>
      <p:sp>
        <p:nvSpPr>
          <p:cNvPr id="77" name="文本框 76"/>
          <p:cNvSpPr txBox="1"/>
          <p:nvPr/>
        </p:nvSpPr>
        <p:spPr>
          <a:xfrm>
            <a:off x="7320910" y="2905963"/>
            <a:ext cx="543739"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a:t>
            </a:r>
            <a:endParaRPr lang="zh-CN" altLang="en-US" sz="2800" baseline="-25000" dirty="0">
              <a:latin typeface="Times New Roman" panose="02020603050405020304" pitchFamily="18" charset="0"/>
              <a:cs typeface="Times New Roman" panose="02020603050405020304" pitchFamily="18" charset="0"/>
            </a:endParaRPr>
          </a:p>
        </p:txBody>
      </p:sp>
    </p:spTree>
    <p:custDataLst>
      <p:tags r:id="rId1"/>
    </p:custDataLst>
    <p:extLst>
      <p:ext uri="{BB962C8B-B14F-4D97-AF65-F5344CB8AC3E}">
        <p14:creationId xmlns:p14="http://schemas.microsoft.com/office/powerpoint/2010/main" val="3273840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宋体" panose="02010600030101010101" pitchFamily="2" charset="-122"/>
                <a:ea typeface="宋体" panose="02010600030101010101" pitchFamily="2" charset="-122"/>
              </a:rPr>
              <a:t>关键变量的关系</a:t>
            </a:r>
            <a:endParaRPr lang="zh-CN" altLang="en-US" dirty="0">
              <a:latin typeface="宋体" panose="02010600030101010101" pitchFamily="2" charset="-122"/>
              <a:ea typeface="宋体" panose="02010600030101010101" pitchFamily="2" charset="-122"/>
            </a:endParaRPr>
          </a:p>
        </p:txBody>
      </p:sp>
      <p:sp>
        <p:nvSpPr>
          <p:cNvPr id="3" name="内容占位符 2"/>
          <p:cNvSpPr>
            <a:spLocks noGrp="1"/>
          </p:cNvSpPr>
          <p:nvPr>
            <p:ph idx="1"/>
          </p:nvPr>
        </p:nvSpPr>
        <p:spPr>
          <a:xfrm>
            <a:off x="628650" y="3734347"/>
            <a:ext cx="7886700" cy="2442616"/>
          </a:xfrm>
        </p:spPr>
        <p:txBody>
          <a:bodyPr>
            <a:normAutofit lnSpcReduction="10000"/>
          </a:bodyPr>
          <a:lstStyle/>
          <a:p>
            <a:pPr marL="0" indent="0">
              <a:buNone/>
            </a:pPr>
            <a:r>
              <a:rPr lang="zh-CN" altLang="en-US" b="1" dirty="0" smtClean="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Av</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i</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可以写为</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r</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i</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与</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r</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i</a:t>
            </a:r>
            <a:r>
              <a:rPr lang="en-US" altLang="zh-CN" baseline="-25000" dirty="0" smtClean="0">
                <a:latin typeface="Times New Roman" panose="02020603050405020304" pitchFamily="18" charset="0"/>
                <a:ea typeface="楷体" panose="02010609060101010101" pitchFamily="49" charset="-122"/>
                <a:cs typeface="Times New Roman" panose="02020603050405020304" pitchFamily="18" charset="0"/>
              </a:rPr>
              <a:t> – 1</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的线性组合</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当</a:t>
            </a:r>
            <a:r>
              <a:rPr lang="en-US" altLang="zh-CN" i="1" dirty="0" err="1" smtClean="0">
                <a:latin typeface="Times New Roman" panose="02020603050405020304" pitchFamily="18" charset="0"/>
                <a:ea typeface="楷体" panose="02010609060101010101" pitchFamily="49" charset="-122"/>
                <a:cs typeface="Times New Roman" panose="02020603050405020304" pitchFamily="18" charset="0"/>
              </a:rPr>
              <a:t>i</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&lt; </a:t>
            </a:r>
            <a:r>
              <a:rPr lang="en-US" altLang="zh-CN" i="1" dirty="0" smtClean="0">
                <a:latin typeface="Times New Roman" panose="02020603050405020304" pitchFamily="18" charset="0"/>
                <a:ea typeface="楷体" panose="02010609060101010101" pitchFamily="49" charset="-122"/>
                <a:cs typeface="Times New Roman" panose="02020603050405020304" pitchFamily="18" charset="0"/>
              </a:rPr>
              <a:t>k</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时</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r>
              <a:rPr lang="zh-CN" altLang="en-US" b="1" dirty="0" smtClean="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r</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i</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和</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r</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i</a:t>
            </a:r>
            <a:r>
              <a:rPr lang="en-US" altLang="zh-CN" baseline="-25000" dirty="0" smtClean="0">
                <a:latin typeface="Times New Roman" panose="02020603050405020304" pitchFamily="18" charset="0"/>
                <a:ea typeface="楷体" panose="02010609060101010101" pitchFamily="49" charset="-122"/>
                <a:cs typeface="Times New Roman" panose="02020603050405020304" pitchFamily="18" charset="0"/>
              </a:rPr>
              <a:t> – 1</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都垂直于</a:t>
            </a:r>
            <a:r>
              <a:rPr lang="en-US" altLang="zh-CN" b="1" dirty="0" err="1">
                <a:latin typeface="Times New Roman" panose="02020603050405020304" pitchFamily="18" charset="0"/>
                <a:ea typeface="楷体" panose="02010609060101010101" pitchFamily="49" charset="-122"/>
                <a:cs typeface="Times New Roman" panose="02020603050405020304" pitchFamily="18" charset="0"/>
              </a:rPr>
              <a:t>r</a:t>
            </a:r>
            <a:r>
              <a:rPr lang="en-US" altLang="zh-CN" i="1" baseline="-25000" dirty="0" err="1">
                <a:latin typeface="Times New Roman" panose="02020603050405020304" pitchFamily="18" charset="0"/>
                <a:ea typeface="楷体" panose="02010609060101010101" pitchFamily="49" charset="-122"/>
                <a:cs typeface="Times New Roman" panose="02020603050405020304" pitchFamily="18" charset="0"/>
              </a:rPr>
              <a:t>k</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r>
              <a:rPr lang="zh-CN" altLang="en-US" b="1" dirty="0" smtClean="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r</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与</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Av</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i</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垂直</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r>
              <a:rPr lang="zh-CN" altLang="en-US" b="1" dirty="0" smtClean="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r</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与</a:t>
            </a: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v</a:t>
            </a:r>
            <a:r>
              <a:rPr lang="en-US" altLang="zh-CN" i="1" baseline="-25000" dirty="0" smtClean="0">
                <a:latin typeface="Times New Roman" panose="02020603050405020304" pitchFamily="18" charset="0"/>
                <a:ea typeface="楷体" panose="02010609060101010101" pitchFamily="49" charset="-122"/>
                <a:cs typeface="Times New Roman" panose="02020603050405020304" pitchFamily="18" charset="0"/>
              </a:rPr>
              <a:t>i</a:t>
            </a:r>
            <a:r>
              <a:rPr lang="zh-CN" altLang="en-US" dirty="0">
                <a:latin typeface="Times New Roman" panose="02020603050405020304" pitchFamily="18" charset="0"/>
                <a:ea typeface="楷体" panose="02010609060101010101" pitchFamily="49" charset="-122"/>
                <a:cs typeface="Times New Roman" panose="02020603050405020304" pitchFamily="18" charset="0"/>
              </a:rPr>
              <a:t>关于</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共轭</a:t>
            </a:r>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0" name="文本框 39"/>
          <p:cNvSpPr txBox="1"/>
          <p:nvPr/>
        </p:nvSpPr>
        <p:spPr>
          <a:xfrm>
            <a:off x="958444" y="2994953"/>
            <a:ext cx="463588" cy="523220"/>
          </a:xfrm>
          <a:prstGeom prst="rect">
            <a:avLst/>
          </a:prstGeom>
          <a:noFill/>
        </p:spPr>
        <p:txBody>
          <a:bodyPr wrap="none" rtlCol="0">
            <a:spAutoFit/>
          </a:bodyPr>
          <a:lstStyle/>
          <a:p>
            <a:pPr algn="ctr"/>
            <a:r>
              <a:rPr lang="en-US" altLang="zh-CN" sz="2800" b="1" dirty="0" smtClean="0">
                <a:latin typeface="Times New Roman" panose="02020603050405020304" pitchFamily="18" charset="0"/>
                <a:cs typeface="Times New Roman" panose="02020603050405020304" pitchFamily="18" charset="0"/>
              </a:rPr>
              <a:t>r</a:t>
            </a:r>
            <a:r>
              <a:rPr lang="en-US" altLang="zh-CN" sz="2800" baseline="-25000" dirty="0" smtClean="0">
                <a:latin typeface="Times New Roman" panose="02020603050405020304" pitchFamily="18" charset="0"/>
                <a:cs typeface="Times New Roman" panose="02020603050405020304" pitchFamily="18" charset="0"/>
              </a:rPr>
              <a:t>0</a:t>
            </a:r>
            <a:endParaRPr lang="zh-CN" altLang="en-US" sz="2800" baseline="-25000" dirty="0">
              <a:latin typeface="Times New Roman" panose="02020603050405020304" pitchFamily="18" charset="0"/>
              <a:cs typeface="Times New Roman" panose="02020603050405020304" pitchFamily="18" charset="0"/>
            </a:endParaRPr>
          </a:p>
        </p:txBody>
      </p:sp>
      <p:sp>
        <p:nvSpPr>
          <p:cNvPr id="41" name="文本框 40"/>
          <p:cNvSpPr txBox="1"/>
          <p:nvPr/>
        </p:nvSpPr>
        <p:spPr>
          <a:xfrm>
            <a:off x="2103826" y="2994953"/>
            <a:ext cx="463588"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r</a:t>
            </a:r>
            <a:r>
              <a:rPr lang="en-US" altLang="zh-CN" sz="2800" baseline="-25000" dirty="0" smtClean="0">
                <a:latin typeface="Times New Roman" panose="02020603050405020304" pitchFamily="18" charset="0"/>
                <a:cs typeface="Times New Roman" panose="02020603050405020304" pitchFamily="18" charset="0"/>
              </a:rPr>
              <a:t>1</a:t>
            </a:r>
            <a:endParaRPr lang="zh-CN" altLang="en-US" sz="2800" baseline="-25000" dirty="0">
              <a:latin typeface="Times New Roman" panose="02020603050405020304" pitchFamily="18" charset="0"/>
              <a:cs typeface="Times New Roman" panose="02020603050405020304" pitchFamily="18" charset="0"/>
            </a:endParaRPr>
          </a:p>
        </p:txBody>
      </p:sp>
      <p:cxnSp>
        <p:nvCxnSpPr>
          <p:cNvPr id="42" name="直接箭头连接符 41"/>
          <p:cNvCxnSpPr/>
          <p:nvPr/>
        </p:nvCxnSpPr>
        <p:spPr>
          <a:xfrm>
            <a:off x="1383826" y="3255302"/>
            <a:ext cx="72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接箭头连接符 42"/>
          <p:cNvCxnSpPr/>
          <p:nvPr/>
        </p:nvCxnSpPr>
        <p:spPr>
          <a:xfrm>
            <a:off x="2567414" y="3255302"/>
            <a:ext cx="72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4" name="文本框 43"/>
          <p:cNvSpPr txBox="1"/>
          <p:nvPr/>
        </p:nvSpPr>
        <p:spPr>
          <a:xfrm>
            <a:off x="4256703" y="2996120"/>
            <a:ext cx="689612" cy="523220"/>
          </a:xfrm>
          <a:prstGeom prst="rect">
            <a:avLst/>
          </a:prstGeom>
          <a:noFill/>
        </p:spPr>
        <p:txBody>
          <a:bodyPr wrap="none" rtlCol="0">
            <a:spAutoFit/>
          </a:bodyPr>
          <a:lstStyle/>
          <a:p>
            <a:r>
              <a:rPr lang="en-US" altLang="zh-CN" sz="2800" b="1" dirty="0" err="1" smtClean="0">
                <a:latin typeface="Times New Roman" panose="02020603050405020304" pitchFamily="18" charset="0"/>
                <a:cs typeface="Times New Roman" panose="02020603050405020304" pitchFamily="18" charset="0"/>
              </a:rPr>
              <a:t>r</a:t>
            </a:r>
            <a:r>
              <a:rPr lang="en-US" altLang="zh-CN" sz="2800" i="1" baseline="-25000" dirty="0" err="1" smtClean="0">
                <a:latin typeface="Times New Roman" panose="02020603050405020304" pitchFamily="18" charset="0"/>
                <a:cs typeface="Times New Roman" panose="02020603050405020304" pitchFamily="18" charset="0"/>
              </a:rPr>
              <a:t>k</a:t>
            </a:r>
            <a:r>
              <a:rPr lang="en-US" altLang="zh-CN" sz="2800" baseline="-25000" dirty="0" smtClean="0">
                <a:latin typeface="Times New Roman" panose="02020603050405020304" pitchFamily="18" charset="0"/>
                <a:cs typeface="Times New Roman" panose="02020603050405020304" pitchFamily="18" charset="0"/>
              </a:rPr>
              <a:t>–1</a:t>
            </a:r>
            <a:endParaRPr lang="zh-CN" altLang="en-US" sz="2800" baseline="-25000" dirty="0">
              <a:latin typeface="Times New Roman" panose="02020603050405020304" pitchFamily="18" charset="0"/>
              <a:cs typeface="Times New Roman" panose="02020603050405020304" pitchFamily="18" charset="0"/>
            </a:endParaRPr>
          </a:p>
        </p:txBody>
      </p:sp>
      <p:cxnSp>
        <p:nvCxnSpPr>
          <p:cNvPr id="45" name="直接箭头连接符 44"/>
          <p:cNvCxnSpPr/>
          <p:nvPr/>
        </p:nvCxnSpPr>
        <p:spPr>
          <a:xfrm>
            <a:off x="4720291" y="3256469"/>
            <a:ext cx="72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6" name="文本框 45"/>
          <p:cNvSpPr txBox="1"/>
          <p:nvPr/>
        </p:nvSpPr>
        <p:spPr>
          <a:xfrm>
            <a:off x="5440291" y="2995688"/>
            <a:ext cx="463588" cy="523220"/>
          </a:xfrm>
          <a:prstGeom prst="rect">
            <a:avLst/>
          </a:prstGeom>
          <a:noFill/>
        </p:spPr>
        <p:txBody>
          <a:bodyPr wrap="none" rtlCol="0">
            <a:spAutoFit/>
          </a:bodyPr>
          <a:lstStyle/>
          <a:p>
            <a:r>
              <a:rPr lang="en-US" altLang="zh-CN" sz="2800" b="1" dirty="0" err="1" smtClean="0">
                <a:latin typeface="Times New Roman" panose="02020603050405020304" pitchFamily="18" charset="0"/>
                <a:cs typeface="Times New Roman" panose="02020603050405020304" pitchFamily="18" charset="0"/>
              </a:rPr>
              <a:t>r</a:t>
            </a:r>
            <a:r>
              <a:rPr lang="en-US" altLang="zh-CN" sz="2800" i="1" baseline="-25000" dirty="0" err="1" smtClean="0">
                <a:latin typeface="Times New Roman" panose="02020603050405020304" pitchFamily="18" charset="0"/>
                <a:cs typeface="Times New Roman" panose="02020603050405020304" pitchFamily="18" charset="0"/>
              </a:rPr>
              <a:t>k</a:t>
            </a:r>
            <a:endParaRPr lang="zh-CN" altLang="en-US" sz="2800" i="1" baseline="-25000" dirty="0">
              <a:latin typeface="Times New Roman" panose="02020603050405020304" pitchFamily="18" charset="0"/>
              <a:cs typeface="Times New Roman" panose="02020603050405020304" pitchFamily="18" charset="0"/>
            </a:endParaRPr>
          </a:p>
        </p:txBody>
      </p:sp>
      <p:cxnSp>
        <p:nvCxnSpPr>
          <p:cNvPr id="47" name="直接箭头连接符 46"/>
          <p:cNvCxnSpPr/>
          <p:nvPr/>
        </p:nvCxnSpPr>
        <p:spPr>
          <a:xfrm>
            <a:off x="5903879" y="3255302"/>
            <a:ext cx="72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8" name="文本框 47"/>
          <p:cNvSpPr txBox="1"/>
          <p:nvPr/>
        </p:nvSpPr>
        <p:spPr>
          <a:xfrm>
            <a:off x="2103826" y="1884753"/>
            <a:ext cx="484428"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v</a:t>
            </a:r>
            <a:r>
              <a:rPr lang="en-US" altLang="zh-CN" sz="2800" baseline="-25000" dirty="0" smtClean="0">
                <a:latin typeface="Times New Roman" panose="02020603050405020304" pitchFamily="18" charset="0"/>
                <a:cs typeface="Times New Roman" panose="02020603050405020304" pitchFamily="18" charset="0"/>
              </a:rPr>
              <a:t>1</a:t>
            </a:r>
            <a:endParaRPr lang="zh-CN" altLang="en-US" sz="2800" baseline="-25000" dirty="0">
              <a:latin typeface="Times New Roman" panose="02020603050405020304" pitchFamily="18" charset="0"/>
              <a:cs typeface="Times New Roman" panose="02020603050405020304" pitchFamily="18" charset="0"/>
            </a:endParaRPr>
          </a:p>
        </p:txBody>
      </p:sp>
      <p:sp>
        <p:nvSpPr>
          <p:cNvPr id="49" name="文本框 48"/>
          <p:cNvSpPr txBox="1"/>
          <p:nvPr/>
        </p:nvSpPr>
        <p:spPr>
          <a:xfrm>
            <a:off x="4256703" y="1883258"/>
            <a:ext cx="710451" cy="523220"/>
          </a:xfrm>
          <a:prstGeom prst="rect">
            <a:avLst/>
          </a:prstGeom>
          <a:noFill/>
        </p:spPr>
        <p:txBody>
          <a:bodyPr wrap="none" rtlCol="0">
            <a:spAutoFit/>
          </a:bodyPr>
          <a:lstStyle/>
          <a:p>
            <a:r>
              <a:rPr lang="en-US" altLang="zh-CN" sz="2800" b="1" dirty="0" err="1" smtClean="0">
                <a:latin typeface="Times New Roman" panose="02020603050405020304" pitchFamily="18" charset="0"/>
                <a:cs typeface="Times New Roman" panose="02020603050405020304" pitchFamily="18" charset="0"/>
              </a:rPr>
              <a:t>v</a:t>
            </a:r>
            <a:r>
              <a:rPr lang="en-US" altLang="zh-CN" sz="2800" i="1" baseline="-25000" dirty="0" err="1" smtClean="0">
                <a:latin typeface="Times New Roman" panose="02020603050405020304" pitchFamily="18" charset="0"/>
                <a:cs typeface="Times New Roman" panose="02020603050405020304" pitchFamily="18" charset="0"/>
              </a:rPr>
              <a:t>k</a:t>
            </a:r>
            <a:r>
              <a:rPr lang="en-US" altLang="zh-CN" sz="2800" baseline="-25000" dirty="0" smtClean="0">
                <a:latin typeface="Times New Roman" panose="02020603050405020304" pitchFamily="18" charset="0"/>
                <a:cs typeface="Times New Roman" panose="02020603050405020304" pitchFamily="18" charset="0"/>
              </a:rPr>
              <a:t>–1</a:t>
            </a:r>
            <a:endParaRPr lang="zh-CN" altLang="en-US" sz="2800" baseline="-25000" dirty="0">
              <a:latin typeface="Times New Roman" panose="02020603050405020304" pitchFamily="18" charset="0"/>
              <a:cs typeface="Times New Roman" panose="02020603050405020304" pitchFamily="18" charset="0"/>
            </a:endParaRPr>
          </a:p>
        </p:txBody>
      </p:sp>
      <p:cxnSp>
        <p:nvCxnSpPr>
          <p:cNvPr id="50" name="直接箭头连接符 49"/>
          <p:cNvCxnSpPr/>
          <p:nvPr/>
        </p:nvCxnSpPr>
        <p:spPr>
          <a:xfrm>
            <a:off x="4720291" y="2146269"/>
            <a:ext cx="72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1" name="文本框 50"/>
          <p:cNvSpPr txBox="1"/>
          <p:nvPr/>
        </p:nvSpPr>
        <p:spPr>
          <a:xfrm>
            <a:off x="5440291" y="1883258"/>
            <a:ext cx="484428" cy="523220"/>
          </a:xfrm>
          <a:prstGeom prst="rect">
            <a:avLst/>
          </a:prstGeom>
          <a:noFill/>
        </p:spPr>
        <p:txBody>
          <a:bodyPr wrap="none" rtlCol="0">
            <a:spAutoFit/>
          </a:bodyPr>
          <a:lstStyle/>
          <a:p>
            <a:r>
              <a:rPr lang="en-US" altLang="zh-CN" sz="2800" b="1" dirty="0" err="1" smtClean="0">
                <a:latin typeface="Times New Roman" panose="02020603050405020304" pitchFamily="18" charset="0"/>
                <a:cs typeface="Times New Roman" panose="02020603050405020304" pitchFamily="18" charset="0"/>
              </a:rPr>
              <a:t>v</a:t>
            </a:r>
            <a:r>
              <a:rPr lang="en-US" altLang="zh-CN" sz="2800" i="1" baseline="-25000" dirty="0" err="1" smtClean="0">
                <a:latin typeface="Times New Roman" panose="02020603050405020304" pitchFamily="18" charset="0"/>
                <a:cs typeface="Times New Roman" panose="02020603050405020304" pitchFamily="18" charset="0"/>
              </a:rPr>
              <a:t>k</a:t>
            </a:r>
            <a:endParaRPr lang="zh-CN" altLang="en-US" sz="2800" i="1" baseline="-25000" dirty="0">
              <a:latin typeface="Times New Roman" panose="02020603050405020304" pitchFamily="18" charset="0"/>
              <a:cs typeface="Times New Roman" panose="02020603050405020304" pitchFamily="18" charset="0"/>
            </a:endParaRPr>
          </a:p>
        </p:txBody>
      </p:sp>
      <p:cxnSp>
        <p:nvCxnSpPr>
          <p:cNvPr id="52" name="直接箭头连接符 51"/>
          <p:cNvCxnSpPr/>
          <p:nvPr/>
        </p:nvCxnSpPr>
        <p:spPr>
          <a:xfrm>
            <a:off x="5903879" y="2147624"/>
            <a:ext cx="72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3" name="文本框 52"/>
          <p:cNvSpPr txBox="1"/>
          <p:nvPr/>
        </p:nvSpPr>
        <p:spPr>
          <a:xfrm>
            <a:off x="6623879" y="1883258"/>
            <a:ext cx="724878"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v</a:t>
            </a:r>
            <a:r>
              <a:rPr lang="en-US" altLang="zh-CN" sz="2800" i="1" baseline="-25000" dirty="0" smtClean="0">
                <a:latin typeface="Times New Roman" panose="02020603050405020304" pitchFamily="18" charset="0"/>
                <a:cs typeface="Times New Roman" panose="02020603050405020304" pitchFamily="18" charset="0"/>
              </a:rPr>
              <a:t>k</a:t>
            </a:r>
            <a:r>
              <a:rPr lang="en-US" altLang="zh-CN" sz="2800" baseline="-25000" dirty="0" smtClean="0">
                <a:latin typeface="Times New Roman" panose="02020603050405020304" pitchFamily="18" charset="0"/>
                <a:cs typeface="Times New Roman" panose="02020603050405020304" pitchFamily="18" charset="0"/>
              </a:rPr>
              <a:t>+1</a:t>
            </a:r>
            <a:endParaRPr lang="zh-CN" altLang="en-US" sz="2800" baseline="-25000" dirty="0">
              <a:latin typeface="Times New Roman" panose="02020603050405020304" pitchFamily="18" charset="0"/>
              <a:cs typeface="Times New Roman" panose="02020603050405020304" pitchFamily="18" charset="0"/>
            </a:endParaRPr>
          </a:p>
        </p:txBody>
      </p:sp>
      <p:cxnSp>
        <p:nvCxnSpPr>
          <p:cNvPr id="54" name="直接箭头连接符 53"/>
          <p:cNvCxnSpPr/>
          <p:nvPr/>
        </p:nvCxnSpPr>
        <p:spPr>
          <a:xfrm flipV="1">
            <a:off x="1383826" y="2383200"/>
            <a:ext cx="720000" cy="72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直接箭头连接符 54"/>
          <p:cNvCxnSpPr/>
          <p:nvPr/>
        </p:nvCxnSpPr>
        <p:spPr>
          <a:xfrm>
            <a:off x="2567414" y="2145102"/>
            <a:ext cx="72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6" name="直接箭头连接符 55"/>
          <p:cNvCxnSpPr/>
          <p:nvPr/>
        </p:nvCxnSpPr>
        <p:spPr>
          <a:xfrm flipV="1">
            <a:off x="2588254" y="2383200"/>
            <a:ext cx="720000" cy="72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直接箭头连接符 56"/>
          <p:cNvCxnSpPr/>
          <p:nvPr/>
        </p:nvCxnSpPr>
        <p:spPr>
          <a:xfrm flipV="1">
            <a:off x="4729591" y="2383200"/>
            <a:ext cx="720000" cy="72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8" name="直接箭头连接符 57"/>
          <p:cNvCxnSpPr/>
          <p:nvPr/>
        </p:nvCxnSpPr>
        <p:spPr>
          <a:xfrm flipV="1">
            <a:off x="5891269" y="2383200"/>
            <a:ext cx="720000" cy="72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9" name="直接箭头连接符 58"/>
          <p:cNvCxnSpPr/>
          <p:nvPr/>
        </p:nvCxnSpPr>
        <p:spPr>
          <a:xfrm>
            <a:off x="4488497" y="2383200"/>
            <a:ext cx="0" cy="72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直接箭头连接符 59"/>
          <p:cNvCxnSpPr/>
          <p:nvPr/>
        </p:nvCxnSpPr>
        <p:spPr>
          <a:xfrm>
            <a:off x="5672085" y="2383200"/>
            <a:ext cx="0" cy="72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1" name="文本框 60"/>
          <p:cNvSpPr txBox="1"/>
          <p:nvPr/>
        </p:nvSpPr>
        <p:spPr>
          <a:xfrm>
            <a:off x="6614180" y="2995688"/>
            <a:ext cx="704039"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r</a:t>
            </a:r>
            <a:r>
              <a:rPr lang="en-US" altLang="zh-CN" sz="2800" i="1" baseline="-25000" dirty="0" smtClean="0">
                <a:latin typeface="Times New Roman" panose="02020603050405020304" pitchFamily="18" charset="0"/>
                <a:cs typeface="Times New Roman" panose="02020603050405020304" pitchFamily="18" charset="0"/>
              </a:rPr>
              <a:t>k</a:t>
            </a:r>
            <a:r>
              <a:rPr lang="en-US" altLang="zh-CN" sz="2800" baseline="-25000" dirty="0" smtClean="0">
                <a:latin typeface="Times New Roman" panose="02020603050405020304" pitchFamily="18" charset="0"/>
                <a:cs typeface="Times New Roman" panose="02020603050405020304" pitchFamily="18" charset="0"/>
              </a:rPr>
              <a:t>+1</a:t>
            </a:r>
            <a:endParaRPr lang="zh-CN" altLang="en-US" sz="2800" baseline="-25000" dirty="0">
              <a:latin typeface="Times New Roman" panose="02020603050405020304" pitchFamily="18" charset="0"/>
              <a:cs typeface="Times New Roman" panose="02020603050405020304" pitchFamily="18" charset="0"/>
            </a:endParaRPr>
          </a:p>
        </p:txBody>
      </p:sp>
      <p:cxnSp>
        <p:nvCxnSpPr>
          <p:cNvPr id="62" name="直接箭头连接符 61"/>
          <p:cNvCxnSpPr/>
          <p:nvPr/>
        </p:nvCxnSpPr>
        <p:spPr>
          <a:xfrm>
            <a:off x="6840524" y="2383200"/>
            <a:ext cx="0" cy="72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63" name="组合 62"/>
          <p:cNvGrpSpPr/>
          <p:nvPr/>
        </p:nvGrpSpPr>
        <p:grpSpPr>
          <a:xfrm>
            <a:off x="2155124" y="2382826"/>
            <a:ext cx="444352" cy="720000"/>
            <a:chOff x="2155124" y="2382826"/>
            <a:chExt cx="444352" cy="720000"/>
          </a:xfrm>
        </p:grpSpPr>
        <p:cxnSp>
          <p:nvCxnSpPr>
            <p:cNvPr id="64" name="直接箭头连接符 63"/>
            <p:cNvCxnSpPr/>
            <p:nvPr/>
          </p:nvCxnSpPr>
          <p:spPr>
            <a:xfrm>
              <a:off x="2346040" y="2382826"/>
              <a:ext cx="0" cy="72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5" name="文本框 64"/>
            <p:cNvSpPr txBox="1"/>
            <p:nvPr/>
          </p:nvSpPr>
          <p:spPr>
            <a:xfrm>
              <a:off x="2155124" y="2401290"/>
              <a:ext cx="444352"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A</a:t>
              </a:r>
              <a:endParaRPr lang="zh-CN" altLang="en-US" sz="2800" b="1" dirty="0">
                <a:latin typeface="Times New Roman" panose="02020603050405020304" pitchFamily="18" charset="0"/>
                <a:cs typeface="Times New Roman" panose="02020603050405020304" pitchFamily="18" charset="0"/>
              </a:endParaRPr>
            </a:p>
          </p:txBody>
        </p:sp>
      </p:grpSp>
      <p:sp>
        <p:nvSpPr>
          <p:cNvPr id="66" name="文本框 65"/>
          <p:cNvSpPr txBox="1"/>
          <p:nvPr/>
        </p:nvSpPr>
        <p:spPr>
          <a:xfrm>
            <a:off x="4296460" y="2413564"/>
            <a:ext cx="444352"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A</a:t>
            </a:r>
            <a:endParaRPr lang="zh-CN" altLang="en-US" sz="2800" b="1" dirty="0">
              <a:latin typeface="Times New Roman" panose="02020603050405020304" pitchFamily="18" charset="0"/>
              <a:cs typeface="Times New Roman" panose="02020603050405020304" pitchFamily="18" charset="0"/>
            </a:endParaRPr>
          </a:p>
        </p:txBody>
      </p:sp>
      <p:sp>
        <p:nvSpPr>
          <p:cNvPr id="67" name="文本框 66"/>
          <p:cNvSpPr txBox="1"/>
          <p:nvPr/>
        </p:nvSpPr>
        <p:spPr>
          <a:xfrm>
            <a:off x="5480367" y="2403812"/>
            <a:ext cx="444352"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A</a:t>
            </a:r>
            <a:endParaRPr lang="zh-CN" altLang="en-US" sz="2800" b="1" dirty="0">
              <a:latin typeface="Times New Roman" panose="02020603050405020304" pitchFamily="18" charset="0"/>
              <a:cs typeface="Times New Roman" panose="02020603050405020304" pitchFamily="18" charset="0"/>
            </a:endParaRPr>
          </a:p>
        </p:txBody>
      </p:sp>
      <p:sp>
        <p:nvSpPr>
          <p:cNvPr id="68" name="文本框 67"/>
          <p:cNvSpPr txBox="1"/>
          <p:nvPr/>
        </p:nvSpPr>
        <p:spPr>
          <a:xfrm>
            <a:off x="6663955" y="2414919"/>
            <a:ext cx="444352"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A</a:t>
            </a:r>
            <a:endParaRPr lang="zh-CN" altLang="en-US" sz="2800" b="1" dirty="0">
              <a:latin typeface="Times New Roman" panose="02020603050405020304" pitchFamily="18" charset="0"/>
              <a:cs typeface="Times New Roman" panose="02020603050405020304" pitchFamily="18" charset="0"/>
            </a:endParaRPr>
          </a:p>
        </p:txBody>
      </p:sp>
      <p:sp>
        <p:nvSpPr>
          <p:cNvPr id="69" name="文本框 68"/>
          <p:cNvSpPr txBox="1"/>
          <p:nvPr/>
        </p:nvSpPr>
        <p:spPr>
          <a:xfrm>
            <a:off x="3733177" y="2905688"/>
            <a:ext cx="543739"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a:t>
            </a:r>
            <a:endParaRPr lang="zh-CN" altLang="en-US" sz="2800" baseline="-25000" dirty="0">
              <a:latin typeface="Times New Roman" panose="02020603050405020304" pitchFamily="18" charset="0"/>
              <a:cs typeface="Times New Roman" panose="02020603050405020304" pitchFamily="18" charset="0"/>
            </a:endParaRPr>
          </a:p>
        </p:txBody>
      </p:sp>
      <p:sp>
        <p:nvSpPr>
          <p:cNvPr id="70" name="文本框 69"/>
          <p:cNvSpPr txBox="1"/>
          <p:nvPr/>
        </p:nvSpPr>
        <p:spPr>
          <a:xfrm>
            <a:off x="3748265" y="1789658"/>
            <a:ext cx="543739"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a:t>
            </a:r>
            <a:endParaRPr lang="zh-CN" altLang="en-US" sz="2800" baseline="-25000" dirty="0">
              <a:latin typeface="Times New Roman" panose="02020603050405020304" pitchFamily="18" charset="0"/>
              <a:cs typeface="Times New Roman" panose="02020603050405020304" pitchFamily="18" charset="0"/>
            </a:endParaRPr>
          </a:p>
        </p:txBody>
      </p:sp>
      <p:sp>
        <p:nvSpPr>
          <p:cNvPr id="71" name="文本框 70"/>
          <p:cNvSpPr txBox="1"/>
          <p:nvPr/>
        </p:nvSpPr>
        <p:spPr>
          <a:xfrm>
            <a:off x="3296714" y="1883258"/>
            <a:ext cx="484428"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v</a:t>
            </a:r>
            <a:r>
              <a:rPr lang="en-US" altLang="zh-CN" sz="2800" baseline="-25000" dirty="0" smtClean="0">
                <a:latin typeface="Times New Roman" panose="02020603050405020304" pitchFamily="18" charset="0"/>
                <a:cs typeface="Times New Roman" panose="02020603050405020304" pitchFamily="18" charset="0"/>
              </a:rPr>
              <a:t>2</a:t>
            </a:r>
            <a:endParaRPr lang="zh-CN" altLang="en-US" sz="2800" baseline="-25000" dirty="0">
              <a:latin typeface="Times New Roman" panose="02020603050405020304" pitchFamily="18" charset="0"/>
              <a:cs typeface="Times New Roman" panose="02020603050405020304" pitchFamily="18" charset="0"/>
            </a:endParaRPr>
          </a:p>
        </p:txBody>
      </p:sp>
      <p:sp>
        <p:nvSpPr>
          <p:cNvPr id="72" name="文本框 71"/>
          <p:cNvSpPr txBox="1"/>
          <p:nvPr/>
        </p:nvSpPr>
        <p:spPr>
          <a:xfrm>
            <a:off x="3304619" y="2995688"/>
            <a:ext cx="463588"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r</a:t>
            </a:r>
            <a:r>
              <a:rPr lang="en-US" altLang="zh-CN" sz="2800" baseline="-25000" dirty="0" smtClean="0">
                <a:latin typeface="Times New Roman" panose="02020603050405020304" pitchFamily="18" charset="0"/>
                <a:cs typeface="Times New Roman" panose="02020603050405020304" pitchFamily="18" charset="0"/>
              </a:rPr>
              <a:t>2</a:t>
            </a:r>
            <a:endParaRPr lang="zh-CN" altLang="en-US" sz="2800" baseline="-25000" dirty="0">
              <a:latin typeface="Times New Roman" panose="02020603050405020304" pitchFamily="18" charset="0"/>
              <a:cs typeface="Times New Roman" panose="02020603050405020304" pitchFamily="18" charset="0"/>
            </a:endParaRPr>
          </a:p>
        </p:txBody>
      </p:sp>
      <p:grpSp>
        <p:nvGrpSpPr>
          <p:cNvPr id="73" name="组合 72"/>
          <p:cNvGrpSpPr/>
          <p:nvPr/>
        </p:nvGrpSpPr>
        <p:grpSpPr>
          <a:xfrm>
            <a:off x="3337062" y="2382826"/>
            <a:ext cx="444352" cy="720000"/>
            <a:chOff x="3337062" y="2382826"/>
            <a:chExt cx="444352" cy="720000"/>
          </a:xfrm>
        </p:grpSpPr>
        <p:cxnSp>
          <p:nvCxnSpPr>
            <p:cNvPr id="74" name="直接箭头连接符 73"/>
            <p:cNvCxnSpPr/>
            <p:nvPr/>
          </p:nvCxnSpPr>
          <p:spPr>
            <a:xfrm>
              <a:off x="3527978" y="2382826"/>
              <a:ext cx="0" cy="72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5" name="文本框 74"/>
            <p:cNvSpPr txBox="1"/>
            <p:nvPr/>
          </p:nvSpPr>
          <p:spPr>
            <a:xfrm>
              <a:off x="3337062" y="2401290"/>
              <a:ext cx="444352"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A</a:t>
              </a:r>
              <a:endParaRPr lang="zh-CN" altLang="en-US" sz="2800" b="1" dirty="0">
                <a:latin typeface="Times New Roman" panose="02020603050405020304" pitchFamily="18" charset="0"/>
                <a:cs typeface="Times New Roman" panose="02020603050405020304" pitchFamily="18" charset="0"/>
              </a:endParaRPr>
            </a:p>
          </p:txBody>
        </p:sp>
      </p:grpSp>
      <p:sp>
        <p:nvSpPr>
          <p:cNvPr id="76" name="文本框 75"/>
          <p:cNvSpPr txBox="1"/>
          <p:nvPr/>
        </p:nvSpPr>
        <p:spPr>
          <a:xfrm>
            <a:off x="7268021" y="1788347"/>
            <a:ext cx="543739"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a:t>
            </a:r>
            <a:endParaRPr lang="zh-CN" altLang="en-US" sz="2800" baseline="-25000" dirty="0">
              <a:latin typeface="Times New Roman" panose="02020603050405020304" pitchFamily="18" charset="0"/>
              <a:cs typeface="Times New Roman" panose="02020603050405020304" pitchFamily="18" charset="0"/>
            </a:endParaRPr>
          </a:p>
        </p:txBody>
      </p:sp>
      <p:sp>
        <p:nvSpPr>
          <p:cNvPr id="77" name="文本框 76"/>
          <p:cNvSpPr txBox="1"/>
          <p:nvPr/>
        </p:nvSpPr>
        <p:spPr>
          <a:xfrm>
            <a:off x="7320910" y="2905963"/>
            <a:ext cx="543739"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a:t>
            </a:r>
            <a:endParaRPr lang="zh-CN" altLang="en-US" sz="2800" baseline="-25000" dirty="0">
              <a:latin typeface="Times New Roman" panose="02020603050405020304" pitchFamily="18" charset="0"/>
              <a:cs typeface="Times New Roman" panose="02020603050405020304" pitchFamily="18" charset="0"/>
            </a:endParaRPr>
          </a:p>
        </p:txBody>
      </p:sp>
    </p:spTree>
    <p:custDataLst>
      <p:tags r:id="rId1"/>
    </p:custDataLst>
    <p:extLst>
      <p:ext uri="{BB962C8B-B14F-4D97-AF65-F5344CB8AC3E}">
        <p14:creationId xmlns:p14="http://schemas.microsoft.com/office/powerpoint/2010/main" val="11639709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宋体" panose="02010600030101010101" pitchFamily="2" charset="-122"/>
                <a:ea typeface="宋体" panose="02010600030101010101" pitchFamily="2" charset="-122"/>
              </a:rPr>
              <a:t>关键变量的关系</a:t>
            </a:r>
            <a:endParaRPr lang="zh-CN" altLang="en-US" dirty="0">
              <a:latin typeface="宋体" panose="02010600030101010101" pitchFamily="2" charset="-122"/>
              <a:ea typeface="宋体" panose="02010600030101010101" pitchFamily="2" charset="-122"/>
            </a:endParaRPr>
          </a:p>
        </p:txBody>
      </p:sp>
      <p:sp>
        <p:nvSpPr>
          <p:cNvPr id="3" name="内容占位符 2"/>
          <p:cNvSpPr>
            <a:spLocks noGrp="1"/>
          </p:cNvSpPr>
          <p:nvPr>
            <p:ph idx="1"/>
          </p:nvPr>
        </p:nvSpPr>
        <p:spPr>
          <a:xfrm>
            <a:off x="628650" y="3734347"/>
            <a:ext cx="7886700" cy="2442616"/>
          </a:xfrm>
        </p:spPr>
        <p:txBody>
          <a:bodyPr>
            <a:normAutofit/>
          </a:bodyPr>
          <a:lstStyle/>
          <a:p>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当</a:t>
            </a:r>
            <a:r>
              <a:rPr lang="en-US" altLang="zh-CN" i="1" dirty="0" err="1" smtClean="0">
                <a:latin typeface="Times New Roman" panose="02020603050405020304" pitchFamily="18" charset="0"/>
                <a:ea typeface="楷体" panose="02010609060101010101" pitchFamily="49" charset="-122"/>
                <a:cs typeface="Times New Roman" panose="02020603050405020304" pitchFamily="18" charset="0"/>
              </a:rPr>
              <a:t>i</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&lt; </a:t>
            </a:r>
            <a:r>
              <a:rPr lang="en-US" altLang="zh-CN" i="1" dirty="0" smtClean="0">
                <a:latin typeface="Times New Roman" panose="02020603050405020304" pitchFamily="18" charset="0"/>
                <a:ea typeface="楷体" panose="02010609060101010101" pitchFamily="49" charset="-122"/>
                <a:cs typeface="Times New Roman" panose="02020603050405020304" pitchFamily="18" charset="0"/>
              </a:rPr>
              <a:t>k</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时，</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r>
              <a:rPr lang="zh-CN" altLang="en-US" b="1" dirty="0" smtClean="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r</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和</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v</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都与</a:t>
            </a: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v</a:t>
            </a:r>
            <a:r>
              <a:rPr lang="en-US" altLang="zh-CN" i="1" baseline="-25000" dirty="0" smtClean="0">
                <a:latin typeface="Times New Roman" panose="02020603050405020304" pitchFamily="18" charset="0"/>
                <a:ea typeface="楷体" panose="02010609060101010101" pitchFamily="49" charset="-122"/>
                <a:cs typeface="Times New Roman" panose="02020603050405020304" pitchFamily="18" charset="0"/>
              </a:rPr>
              <a:t>i</a:t>
            </a:r>
            <a:r>
              <a:rPr lang="zh-CN" altLang="en-US" dirty="0">
                <a:latin typeface="Times New Roman" panose="02020603050405020304" pitchFamily="18" charset="0"/>
                <a:ea typeface="楷体" panose="02010609060101010101" pitchFamily="49" charset="-122"/>
                <a:cs typeface="Times New Roman" panose="02020603050405020304" pitchFamily="18" charset="0"/>
              </a:rPr>
              <a:t>关于</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共轭</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r>
              <a:rPr lang="zh-CN" altLang="en-US" b="1" dirty="0" smtClean="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v</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baseline="-25000" dirty="0" smtClean="0">
                <a:latin typeface="Times New Roman" panose="02020603050405020304" pitchFamily="18" charset="0"/>
                <a:ea typeface="楷体" panose="02010609060101010101" pitchFamily="49" charset="-122"/>
                <a:cs typeface="Times New Roman" panose="02020603050405020304" pitchFamily="18" charset="0"/>
              </a:rPr>
              <a:t> + 1</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可以写为</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v</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和</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r</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的线性组合</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r>
              <a:rPr lang="zh-CN" altLang="en-US" b="1" dirty="0" smtClean="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v</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baseline="-25000" dirty="0" smtClean="0">
                <a:latin typeface="Times New Roman" panose="02020603050405020304" pitchFamily="18" charset="0"/>
                <a:ea typeface="楷体" panose="02010609060101010101" pitchFamily="49" charset="-122"/>
                <a:cs typeface="Times New Roman" panose="02020603050405020304" pitchFamily="18" charset="0"/>
              </a:rPr>
              <a:t> + 1</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也与</a:t>
            </a: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v</a:t>
            </a:r>
            <a:r>
              <a:rPr lang="en-US" altLang="zh-CN" i="1" baseline="-25000" dirty="0" smtClean="0">
                <a:latin typeface="Times New Roman" panose="02020603050405020304" pitchFamily="18" charset="0"/>
                <a:ea typeface="楷体" panose="02010609060101010101" pitchFamily="49" charset="-122"/>
                <a:cs typeface="Times New Roman" panose="02020603050405020304" pitchFamily="18" charset="0"/>
              </a:rPr>
              <a:t>i</a:t>
            </a:r>
            <a:r>
              <a:rPr lang="zh-CN" altLang="en-US" dirty="0">
                <a:latin typeface="Times New Roman" panose="02020603050405020304" pitchFamily="18" charset="0"/>
                <a:ea typeface="楷体" panose="02010609060101010101" pitchFamily="49" charset="-122"/>
                <a:cs typeface="Times New Roman" panose="02020603050405020304" pitchFamily="18" charset="0"/>
              </a:rPr>
              <a:t>关于</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共轭</a:t>
            </a:r>
            <a:endParaRPr lang="zh-CN" altLang="en-US"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0" name="文本框 39"/>
          <p:cNvSpPr txBox="1"/>
          <p:nvPr/>
        </p:nvSpPr>
        <p:spPr>
          <a:xfrm>
            <a:off x="958444" y="2994953"/>
            <a:ext cx="463588" cy="523220"/>
          </a:xfrm>
          <a:prstGeom prst="rect">
            <a:avLst/>
          </a:prstGeom>
          <a:noFill/>
        </p:spPr>
        <p:txBody>
          <a:bodyPr wrap="none" rtlCol="0">
            <a:spAutoFit/>
          </a:bodyPr>
          <a:lstStyle/>
          <a:p>
            <a:pPr algn="ctr"/>
            <a:r>
              <a:rPr lang="en-US" altLang="zh-CN" sz="2800" b="1" dirty="0" smtClean="0">
                <a:latin typeface="Times New Roman" panose="02020603050405020304" pitchFamily="18" charset="0"/>
                <a:cs typeface="Times New Roman" panose="02020603050405020304" pitchFamily="18" charset="0"/>
              </a:rPr>
              <a:t>r</a:t>
            </a:r>
            <a:r>
              <a:rPr lang="en-US" altLang="zh-CN" sz="2800" baseline="-25000" dirty="0" smtClean="0">
                <a:latin typeface="Times New Roman" panose="02020603050405020304" pitchFamily="18" charset="0"/>
                <a:cs typeface="Times New Roman" panose="02020603050405020304" pitchFamily="18" charset="0"/>
              </a:rPr>
              <a:t>0</a:t>
            </a:r>
            <a:endParaRPr lang="zh-CN" altLang="en-US" sz="2800" baseline="-25000" dirty="0">
              <a:latin typeface="Times New Roman" panose="02020603050405020304" pitchFamily="18" charset="0"/>
              <a:cs typeface="Times New Roman" panose="02020603050405020304" pitchFamily="18" charset="0"/>
            </a:endParaRPr>
          </a:p>
        </p:txBody>
      </p:sp>
      <p:sp>
        <p:nvSpPr>
          <p:cNvPr id="41" name="文本框 40"/>
          <p:cNvSpPr txBox="1"/>
          <p:nvPr/>
        </p:nvSpPr>
        <p:spPr>
          <a:xfrm>
            <a:off x="2103826" y="2994953"/>
            <a:ext cx="463588"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r</a:t>
            </a:r>
            <a:r>
              <a:rPr lang="en-US" altLang="zh-CN" sz="2800" baseline="-25000" dirty="0" smtClean="0">
                <a:latin typeface="Times New Roman" panose="02020603050405020304" pitchFamily="18" charset="0"/>
                <a:cs typeface="Times New Roman" panose="02020603050405020304" pitchFamily="18" charset="0"/>
              </a:rPr>
              <a:t>1</a:t>
            </a:r>
            <a:endParaRPr lang="zh-CN" altLang="en-US" sz="2800" baseline="-25000" dirty="0">
              <a:latin typeface="Times New Roman" panose="02020603050405020304" pitchFamily="18" charset="0"/>
              <a:cs typeface="Times New Roman" panose="02020603050405020304" pitchFamily="18" charset="0"/>
            </a:endParaRPr>
          </a:p>
        </p:txBody>
      </p:sp>
      <p:cxnSp>
        <p:nvCxnSpPr>
          <p:cNvPr id="42" name="直接箭头连接符 41"/>
          <p:cNvCxnSpPr/>
          <p:nvPr/>
        </p:nvCxnSpPr>
        <p:spPr>
          <a:xfrm>
            <a:off x="1383826" y="3255302"/>
            <a:ext cx="72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接箭头连接符 42"/>
          <p:cNvCxnSpPr/>
          <p:nvPr/>
        </p:nvCxnSpPr>
        <p:spPr>
          <a:xfrm>
            <a:off x="2567414" y="3255302"/>
            <a:ext cx="72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4" name="文本框 43"/>
          <p:cNvSpPr txBox="1"/>
          <p:nvPr/>
        </p:nvSpPr>
        <p:spPr>
          <a:xfrm>
            <a:off x="4256703" y="2996120"/>
            <a:ext cx="689612" cy="523220"/>
          </a:xfrm>
          <a:prstGeom prst="rect">
            <a:avLst/>
          </a:prstGeom>
          <a:noFill/>
        </p:spPr>
        <p:txBody>
          <a:bodyPr wrap="none" rtlCol="0">
            <a:spAutoFit/>
          </a:bodyPr>
          <a:lstStyle/>
          <a:p>
            <a:r>
              <a:rPr lang="en-US" altLang="zh-CN" sz="2800" b="1" dirty="0" err="1" smtClean="0">
                <a:latin typeface="Times New Roman" panose="02020603050405020304" pitchFamily="18" charset="0"/>
                <a:cs typeface="Times New Roman" panose="02020603050405020304" pitchFamily="18" charset="0"/>
              </a:rPr>
              <a:t>r</a:t>
            </a:r>
            <a:r>
              <a:rPr lang="en-US" altLang="zh-CN" sz="2800" i="1" baseline="-25000" dirty="0" err="1" smtClean="0">
                <a:latin typeface="Times New Roman" panose="02020603050405020304" pitchFamily="18" charset="0"/>
                <a:cs typeface="Times New Roman" panose="02020603050405020304" pitchFamily="18" charset="0"/>
              </a:rPr>
              <a:t>k</a:t>
            </a:r>
            <a:r>
              <a:rPr lang="en-US" altLang="zh-CN" sz="2800" baseline="-25000" dirty="0" smtClean="0">
                <a:latin typeface="Times New Roman" panose="02020603050405020304" pitchFamily="18" charset="0"/>
                <a:cs typeface="Times New Roman" panose="02020603050405020304" pitchFamily="18" charset="0"/>
              </a:rPr>
              <a:t>–1</a:t>
            </a:r>
            <a:endParaRPr lang="zh-CN" altLang="en-US" sz="2800" baseline="-25000" dirty="0">
              <a:latin typeface="Times New Roman" panose="02020603050405020304" pitchFamily="18" charset="0"/>
              <a:cs typeface="Times New Roman" panose="02020603050405020304" pitchFamily="18" charset="0"/>
            </a:endParaRPr>
          </a:p>
        </p:txBody>
      </p:sp>
      <p:cxnSp>
        <p:nvCxnSpPr>
          <p:cNvPr id="45" name="直接箭头连接符 44"/>
          <p:cNvCxnSpPr/>
          <p:nvPr/>
        </p:nvCxnSpPr>
        <p:spPr>
          <a:xfrm>
            <a:off x="4720291" y="3256469"/>
            <a:ext cx="72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6" name="文本框 45"/>
          <p:cNvSpPr txBox="1"/>
          <p:nvPr/>
        </p:nvSpPr>
        <p:spPr>
          <a:xfrm>
            <a:off x="5440291" y="2995688"/>
            <a:ext cx="463588" cy="523220"/>
          </a:xfrm>
          <a:prstGeom prst="rect">
            <a:avLst/>
          </a:prstGeom>
          <a:noFill/>
        </p:spPr>
        <p:txBody>
          <a:bodyPr wrap="none" rtlCol="0">
            <a:spAutoFit/>
          </a:bodyPr>
          <a:lstStyle/>
          <a:p>
            <a:r>
              <a:rPr lang="en-US" altLang="zh-CN" sz="2800" b="1" dirty="0" err="1" smtClean="0">
                <a:latin typeface="Times New Roman" panose="02020603050405020304" pitchFamily="18" charset="0"/>
                <a:cs typeface="Times New Roman" panose="02020603050405020304" pitchFamily="18" charset="0"/>
              </a:rPr>
              <a:t>r</a:t>
            </a:r>
            <a:r>
              <a:rPr lang="en-US" altLang="zh-CN" sz="2800" i="1" baseline="-25000" dirty="0" err="1" smtClean="0">
                <a:latin typeface="Times New Roman" panose="02020603050405020304" pitchFamily="18" charset="0"/>
                <a:cs typeface="Times New Roman" panose="02020603050405020304" pitchFamily="18" charset="0"/>
              </a:rPr>
              <a:t>k</a:t>
            </a:r>
            <a:endParaRPr lang="zh-CN" altLang="en-US" sz="2800" i="1" baseline="-25000" dirty="0">
              <a:latin typeface="Times New Roman" panose="02020603050405020304" pitchFamily="18" charset="0"/>
              <a:cs typeface="Times New Roman" panose="02020603050405020304" pitchFamily="18" charset="0"/>
            </a:endParaRPr>
          </a:p>
        </p:txBody>
      </p:sp>
      <p:cxnSp>
        <p:nvCxnSpPr>
          <p:cNvPr id="47" name="直接箭头连接符 46"/>
          <p:cNvCxnSpPr/>
          <p:nvPr/>
        </p:nvCxnSpPr>
        <p:spPr>
          <a:xfrm>
            <a:off x="5903879" y="3255302"/>
            <a:ext cx="72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8" name="文本框 47"/>
          <p:cNvSpPr txBox="1"/>
          <p:nvPr/>
        </p:nvSpPr>
        <p:spPr>
          <a:xfrm>
            <a:off x="2103826" y="1884753"/>
            <a:ext cx="484428"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v</a:t>
            </a:r>
            <a:r>
              <a:rPr lang="en-US" altLang="zh-CN" sz="2800" baseline="-25000" dirty="0" smtClean="0">
                <a:latin typeface="Times New Roman" panose="02020603050405020304" pitchFamily="18" charset="0"/>
                <a:cs typeface="Times New Roman" panose="02020603050405020304" pitchFamily="18" charset="0"/>
              </a:rPr>
              <a:t>1</a:t>
            </a:r>
            <a:endParaRPr lang="zh-CN" altLang="en-US" sz="2800" baseline="-25000" dirty="0">
              <a:latin typeface="Times New Roman" panose="02020603050405020304" pitchFamily="18" charset="0"/>
              <a:cs typeface="Times New Roman" panose="02020603050405020304" pitchFamily="18" charset="0"/>
            </a:endParaRPr>
          </a:p>
        </p:txBody>
      </p:sp>
      <p:sp>
        <p:nvSpPr>
          <p:cNvPr id="49" name="文本框 48"/>
          <p:cNvSpPr txBox="1"/>
          <p:nvPr/>
        </p:nvSpPr>
        <p:spPr>
          <a:xfrm>
            <a:off x="4256703" y="1883258"/>
            <a:ext cx="710451" cy="523220"/>
          </a:xfrm>
          <a:prstGeom prst="rect">
            <a:avLst/>
          </a:prstGeom>
          <a:noFill/>
        </p:spPr>
        <p:txBody>
          <a:bodyPr wrap="none" rtlCol="0">
            <a:spAutoFit/>
          </a:bodyPr>
          <a:lstStyle/>
          <a:p>
            <a:r>
              <a:rPr lang="en-US" altLang="zh-CN" sz="2800" b="1" dirty="0" err="1" smtClean="0">
                <a:latin typeface="Times New Roman" panose="02020603050405020304" pitchFamily="18" charset="0"/>
                <a:cs typeface="Times New Roman" panose="02020603050405020304" pitchFamily="18" charset="0"/>
              </a:rPr>
              <a:t>v</a:t>
            </a:r>
            <a:r>
              <a:rPr lang="en-US" altLang="zh-CN" sz="2800" i="1" baseline="-25000" dirty="0" err="1" smtClean="0">
                <a:latin typeface="Times New Roman" panose="02020603050405020304" pitchFamily="18" charset="0"/>
                <a:cs typeface="Times New Roman" panose="02020603050405020304" pitchFamily="18" charset="0"/>
              </a:rPr>
              <a:t>k</a:t>
            </a:r>
            <a:r>
              <a:rPr lang="en-US" altLang="zh-CN" sz="2800" baseline="-25000" dirty="0" smtClean="0">
                <a:latin typeface="Times New Roman" panose="02020603050405020304" pitchFamily="18" charset="0"/>
                <a:cs typeface="Times New Roman" panose="02020603050405020304" pitchFamily="18" charset="0"/>
              </a:rPr>
              <a:t>–1</a:t>
            </a:r>
            <a:endParaRPr lang="zh-CN" altLang="en-US" sz="2800" baseline="-25000" dirty="0">
              <a:latin typeface="Times New Roman" panose="02020603050405020304" pitchFamily="18" charset="0"/>
              <a:cs typeface="Times New Roman" panose="02020603050405020304" pitchFamily="18" charset="0"/>
            </a:endParaRPr>
          </a:p>
        </p:txBody>
      </p:sp>
      <p:cxnSp>
        <p:nvCxnSpPr>
          <p:cNvPr id="50" name="直接箭头连接符 49"/>
          <p:cNvCxnSpPr/>
          <p:nvPr/>
        </p:nvCxnSpPr>
        <p:spPr>
          <a:xfrm>
            <a:off x="4720291" y="2146269"/>
            <a:ext cx="72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1" name="文本框 50"/>
          <p:cNvSpPr txBox="1"/>
          <p:nvPr/>
        </p:nvSpPr>
        <p:spPr>
          <a:xfrm>
            <a:off x="5440291" y="1883258"/>
            <a:ext cx="484428" cy="523220"/>
          </a:xfrm>
          <a:prstGeom prst="rect">
            <a:avLst/>
          </a:prstGeom>
          <a:noFill/>
        </p:spPr>
        <p:txBody>
          <a:bodyPr wrap="none" rtlCol="0">
            <a:spAutoFit/>
          </a:bodyPr>
          <a:lstStyle/>
          <a:p>
            <a:r>
              <a:rPr lang="en-US" altLang="zh-CN" sz="2800" b="1" dirty="0" err="1" smtClean="0">
                <a:latin typeface="Times New Roman" panose="02020603050405020304" pitchFamily="18" charset="0"/>
                <a:cs typeface="Times New Roman" panose="02020603050405020304" pitchFamily="18" charset="0"/>
              </a:rPr>
              <a:t>v</a:t>
            </a:r>
            <a:r>
              <a:rPr lang="en-US" altLang="zh-CN" sz="2800" i="1" baseline="-25000" dirty="0" err="1" smtClean="0">
                <a:latin typeface="Times New Roman" panose="02020603050405020304" pitchFamily="18" charset="0"/>
                <a:cs typeface="Times New Roman" panose="02020603050405020304" pitchFamily="18" charset="0"/>
              </a:rPr>
              <a:t>k</a:t>
            </a:r>
            <a:endParaRPr lang="zh-CN" altLang="en-US" sz="2800" i="1" baseline="-25000" dirty="0">
              <a:latin typeface="Times New Roman" panose="02020603050405020304" pitchFamily="18" charset="0"/>
              <a:cs typeface="Times New Roman" panose="02020603050405020304" pitchFamily="18" charset="0"/>
            </a:endParaRPr>
          </a:p>
        </p:txBody>
      </p:sp>
      <p:cxnSp>
        <p:nvCxnSpPr>
          <p:cNvPr id="52" name="直接箭头连接符 51"/>
          <p:cNvCxnSpPr/>
          <p:nvPr/>
        </p:nvCxnSpPr>
        <p:spPr>
          <a:xfrm>
            <a:off x="5903879" y="2147624"/>
            <a:ext cx="72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3" name="文本框 52"/>
          <p:cNvSpPr txBox="1"/>
          <p:nvPr/>
        </p:nvSpPr>
        <p:spPr>
          <a:xfrm>
            <a:off x="6623879" y="1883258"/>
            <a:ext cx="724878"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v</a:t>
            </a:r>
            <a:r>
              <a:rPr lang="en-US" altLang="zh-CN" sz="2800" i="1" baseline="-25000" dirty="0" smtClean="0">
                <a:latin typeface="Times New Roman" panose="02020603050405020304" pitchFamily="18" charset="0"/>
                <a:cs typeface="Times New Roman" panose="02020603050405020304" pitchFamily="18" charset="0"/>
              </a:rPr>
              <a:t>k</a:t>
            </a:r>
            <a:r>
              <a:rPr lang="en-US" altLang="zh-CN" sz="2800" baseline="-25000" dirty="0" smtClean="0">
                <a:latin typeface="Times New Roman" panose="02020603050405020304" pitchFamily="18" charset="0"/>
                <a:cs typeface="Times New Roman" panose="02020603050405020304" pitchFamily="18" charset="0"/>
              </a:rPr>
              <a:t>+1</a:t>
            </a:r>
            <a:endParaRPr lang="zh-CN" altLang="en-US" sz="2800" baseline="-25000" dirty="0">
              <a:latin typeface="Times New Roman" panose="02020603050405020304" pitchFamily="18" charset="0"/>
              <a:cs typeface="Times New Roman" panose="02020603050405020304" pitchFamily="18" charset="0"/>
            </a:endParaRPr>
          </a:p>
        </p:txBody>
      </p:sp>
      <p:cxnSp>
        <p:nvCxnSpPr>
          <p:cNvPr id="54" name="直接箭头连接符 53"/>
          <p:cNvCxnSpPr/>
          <p:nvPr/>
        </p:nvCxnSpPr>
        <p:spPr>
          <a:xfrm flipV="1">
            <a:off x="1383826" y="2383200"/>
            <a:ext cx="720000" cy="72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直接箭头连接符 54"/>
          <p:cNvCxnSpPr/>
          <p:nvPr/>
        </p:nvCxnSpPr>
        <p:spPr>
          <a:xfrm>
            <a:off x="2567414" y="2145102"/>
            <a:ext cx="72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6" name="直接箭头连接符 55"/>
          <p:cNvCxnSpPr/>
          <p:nvPr/>
        </p:nvCxnSpPr>
        <p:spPr>
          <a:xfrm flipV="1">
            <a:off x="2588254" y="2383200"/>
            <a:ext cx="720000" cy="72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直接箭头连接符 56"/>
          <p:cNvCxnSpPr/>
          <p:nvPr/>
        </p:nvCxnSpPr>
        <p:spPr>
          <a:xfrm flipV="1">
            <a:off x="4729591" y="2383200"/>
            <a:ext cx="720000" cy="72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8" name="直接箭头连接符 57"/>
          <p:cNvCxnSpPr/>
          <p:nvPr/>
        </p:nvCxnSpPr>
        <p:spPr>
          <a:xfrm flipV="1">
            <a:off x="5891269" y="2383200"/>
            <a:ext cx="720000" cy="72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9" name="直接箭头连接符 58"/>
          <p:cNvCxnSpPr/>
          <p:nvPr/>
        </p:nvCxnSpPr>
        <p:spPr>
          <a:xfrm>
            <a:off x="4488497" y="2383200"/>
            <a:ext cx="0" cy="72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直接箭头连接符 59"/>
          <p:cNvCxnSpPr/>
          <p:nvPr/>
        </p:nvCxnSpPr>
        <p:spPr>
          <a:xfrm>
            <a:off x="5672085" y="2383200"/>
            <a:ext cx="0" cy="72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1" name="文本框 60"/>
          <p:cNvSpPr txBox="1"/>
          <p:nvPr/>
        </p:nvSpPr>
        <p:spPr>
          <a:xfrm>
            <a:off x="6614180" y="2995688"/>
            <a:ext cx="704039"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r</a:t>
            </a:r>
            <a:r>
              <a:rPr lang="en-US" altLang="zh-CN" sz="2800" i="1" baseline="-25000" dirty="0" smtClean="0">
                <a:latin typeface="Times New Roman" panose="02020603050405020304" pitchFamily="18" charset="0"/>
                <a:cs typeface="Times New Roman" panose="02020603050405020304" pitchFamily="18" charset="0"/>
              </a:rPr>
              <a:t>k</a:t>
            </a:r>
            <a:r>
              <a:rPr lang="en-US" altLang="zh-CN" sz="2800" baseline="-25000" dirty="0" smtClean="0">
                <a:latin typeface="Times New Roman" panose="02020603050405020304" pitchFamily="18" charset="0"/>
                <a:cs typeface="Times New Roman" panose="02020603050405020304" pitchFamily="18" charset="0"/>
              </a:rPr>
              <a:t>+1</a:t>
            </a:r>
            <a:endParaRPr lang="zh-CN" altLang="en-US" sz="2800" baseline="-25000" dirty="0">
              <a:latin typeface="Times New Roman" panose="02020603050405020304" pitchFamily="18" charset="0"/>
              <a:cs typeface="Times New Roman" panose="02020603050405020304" pitchFamily="18" charset="0"/>
            </a:endParaRPr>
          </a:p>
        </p:txBody>
      </p:sp>
      <p:cxnSp>
        <p:nvCxnSpPr>
          <p:cNvPr id="62" name="直接箭头连接符 61"/>
          <p:cNvCxnSpPr/>
          <p:nvPr/>
        </p:nvCxnSpPr>
        <p:spPr>
          <a:xfrm>
            <a:off x="6840524" y="2383200"/>
            <a:ext cx="0" cy="72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63" name="组合 62"/>
          <p:cNvGrpSpPr/>
          <p:nvPr/>
        </p:nvGrpSpPr>
        <p:grpSpPr>
          <a:xfrm>
            <a:off x="2155124" y="2382826"/>
            <a:ext cx="444352" cy="720000"/>
            <a:chOff x="2155124" y="2382826"/>
            <a:chExt cx="444352" cy="720000"/>
          </a:xfrm>
        </p:grpSpPr>
        <p:cxnSp>
          <p:nvCxnSpPr>
            <p:cNvPr id="64" name="直接箭头连接符 63"/>
            <p:cNvCxnSpPr/>
            <p:nvPr/>
          </p:nvCxnSpPr>
          <p:spPr>
            <a:xfrm>
              <a:off x="2346040" y="2382826"/>
              <a:ext cx="0" cy="72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5" name="文本框 64"/>
            <p:cNvSpPr txBox="1"/>
            <p:nvPr/>
          </p:nvSpPr>
          <p:spPr>
            <a:xfrm>
              <a:off x="2155124" y="2401290"/>
              <a:ext cx="444352"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A</a:t>
              </a:r>
              <a:endParaRPr lang="zh-CN" altLang="en-US" sz="2800" b="1" dirty="0">
                <a:latin typeface="Times New Roman" panose="02020603050405020304" pitchFamily="18" charset="0"/>
                <a:cs typeface="Times New Roman" panose="02020603050405020304" pitchFamily="18" charset="0"/>
              </a:endParaRPr>
            </a:p>
          </p:txBody>
        </p:sp>
      </p:grpSp>
      <p:sp>
        <p:nvSpPr>
          <p:cNvPr id="66" name="文本框 65"/>
          <p:cNvSpPr txBox="1"/>
          <p:nvPr/>
        </p:nvSpPr>
        <p:spPr>
          <a:xfrm>
            <a:off x="4296460" y="2413564"/>
            <a:ext cx="444352"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A</a:t>
            </a:r>
            <a:endParaRPr lang="zh-CN" altLang="en-US" sz="2800" b="1" dirty="0">
              <a:latin typeface="Times New Roman" panose="02020603050405020304" pitchFamily="18" charset="0"/>
              <a:cs typeface="Times New Roman" panose="02020603050405020304" pitchFamily="18" charset="0"/>
            </a:endParaRPr>
          </a:p>
        </p:txBody>
      </p:sp>
      <p:sp>
        <p:nvSpPr>
          <p:cNvPr id="67" name="文本框 66"/>
          <p:cNvSpPr txBox="1"/>
          <p:nvPr/>
        </p:nvSpPr>
        <p:spPr>
          <a:xfrm>
            <a:off x="5480367" y="2403812"/>
            <a:ext cx="444352"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A</a:t>
            </a:r>
            <a:endParaRPr lang="zh-CN" altLang="en-US" sz="2800" b="1" dirty="0">
              <a:latin typeface="Times New Roman" panose="02020603050405020304" pitchFamily="18" charset="0"/>
              <a:cs typeface="Times New Roman" panose="02020603050405020304" pitchFamily="18" charset="0"/>
            </a:endParaRPr>
          </a:p>
        </p:txBody>
      </p:sp>
      <p:sp>
        <p:nvSpPr>
          <p:cNvPr id="68" name="文本框 67"/>
          <p:cNvSpPr txBox="1"/>
          <p:nvPr/>
        </p:nvSpPr>
        <p:spPr>
          <a:xfrm>
            <a:off x="6663955" y="2414919"/>
            <a:ext cx="444352"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A</a:t>
            </a:r>
            <a:endParaRPr lang="zh-CN" altLang="en-US" sz="2800" b="1" dirty="0">
              <a:latin typeface="Times New Roman" panose="02020603050405020304" pitchFamily="18" charset="0"/>
              <a:cs typeface="Times New Roman" panose="02020603050405020304" pitchFamily="18" charset="0"/>
            </a:endParaRPr>
          </a:p>
        </p:txBody>
      </p:sp>
      <p:sp>
        <p:nvSpPr>
          <p:cNvPr id="69" name="文本框 68"/>
          <p:cNvSpPr txBox="1"/>
          <p:nvPr/>
        </p:nvSpPr>
        <p:spPr>
          <a:xfrm>
            <a:off x="3733177" y="2905688"/>
            <a:ext cx="543739"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a:t>
            </a:r>
            <a:endParaRPr lang="zh-CN" altLang="en-US" sz="2800" baseline="-25000" dirty="0">
              <a:latin typeface="Times New Roman" panose="02020603050405020304" pitchFamily="18" charset="0"/>
              <a:cs typeface="Times New Roman" panose="02020603050405020304" pitchFamily="18" charset="0"/>
            </a:endParaRPr>
          </a:p>
        </p:txBody>
      </p:sp>
      <p:sp>
        <p:nvSpPr>
          <p:cNvPr id="70" name="文本框 69"/>
          <p:cNvSpPr txBox="1"/>
          <p:nvPr/>
        </p:nvSpPr>
        <p:spPr>
          <a:xfrm>
            <a:off x="3748265" y="1789658"/>
            <a:ext cx="543739"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a:t>
            </a:r>
            <a:endParaRPr lang="zh-CN" altLang="en-US" sz="2800" baseline="-25000" dirty="0">
              <a:latin typeface="Times New Roman" panose="02020603050405020304" pitchFamily="18" charset="0"/>
              <a:cs typeface="Times New Roman" panose="02020603050405020304" pitchFamily="18" charset="0"/>
            </a:endParaRPr>
          </a:p>
        </p:txBody>
      </p:sp>
      <p:sp>
        <p:nvSpPr>
          <p:cNvPr id="71" name="文本框 70"/>
          <p:cNvSpPr txBox="1"/>
          <p:nvPr/>
        </p:nvSpPr>
        <p:spPr>
          <a:xfrm>
            <a:off x="3296714" y="1883258"/>
            <a:ext cx="484428"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v</a:t>
            </a:r>
            <a:r>
              <a:rPr lang="en-US" altLang="zh-CN" sz="2800" baseline="-25000" dirty="0" smtClean="0">
                <a:latin typeface="Times New Roman" panose="02020603050405020304" pitchFamily="18" charset="0"/>
                <a:cs typeface="Times New Roman" panose="02020603050405020304" pitchFamily="18" charset="0"/>
              </a:rPr>
              <a:t>2</a:t>
            </a:r>
            <a:endParaRPr lang="zh-CN" altLang="en-US" sz="2800" baseline="-25000" dirty="0">
              <a:latin typeface="Times New Roman" panose="02020603050405020304" pitchFamily="18" charset="0"/>
              <a:cs typeface="Times New Roman" panose="02020603050405020304" pitchFamily="18" charset="0"/>
            </a:endParaRPr>
          </a:p>
        </p:txBody>
      </p:sp>
      <p:sp>
        <p:nvSpPr>
          <p:cNvPr id="72" name="文本框 71"/>
          <p:cNvSpPr txBox="1"/>
          <p:nvPr/>
        </p:nvSpPr>
        <p:spPr>
          <a:xfrm>
            <a:off x="3304619" y="2995688"/>
            <a:ext cx="463588"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r</a:t>
            </a:r>
            <a:r>
              <a:rPr lang="en-US" altLang="zh-CN" sz="2800" baseline="-25000" dirty="0" smtClean="0">
                <a:latin typeface="Times New Roman" panose="02020603050405020304" pitchFamily="18" charset="0"/>
                <a:cs typeface="Times New Roman" panose="02020603050405020304" pitchFamily="18" charset="0"/>
              </a:rPr>
              <a:t>2</a:t>
            </a:r>
            <a:endParaRPr lang="zh-CN" altLang="en-US" sz="2800" baseline="-25000" dirty="0">
              <a:latin typeface="Times New Roman" panose="02020603050405020304" pitchFamily="18" charset="0"/>
              <a:cs typeface="Times New Roman" panose="02020603050405020304" pitchFamily="18" charset="0"/>
            </a:endParaRPr>
          </a:p>
        </p:txBody>
      </p:sp>
      <p:grpSp>
        <p:nvGrpSpPr>
          <p:cNvPr id="73" name="组合 72"/>
          <p:cNvGrpSpPr/>
          <p:nvPr/>
        </p:nvGrpSpPr>
        <p:grpSpPr>
          <a:xfrm>
            <a:off x="3337062" y="2382826"/>
            <a:ext cx="444352" cy="720000"/>
            <a:chOff x="3337062" y="2382826"/>
            <a:chExt cx="444352" cy="720000"/>
          </a:xfrm>
        </p:grpSpPr>
        <p:cxnSp>
          <p:nvCxnSpPr>
            <p:cNvPr id="74" name="直接箭头连接符 73"/>
            <p:cNvCxnSpPr/>
            <p:nvPr/>
          </p:nvCxnSpPr>
          <p:spPr>
            <a:xfrm>
              <a:off x="3527978" y="2382826"/>
              <a:ext cx="0" cy="72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5" name="文本框 74"/>
            <p:cNvSpPr txBox="1"/>
            <p:nvPr/>
          </p:nvSpPr>
          <p:spPr>
            <a:xfrm>
              <a:off x="3337062" y="2401290"/>
              <a:ext cx="444352"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A</a:t>
              </a:r>
              <a:endParaRPr lang="zh-CN" altLang="en-US" sz="2800" b="1" dirty="0">
                <a:latin typeface="Times New Roman" panose="02020603050405020304" pitchFamily="18" charset="0"/>
                <a:cs typeface="Times New Roman" panose="02020603050405020304" pitchFamily="18" charset="0"/>
              </a:endParaRPr>
            </a:p>
          </p:txBody>
        </p:sp>
      </p:grpSp>
      <p:sp>
        <p:nvSpPr>
          <p:cNvPr id="76" name="文本框 75"/>
          <p:cNvSpPr txBox="1"/>
          <p:nvPr/>
        </p:nvSpPr>
        <p:spPr>
          <a:xfrm>
            <a:off x="7268021" y="1788347"/>
            <a:ext cx="543739"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a:t>
            </a:r>
            <a:endParaRPr lang="zh-CN" altLang="en-US" sz="2800" baseline="-25000" dirty="0">
              <a:latin typeface="Times New Roman" panose="02020603050405020304" pitchFamily="18" charset="0"/>
              <a:cs typeface="Times New Roman" panose="02020603050405020304" pitchFamily="18" charset="0"/>
            </a:endParaRPr>
          </a:p>
        </p:txBody>
      </p:sp>
      <p:sp>
        <p:nvSpPr>
          <p:cNvPr id="77" name="文本框 76"/>
          <p:cNvSpPr txBox="1"/>
          <p:nvPr/>
        </p:nvSpPr>
        <p:spPr>
          <a:xfrm>
            <a:off x="7320910" y="2905963"/>
            <a:ext cx="543739"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a:t>
            </a:r>
            <a:endParaRPr lang="zh-CN" altLang="en-US" sz="2800" baseline="-25000" dirty="0">
              <a:latin typeface="Times New Roman" panose="02020603050405020304" pitchFamily="18" charset="0"/>
              <a:cs typeface="Times New Roman" panose="02020603050405020304" pitchFamily="18" charset="0"/>
            </a:endParaRPr>
          </a:p>
        </p:txBody>
      </p:sp>
    </p:spTree>
    <p:custDataLst>
      <p:tags r:id="rId1"/>
    </p:custDataLst>
    <p:extLst>
      <p:ext uri="{BB962C8B-B14F-4D97-AF65-F5344CB8AC3E}">
        <p14:creationId xmlns:p14="http://schemas.microsoft.com/office/powerpoint/2010/main" val="8852920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宋体" panose="02010600030101010101" pitchFamily="2" charset="-122"/>
                <a:ea typeface="宋体" panose="02010600030101010101" pitchFamily="2" charset="-122"/>
              </a:rPr>
              <a:t>关键变量的关系</a:t>
            </a:r>
            <a:endParaRPr lang="zh-CN" altLang="en-US" dirty="0">
              <a:latin typeface="宋体" panose="02010600030101010101" pitchFamily="2" charset="-122"/>
              <a:ea typeface="宋体" panose="02010600030101010101" pitchFamily="2" charset="-122"/>
            </a:endParaRPr>
          </a:p>
        </p:txBody>
      </p:sp>
      <p:sp>
        <p:nvSpPr>
          <p:cNvPr id="3" name="内容占位符 2"/>
          <p:cNvSpPr>
            <a:spLocks noGrp="1"/>
          </p:cNvSpPr>
          <p:nvPr>
            <p:ph idx="1"/>
          </p:nvPr>
        </p:nvSpPr>
        <p:spPr>
          <a:xfrm>
            <a:off x="628650" y="3734347"/>
            <a:ext cx="7886700" cy="2442616"/>
          </a:xfrm>
        </p:spPr>
        <p:txBody>
          <a:bodyPr>
            <a:normAutofit lnSpcReduction="10000"/>
          </a:bodyPr>
          <a:lstStyle/>
          <a:p>
            <a:pPr marL="0" indent="0">
              <a:buNone/>
            </a:pPr>
            <a:r>
              <a:rPr lang="zh-CN" altLang="en-US" b="1" dirty="0" smtClean="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r</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i</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可以写为</a:t>
            </a: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v</a:t>
            </a:r>
            <a:r>
              <a:rPr lang="en-US" altLang="zh-CN" i="1" baseline="-25000" dirty="0" smtClean="0">
                <a:latin typeface="Times New Roman" panose="02020603050405020304" pitchFamily="18" charset="0"/>
                <a:ea typeface="楷体" panose="02010609060101010101" pitchFamily="49" charset="-122"/>
                <a:cs typeface="Times New Roman" panose="02020603050405020304" pitchFamily="18" charset="0"/>
              </a:rPr>
              <a:t>i</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与</a:t>
            </a: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v</a:t>
            </a:r>
            <a:r>
              <a:rPr lang="en-US" altLang="zh-CN" i="1" baseline="-25000" dirty="0" smtClean="0">
                <a:latin typeface="Times New Roman" panose="02020603050405020304" pitchFamily="18" charset="0"/>
                <a:ea typeface="楷体" panose="02010609060101010101" pitchFamily="49" charset="-122"/>
                <a:cs typeface="Times New Roman" panose="02020603050405020304" pitchFamily="18" charset="0"/>
              </a:rPr>
              <a:t>i</a:t>
            </a:r>
            <a:r>
              <a:rPr lang="en-US" altLang="zh-CN" baseline="-25000" dirty="0" smtClean="0">
                <a:latin typeface="Times New Roman" panose="02020603050405020304" pitchFamily="18" charset="0"/>
                <a:ea typeface="楷体" panose="02010609060101010101" pitchFamily="49" charset="-122"/>
                <a:cs typeface="Times New Roman" panose="02020603050405020304" pitchFamily="18" charset="0"/>
              </a:rPr>
              <a:t> + 1</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的线性组合</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当</a:t>
            </a:r>
            <a:r>
              <a:rPr lang="en-US" altLang="zh-CN" i="1" dirty="0" err="1" smtClean="0">
                <a:latin typeface="Times New Roman" panose="02020603050405020304" pitchFamily="18" charset="0"/>
                <a:ea typeface="楷体" panose="02010609060101010101" pitchFamily="49" charset="-122"/>
                <a:cs typeface="Times New Roman" panose="02020603050405020304" pitchFamily="18" charset="0"/>
              </a:rPr>
              <a:t>i</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&lt; </a:t>
            </a:r>
            <a:r>
              <a:rPr lang="en-US" altLang="zh-CN" i="1" dirty="0" smtClean="0">
                <a:latin typeface="Times New Roman" panose="02020603050405020304" pitchFamily="18" charset="0"/>
                <a:ea typeface="楷体" panose="02010609060101010101" pitchFamily="49" charset="-122"/>
                <a:cs typeface="Times New Roman" panose="02020603050405020304" pitchFamily="18" charset="0"/>
              </a:rPr>
              <a:t>k</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时</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r>
              <a:rPr lang="zh-CN" altLang="en-US" b="1" dirty="0" smtClean="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v</a:t>
            </a:r>
            <a:r>
              <a:rPr lang="en-US" altLang="zh-CN" i="1" baseline="-25000" dirty="0" smtClean="0">
                <a:latin typeface="Times New Roman" panose="02020603050405020304" pitchFamily="18" charset="0"/>
                <a:ea typeface="楷体" panose="02010609060101010101" pitchFamily="49" charset="-122"/>
                <a:cs typeface="Times New Roman" panose="02020603050405020304" pitchFamily="18" charset="0"/>
              </a:rPr>
              <a:t>i</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和</a:t>
            </a: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v</a:t>
            </a:r>
            <a:r>
              <a:rPr lang="en-US" altLang="zh-CN" i="1" baseline="-25000" dirty="0" smtClean="0">
                <a:latin typeface="Times New Roman" panose="02020603050405020304" pitchFamily="18" charset="0"/>
                <a:ea typeface="楷体" panose="02010609060101010101" pitchFamily="49" charset="-122"/>
                <a:cs typeface="Times New Roman" panose="02020603050405020304" pitchFamily="18" charset="0"/>
              </a:rPr>
              <a:t>i</a:t>
            </a:r>
            <a:r>
              <a:rPr lang="en-US" altLang="zh-CN" baseline="-25000" dirty="0" smtClean="0">
                <a:latin typeface="Times New Roman" panose="02020603050405020304" pitchFamily="18" charset="0"/>
                <a:ea typeface="楷体" panose="02010609060101010101" pitchFamily="49" charset="-122"/>
                <a:cs typeface="Times New Roman" panose="02020603050405020304" pitchFamily="18" charset="0"/>
              </a:rPr>
              <a:t> + 1</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都与</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v</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baseline="-25000" dirty="0" smtClean="0">
                <a:latin typeface="Times New Roman" panose="02020603050405020304" pitchFamily="18" charset="0"/>
                <a:ea typeface="楷体" panose="02010609060101010101" pitchFamily="49" charset="-122"/>
                <a:cs typeface="Times New Roman" panose="02020603050405020304" pitchFamily="18" charset="0"/>
              </a:rPr>
              <a:t> + 1</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关于</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共轭</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r>
              <a:rPr lang="zh-CN" altLang="en-US" b="1" dirty="0" smtClean="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r</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i</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与</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v</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baseline="-25000" dirty="0" smtClean="0">
                <a:latin typeface="Times New Roman" panose="02020603050405020304" pitchFamily="18" charset="0"/>
                <a:ea typeface="楷体" panose="02010609060101010101" pitchFamily="49" charset="-122"/>
                <a:cs typeface="Times New Roman" panose="02020603050405020304" pitchFamily="18" charset="0"/>
              </a:rPr>
              <a:t> + 1</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关于</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共轭</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r>
              <a:rPr lang="zh-CN" altLang="en-US" b="1" dirty="0" smtClean="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r</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i</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与</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Av</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baseline="-25000" dirty="0" smtClean="0">
                <a:latin typeface="Times New Roman" panose="02020603050405020304" pitchFamily="18" charset="0"/>
                <a:ea typeface="楷体" panose="02010609060101010101" pitchFamily="49" charset="-122"/>
                <a:cs typeface="Times New Roman" panose="02020603050405020304" pitchFamily="18" charset="0"/>
              </a:rPr>
              <a:t> </a:t>
            </a:r>
            <a:r>
              <a:rPr lang="en-US" altLang="zh-CN" baseline="-25000"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aseline="-25000" dirty="0" smtClean="0">
                <a:latin typeface="Times New Roman" panose="02020603050405020304" pitchFamily="18" charset="0"/>
                <a:ea typeface="楷体" panose="02010609060101010101" pitchFamily="49" charset="-122"/>
                <a:cs typeface="Times New Roman" panose="02020603050405020304" pitchFamily="18" charset="0"/>
              </a:rPr>
              <a:t>1</a:t>
            </a:r>
            <a:r>
              <a:rPr lang="zh-CN" altLang="en-US" dirty="0">
                <a:latin typeface="Times New Roman" panose="02020603050405020304" pitchFamily="18" charset="0"/>
                <a:ea typeface="楷体" panose="02010609060101010101" pitchFamily="49" charset="-122"/>
                <a:cs typeface="Times New Roman" panose="02020603050405020304" pitchFamily="18" charset="0"/>
              </a:rPr>
              <a:t>垂直</a:t>
            </a:r>
          </a:p>
        </p:txBody>
      </p:sp>
      <p:sp>
        <p:nvSpPr>
          <p:cNvPr id="40" name="文本框 39"/>
          <p:cNvSpPr txBox="1"/>
          <p:nvPr/>
        </p:nvSpPr>
        <p:spPr>
          <a:xfrm>
            <a:off x="958444" y="2994953"/>
            <a:ext cx="463588" cy="523220"/>
          </a:xfrm>
          <a:prstGeom prst="rect">
            <a:avLst/>
          </a:prstGeom>
          <a:noFill/>
        </p:spPr>
        <p:txBody>
          <a:bodyPr wrap="none" rtlCol="0">
            <a:spAutoFit/>
          </a:bodyPr>
          <a:lstStyle/>
          <a:p>
            <a:pPr algn="ctr"/>
            <a:r>
              <a:rPr lang="en-US" altLang="zh-CN" sz="2800" b="1" dirty="0" smtClean="0">
                <a:latin typeface="Times New Roman" panose="02020603050405020304" pitchFamily="18" charset="0"/>
                <a:cs typeface="Times New Roman" panose="02020603050405020304" pitchFamily="18" charset="0"/>
              </a:rPr>
              <a:t>r</a:t>
            </a:r>
            <a:r>
              <a:rPr lang="en-US" altLang="zh-CN" sz="2800" baseline="-25000" dirty="0" smtClean="0">
                <a:latin typeface="Times New Roman" panose="02020603050405020304" pitchFamily="18" charset="0"/>
                <a:cs typeface="Times New Roman" panose="02020603050405020304" pitchFamily="18" charset="0"/>
              </a:rPr>
              <a:t>0</a:t>
            </a:r>
            <a:endParaRPr lang="zh-CN" altLang="en-US" sz="2800" baseline="-25000" dirty="0">
              <a:latin typeface="Times New Roman" panose="02020603050405020304" pitchFamily="18" charset="0"/>
              <a:cs typeface="Times New Roman" panose="02020603050405020304" pitchFamily="18" charset="0"/>
            </a:endParaRPr>
          </a:p>
        </p:txBody>
      </p:sp>
      <p:sp>
        <p:nvSpPr>
          <p:cNvPr id="41" name="文本框 40"/>
          <p:cNvSpPr txBox="1"/>
          <p:nvPr/>
        </p:nvSpPr>
        <p:spPr>
          <a:xfrm>
            <a:off x="2103826" y="2994953"/>
            <a:ext cx="463588"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r</a:t>
            </a:r>
            <a:r>
              <a:rPr lang="en-US" altLang="zh-CN" sz="2800" baseline="-25000" dirty="0" smtClean="0">
                <a:latin typeface="Times New Roman" panose="02020603050405020304" pitchFamily="18" charset="0"/>
                <a:cs typeface="Times New Roman" panose="02020603050405020304" pitchFamily="18" charset="0"/>
              </a:rPr>
              <a:t>1</a:t>
            </a:r>
            <a:endParaRPr lang="zh-CN" altLang="en-US" sz="2800" baseline="-25000" dirty="0">
              <a:latin typeface="Times New Roman" panose="02020603050405020304" pitchFamily="18" charset="0"/>
              <a:cs typeface="Times New Roman" panose="02020603050405020304" pitchFamily="18" charset="0"/>
            </a:endParaRPr>
          </a:p>
        </p:txBody>
      </p:sp>
      <p:cxnSp>
        <p:nvCxnSpPr>
          <p:cNvPr id="42" name="直接箭头连接符 41"/>
          <p:cNvCxnSpPr/>
          <p:nvPr/>
        </p:nvCxnSpPr>
        <p:spPr>
          <a:xfrm>
            <a:off x="1383826" y="3255302"/>
            <a:ext cx="72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接箭头连接符 42"/>
          <p:cNvCxnSpPr/>
          <p:nvPr/>
        </p:nvCxnSpPr>
        <p:spPr>
          <a:xfrm>
            <a:off x="2567414" y="3255302"/>
            <a:ext cx="72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4" name="文本框 43"/>
          <p:cNvSpPr txBox="1"/>
          <p:nvPr/>
        </p:nvSpPr>
        <p:spPr>
          <a:xfrm>
            <a:off x="4256703" y="2996120"/>
            <a:ext cx="689612" cy="523220"/>
          </a:xfrm>
          <a:prstGeom prst="rect">
            <a:avLst/>
          </a:prstGeom>
          <a:noFill/>
        </p:spPr>
        <p:txBody>
          <a:bodyPr wrap="none" rtlCol="0">
            <a:spAutoFit/>
          </a:bodyPr>
          <a:lstStyle/>
          <a:p>
            <a:r>
              <a:rPr lang="en-US" altLang="zh-CN" sz="2800" b="1" dirty="0" err="1" smtClean="0">
                <a:latin typeface="Times New Roman" panose="02020603050405020304" pitchFamily="18" charset="0"/>
                <a:cs typeface="Times New Roman" panose="02020603050405020304" pitchFamily="18" charset="0"/>
              </a:rPr>
              <a:t>r</a:t>
            </a:r>
            <a:r>
              <a:rPr lang="en-US" altLang="zh-CN" sz="2800" i="1" baseline="-25000" dirty="0" err="1" smtClean="0">
                <a:latin typeface="Times New Roman" panose="02020603050405020304" pitchFamily="18" charset="0"/>
                <a:cs typeface="Times New Roman" panose="02020603050405020304" pitchFamily="18" charset="0"/>
              </a:rPr>
              <a:t>k</a:t>
            </a:r>
            <a:r>
              <a:rPr lang="en-US" altLang="zh-CN" sz="2800" baseline="-25000" dirty="0" smtClean="0">
                <a:latin typeface="Times New Roman" panose="02020603050405020304" pitchFamily="18" charset="0"/>
                <a:cs typeface="Times New Roman" panose="02020603050405020304" pitchFamily="18" charset="0"/>
              </a:rPr>
              <a:t>–1</a:t>
            </a:r>
            <a:endParaRPr lang="zh-CN" altLang="en-US" sz="2800" baseline="-25000" dirty="0">
              <a:latin typeface="Times New Roman" panose="02020603050405020304" pitchFamily="18" charset="0"/>
              <a:cs typeface="Times New Roman" panose="02020603050405020304" pitchFamily="18" charset="0"/>
            </a:endParaRPr>
          </a:p>
        </p:txBody>
      </p:sp>
      <p:cxnSp>
        <p:nvCxnSpPr>
          <p:cNvPr id="45" name="直接箭头连接符 44"/>
          <p:cNvCxnSpPr/>
          <p:nvPr/>
        </p:nvCxnSpPr>
        <p:spPr>
          <a:xfrm>
            <a:off x="4720291" y="3256469"/>
            <a:ext cx="72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6" name="文本框 45"/>
          <p:cNvSpPr txBox="1"/>
          <p:nvPr/>
        </p:nvSpPr>
        <p:spPr>
          <a:xfrm>
            <a:off x="5440291" y="2995688"/>
            <a:ext cx="463588" cy="523220"/>
          </a:xfrm>
          <a:prstGeom prst="rect">
            <a:avLst/>
          </a:prstGeom>
          <a:noFill/>
        </p:spPr>
        <p:txBody>
          <a:bodyPr wrap="none" rtlCol="0">
            <a:spAutoFit/>
          </a:bodyPr>
          <a:lstStyle/>
          <a:p>
            <a:r>
              <a:rPr lang="en-US" altLang="zh-CN" sz="2800" b="1" dirty="0" err="1" smtClean="0">
                <a:latin typeface="Times New Roman" panose="02020603050405020304" pitchFamily="18" charset="0"/>
                <a:cs typeface="Times New Roman" panose="02020603050405020304" pitchFamily="18" charset="0"/>
              </a:rPr>
              <a:t>r</a:t>
            </a:r>
            <a:r>
              <a:rPr lang="en-US" altLang="zh-CN" sz="2800" i="1" baseline="-25000" dirty="0" err="1" smtClean="0">
                <a:latin typeface="Times New Roman" panose="02020603050405020304" pitchFamily="18" charset="0"/>
                <a:cs typeface="Times New Roman" panose="02020603050405020304" pitchFamily="18" charset="0"/>
              </a:rPr>
              <a:t>k</a:t>
            </a:r>
            <a:endParaRPr lang="zh-CN" altLang="en-US" sz="2800" i="1" baseline="-25000" dirty="0">
              <a:latin typeface="Times New Roman" panose="02020603050405020304" pitchFamily="18" charset="0"/>
              <a:cs typeface="Times New Roman" panose="02020603050405020304" pitchFamily="18" charset="0"/>
            </a:endParaRPr>
          </a:p>
        </p:txBody>
      </p:sp>
      <p:cxnSp>
        <p:nvCxnSpPr>
          <p:cNvPr id="47" name="直接箭头连接符 46"/>
          <p:cNvCxnSpPr/>
          <p:nvPr/>
        </p:nvCxnSpPr>
        <p:spPr>
          <a:xfrm>
            <a:off x="5903879" y="3255302"/>
            <a:ext cx="72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8" name="文本框 47"/>
          <p:cNvSpPr txBox="1"/>
          <p:nvPr/>
        </p:nvSpPr>
        <p:spPr>
          <a:xfrm>
            <a:off x="2103826" y="1884753"/>
            <a:ext cx="484428"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v</a:t>
            </a:r>
            <a:r>
              <a:rPr lang="en-US" altLang="zh-CN" sz="2800" baseline="-25000" dirty="0" smtClean="0">
                <a:latin typeface="Times New Roman" panose="02020603050405020304" pitchFamily="18" charset="0"/>
                <a:cs typeface="Times New Roman" panose="02020603050405020304" pitchFamily="18" charset="0"/>
              </a:rPr>
              <a:t>1</a:t>
            </a:r>
            <a:endParaRPr lang="zh-CN" altLang="en-US" sz="2800" baseline="-25000" dirty="0">
              <a:latin typeface="Times New Roman" panose="02020603050405020304" pitchFamily="18" charset="0"/>
              <a:cs typeface="Times New Roman" panose="02020603050405020304" pitchFamily="18" charset="0"/>
            </a:endParaRPr>
          </a:p>
        </p:txBody>
      </p:sp>
      <p:sp>
        <p:nvSpPr>
          <p:cNvPr id="49" name="文本框 48"/>
          <p:cNvSpPr txBox="1"/>
          <p:nvPr/>
        </p:nvSpPr>
        <p:spPr>
          <a:xfrm>
            <a:off x="4256703" y="1883258"/>
            <a:ext cx="710451" cy="523220"/>
          </a:xfrm>
          <a:prstGeom prst="rect">
            <a:avLst/>
          </a:prstGeom>
          <a:noFill/>
        </p:spPr>
        <p:txBody>
          <a:bodyPr wrap="none" rtlCol="0">
            <a:spAutoFit/>
          </a:bodyPr>
          <a:lstStyle/>
          <a:p>
            <a:r>
              <a:rPr lang="en-US" altLang="zh-CN" sz="2800" b="1" dirty="0" err="1" smtClean="0">
                <a:latin typeface="Times New Roman" panose="02020603050405020304" pitchFamily="18" charset="0"/>
                <a:cs typeface="Times New Roman" panose="02020603050405020304" pitchFamily="18" charset="0"/>
              </a:rPr>
              <a:t>v</a:t>
            </a:r>
            <a:r>
              <a:rPr lang="en-US" altLang="zh-CN" sz="2800" i="1" baseline="-25000" dirty="0" err="1" smtClean="0">
                <a:latin typeface="Times New Roman" panose="02020603050405020304" pitchFamily="18" charset="0"/>
                <a:cs typeface="Times New Roman" panose="02020603050405020304" pitchFamily="18" charset="0"/>
              </a:rPr>
              <a:t>k</a:t>
            </a:r>
            <a:r>
              <a:rPr lang="en-US" altLang="zh-CN" sz="2800" baseline="-25000" dirty="0" smtClean="0">
                <a:latin typeface="Times New Roman" panose="02020603050405020304" pitchFamily="18" charset="0"/>
                <a:cs typeface="Times New Roman" panose="02020603050405020304" pitchFamily="18" charset="0"/>
              </a:rPr>
              <a:t>–1</a:t>
            </a:r>
            <a:endParaRPr lang="zh-CN" altLang="en-US" sz="2800" baseline="-25000" dirty="0">
              <a:latin typeface="Times New Roman" panose="02020603050405020304" pitchFamily="18" charset="0"/>
              <a:cs typeface="Times New Roman" panose="02020603050405020304" pitchFamily="18" charset="0"/>
            </a:endParaRPr>
          </a:p>
        </p:txBody>
      </p:sp>
      <p:cxnSp>
        <p:nvCxnSpPr>
          <p:cNvPr id="50" name="直接箭头连接符 49"/>
          <p:cNvCxnSpPr/>
          <p:nvPr/>
        </p:nvCxnSpPr>
        <p:spPr>
          <a:xfrm>
            <a:off x="4720291" y="2146269"/>
            <a:ext cx="72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1" name="文本框 50"/>
          <p:cNvSpPr txBox="1"/>
          <p:nvPr/>
        </p:nvSpPr>
        <p:spPr>
          <a:xfrm>
            <a:off x="5440291" y="1883258"/>
            <a:ext cx="484428" cy="523220"/>
          </a:xfrm>
          <a:prstGeom prst="rect">
            <a:avLst/>
          </a:prstGeom>
          <a:noFill/>
        </p:spPr>
        <p:txBody>
          <a:bodyPr wrap="none" rtlCol="0">
            <a:spAutoFit/>
          </a:bodyPr>
          <a:lstStyle/>
          <a:p>
            <a:r>
              <a:rPr lang="en-US" altLang="zh-CN" sz="2800" b="1" dirty="0" err="1" smtClean="0">
                <a:latin typeface="Times New Roman" panose="02020603050405020304" pitchFamily="18" charset="0"/>
                <a:cs typeface="Times New Roman" panose="02020603050405020304" pitchFamily="18" charset="0"/>
              </a:rPr>
              <a:t>v</a:t>
            </a:r>
            <a:r>
              <a:rPr lang="en-US" altLang="zh-CN" sz="2800" i="1" baseline="-25000" dirty="0" err="1" smtClean="0">
                <a:latin typeface="Times New Roman" panose="02020603050405020304" pitchFamily="18" charset="0"/>
                <a:cs typeface="Times New Roman" panose="02020603050405020304" pitchFamily="18" charset="0"/>
              </a:rPr>
              <a:t>k</a:t>
            </a:r>
            <a:endParaRPr lang="zh-CN" altLang="en-US" sz="2800" i="1" baseline="-25000" dirty="0">
              <a:latin typeface="Times New Roman" panose="02020603050405020304" pitchFamily="18" charset="0"/>
              <a:cs typeface="Times New Roman" panose="02020603050405020304" pitchFamily="18" charset="0"/>
            </a:endParaRPr>
          </a:p>
        </p:txBody>
      </p:sp>
      <p:cxnSp>
        <p:nvCxnSpPr>
          <p:cNvPr id="52" name="直接箭头连接符 51"/>
          <p:cNvCxnSpPr/>
          <p:nvPr/>
        </p:nvCxnSpPr>
        <p:spPr>
          <a:xfrm>
            <a:off x="5903879" y="2147624"/>
            <a:ext cx="72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3" name="文本框 52"/>
          <p:cNvSpPr txBox="1"/>
          <p:nvPr/>
        </p:nvSpPr>
        <p:spPr>
          <a:xfrm>
            <a:off x="6623879" y="1883258"/>
            <a:ext cx="724878"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v</a:t>
            </a:r>
            <a:r>
              <a:rPr lang="en-US" altLang="zh-CN" sz="2800" i="1" baseline="-25000" dirty="0" smtClean="0">
                <a:latin typeface="Times New Roman" panose="02020603050405020304" pitchFamily="18" charset="0"/>
                <a:cs typeface="Times New Roman" panose="02020603050405020304" pitchFamily="18" charset="0"/>
              </a:rPr>
              <a:t>k</a:t>
            </a:r>
            <a:r>
              <a:rPr lang="en-US" altLang="zh-CN" sz="2800" baseline="-25000" dirty="0" smtClean="0">
                <a:latin typeface="Times New Roman" panose="02020603050405020304" pitchFamily="18" charset="0"/>
                <a:cs typeface="Times New Roman" panose="02020603050405020304" pitchFamily="18" charset="0"/>
              </a:rPr>
              <a:t>+1</a:t>
            </a:r>
            <a:endParaRPr lang="zh-CN" altLang="en-US" sz="2800" baseline="-25000" dirty="0">
              <a:latin typeface="Times New Roman" panose="02020603050405020304" pitchFamily="18" charset="0"/>
              <a:cs typeface="Times New Roman" panose="02020603050405020304" pitchFamily="18" charset="0"/>
            </a:endParaRPr>
          </a:p>
        </p:txBody>
      </p:sp>
      <p:cxnSp>
        <p:nvCxnSpPr>
          <p:cNvPr id="54" name="直接箭头连接符 53"/>
          <p:cNvCxnSpPr/>
          <p:nvPr/>
        </p:nvCxnSpPr>
        <p:spPr>
          <a:xfrm flipV="1">
            <a:off x="1383826" y="2383200"/>
            <a:ext cx="720000" cy="72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直接箭头连接符 54"/>
          <p:cNvCxnSpPr/>
          <p:nvPr/>
        </p:nvCxnSpPr>
        <p:spPr>
          <a:xfrm>
            <a:off x="2567414" y="2145102"/>
            <a:ext cx="72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6" name="直接箭头连接符 55"/>
          <p:cNvCxnSpPr/>
          <p:nvPr/>
        </p:nvCxnSpPr>
        <p:spPr>
          <a:xfrm flipV="1">
            <a:off x="2588254" y="2383200"/>
            <a:ext cx="720000" cy="72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直接箭头连接符 56"/>
          <p:cNvCxnSpPr/>
          <p:nvPr/>
        </p:nvCxnSpPr>
        <p:spPr>
          <a:xfrm flipV="1">
            <a:off x="4729591" y="2383200"/>
            <a:ext cx="720000" cy="72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8" name="直接箭头连接符 57"/>
          <p:cNvCxnSpPr/>
          <p:nvPr/>
        </p:nvCxnSpPr>
        <p:spPr>
          <a:xfrm flipV="1">
            <a:off x="5891269" y="2383200"/>
            <a:ext cx="720000" cy="72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9" name="直接箭头连接符 58"/>
          <p:cNvCxnSpPr/>
          <p:nvPr/>
        </p:nvCxnSpPr>
        <p:spPr>
          <a:xfrm>
            <a:off x="4488497" y="2383200"/>
            <a:ext cx="0" cy="72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直接箭头连接符 59"/>
          <p:cNvCxnSpPr/>
          <p:nvPr/>
        </p:nvCxnSpPr>
        <p:spPr>
          <a:xfrm>
            <a:off x="5672085" y="2383200"/>
            <a:ext cx="0" cy="72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1" name="文本框 60"/>
          <p:cNvSpPr txBox="1"/>
          <p:nvPr/>
        </p:nvSpPr>
        <p:spPr>
          <a:xfrm>
            <a:off x="6614180" y="2995688"/>
            <a:ext cx="704039"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r</a:t>
            </a:r>
            <a:r>
              <a:rPr lang="en-US" altLang="zh-CN" sz="2800" i="1" baseline="-25000" dirty="0" smtClean="0">
                <a:latin typeface="Times New Roman" panose="02020603050405020304" pitchFamily="18" charset="0"/>
                <a:cs typeface="Times New Roman" panose="02020603050405020304" pitchFamily="18" charset="0"/>
              </a:rPr>
              <a:t>k</a:t>
            </a:r>
            <a:r>
              <a:rPr lang="en-US" altLang="zh-CN" sz="2800" baseline="-25000" dirty="0" smtClean="0">
                <a:latin typeface="Times New Roman" panose="02020603050405020304" pitchFamily="18" charset="0"/>
                <a:cs typeface="Times New Roman" panose="02020603050405020304" pitchFamily="18" charset="0"/>
              </a:rPr>
              <a:t>+1</a:t>
            </a:r>
            <a:endParaRPr lang="zh-CN" altLang="en-US" sz="2800" baseline="-25000" dirty="0">
              <a:latin typeface="Times New Roman" panose="02020603050405020304" pitchFamily="18" charset="0"/>
              <a:cs typeface="Times New Roman" panose="02020603050405020304" pitchFamily="18" charset="0"/>
            </a:endParaRPr>
          </a:p>
        </p:txBody>
      </p:sp>
      <p:cxnSp>
        <p:nvCxnSpPr>
          <p:cNvPr id="62" name="直接箭头连接符 61"/>
          <p:cNvCxnSpPr/>
          <p:nvPr/>
        </p:nvCxnSpPr>
        <p:spPr>
          <a:xfrm>
            <a:off x="6840524" y="2383200"/>
            <a:ext cx="0" cy="72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63" name="组合 62"/>
          <p:cNvGrpSpPr/>
          <p:nvPr/>
        </p:nvGrpSpPr>
        <p:grpSpPr>
          <a:xfrm>
            <a:off x="2155124" y="2382826"/>
            <a:ext cx="444352" cy="720000"/>
            <a:chOff x="2155124" y="2382826"/>
            <a:chExt cx="444352" cy="720000"/>
          </a:xfrm>
        </p:grpSpPr>
        <p:cxnSp>
          <p:nvCxnSpPr>
            <p:cNvPr id="64" name="直接箭头连接符 63"/>
            <p:cNvCxnSpPr/>
            <p:nvPr/>
          </p:nvCxnSpPr>
          <p:spPr>
            <a:xfrm>
              <a:off x="2346040" y="2382826"/>
              <a:ext cx="0" cy="72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5" name="文本框 64"/>
            <p:cNvSpPr txBox="1"/>
            <p:nvPr/>
          </p:nvSpPr>
          <p:spPr>
            <a:xfrm>
              <a:off x="2155124" y="2401290"/>
              <a:ext cx="444352"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A</a:t>
              </a:r>
              <a:endParaRPr lang="zh-CN" altLang="en-US" sz="2800" b="1" dirty="0">
                <a:latin typeface="Times New Roman" panose="02020603050405020304" pitchFamily="18" charset="0"/>
                <a:cs typeface="Times New Roman" panose="02020603050405020304" pitchFamily="18" charset="0"/>
              </a:endParaRPr>
            </a:p>
          </p:txBody>
        </p:sp>
      </p:grpSp>
      <p:sp>
        <p:nvSpPr>
          <p:cNvPr id="66" name="文本框 65"/>
          <p:cNvSpPr txBox="1"/>
          <p:nvPr/>
        </p:nvSpPr>
        <p:spPr>
          <a:xfrm>
            <a:off x="4296460" y="2413564"/>
            <a:ext cx="444352"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A</a:t>
            </a:r>
            <a:endParaRPr lang="zh-CN" altLang="en-US" sz="2800" b="1" dirty="0">
              <a:latin typeface="Times New Roman" panose="02020603050405020304" pitchFamily="18" charset="0"/>
              <a:cs typeface="Times New Roman" panose="02020603050405020304" pitchFamily="18" charset="0"/>
            </a:endParaRPr>
          </a:p>
        </p:txBody>
      </p:sp>
      <p:sp>
        <p:nvSpPr>
          <p:cNvPr id="67" name="文本框 66"/>
          <p:cNvSpPr txBox="1"/>
          <p:nvPr/>
        </p:nvSpPr>
        <p:spPr>
          <a:xfrm>
            <a:off x="5480367" y="2403812"/>
            <a:ext cx="444352"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A</a:t>
            </a:r>
            <a:endParaRPr lang="zh-CN" altLang="en-US" sz="2800" b="1" dirty="0">
              <a:latin typeface="Times New Roman" panose="02020603050405020304" pitchFamily="18" charset="0"/>
              <a:cs typeface="Times New Roman" panose="02020603050405020304" pitchFamily="18" charset="0"/>
            </a:endParaRPr>
          </a:p>
        </p:txBody>
      </p:sp>
      <p:sp>
        <p:nvSpPr>
          <p:cNvPr id="68" name="文本框 67"/>
          <p:cNvSpPr txBox="1"/>
          <p:nvPr/>
        </p:nvSpPr>
        <p:spPr>
          <a:xfrm>
            <a:off x="6663955" y="2414919"/>
            <a:ext cx="444352"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A</a:t>
            </a:r>
            <a:endParaRPr lang="zh-CN" altLang="en-US" sz="2800" b="1" dirty="0">
              <a:latin typeface="Times New Roman" panose="02020603050405020304" pitchFamily="18" charset="0"/>
              <a:cs typeface="Times New Roman" panose="02020603050405020304" pitchFamily="18" charset="0"/>
            </a:endParaRPr>
          </a:p>
        </p:txBody>
      </p:sp>
      <p:sp>
        <p:nvSpPr>
          <p:cNvPr id="69" name="文本框 68"/>
          <p:cNvSpPr txBox="1"/>
          <p:nvPr/>
        </p:nvSpPr>
        <p:spPr>
          <a:xfrm>
            <a:off x="3733177" y="2905688"/>
            <a:ext cx="543739"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a:t>
            </a:r>
            <a:endParaRPr lang="zh-CN" altLang="en-US" sz="2800" baseline="-25000" dirty="0">
              <a:latin typeface="Times New Roman" panose="02020603050405020304" pitchFamily="18" charset="0"/>
              <a:cs typeface="Times New Roman" panose="02020603050405020304" pitchFamily="18" charset="0"/>
            </a:endParaRPr>
          </a:p>
        </p:txBody>
      </p:sp>
      <p:sp>
        <p:nvSpPr>
          <p:cNvPr id="70" name="文本框 69"/>
          <p:cNvSpPr txBox="1"/>
          <p:nvPr/>
        </p:nvSpPr>
        <p:spPr>
          <a:xfrm>
            <a:off x="3748265" y="1789658"/>
            <a:ext cx="543739"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a:t>
            </a:r>
            <a:endParaRPr lang="zh-CN" altLang="en-US" sz="2800" baseline="-25000" dirty="0">
              <a:latin typeface="Times New Roman" panose="02020603050405020304" pitchFamily="18" charset="0"/>
              <a:cs typeface="Times New Roman" panose="02020603050405020304" pitchFamily="18" charset="0"/>
            </a:endParaRPr>
          </a:p>
        </p:txBody>
      </p:sp>
      <p:sp>
        <p:nvSpPr>
          <p:cNvPr id="71" name="文本框 70"/>
          <p:cNvSpPr txBox="1"/>
          <p:nvPr/>
        </p:nvSpPr>
        <p:spPr>
          <a:xfrm>
            <a:off x="3296714" y="1883258"/>
            <a:ext cx="484428"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v</a:t>
            </a:r>
            <a:r>
              <a:rPr lang="en-US" altLang="zh-CN" sz="2800" baseline="-25000" dirty="0" smtClean="0">
                <a:latin typeface="Times New Roman" panose="02020603050405020304" pitchFamily="18" charset="0"/>
                <a:cs typeface="Times New Roman" panose="02020603050405020304" pitchFamily="18" charset="0"/>
              </a:rPr>
              <a:t>2</a:t>
            </a:r>
            <a:endParaRPr lang="zh-CN" altLang="en-US" sz="2800" baseline="-25000" dirty="0">
              <a:latin typeface="Times New Roman" panose="02020603050405020304" pitchFamily="18" charset="0"/>
              <a:cs typeface="Times New Roman" panose="02020603050405020304" pitchFamily="18" charset="0"/>
            </a:endParaRPr>
          </a:p>
        </p:txBody>
      </p:sp>
      <p:sp>
        <p:nvSpPr>
          <p:cNvPr id="72" name="文本框 71"/>
          <p:cNvSpPr txBox="1"/>
          <p:nvPr/>
        </p:nvSpPr>
        <p:spPr>
          <a:xfrm>
            <a:off x="3304619" y="2995688"/>
            <a:ext cx="463588"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r</a:t>
            </a:r>
            <a:r>
              <a:rPr lang="en-US" altLang="zh-CN" sz="2800" baseline="-25000" dirty="0" smtClean="0">
                <a:latin typeface="Times New Roman" panose="02020603050405020304" pitchFamily="18" charset="0"/>
                <a:cs typeface="Times New Roman" panose="02020603050405020304" pitchFamily="18" charset="0"/>
              </a:rPr>
              <a:t>2</a:t>
            </a:r>
            <a:endParaRPr lang="zh-CN" altLang="en-US" sz="2800" baseline="-25000" dirty="0">
              <a:latin typeface="Times New Roman" panose="02020603050405020304" pitchFamily="18" charset="0"/>
              <a:cs typeface="Times New Roman" panose="02020603050405020304" pitchFamily="18" charset="0"/>
            </a:endParaRPr>
          </a:p>
        </p:txBody>
      </p:sp>
      <p:grpSp>
        <p:nvGrpSpPr>
          <p:cNvPr id="73" name="组合 72"/>
          <p:cNvGrpSpPr/>
          <p:nvPr/>
        </p:nvGrpSpPr>
        <p:grpSpPr>
          <a:xfrm>
            <a:off x="3337062" y="2382826"/>
            <a:ext cx="444352" cy="720000"/>
            <a:chOff x="3337062" y="2382826"/>
            <a:chExt cx="444352" cy="720000"/>
          </a:xfrm>
        </p:grpSpPr>
        <p:cxnSp>
          <p:nvCxnSpPr>
            <p:cNvPr id="74" name="直接箭头连接符 73"/>
            <p:cNvCxnSpPr/>
            <p:nvPr/>
          </p:nvCxnSpPr>
          <p:spPr>
            <a:xfrm>
              <a:off x="3527978" y="2382826"/>
              <a:ext cx="0" cy="72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5" name="文本框 74"/>
            <p:cNvSpPr txBox="1"/>
            <p:nvPr/>
          </p:nvSpPr>
          <p:spPr>
            <a:xfrm>
              <a:off x="3337062" y="2401290"/>
              <a:ext cx="444352"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A</a:t>
              </a:r>
              <a:endParaRPr lang="zh-CN" altLang="en-US" sz="2800" b="1" dirty="0">
                <a:latin typeface="Times New Roman" panose="02020603050405020304" pitchFamily="18" charset="0"/>
                <a:cs typeface="Times New Roman" panose="02020603050405020304" pitchFamily="18" charset="0"/>
              </a:endParaRPr>
            </a:p>
          </p:txBody>
        </p:sp>
      </p:grpSp>
      <p:sp>
        <p:nvSpPr>
          <p:cNvPr id="76" name="文本框 75"/>
          <p:cNvSpPr txBox="1"/>
          <p:nvPr/>
        </p:nvSpPr>
        <p:spPr>
          <a:xfrm>
            <a:off x="7268021" y="1788347"/>
            <a:ext cx="543739"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a:t>
            </a:r>
            <a:endParaRPr lang="zh-CN" altLang="en-US" sz="2800" baseline="-25000" dirty="0">
              <a:latin typeface="Times New Roman" panose="02020603050405020304" pitchFamily="18" charset="0"/>
              <a:cs typeface="Times New Roman" panose="02020603050405020304" pitchFamily="18" charset="0"/>
            </a:endParaRPr>
          </a:p>
        </p:txBody>
      </p:sp>
      <p:sp>
        <p:nvSpPr>
          <p:cNvPr id="77" name="文本框 76"/>
          <p:cNvSpPr txBox="1"/>
          <p:nvPr/>
        </p:nvSpPr>
        <p:spPr>
          <a:xfrm>
            <a:off x="7320910" y="2905963"/>
            <a:ext cx="543739"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a:t>
            </a:r>
            <a:endParaRPr lang="zh-CN" altLang="en-US" sz="2800" baseline="-25000" dirty="0">
              <a:latin typeface="Times New Roman" panose="02020603050405020304" pitchFamily="18" charset="0"/>
              <a:cs typeface="Times New Roman" panose="02020603050405020304" pitchFamily="18" charset="0"/>
            </a:endParaRPr>
          </a:p>
        </p:txBody>
      </p:sp>
    </p:spTree>
    <p:custDataLst>
      <p:tags r:id="rId1"/>
    </p:custDataLst>
    <p:extLst>
      <p:ext uri="{BB962C8B-B14F-4D97-AF65-F5344CB8AC3E}">
        <p14:creationId xmlns:p14="http://schemas.microsoft.com/office/powerpoint/2010/main" val="3731467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宋体" panose="02010600030101010101" pitchFamily="2" charset="-122"/>
                <a:ea typeface="宋体" panose="02010600030101010101" pitchFamily="2" charset="-122"/>
              </a:rPr>
              <a:t>关键变量的关系</a:t>
            </a:r>
            <a:endParaRPr lang="zh-CN" altLang="en-US" dirty="0">
              <a:latin typeface="宋体" panose="02010600030101010101" pitchFamily="2" charset="-122"/>
              <a:ea typeface="宋体" panose="02010600030101010101" pitchFamily="2" charset="-122"/>
            </a:endParaRPr>
          </a:p>
        </p:txBody>
      </p:sp>
      <p:sp>
        <p:nvSpPr>
          <p:cNvPr id="3" name="内容占位符 2"/>
          <p:cNvSpPr>
            <a:spLocks noGrp="1"/>
          </p:cNvSpPr>
          <p:nvPr>
            <p:ph idx="1"/>
          </p:nvPr>
        </p:nvSpPr>
        <p:spPr>
          <a:xfrm>
            <a:off x="628650" y="3734347"/>
            <a:ext cx="7886700" cy="2442616"/>
          </a:xfrm>
        </p:spPr>
        <p:txBody>
          <a:bodyPr>
            <a:normAutofit/>
          </a:bodyPr>
          <a:lstStyle/>
          <a:p>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当</a:t>
            </a:r>
            <a:r>
              <a:rPr lang="en-US" altLang="zh-CN" i="1" dirty="0" err="1" smtClean="0">
                <a:latin typeface="Times New Roman" panose="02020603050405020304" pitchFamily="18" charset="0"/>
                <a:ea typeface="楷体" panose="02010609060101010101" pitchFamily="49" charset="-122"/>
                <a:cs typeface="Times New Roman" panose="02020603050405020304" pitchFamily="18" charset="0"/>
              </a:rPr>
              <a:t>i</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&lt; </a:t>
            </a:r>
            <a:r>
              <a:rPr lang="en-US" altLang="zh-CN" i="1" dirty="0" smtClean="0">
                <a:latin typeface="Times New Roman" panose="02020603050405020304" pitchFamily="18" charset="0"/>
                <a:ea typeface="楷体" panose="02010609060101010101" pitchFamily="49" charset="-122"/>
                <a:cs typeface="Times New Roman" panose="02020603050405020304" pitchFamily="18" charset="0"/>
              </a:rPr>
              <a:t>k</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时，</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r>
              <a:rPr lang="zh-CN" altLang="en-US" b="1" dirty="0" smtClean="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Av</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baseline="-25000" dirty="0" smtClean="0">
                <a:latin typeface="Times New Roman" panose="02020603050405020304" pitchFamily="18" charset="0"/>
                <a:ea typeface="楷体" panose="02010609060101010101" pitchFamily="49" charset="-122"/>
                <a:cs typeface="Times New Roman" panose="02020603050405020304" pitchFamily="18" charset="0"/>
              </a:rPr>
              <a:t> </a:t>
            </a:r>
            <a:r>
              <a:rPr lang="en-US" altLang="zh-CN" baseline="-25000" dirty="0">
                <a:latin typeface="Times New Roman" panose="02020603050405020304" pitchFamily="18" charset="0"/>
                <a:ea typeface="楷体" panose="02010609060101010101" pitchFamily="49" charset="-122"/>
                <a:cs typeface="Times New Roman" panose="02020603050405020304" pitchFamily="18" charset="0"/>
              </a:rPr>
              <a:t>+ 1</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和</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r</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都与</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r</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i</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垂直</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r>
              <a:rPr lang="zh-CN" altLang="en-US" b="1" dirty="0" smtClean="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r</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baseline="-25000" dirty="0" smtClean="0">
                <a:latin typeface="Times New Roman" panose="02020603050405020304" pitchFamily="18" charset="0"/>
                <a:ea typeface="楷体" panose="02010609060101010101" pitchFamily="49" charset="-122"/>
                <a:cs typeface="Times New Roman" panose="02020603050405020304" pitchFamily="18" charset="0"/>
              </a:rPr>
              <a:t> + 1</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可以写为</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Av</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baseline="-25000" dirty="0" smtClean="0">
                <a:latin typeface="Times New Roman" panose="02020603050405020304" pitchFamily="18" charset="0"/>
                <a:ea typeface="楷体" panose="02010609060101010101" pitchFamily="49" charset="-122"/>
                <a:cs typeface="Times New Roman" panose="02020603050405020304" pitchFamily="18" charset="0"/>
              </a:rPr>
              <a:t> + 1</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和</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r</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的线性组合</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r>
              <a:rPr lang="zh-CN" altLang="en-US" b="1" dirty="0" smtClean="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r</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baseline="-25000" dirty="0" smtClean="0">
                <a:latin typeface="Times New Roman" panose="02020603050405020304" pitchFamily="18" charset="0"/>
                <a:ea typeface="楷体" panose="02010609060101010101" pitchFamily="49" charset="-122"/>
                <a:cs typeface="Times New Roman" panose="02020603050405020304" pitchFamily="18" charset="0"/>
              </a:rPr>
              <a:t> + 1</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也与</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r</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i</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垂直</a:t>
            </a:r>
            <a:endParaRPr lang="zh-CN" altLang="en-US"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0" name="文本框 39"/>
          <p:cNvSpPr txBox="1"/>
          <p:nvPr/>
        </p:nvSpPr>
        <p:spPr>
          <a:xfrm>
            <a:off x="958444" y="2994953"/>
            <a:ext cx="463588" cy="523220"/>
          </a:xfrm>
          <a:prstGeom prst="rect">
            <a:avLst/>
          </a:prstGeom>
          <a:noFill/>
        </p:spPr>
        <p:txBody>
          <a:bodyPr wrap="none" rtlCol="0">
            <a:spAutoFit/>
          </a:bodyPr>
          <a:lstStyle/>
          <a:p>
            <a:pPr algn="ctr"/>
            <a:r>
              <a:rPr lang="en-US" altLang="zh-CN" sz="2800" b="1" dirty="0" smtClean="0">
                <a:latin typeface="Times New Roman" panose="02020603050405020304" pitchFamily="18" charset="0"/>
                <a:cs typeface="Times New Roman" panose="02020603050405020304" pitchFamily="18" charset="0"/>
              </a:rPr>
              <a:t>r</a:t>
            </a:r>
            <a:r>
              <a:rPr lang="en-US" altLang="zh-CN" sz="2800" baseline="-25000" dirty="0" smtClean="0">
                <a:latin typeface="Times New Roman" panose="02020603050405020304" pitchFamily="18" charset="0"/>
                <a:cs typeface="Times New Roman" panose="02020603050405020304" pitchFamily="18" charset="0"/>
              </a:rPr>
              <a:t>0</a:t>
            </a:r>
            <a:endParaRPr lang="zh-CN" altLang="en-US" sz="2800" baseline="-25000" dirty="0">
              <a:latin typeface="Times New Roman" panose="02020603050405020304" pitchFamily="18" charset="0"/>
              <a:cs typeface="Times New Roman" panose="02020603050405020304" pitchFamily="18" charset="0"/>
            </a:endParaRPr>
          </a:p>
        </p:txBody>
      </p:sp>
      <p:sp>
        <p:nvSpPr>
          <p:cNvPr id="41" name="文本框 40"/>
          <p:cNvSpPr txBox="1"/>
          <p:nvPr/>
        </p:nvSpPr>
        <p:spPr>
          <a:xfrm>
            <a:off x="2103826" y="2994953"/>
            <a:ext cx="463588"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r</a:t>
            </a:r>
            <a:r>
              <a:rPr lang="en-US" altLang="zh-CN" sz="2800" baseline="-25000" dirty="0" smtClean="0">
                <a:latin typeface="Times New Roman" panose="02020603050405020304" pitchFamily="18" charset="0"/>
                <a:cs typeface="Times New Roman" panose="02020603050405020304" pitchFamily="18" charset="0"/>
              </a:rPr>
              <a:t>1</a:t>
            </a:r>
            <a:endParaRPr lang="zh-CN" altLang="en-US" sz="2800" baseline="-25000" dirty="0">
              <a:latin typeface="Times New Roman" panose="02020603050405020304" pitchFamily="18" charset="0"/>
              <a:cs typeface="Times New Roman" panose="02020603050405020304" pitchFamily="18" charset="0"/>
            </a:endParaRPr>
          </a:p>
        </p:txBody>
      </p:sp>
      <p:cxnSp>
        <p:nvCxnSpPr>
          <p:cNvPr id="42" name="直接箭头连接符 41"/>
          <p:cNvCxnSpPr/>
          <p:nvPr/>
        </p:nvCxnSpPr>
        <p:spPr>
          <a:xfrm>
            <a:off x="1383826" y="3255302"/>
            <a:ext cx="72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接箭头连接符 42"/>
          <p:cNvCxnSpPr/>
          <p:nvPr/>
        </p:nvCxnSpPr>
        <p:spPr>
          <a:xfrm>
            <a:off x="2567414" y="3255302"/>
            <a:ext cx="72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4" name="文本框 43"/>
          <p:cNvSpPr txBox="1"/>
          <p:nvPr/>
        </p:nvSpPr>
        <p:spPr>
          <a:xfrm>
            <a:off x="4256703" y="2996120"/>
            <a:ext cx="689612" cy="523220"/>
          </a:xfrm>
          <a:prstGeom prst="rect">
            <a:avLst/>
          </a:prstGeom>
          <a:noFill/>
        </p:spPr>
        <p:txBody>
          <a:bodyPr wrap="none" rtlCol="0">
            <a:spAutoFit/>
          </a:bodyPr>
          <a:lstStyle/>
          <a:p>
            <a:r>
              <a:rPr lang="en-US" altLang="zh-CN" sz="2800" b="1" dirty="0" err="1" smtClean="0">
                <a:latin typeface="Times New Roman" panose="02020603050405020304" pitchFamily="18" charset="0"/>
                <a:cs typeface="Times New Roman" panose="02020603050405020304" pitchFamily="18" charset="0"/>
              </a:rPr>
              <a:t>r</a:t>
            </a:r>
            <a:r>
              <a:rPr lang="en-US" altLang="zh-CN" sz="2800" i="1" baseline="-25000" dirty="0" err="1" smtClean="0">
                <a:latin typeface="Times New Roman" panose="02020603050405020304" pitchFamily="18" charset="0"/>
                <a:cs typeface="Times New Roman" panose="02020603050405020304" pitchFamily="18" charset="0"/>
              </a:rPr>
              <a:t>k</a:t>
            </a:r>
            <a:r>
              <a:rPr lang="en-US" altLang="zh-CN" sz="2800" baseline="-25000" dirty="0" smtClean="0">
                <a:latin typeface="Times New Roman" panose="02020603050405020304" pitchFamily="18" charset="0"/>
                <a:cs typeface="Times New Roman" panose="02020603050405020304" pitchFamily="18" charset="0"/>
              </a:rPr>
              <a:t>–1</a:t>
            </a:r>
            <a:endParaRPr lang="zh-CN" altLang="en-US" sz="2800" baseline="-25000" dirty="0">
              <a:latin typeface="Times New Roman" panose="02020603050405020304" pitchFamily="18" charset="0"/>
              <a:cs typeface="Times New Roman" panose="02020603050405020304" pitchFamily="18" charset="0"/>
            </a:endParaRPr>
          </a:p>
        </p:txBody>
      </p:sp>
      <p:cxnSp>
        <p:nvCxnSpPr>
          <p:cNvPr id="45" name="直接箭头连接符 44"/>
          <p:cNvCxnSpPr/>
          <p:nvPr/>
        </p:nvCxnSpPr>
        <p:spPr>
          <a:xfrm>
            <a:off x="4720291" y="3256469"/>
            <a:ext cx="72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6" name="文本框 45"/>
          <p:cNvSpPr txBox="1"/>
          <p:nvPr/>
        </p:nvSpPr>
        <p:spPr>
          <a:xfrm>
            <a:off x="5440291" y="2995688"/>
            <a:ext cx="463588" cy="523220"/>
          </a:xfrm>
          <a:prstGeom prst="rect">
            <a:avLst/>
          </a:prstGeom>
          <a:noFill/>
        </p:spPr>
        <p:txBody>
          <a:bodyPr wrap="none" rtlCol="0">
            <a:spAutoFit/>
          </a:bodyPr>
          <a:lstStyle/>
          <a:p>
            <a:r>
              <a:rPr lang="en-US" altLang="zh-CN" sz="2800" b="1" dirty="0" err="1" smtClean="0">
                <a:latin typeface="Times New Roman" panose="02020603050405020304" pitchFamily="18" charset="0"/>
                <a:cs typeface="Times New Roman" panose="02020603050405020304" pitchFamily="18" charset="0"/>
              </a:rPr>
              <a:t>r</a:t>
            </a:r>
            <a:r>
              <a:rPr lang="en-US" altLang="zh-CN" sz="2800" i="1" baseline="-25000" dirty="0" err="1" smtClean="0">
                <a:latin typeface="Times New Roman" panose="02020603050405020304" pitchFamily="18" charset="0"/>
                <a:cs typeface="Times New Roman" panose="02020603050405020304" pitchFamily="18" charset="0"/>
              </a:rPr>
              <a:t>k</a:t>
            </a:r>
            <a:endParaRPr lang="zh-CN" altLang="en-US" sz="2800" i="1" baseline="-25000" dirty="0">
              <a:latin typeface="Times New Roman" panose="02020603050405020304" pitchFamily="18" charset="0"/>
              <a:cs typeface="Times New Roman" panose="02020603050405020304" pitchFamily="18" charset="0"/>
            </a:endParaRPr>
          </a:p>
        </p:txBody>
      </p:sp>
      <p:cxnSp>
        <p:nvCxnSpPr>
          <p:cNvPr id="47" name="直接箭头连接符 46"/>
          <p:cNvCxnSpPr/>
          <p:nvPr/>
        </p:nvCxnSpPr>
        <p:spPr>
          <a:xfrm>
            <a:off x="5903879" y="3255302"/>
            <a:ext cx="72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8" name="文本框 47"/>
          <p:cNvSpPr txBox="1"/>
          <p:nvPr/>
        </p:nvSpPr>
        <p:spPr>
          <a:xfrm>
            <a:off x="2103826" y="1884753"/>
            <a:ext cx="484428"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v</a:t>
            </a:r>
            <a:r>
              <a:rPr lang="en-US" altLang="zh-CN" sz="2800" baseline="-25000" dirty="0" smtClean="0">
                <a:latin typeface="Times New Roman" panose="02020603050405020304" pitchFamily="18" charset="0"/>
                <a:cs typeface="Times New Roman" panose="02020603050405020304" pitchFamily="18" charset="0"/>
              </a:rPr>
              <a:t>1</a:t>
            </a:r>
            <a:endParaRPr lang="zh-CN" altLang="en-US" sz="2800" baseline="-25000" dirty="0">
              <a:latin typeface="Times New Roman" panose="02020603050405020304" pitchFamily="18" charset="0"/>
              <a:cs typeface="Times New Roman" panose="02020603050405020304" pitchFamily="18" charset="0"/>
            </a:endParaRPr>
          </a:p>
        </p:txBody>
      </p:sp>
      <p:sp>
        <p:nvSpPr>
          <p:cNvPr id="49" name="文本框 48"/>
          <p:cNvSpPr txBox="1"/>
          <p:nvPr/>
        </p:nvSpPr>
        <p:spPr>
          <a:xfrm>
            <a:off x="4256703" y="1883258"/>
            <a:ext cx="710451" cy="523220"/>
          </a:xfrm>
          <a:prstGeom prst="rect">
            <a:avLst/>
          </a:prstGeom>
          <a:noFill/>
        </p:spPr>
        <p:txBody>
          <a:bodyPr wrap="none" rtlCol="0">
            <a:spAutoFit/>
          </a:bodyPr>
          <a:lstStyle/>
          <a:p>
            <a:r>
              <a:rPr lang="en-US" altLang="zh-CN" sz="2800" b="1" dirty="0" err="1" smtClean="0">
                <a:latin typeface="Times New Roman" panose="02020603050405020304" pitchFamily="18" charset="0"/>
                <a:cs typeface="Times New Roman" panose="02020603050405020304" pitchFamily="18" charset="0"/>
              </a:rPr>
              <a:t>v</a:t>
            </a:r>
            <a:r>
              <a:rPr lang="en-US" altLang="zh-CN" sz="2800" i="1" baseline="-25000" dirty="0" err="1" smtClean="0">
                <a:latin typeface="Times New Roman" panose="02020603050405020304" pitchFamily="18" charset="0"/>
                <a:cs typeface="Times New Roman" panose="02020603050405020304" pitchFamily="18" charset="0"/>
              </a:rPr>
              <a:t>k</a:t>
            </a:r>
            <a:r>
              <a:rPr lang="en-US" altLang="zh-CN" sz="2800" baseline="-25000" dirty="0" smtClean="0">
                <a:latin typeface="Times New Roman" panose="02020603050405020304" pitchFamily="18" charset="0"/>
                <a:cs typeface="Times New Roman" panose="02020603050405020304" pitchFamily="18" charset="0"/>
              </a:rPr>
              <a:t>–1</a:t>
            </a:r>
            <a:endParaRPr lang="zh-CN" altLang="en-US" sz="2800" baseline="-25000" dirty="0">
              <a:latin typeface="Times New Roman" panose="02020603050405020304" pitchFamily="18" charset="0"/>
              <a:cs typeface="Times New Roman" panose="02020603050405020304" pitchFamily="18" charset="0"/>
            </a:endParaRPr>
          </a:p>
        </p:txBody>
      </p:sp>
      <p:cxnSp>
        <p:nvCxnSpPr>
          <p:cNvPr id="50" name="直接箭头连接符 49"/>
          <p:cNvCxnSpPr/>
          <p:nvPr/>
        </p:nvCxnSpPr>
        <p:spPr>
          <a:xfrm>
            <a:off x="4720291" y="2146269"/>
            <a:ext cx="72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1" name="文本框 50"/>
          <p:cNvSpPr txBox="1"/>
          <p:nvPr/>
        </p:nvSpPr>
        <p:spPr>
          <a:xfrm>
            <a:off x="5440291" y="1883258"/>
            <a:ext cx="484428" cy="523220"/>
          </a:xfrm>
          <a:prstGeom prst="rect">
            <a:avLst/>
          </a:prstGeom>
          <a:noFill/>
        </p:spPr>
        <p:txBody>
          <a:bodyPr wrap="none" rtlCol="0">
            <a:spAutoFit/>
          </a:bodyPr>
          <a:lstStyle/>
          <a:p>
            <a:r>
              <a:rPr lang="en-US" altLang="zh-CN" sz="2800" b="1" dirty="0" err="1" smtClean="0">
                <a:latin typeface="Times New Roman" panose="02020603050405020304" pitchFamily="18" charset="0"/>
                <a:cs typeface="Times New Roman" panose="02020603050405020304" pitchFamily="18" charset="0"/>
              </a:rPr>
              <a:t>v</a:t>
            </a:r>
            <a:r>
              <a:rPr lang="en-US" altLang="zh-CN" sz="2800" i="1" baseline="-25000" dirty="0" err="1" smtClean="0">
                <a:latin typeface="Times New Roman" panose="02020603050405020304" pitchFamily="18" charset="0"/>
                <a:cs typeface="Times New Roman" panose="02020603050405020304" pitchFamily="18" charset="0"/>
              </a:rPr>
              <a:t>k</a:t>
            </a:r>
            <a:endParaRPr lang="zh-CN" altLang="en-US" sz="2800" i="1" baseline="-25000" dirty="0">
              <a:latin typeface="Times New Roman" panose="02020603050405020304" pitchFamily="18" charset="0"/>
              <a:cs typeface="Times New Roman" panose="02020603050405020304" pitchFamily="18" charset="0"/>
            </a:endParaRPr>
          </a:p>
        </p:txBody>
      </p:sp>
      <p:cxnSp>
        <p:nvCxnSpPr>
          <p:cNvPr id="52" name="直接箭头连接符 51"/>
          <p:cNvCxnSpPr/>
          <p:nvPr/>
        </p:nvCxnSpPr>
        <p:spPr>
          <a:xfrm>
            <a:off x="5903879" y="2147624"/>
            <a:ext cx="72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3" name="文本框 52"/>
          <p:cNvSpPr txBox="1"/>
          <p:nvPr/>
        </p:nvSpPr>
        <p:spPr>
          <a:xfrm>
            <a:off x="6623879" y="1883258"/>
            <a:ext cx="724878"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v</a:t>
            </a:r>
            <a:r>
              <a:rPr lang="en-US" altLang="zh-CN" sz="2800" i="1" baseline="-25000" dirty="0" smtClean="0">
                <a:latin typeface="Times New Roman" panose="02020603050405020304" pitchFamily="18" charset="0"/>
                <a:cs typeface="Times New Roman" panose="02020603050405020304" pitchFamily="18" charset="0"/>
              </a:rPr>
              <a:t>k</a:t>
            </a:r>
            <a:r>
              <a:rPr lang="en-US" altLang="zh-CN" sz="2800" baseline="-25000" dirty="0" smtClean="0">
                <a:latin typeface="Times New Roman" panose="02020603050405020304" pitchFamily="18" charset="0"/>
                <a:cs typeface="Times New Roman" panose="02020603050405020304" pitchFamily="18" charset="0"/>
              </a:rPr>
              <a:t>+1</a:t>
            </a:r>
            <a:endParaRPr lang="zh-CN" altLang="en-US" sz="2800" baseline="-25000" dirty="0">
              <a:latin typeface="Times New Roman" panose="02020603050405020304" pitchFamily="18" charset="0"/>
              <a:cs typeface="Times New Roman" panose="02020603050405020304" pitchFamily="18" charset="0"/>
            </a:endParaRPr>
          </a:p>
        </p:txBody>
      </p:sp>
      <p:cxnSp>
        <p:nvCxnSpPr>
          <p:cNvPr id="54" name="直接箭头连接符 53"/>
          <p:cNvCxnSpPr/>
          <p:nvPr/>
        </p:nvCxnSpPr>
        <p:spPr>
          <a:xfrm flipV="1">
            <a:off x="1383826" y="2383200"/>
            <a:ext cx="720000" cy="72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直接箭头连接符 54"/>
          <p:cNvCxnSpPr/>
          <p:nvPr/>
        </p:nvCxnSpPr>
        <p:spPr>
          <a:xfrm>
            <a:off x="2567414" y="2145102"/>
            <a:ext cx="72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6" name="直接箭头连接符 55"/>
          <p:cNvCxnSpPr/>
          <p:nvPr/>
        </p:nvCxnSpPr>
        <p:spPr>
          <a:xfrm flipV="1">
            <a:off x="2588254" y="2383200"/>
            <a:ext cx="720000" cy="72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直接箭头连接符 56"/>
          <p:cNvCxnSpPr/>
          <p:nvPr/>
        </p:nvCxnSpPr>
        <p:spPr>
          <a:xfrm flipV="1">
            <a:off x="4729591" y="2383200"/>
            <a:ext cx="720000" cy="72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8" name="直接箭头连接符 57"/>
          <p:cNvCxnSpPr/>
          <p:nvPr/>
        </p:nvCxnSpPr>
        <p:spPr>
          <a:xfrm flipV="1">
            <a:off x="5891269" y="2383200"/>
            <a:ext cx="720000" cy="72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9" name="直接箭头连接符 58"/>
          <p:cNvCxnSpPr/>
          <p:nvPr/>
        </p:nvCxnSpPr>
        <p:spPr>
          <a:xfrm>
            <a:off x="4488497" y="2383200"/>
            <a:ext cx="0" cy="72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直接箭头连接符 59"/>
          <p:cNvCxnSpPr/>
          <p:nvPr/>
        </p:nvCxnSpPr>
        <p:spPr>
          <a:xfrm>
            <a:off x="5672085" y="2383200"/>
            <a:ext cx="0" cy="72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1" name="文本框 60"/>
          <p:cNvSpPr txBox="1"/>
          <p:nvPr/>
        </p:nvSpPr>
        <p:spPr>
          <a:xfrm>
            <a:off x="6614180" y="2995688"/>
            <a:ext cx="704039"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r</a:t>
            </a:r>
            <a:r>
              <a:rPr lang="en-US" altLang="zh-CN" sz="2800" i="1" baseline="-25000" dirty="0" smtClean="0">
                <a:latin typeface="Times New Roman" panose="02020603050405020304" pitchFamily="18" charset="0"/>
                <a:cs typeface="Times New Roman" panose="02020603050405020304" pitchFamily="18" charset="0"/>
              </a:rPr>
              <a:t>k</a:t>
            </a:r>
            <a:r>
              <a:rPr lang="en-US" altLang="zh-CN" sz="2800" baseline="-25000" dirty="0" smtClean="0">
                <a:latin typeface="Times New Roman" panose="02020603050405020304" pitchFamily="18" charset="0"/>
                <a:cs typeface="Times New Roman" panose="02020603050405020304" pitchFamily="18" charset="0"/>
              </a:rPr>
              <a:t>+1</a:t>
            </a:r>
            <a:endParaRPr lang="zh-CN" altLang="en-US" sz="2800" baseline="-25000" dirty="0">
              <a:latin typeface="Times New Roman" panose="02020603050405020304" pitchFamily="18" charset="0"/>
              <a:cs typeface="Times New Roman" panose="02020603050405020304" pitchFamily="18" charset="0"/>
            </a:endParaRPr>
          </a:p>
        </p:txBody>
      </p:sp>
      <p:cxnSp>
        <p:nvCxnSpPr>
          <p:cNvPr id="62" name="直接箭头连接符 61"/>
          <p:cNvCxnSpPr/>
          <p:nvPr/>
        </p:nvCxnSpPr>
        <p:spPr>
          <a:xfrm>
            <a:off x="6840524" y="2383200"/>
            <a:ext cx="0" cy="72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63" name="组合 62"/>
          <p:cNvGrpSpPr/>
          <p:nvPr/>
        </p:nvGrpSpPr>
        <p:grpSpPr>
          <a:xfrm>
            <a:off x="2155124" y="2382826"/>
            <a:ext cx="444352" cy="720000"/>
            <a:chOff x="2155124" y="2382826"/>
            <a:chExt cx="444352" cy="720000"/>
          </a:xfrm>
        </p:grpSpPr>
        <p:cxnSp>
          <p:nvCxnSpPr>
            <p:cNvPr id="64" name="直接箭头连接符 63"/>
            <p:cNvCxnSpPr/>
            <p:nvPr/>
          </p:nvCxnSpPr>
          <p:spPr>
            <a:xfrm>
              <a:off x="2346040" y="2382826"/>
              <a:ext cx="0" cy="72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5" name="文本框 64"/>
            <p:cNvSpPr txBox="1"/>
            <p:nvPr/>
          </p:nvSpPr>
          <p:spPr>
            <a:xfrm>
              <a:off x="2155124" y="2401290"/>
              <a:ext cx="444352"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A</a:t>
              </a:r>
              <a:endParaRPr lang="zh-CN" altLang="en-US" sz="2800" b="1" dirty="0">
                <a:latin typeface="Times New Roman" panose="02020603050405020304" pitchFamily="18" charset="0"/>
                <a:cs typeface="Times New Roman" panose="02020603050405020304" pitchFamily="18" charset="0"/>
              </a:endParaRPr>
            </a:p>
          </p:txBody>
        </p:sp>
      </p:grpSp>
      <p:sp>
        <p:nvSpPr>
          <p:cNvPr id="66" name="文本框 65"/>
          <p:cNvSpPr txBox="1"/>
          <p:nvPr/>
        </p:nvSpPr>
        <p:spPr>
          <a:xfrm>
            <a:off x="4296460" y="2413564"/>
            <a:ext cx="444352"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A</a:t>
            </a:r>
            <a:endParaRPr lang="zh-CN" altLang="en-US" sz="2800" b="1" dirty="0">
              <a:latin typeface="Times New Roman" panose="02020603050405020304" pitchFamily="18" charset="0"/>
              <a:cs typeface="Times New Roman" panose="02020603050405020304" pitchFamily="18" charset="0"/>
            </a:endParaRPr>
          </a:p>
        </p:txBody>
      </p:sp>
      <p:sp>
        <p:nvSpPr>
          <p:cNvPr id="67" name="文本框 66"/>
          <p:cNvSpPr txBox="1"/>
          <p:nvPr/>
        </p:nvSpPr>
        <p:spPr>
          <a:xfrm>
            <a:off x="5480367" y="2403812"/>
            <a:ext cx="444352"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A</a:t>
            </a:r>
            <a:endParaRPr lang="zh-CN" altLang="en-US" sz="2800" b="1" dirty="0">
              <a:latin typeface="Times New Roman" panose="02020603050405020304" pitchFamily="18" charset="0"/>
              <a:cs typeface="Times New Roman" panose="02020603050405020304" pitchFamily="18" charset="0"/>
            </a:endParaRPr>
          </a:p>
        </p:txBody>
      </p:sp>
      <p:sp>
        <p:nvSpPr>
          <p:cNvPr id="68" name="文本框 67"/>
          <p:cNvSpPr txBox="1"/>
          <p:nvPr/>
        </p:nvSpPr>
        <p:spPr>
          <a:xfrm>
            <a:off x="6663955" y="2414919"/>
            <a:ext cx="444352"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A</a:t>
            </a:r>
            <a:endParaRPr lang="zh-CN" altLang="en-US" sz="2800" b="1" dirty="0">
              <a:latin typeface="Times New Roman" panose="02020603050405020304" pitchFamily="18" charset="0"/>
              <a:cs typeface="Times New Roman" panose="02020603050405020304" pitchFamily="18" charset="0"/>
            </a:endParaRPr>
          </a:p>
        </p:txBody>
      </p:sp>
      <p:sp>
        <p:nvSpPr>
          <p:cNvPr id="69" name="文本框 68"/>
          <p:cNvSpPr txBox="1"/>
          <p:nvPr/>
        </p:nvSpPr>
        <p:spPr>
          <a:xfrm>
            <a:off x="3733177" y="2905688"/>
            <a:ext cx="543739"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a:t>
            </a:r>
            <a:endParaRPr lang="zh-CN" altLang="en-US" sz="2800" baseline="-25000" dirty="0">
              <a:latin typeface="Times New Roman" panose="02020603050405020304" pitchFamily="18" charset="0"/>
              <a:cs typeface="Times New Roman" panose="02020603050405020304" pitchFamily="18" charset="0"/>
            </a:endParaRPr>
          </a:p>
        </p:txBody>
      </p:sp>
      <p:sp>
        <p:nvSpPr>
          <p:cNvPr id="70" name="文本框 69"/>
          <p:cNvSpPr txBox="1"/>
          <p:nvPr/>
        </p:nvSpPr>
        <p:spPr>
          <a:xfrm>
            <a:off x="3748265" y="1789658"/>
            <a:ext cx="543739"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a:t>
            </a:r>
            <a:endParaRPr lang="zh-CN" altLang="en-US" sz="2800" baseline="-25000" dirty="0">
              <a:latin typeface="Times New Roman" panose="02020603050405020304" pitchFamily="18" charset="0"/>
              <a:cs typeface="Times New Roman" panose="02020603050405020304" pitchFamily="18" charset="0"/>
            </a:endParaRPr>
          </a:p>
        </p:txBody>
      </p:sp>
      <p:sp>
        <p:nvSpPr>
          <p:cNvPr id="71" name="文本框 70"/>
          <p:cNvSpPr txBox="1"/>
          <p:nvPr/>
        </p:nvSpPr>
        <p:spPr>
          <a:xfrm>
            <a:off x="3296714" y="1883258"/>
            <a:ext cx="484428"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v</a:t>
            </a:r>
            <a:r>
              <a:rPr lang="en-US" altLang="zh-CN" sz="2800" baseline="-25000" dirty="0" smtClean="0">
                <a:latin typeface="Times New Roman" panose="02020603050405020304" pitchFamily="18" charset="0"/>
                <a:cs typeface="Times New Roman" panose="02020603050405020304" pitchFamily="18" charset="0"/>
              </a:rPr>
              <a:t>2</a:t>
            </a:r>
            <a:endParaRPr lang="zh-CN" altLang="en-US" sz="2800" baseline="-25000" dirty="0">
              <a:latin typeface="Times New Roman" panose="02020603050405020304" pitchFamily="18" charset="0"/>
              <a:cs typeface="Times New Roman" panose="02020603050405020304" pitchFamily="18" charset="0"/>
            </a:endParaRPr>
          </a:p>
        </p:txBody>
      </p:sp>
      <p:sp>
        <p:nvSpPr>
          <p:cNvPr id="72" name="文本框 71"/>
          <p:cNvSpPr txBox="1"/>
          <p:nvPr/>
        </p:nvSpPr>
        <p:spPr>
          <a:xfrm>
            <a:off x="3304619" y="2995688"/>
            <a:ext cx="463588"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r</a:t>
            </a:r>
            <a:r>
              <a:rPr lang="en-US" altLang="zh-CN" sz="2800" baseline="-25000" dirty="0" smtClean="0">
                <a:latin typeface="Times New Roman" panose="02020603050405020304" pitchFamily="18" charset="0"/>
                <a:cs typeface="Times New Roman" panose="02020603050405020304" pitchFamily="18" charset="0"/>
              </a:rPr>
              <a:t>2</a:t>
            </a:r>
            <a:endParaRPr lang="zh-CN" altLang="en-US" sz="2800" baseline="-25000" dirty="0">
              <a:latin typeface="Times New Roman" panose="02020603050405020304" pitchFamily="18" charset="0"/>
              <a:cs typeface="Times New Roman" panose="02020603050405020304" pitchFamily="18" charset="0"/>
            </a:endParaRPr>
          </a:p>
        </p:txBody>
      </p:sp>
      <p:grpSp>
        <p:nvGrpSpPr>
          <p:cNvPr id="73" name="组合 72"/>
          <p:cNvGrpSpPr/>
          <p:nvPr/>
        </p:nvGrpSpPr>
        <p:grpSpPr>
          <a:xfrm>
            <a:off x="3337062" y="2382826"/>
            <a:ext cx="444352" cy="720000"/>
            <a:chOff x="3337062" y="2382826"/>
            <a:chExt cx="444352" cy="720000"/>
          </a:xfrm>
        </p:grpSpPr>
        <p:cxnSp>
          <p:nvCxnSpPr>
            <p:cNvPr id="74" name="直接箭头连接符 73"/>
            <p:cNvCxnSpPr/>
            <p:nvPr/>
          </p:nvCxnSpPr>
          <p:spPr>
            <a:xfrm>
              <a:off x="3527978" y="2382826"/>
              <a:ext cx="0" cy="72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5" name="文本框 74"/>
            <p:cNvSpPr txBox="1"/>
            <p:nvPr/>
          </p:nvSpPr>
          <p:spPr>
            <a:xfrm>
              <a:off x="3337062" y="2401290"/>
              <a:ext cx="444352"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A</a:t>
              </a:r>
              <a:endParaRPr lang="zh-CN" altLang="en-US" sz="2800" b="1" dirty="0">
                <a:latin typeface="Times New Roman" panose="02020603050405020304" pitchFamily="18" charset="0"/>
                <a:cs typeface="Times New Roman" panose="02020603050405020304" pitchFamily="18" charset="0"/>
              </a:endParaRPr>
            </a:p>
          </p:txBody>
        </p:sp>
      </p:grpSp>
      <p:sp>
        <p:nvSpPr>
          <p:cNvPr id="76" name="文本框 75"/>
          <p:cNvSpPr txBox="1"/>
          <p:nvPr/>
        </p:nvSpPr>
        <p:spPr>
          <a:xfrm>
            <a:off x="7268021" y="1788347"/>
            <a:ext cx="543739"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a:t>
            </a:r>
            <a:endParaRPr lang="zh-CN" altLang="en-US" sz="2800" baseline="-25000" dirty="0">
              <a:latin typeface="Times New Roman" panose="02020603050405020304" pitchFamily="18" charset="0"/>
              <a:cs typeface="Times New Roman" panose="02020603050405020304" pitchFamily="18" charset="0"/>
            </a:endParaRPr>
          </a:p>
        </p:txBody>
      </p:sp>
      <p:sp>
        <p:nvSpPr>
          <p:cNvPr id="77" name="文本框 76"/>
          <p:cNvSpPr txBox="1"/>
          <p:nvPr/>
        </p:nvSpPr>
        <p:spPr>
          <a:xfrm>
            <a:off x="7320910" y="2905963"/>
            <a:ext cx="543739"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a:t>
            </a:r>
            <a:endParaRPr lang="zh-CN" altLang="en-US" sz="2800" baseline="-25000" dirty="0">
              <a:latin typeface="Times New Roman" panose="02020603050405020304" pitchFamily="18" charset="0"/>
              <a:cs typeface="Times New Roman" panose="02020603050405020304" pitchFamily="18" charset="0"/>
            </a:endParaRPr>
          </a:p>
        </p:txBody>
      </p:sp>
    </p:spTree>
    <p:custDataLst>
      <p:tags r:id="rId1"/>
    </p:custDataLst>
    <p:extLst>
      <p:ext uri="{BB962C8B-B14F-4D97-AF65-F5344CB8AC3E}">
        <p14:creationId xmlns:p14="http://schemas.microsoft.com/office/powerpoint/2010/main" val="33853838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宋体" panose="02010600030101010101" pitchFamily="2" charset="-122"/>
                <a:ea typeface="宋体" panose="02010600030101010101" pitchFamily="2" charset="-122"/>
              </a:rPr>
              <a:t>关键变量的关系</a:t>
            </a:r>
            <a:endParaRPr lang="zh-CN" altLang="en-US" dirty="0">
              <a:latin typeface="宋体" panose="02010600030101010101" pitchFamily="2" charset="-122"/>
              <a:ea typeface="宋体" panose="02010600030101010101" pitchFamily="2" charset="-122"/>
            </a:endParaRPr>
          </a:p>
        </p:txBody>
      </p:sp>
      <p:sp>
        <p:nvSpPr>
          <p:cNvPr id="3" name="内容占位符 2"/>
          <p:cNvSpPr>
            <a:spLocks noGrp="1"/>
          </p:cNvSpPr>
          <p:nvPr>
            <p:ph idx="1"/>
          </p:nvPr>
        </p:nvSpPr>
        <p:spPr>
          <a:xfrm>
            <a:off x="628650" y="3734347"/>
            <a:ext cx="7886700" cy="2442616"/>
          </a:xfrm>
        </p:spPr>
        <p:txBody>
          <a:bodyPr>
            <a:normAutofit/>
          </a:bodyPr>
          <a:lstStyle/>
          <a:p>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在前面的链式构造中</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上方的链</a:t>
            </a: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v</a:t>
            </a:r>
            <a:r>
              <a:rPr lang="en-US" altLang="zh-CN" baseline="-25000" dirty="0" smtClean="0">
                <a:latin typeface="Times New Roman" panose="02020603050405020304" pitchFamily="18" charset="0"/>
                <a:ea typeface="楷体" panose="02010609060101010101" pitchFamily="49" charset="-122"/>
                <a:cs typeface="Times New Roman" panose="02020603050405020304" pitchFamily="18" charset="0"/>
              </a:rPr>
              <a:t>1</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a:t>
            </a: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v</a:t>
            </a:r>
            <a:r>
              <a:rPr lang="en-US" altLang="zh-CN" baseline="-25000" dirty="0" smtClean="0">
                <a:latin typeface="Times New Roman" panose="02020603050405020304" pitchFamily="18" charset="0"/>
                <a:ea typeface="楷体" panose="02010609060101010101" pitchFamily="49" charset="-122"/>
                <a:cs typeface="Times New Roman" panose="02020603050405020304" pitchFamily="18" charset="0"/>
              </a:rPr>
              <a:t>2</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 </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v</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两两共轭</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下方的链</a:t>
            </a: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r</a:t>
            </a:r>
            <a:r>
              <a:rPr lang="en-US" altLang="zh-CN" baseline="-25000" dirty="0" smtClean="0">
                <a:latin typeface="Times New Roman" panose="02020603050405020304" pitchFamily="18" charset="0"/>
                <a:ea typeface="楷体" panose="02010609060101010101" pitchFamily="49" charset="-122"/>
                <a:cs typeface="Times New Roman" panose="02020603050405020304" pitchFamily="18" charset="0"/>
              </a:rPr>
              <a:t>0</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a:t>
            </a: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r</a:t>
            </a:r>
            <a:r>
              <a:rPr lang="en-US" altLang="zh-CN" baseline="-25000" dirty="0" smtClean="0">
                <a:latin typeface="Times New Roman" panose="02020603050405020304" pitchFamily="18" charset="0"/>
                <a:ea typeface="楷体" panose="02010609060101010101" pitchFamily="49" charset="-122"/>
                <a:cs typeface="Times New Roman" panose="02020603050405020304" pitchFamily="18" charset="0"/>
              </a:rPr>
              <a:t>1</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 </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r</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两两垂直</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在</a:t>
            </a:r>
            <a:r>
              <a:rPr lang="en-US" altLang="zh-CN" i="1" dirty="0" smtClean="0">
                <a:latin typeface="Times New Roman" panose="02020603050405020304" pitchFamily="18" charset="0"/>
                <a:ea typeface="楷体" panose="02010609060101010101" pitchFamily="49" charset="-122"/>
                <a:cs typeface="Times New Roman" panose="02020603050405020304" pitchFamily="18" charset="0"/>
              </a:rPr>
              <a:t>n</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维空间中，至多有</a:t>
            </a:r>
            <a:r>
              <a:rPr lang="en-US" altLang="zh-CN" i="1" dirty="0" smtClean="0">
                <a:latin typeface="Times New Roman" panose="02020603050405020304" pitchFamily="18" charset="0"/>
                <a:ea typeface="楷体" panose="02010609060101010101" pitchFamily="49" charset="-122"/>
                <a:cs typeface="Times New Roman" panose="02020603050405020304" pitchFamily="18" charset="0"/>
              </a:rPr>
              <a:t>n</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个两两垂直的向量</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0" name="文本框 39"/>
          <p:cNvSpPr txBox="1"/>
          <p:nvPr/>
        </p:nvSpPr>
        <p:spPr>
          <a:xfrm>
            <a:off x="958444" y="2994953"/>
            <a:ext cx="463588" cy="523220"/>
          </a:xfrm>
          <a:prstGeom prst="rect">
            <a:avLst/>
          </a:prstGeom>
          <a:noFill/>
        </p:spPr>
        <p:txBody>
          <a:bodyPr wrap="none" rtlCol="0">
            <a:spAutoFit/>
          </a:bodyPr>
          <a:lstStyle/>
          <a:p>
            <a:pPr algn="ctr"/>
            <a:r>
              <a:rPr lang="en-US" altLang="zh-CN" sz="2800" b="1" dirty="0" smtClean="0">
                <a:latin typeface="Times New Roman" panose="02020603050405020304" pitchFamily="18" charset="0"/>
                <a:cs typeface="Times New Roman" panose="02020603050405020304" pitchFamily="18" charset="0"/>
              </a:rPr>
              <a:t>r</a:t>
            </a:r>
            <a:r>
              <a:rPr lang="en-US" altLang="zh-CN" sz="2800" baseline="-25000" dirty="0" smtClean="0">
                <a:latin typeface="Times New Roman" panose="02020603050405020304" pitchFamily="18" charset="0"/>
                <a:cs typeface="Times New Roman" panose="02020603050405020304" pitchFamily="18" charset="0"/>
              </a:rPr>
              <a:t>0</a:t>
            </a:r>
            <a:endParaRPr lang="zh-CN" altLang="en-US" sz="2800" baseline="-25000" dirty="0">
              <a:latin typeface="Times New Roman" panose="02020603050405020304" pitchFamily="18" charset="0"/>
              <a:cs typeface="Times New Roman" panose="02020603050405020304" pitchFamily="18" charset="0"/>
            </a:endParaRPr>
          </a:p>
        </p:txBody>
      </p:sp>
      <p:sp>
        <p:nvSpPr>
          <p:cNvPr id="41" name="文本框 40"/>
          <p:cNvSpPr txBox="1"/>
          <p:nvPr/>
        </p:nvSpPr>
        <p:spPr>
          <a:xfrm>
            <a:off x="2103826" y="2994953"/>
            <a:ext cx="463588"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r</a:t>
            </a:r>
            <a:r>
              <a:rPr lang="en-US" altLang="zh-CN" sz="2800" baseline="-25000" dirty="0" smtClean="0">
                <a:latin typeface="Times New Roman" panose="02020603050405020304" pitchFamily="18" charset="0"/>
                <a:cs typeface="Times New Roman" panose="02020603050405020304" pitchFamily="18" charset="0"/>
              </a:rPr>
              <a:t>1</a:t>
            </a:r>
            <a:endParaRPr lang="zh-CN" altLang="en-US" sz="2800" baseline="-25000" dirty="0">
              <a:latin typeface="Times New Roman" panose="02020603050405020304" pitchFamily="18" charset="0"/>
              <a:cs typeface="Times New Roman" panose="02020603050405020304" pitchFamily="18" charset="0"/>
            </a:endParaRPr>
          </a:p>
        </p:txBody>
      </p:sp>
      <p:cxnSp>
        <p:nvCxnSpPr>
          <p:cNvPr id="42" name="直接箭头连接符 41"/>
          <p:cNvCxnSpPr/>
          <p:nvPr/>
        </p:nvCxnSpPr>
        <p:spPr>
          <a:xfrm>
            <a:off x="1383826" y="3255302"/>
            <a:ext cx="72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接箭头连接符 42"/>
          <p:cNvCxnSpPr/>
          <p:nvPr/>
        </p:nvCxnSpPr>
        <p:spPr>
          <a:xfrm>
            <a:off x="2567414" y="3255302"/>
            <a:ext cx="72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4" name="文本框 43"/>
          <p:cNvSpPr txBox="1"/>
          <p:nvPr/>
        </p:nvSpPr>
        <p:spPr>
          <a:xfrm>
            <a:off x="4256703" y="2996120"/>
            <a:ext cx="689612" cy="523220"/>
          </a:xfrm>
          <a:prstGeom prst="rect">
            <a:avLst/>
          </a:prstGeom>
          <a:noFill/>
        </p:spPr>
        <p:txBody>
          <a:bodyPr wrap="none" rtlCol="0">
            <a:spAutoFit/>
          </a:bodyPr>
          <a:lstStyle/>
          <a:p>
            <a:r>
              <a:rPr lang="en-US" altLang="zh-CN" sz="2800" b="1" dirty="0" err="1" smtClean="0">
                <a:latin typeface="Times New Roman" panose="02020603050405020304" pitchFamily="18" charset="0"/>
                <a:cs typeface="Times New Roman" panose="02020603050405020304" pitchFamily="18" charset="0"/>
              </a:rPr>
              <a:t>r</a:t>
            </a:r>
            <a:r>
              <a:rPr lang="en-US" altLang="zh-CN" sz="2800" i="1" baseline="-25000" dirty="0" err="1" smtClean="0">
                <a:latin typeface="Times New Roman" panose="02020603050405020304" pitchFamily="18" charset="0"/>
                <a:cs typeface="Times New Roman" panose="02020603050405020304" pitchFamily="18" charset="0"/>
              </a:rPr>
              <a:t>k</a:t>
            </a:r>
            <a:r>
              <a:rPr lang="en-US" altLang="zh-CN" sz="2800" baseline="-25000" dirty="0" smtClean="0">
                <a:latin typeface="Times New Roman" panose="02020603050405020304" pitchFamily="18" charset="0"/>
                <a:cs typeface="Times New Roman" panose="02020603050405020304" pitchFamily="18" charset="0"/>
              </a:rPr>
              <a:t>–1</a:t>
            </a:r>
            <a:endParaRPr lang="zh-CN" altLang="en-US" sz="2800" baseline="-25000" dirty="0">
              <a:latin typeface="Times New Roman" panose="02020603050405020304" pitchFamily="18" charset="0"/>
              <a:cs typeface="Times New Roman" panose="02020603050405020304" pitchFamily="18" charset="0"/>
            </a:endParaRPr>
          </a:p>
        </p:txBody>
      </p:sp>
      <p:cxnSp>
        <p:nvCxnSpPr>
          <p:cNvPr id="45" name="直接箭头连接符 44"/>
          <p:cNvCxnSpPr/>
          <p:nvPr/>
        </p:nvCxnSpPr>
        <p:spPr>
          <a:xfrm>
            <a:off x="4720291" y="3256469"/>
            <a:ext cx="72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6" name="文本框 45"/>
          <p:cNvSpPr txBox="1"/>
          <p:nvPr/>
        </p:nvSpPr>
        <p:spPr>
          <a:xfrm>
            <a:off x="5440291" y="2995688"/>
            <a:ext cx="463588" cy="523220"/>
          </a:xfrm>
          <a:prstGeom prst="rect">
            <a:avLst/>
          </a:prstGeom>
          <a:noFill/>
        </p:spPr>
        <p:txBody>
          <a:bodyPr wrap="none" rtlCol="0">
            <a:spAutoFit/>
          </a:bodyPr>
          <a:lstStyle/>
          <a:p>
            <a:r>
              <a:rPr lang="en-US" altLang="zh-CN" sz="2800" b="1" dirty="0" err="1" smtClean="0">
                <a:latin typeface="Times New Roman" panose="02020603050405020304" pitchFamily="18" charset="0"/>
                <a:cs typeface="Times New Roman" panose="02020603050405020304" pitchFamily="18" charset="0"/>
              </a:rPr>
              <a:t>r</a:t>
            </a:r>
            <a:r>
              <a:rPr lang="en-US" altLang="zh-CN" sz="2800" i="1" baseline="-25000" dirty="0" err="1" smtClean="0">
                <a:latin typeface="Times New Roman" panose="02020603050405020304" pitchFamily="18" charset="0"/>
                <a:cs typeface="Times New Roman" panose="02020603050405020304" pitchFamily="18" charset="0"/>
              </a:rPr>
              <a:t>k</a:t>
            </a:r>
            <a:endParaRPr lang="zh-CN" altLang="en-US" sz="2800" i="1" baseline="-25000" dirty="0">
              <a:latin typeface="Times New Roman" panose="02020603050405020304" pitchFamily="18" charset="0"/>
              <a:cs typeface="Times New Roman" panose="02020603050405020304" pitchFamily="18" charset="0"/>
            </a:endParaRPr>
          </a:p>
        </p:txBody>
      </p:sp>
      <p:cxnSp>
        <p:nvCxnSpPr>
          <p:cNvPr id="47" name="直接箭头连接符 46"/>
          <p:cNvCxnSpPr/>
          <p:nvPr/>
        </p:nvCxnSpPr>
        <p:spPr>
          <a:xfrm>
            <a:off x="5903879" y="3255302"/>
            <a:ext cx="72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8" name="文本框 47"/>
          <p:cNvSpPr txBox="1"/>
          <p:nvPr/>
        </p:nvSpPr>
        <p:spPr>
          <a:xfrm>
            <a:off x="2103826" y="1884753"/>
            <a:ext cx="484428"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v</a:t>
            </a:r>
            <a:r>
              <a:rPr lang="en-US" altLang="zh-CN" sz="2800" baseline="-25000" dirty="0" smtClean="0">
                <a:latin typeface="Times New Roman" panose="02020603050405020304" pitchFamily="18" charset="0"/>
                <a:cs typeface="Times New Roman" panose="02020603050405020304" pitchFamily="18" charset="0"/>
              </a:rPr>
              <a:t>1</a:t>
            </a:r>
            <a:endParaRPr lang="zh-CN" altLang="en-US" sz="2800" baseline="-25000" dirty="0">
              <a:latin typeface="Times New Roman" panose="02020603050405020304" pitchFamily="18" charset="0"/>
              <a:cs typeface="Times New Roman" panose="02020603050405020304" pitchFamily="18" charset="0"/>
            </a:endParaRPr>
          </a:p>
        </p:txBody>
      </p:sp>
      <p:sp>
        <p:nvSpPr>
          <p:cNvPr id="49" name="文本框 48"/>
          <p:cNvSpPr txBox="1"/>
          <p:nvPr/>
        </p:nvSpPr>
        <p:spPr>
          <a:xfrm>
            <a:off x="4256703" y="1883258"/>
            <a:ext cx="710451" cy="523220"/>
          </a:xfrm>
          <a:prstGeom prst="rect">
            <a:avLst/>
          </a:prstGeom>
          <a:noFill/>
        </p:spPr>
        <p:txBody>
          <a:bodyPr wrap="none" rtlCol="0">
            <a:spAutoFit/>
          </a:bodyPr>
          <a:lstStyle/>
          <a:p>
            <a:r>
              <a:rPr lang="en-US" altLang="zh-CN" sz="2800" b="1" dirty="0" err="1" smtClean="0">
                <a:latin typeface="Times New Roman" panose="02020603050405020304" pitchFamily="18" charset="0"/>
                <a:cs typeface="Times New Roman" panose="02020603050405020304" pitchFamily="18" charset="0"/>
              </a:rPr>
              <a:t>v</a:t>
            </a:r>
            <a:r>
              <a:rPr lang="en-US" altLang="zh-CN" sz="2800" i="1" baseline="-25000" dirty="0" err="1" smtClean="0">
                <a:latin typeface="Times New Roman" panose="02020603050405020304" pitchFamily="18" charset="0"/>
                <a:cs typeface="Times New Roman" panose="02020603050405020304" pitchFamily="18" charset="0"/>
              </a:rPr>
              <a:t>k</a:t>
            </a:r>
            <a:r>
              <a:rPr lang="en-US" altLang="zh-CN" sz="2800" baseline="-25000" dirty="0" smtClean="0">
                <a:latin typeface="Times New Roman" panose="02020603050405020304" pitchFamily="18" charset="0"/>
                <a:cs typeface="Times New Roman" panose="02020603050405020304" pitchFamily="18" charset="0"/>
              </a:rPr>
              <a:t>–1</a:t>
            </a:r>
            <a:endParaRPr lang="zh-CN" altLang="en-US" sz="2800" baseline="-25000" dirty="0">
              <a:latin typeface="Times New Roman" panose="02020603050405020304" pitchFamily="18" charset="0"/>
              <a:cs typeface="Times New Roman" panose="02020603050405020304" pitchFamily="18" charset="0"/>
            </a:endParaRPr>
          </a:p>
        </p:txBody>
      </p:sp>
      <p:cxnSp>
        <p:nvCxnSpPr>
          <p:cNvPr id="50" name="直接箭头连接符 49"/>
          <p:cNvCxnSpPr/>
          <p:nvPr/>
        </p:nvCxnSpPr>
        <p:spPr>
          <a:xfrm>
            <a:off x="4720291" y="2146269"/>
            <a:ext cx="72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1" name="文本框 50"/>
          <p:cNvSpPr txBox="1"/>
          <p:nvPr/>
        </p:nvSpPr>
        <p:spPr>
          <a:xfrm>
            <a:off x="5440291" y="1883258"/>
            <a:ext cx="484428" cy="523220"/>
          </a:xfrm>
          <a:prstGeom prst="rect">
            <a:avLst/>
          </a:prstGeom>
          <a:noFill/>
        </p:spPr>
        <p:txBody>
          <a:bodyPr wrap="none" rtlCol="0">
            <a:spAutoFit/>
          </a:bodyPr>
          <a:lstStyle/>
          <a:p>
            <a:r>
              <a:rPr lang="en-US" altLang="zh-CN" sz="2800" b="1" dirty="0" err="1" smtClean="0">
                <a:latin typeface="Times New Roman" panose="02020603050405020304" pitchFamily="18" charset="0"/>
                <a:cs typeface="Times New Roman" panose="02020603050405020304" pitchFamily="18" charset="0"/>
              </a:rPr>
              <a:t>v</a:t>
            </a:r>
            <a:r>
              <a:rPr lang="en-US" altLang="zh-CN" sz="2800" i="1" baseline="-25000" dirty="0" err="1" smtClean="0">
                <a:latin typeface="Times New Roman" panose="02020603050405020304" pitchFamily="18" charset="0"/>
                <a:cs typeface="Times New Roman" panose="02020603050405020304" pitchFamily="18" charset="0"/>
              </a:rPr>
              <a:t>k</a:t>
            </a:r>
            <a:endParaRPr lang="zh-CN" altLang="en-US" sz="2800" i="1" baseline="-25000" dirty="0">
              <a:latin typeface="Times New Roman" panose="02020603050405020304" pitchFamily="18" charset="0"/>
              <a:cs typeface="Times New Roman" panose="02020603050405020304" pitchFamily="18" charset="0"/>
            </a:endParaRPr>
          </a:p>
        </p:txBody>
      </p:sp>
      <p:cxnSp>
        <p:nvCxnSpPr>
          <p:cNvPr id="52" name="直接箭头连接符 51"/>
          <p:cNvCxnSpPr/>
          <p:nvPr/>
        </p:nvCxnSpPr>
        <p:spPr>
          <a:xfrm>
            <a:off x="5903879" y="2147624"/>
            <a:ext cx="72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3" name="文本框 52"/>
          <p:cNvSpPr txBox="1"/>
          <p:nvPr/>
        </p:nvSpPr>
        <p:spPr>
          <a:xfrm>
            <a:off x="6623879" y="1883258"/>
            <a:ext cx="724878"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v</a:t>
            </a:r>
            <a:r>
              <a:rPr lang="en-US" altLang="zh-CN" sz="2800" i="1" baseline="-25000" dirty="0" smtClean="0">
                <a:latin typeface="Times New Roman" panose="02020603050405020304" pitchFamily="18" charset="0"/>
                <a:cs typeface="Times New Roman" panose="02020603050405020304" pitchFamily="18" charset="0"/>
              </a:rPr>
              <a:t>k</a:t>
            </a:r>
            <a:r>
              <a:rPr lang="en-US" altLang="zh-CN" sz="2800" baseline="-25000" dirty="0" smtClean="0">
                <a:latin typeface="Times New Roman" panose="02020603050405020304" pitchFamily="18" charset="0"/>
                <a:cs typeface="Times New Roman" panose="02020603050405020304" pitchFamily="18" charset="0"/>
              </a:rPr>
              <a:t>+1</a:t>
            </a:r>
            <a:endParaRPr lang="zh-CN" altLang="en-US" sz="2800" baseline="-25000" dirty="0">
              <a:latin typeface="Times New Roman" panose="02020603050405020304" pitchFamily="18" charset="0"/>
              <a:cs typeface="Times New Roman" panose="02020603050405020304" pitchFamily="18" charset="0"/>
            </a:endParaRPr>
          </a:p>
        </p:txBody>
      </p:sp>
      <p:cxnSp>
        <p:nvCxnSpPr>
          <p:cNvPr id="54" name="直接箭头连接符 53"/>
          <p:cNvCxnSpPr/>
          <p:nvPr/>
        </p:nvCxnSpPr>
        <p:spPr>
          <a:xfrm flipV="1">
            <a:off x="1383826" y="2383200"/>
            <a:ext cx="720000" cy="72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直接箭头连接符 54"/>
          <p:cNvCxnSpPr/>
          <p:nvPr/>
        </p:nvCxnSpPr>
        <p:spPr>
          <a:xfrm>
            <a:off x="2567414" y="2145102"/>
            <a:ext cx="72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6" name="直接箭头连接符 55"/>
          <p:cNvCxnSpPr/>
          <p:nvPr/>
        </p:nvCxnSpPr>
        <p:spPr>
          <a:xfrm flipV="1">
            <a:off x="2588254" y="2383200"/>
            <a:ext cx="720000" cy="72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直接箭头连接符 56"/>
          <p:cNvCxnSpPr/>
          <p:nvPr/>
        </p:nvCxnSpPr>
        <p:spPr>
          <a:xfrm flipV="1">
            <a:off x="4729591" y="2383200"/>
            <a:ext cx="720000" cy="72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8" name="直接箭头连接符 57"/>
          <p:cNvCxnSpPr/>
          <p:nvPr/>
        </p:nvCxnSpPr>
        <p:spPr>
          <a:xfrm flipV="1">
            <a:off x="5891269" y="2383200"/>
            <a:ext cx="720000" cy="72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9" name="直接箭头连接符 58"/>
          <p:cNvCxnSpPr/>
          <p:nvPr/>
        </p:nvCxnSpPr>
        <p:spPr>
          <a:xfrm>
            <a:off x="4488497" y="2383200"/>
            <a:ext cx="0" cy="72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直接箭头连接符 59"/>
          <p:cNvCxnSpPr/>
          <p:nvPr/>
        </p:nvCxnSpPr>
        <p:spPr>
          <a:xfrm>
            <a:off x="5672085" y="2383200"/>
            <a:ext cx="0" cy="72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1" name="文本框 60"/>
          <p:cNvSpPr txBox="1"/>
          <p:nvPr/>
        </p:nvSpPr>
        <p:spPr>
          <a:xfrm>
            <a:off x="6614180" y="2995688"/>
            <a:ext cx="704039"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r</a:t>
            </a:r>
            <a:r>
              <a:rPr lang="en-US" altLang="zh-CN" sz="2800" i="1" baseline="-25000" dirty="0" smtClean="0">
                <a:latin typeface="Times New Roman" panose="02020603050405020304" pitchFamily="18" charset="0"/>
                <a:cs typeface="Times New Roman" panose="02020603050405020304" pitchFamily="18" charset="0"/>
              </a:rPr>
              <a:t>k</a:t>
            </a:r>
            <a:r>
              <a:rPr lang="en-US" altLang="zh-CN" sz="2800" baseline="-25000" dirty="0" smtClean="0">
                <a:latin typeface="Times New Roman" panose="02020603050405020304" pitchFamily="18" charset="0"/>
                <a:cs typeface="Times New Roman" panose="02020603050405020304" pitchFamily="18" charset="0"/>
              </a:rPr>
              <a:t>+1</a:t>
            </a:r>
            <a:endParaRPr lang="zh-CN" altLang="en-US" sz="2800" baseline="-25000" dirty="0">
              <a:latin typeface="Times New Roman" panose="02020603050405020304" pitchFamily="18" charset="0"/>
              <a:cs typeface="Times New Roman" panose="02020603050405020304" pitchFamily="18" charset="0"/>
            </a:endParaRPr>
          </a:p>
        </p:txBody>
      </p:sp>
      <p:cxnSp>
        <p:nvCxnSpPr>
          <p:cNvPr id="62" name="直接箭头连接符 61"/>
          <p:cNvCxnSpPr/>
          <p:nvPr/>
        </p:nvCxnSpPr>
        <p:spPr>
          <a:xfrm>
            <a:off x="6840524" y="2383200"/>
            <a:ext cx="0" cy="72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63" name="组合 62"/>
          <p:cNvGrpSpPr/>
          <p:nvPr/>
        </p:nvGrpSpPr>
        <p:grpSpPr>
          <a:xfrm>
            <a:off x="2155124" y="2382826"/>
            <a:ext cx="444352" cy="720000"/>
            <a:chOff x="2155124" y="2382826"/>
            <a:chExt cx="444352" cy="720000"/>
          </a:xfrm>
        </p:grpSpPr>
        <p:cxnSp>
          <p:nvCxnSpPr>
            <p:cNvPr id="64" name="直接箭头连接符 63"/>
            <p:cNvCxnSpPr/>
            <p:nvPr/>
          </p:nvCxnSpPr>
          <p:spPr>
            <a:xfrm>
              <a:off x="2346040" y="2382826"/>
              <a:ext cx="0" cy="72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5" name="文本框 64"/>
            <p:cNvSpPr txBox="1"/>
            <p:nvPr/>
          </p:nvSpPr>
          <p:spPr>
            <a:xfrm>
              <a:off x="2155124" y="2401290"/>
              <a:ext cx="444352"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A</a:t>
              </a:r>
              <a:endParaRPr lang="zh-CN" altLang="en-US" sz="2800" b="1" dirty="0">
                <a:latin typeface="Times New Roman" panose="02020603050405020304" pitchFamily="18" charset="0"/>
                <a:cs typeface="Times New Roman" panose="02020603050405020304" pitchFamily="18" charset="0"/>
              </a:endParaRPr>
            </a:p>
          </p:txBody>
        </p:sp>
      </p:grpSp>
      <p:sp>
        <p:nvSpPr>
          <p:cNvPr id="66" name="文本框 65"/>
          <p:cNvSpPr txBox="1"/>
          <p:nvPr/>
        </p:nvSpPr>
        <p:spPr>
          <a:xfrm>
            <a:off x="4296460" y="2413564"/>
            <a:ext cx="444352"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A</a:t>
            </a:r>
            <a:endParaRPr lang="zh-CN" altLang="en-US" sz="2800" b="1" dirty="0">
              <a:latin typeface="Times New Roman" panose="02020603050405020304" pitchFamily="18" charset="0"/>
              <a:cs typeface="Times New Roman" panose="02020603050405020304" pitchFamily="18" charset="0"/>
            </a:endParaRPr>
          </a:p>
        </p:txBody>
      </p:sp>
      <p:sp>
        <p:nvSpPr>
          <p:cNvPr id="67" name="文本框 66"/>
          <p:cNvSpPr txBox="1"/>
          <p:nvPr/>
        </p:nvSpPr>
        <p:spPr>
          <a:xfrm>
            <a:off x="5480367" y="2403812"/>
            <a:ext cx="444352"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A</a:t>
            </a:r>
            <a:endParaRPr lang="zh-CN" altLang="en-US" sz="2800" b="1" dirty="0">
              <a:latin typeface="Times New Roman" panose="02020603050405020304" pitchFamily="18" charset="0"/>
              <a:cs typeface="Times New Roman" panose="02020603050405020304" pitchFamily="18" charset="0"/>
            </a:endParaRPr>
          </a:p>
        </p:txBody>
      </p:sp>
      <p:sp>
        <p:nvSpPr>
          <p:cNvPr id="68" name="文本框 67"/>
          <p:cNvSpPr txBox="1"/>
          <p:nvPr/>
        </p:nvSpPr>
        <p:spPr>
          <a:xfrm>
            <a:off x="6663955" y="2414919"/>
            <a:ext cx="444352"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A</a:t>
            </a:r>
            <a:endParaRPr lang="zh-CN" altLang="en-US" sz="2800" b="1" dirty="0">
              <a:latin typeface="Times New Roman" panose="02020603050405020304" pitchFamily="18" charset="0"/>
              <a:cs typeface="Times New Roman" panose="02020603050405020304" pitchFamily="18" charset="0"/>
            </a:endParaRPr>
          </a:p>
        </p:txBody>
      </p:sp>
      <p:sp>
        <p:nvSpPr>
          <p:cNvPr id="69" name="文本框 68"/>
          <p:cNvSpPr txBox="1"/>
          <p:nvPr/>
        </p:nvSpPr>
        <p:spPr>
          <a:xfrm>
            <a:off x="3733177" y="2905688"/>
            <a:ext cx="543739"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a:t>
            </a:r>
            <a:endParaRPr lang="zh-CN" altLang="en-US" sz="2800" baseline="-25000" dirty="0">
              <a:latin typeface="Times New Roman" panose="02020603050405020304" pitchFamily="18" charset="0"/>
              <a:cs typeface="Times New Roman" panose="02020603050405020304" pitchFamily="18" charset="0"/>
            </a:endParaRPr>
          </a:p>
        </p:txBody>
      </p:sp>
      <p:sp>
        <p:nvSpPr>
          <p:cNvPr id="70" name="文本框 69"/>
          <p:cNvSpPr txBox="1"/>
          <p:nvPr/>
        </p:nvSpPr>
        <p:spPr>
          <a:xfrm>
            <a:off x="3748265" y="1789658"/>
            <a:ext cx="543739"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a:t>
            </a:r>
            <a:endParaRPr lang="zh-CN" altLang="en-US" sz="2800" baseline="-25000" dirty="0">
              <a:latin typeface="Times New Roman" panose="02020603050405020304" pitchFamily="18" charset="0"/>
              <a:cs typeface="Times New Roman" panose="02020603050405020304" pitchFamily="18" charset="0"/>
            </a:endParaRPr>
          </a:p>
        </p:txBody>
      </p:sp>
      <p:sp>
        <p:nvSpPr>
          <p:cNvPr id="71" name="文本框 70"/>
          <p:cNvSpPr txBox="1"/>
          <p:nvPr/>
        </p:nvSpPr>
        <p:spPr>
          <a:xfrm>
            <a:off x="3296714" y="1883258"/>
            <a:ext cx="484428"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v</a:t>
            </a:r>
            <a:r>
              <a:rPr lang="en-US" altLang="zh-CN" sz="2800" baseline="-25000" dirty="0" smtClean="0">
                <a:latin typeface="Times New Roman" panose="02020603050405020304" pitchFamily="18" charset="0"/>
                <a:cs typeface="Times New Roman" panose="02020603050405020304" pitchFamily="18" charset="0"/>
              </a:rPr>
              <a:t>2</a:t>
            </a:r>
            <a:endParaRPr lang="zh-CN" altLang="en-US" sz="2800" baseline="-25000" dirty="0">
              <a:latin typeface="Times New Roman" panose="02020603050405020304" pitchFamily="18" charset="0"/>
              <a:cs typeface="Times New Roman" panose="02020603050405020304" pitchFamily="18" charset="0"/>
            </a:endParaRPr>
          </a:p>
        </p:txBody>
      </p:sp>
      <p:sp>
        <p:nvSpPr>
          <p:cNvPr id="72" name="文本框 71"/>
          <p:cNvSpPr txBox="1"/>
          <p:nvPr/>
        </p:nvSpPr>
        <p:spPr>
          <a:xfrm>
            <a:off x="3304619" y="2995688"/>
            <a:ext cx="463588"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r</a:t>
            </a:r>
            <a:r>
              <a:rPr lang="en-US" altLang="zh-CN" sz="2800" baseline="-25000" dirty="0" smtClean="0">
                <a:latin typeface="Times New Roman" panose="02020603050405020304" pitchFamily="18" charset="0"/>
                <a:cs typeface="Times New Roman" panose="02020603050405020304" pitchFamily="18" charset="0"/>
              </a:rPr>
              <a:t>2</a:t>
            </a:r>
            <a:endParaRPr lang="zh-CN" altLang="en-US" sz="2800" baseline="-25000" dirty="0">
              <a:latin typeface="Times New Roman" panose="02020603050405020304" pitchFamily="18" charset="0"/>
              <a:cs typeface="Times New Roman" panose="02020603050405020304" pitchFamily="18" charset="0"/>
            </a:endParaRPr>
          </a:p>
        </p:txBody>
      </p:sp>
      <p:grpSp>
        <p:nvGrpSpPr>
          <p:cNvPr id="73" name="组合 72"/>
          <p:cNvGrpSpPr/>
          <p:nvPr/>
        </p:nvGrpSpPr>
        <p:grpSpPr>
          <a:xfrm>
            <a:off x="3337062" y="2382826"/>
            <a:ext cx="444352" cy="720000"/>
            <a:chOff x="3337062" y="2382826"/>
            <a:chExt cx="444352" cy="720000"/>
          </a:xfrm>
        </p:grpSpPr>
        <p:cxnSp>
          <p:nvCxnSpPr>
            <p:cNvPr id="74" name="直接箭头连接符 73"/>
            <p:cNvCxnSpPr/>
            <p:nvPr/>
          </p:nvCxnSpPr>
          <p:spPr>
            <a:xfrm>
              <a:off x="3527978" y="2382826"/>
              <a:ext cx="0" cy="72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5" name="文本框 74"/>
            <p:cNvSpPr txBox="1"/>
            <p:nvPr/>
          </p:nvSpPr>
          <p:spPr>
            <a:xfrm>
              <a:off x="3337062" y="2401290"/>
              <a:ext cx="444352"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A</a:t>
              </a:r>
              <a:endParaRPr lang="zh-CN" altLang="en-US" sz="2800" b="1" dirty="0">
                <a:latin typeface="Times New Roman" panose="02020603050405020304" pitchFamily="18" charset="0"/>
                <a:cs typeface="Times New Roman" panose="02020603050405020304" pitchFamily="18" charset="0"/>
              </a:endParaRPr>
            </a:p>
          </p:txBody>
        </p:sp>
      </p:grpSp>
      <p:sp>
        <p:nvSpPr>
          <p:cNvPr id="76" name="文本框 75"/>
          <p:cNvSpPr txBox="1"/>
          <p:nvPr/>
        </p:nvSpPr>
        <p:spPr>
          <a:xfrm>
            <a:off x="7268021" y="1788347"/>
            <a:ext cx="543739"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a:t>
            </a:r>
            <a:endParaRPr lang="zh-CN" altLang="en-US" sz="2800" baseline="-25000" dirty="0">
              <a:latin typeface="Times New Roman" panose="02020603050405020304" pitchFamily="18" charset="0"/>
              <a:cs typeface="Times New Roman" panose="02020603050405020304" pitchFamily="18" charset="0"/>
            </a:endParaRPr>
          </a:p>
        </p:txBody>
      </p:sp>
      <p:sp>
        <p:nvSpPr>
          <p:cNvPr id="77" name="文本框 76"/>
          <p:cNvSpPr txBox="1"/>
          <p:nvPr/>
        </p:nvSpPr>
        <p:spPr>
          <a:xfrm>
            <a:off x="7320910" y="2905963"/>
            <a:ext cx="543739"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a:t>
            </a:r>
            <a:endParaRPr lang="zh-CN" altLang="en-US" sz="2800" baseline="-25000" dirty="0">
              <a:latin typeface="Times New Roman" panose="02020603050405020304" pitchFamily="18" charset="0"/>
              <a:cs typeface="Times New Roman" panose="02020603050405020304" pitchFamily="18" charset="0"/>
            </a:endParaRPr>
          </a:p>
        </p:txBody>
      </p:sp>
    </p:spTree>
    <p:custDataLst>
      <p:tags r:id="rId1"/>
    </p:custDataLst>
    <p:extLst>
      <p:ext uri="{BB962C8B-B14F-4D97-AF65-F5344CB8AC3E}">
        <p14:creationId xmlns:p14="http://schemas.microsoft.com/office/powerpoint/2010/main" val="2263244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custDataLst>
              <p:tags r:id="rId2"/>
            </p:custDataLst>
          </p:nvPr>
        </p:nvSpPr>
        <p:spPr>
          <a:xfrm>
            <a:off x="914400" y="1264602"/>
            <a:ext cx="7240905" cy="883920"/>
          </a:xfrm>
          <a:prstGeom prst="rect">
            <a:avLst/>
          </a:prstGeom>
          <a:noFill/>
          <a:ln w="12700">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14:hiddenLine>
            </a:ext>
          </a:extLst>
        </p:spPr>
        <p:txBody>
          <a:bodyPr vert="horz" wrap="square" rtlCol="0" anchor="ctr">
            <a:spAutoFit/>
          </a:bodyPr>
          <a:lstStyle/>
          <a:p>
            <a:r>
              <a:rPr lang="zh-CN" altLang="en-US" sz="26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sym typeface="Microsoft Yahei" panose="020B0503020204020204" pitchFamily="34" charset="-122"/>
              </a:rPr>
              <a:t>在共轭梯度法中，向量链</a:t>
            </a:r>
            <a:r>
              <a:rPr lang="en-US" altLang="zh-CN" sz="2600" b="1"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sym typeface="Microsoft Yahei" panose="020B0503020204020204" pitchFamily="34" charset="-122"/>
              </a:rPr>
              <a:t>v</a:t>
            </a:r>
            <a:r>
              <a:rPr lang="en-US" altLang="zh-CN" sz="26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sym typeface="Microsoft Yahei" panose="020B0503020204020204" pitchFamily="34" charset="-122"/>
              </a:rPr>
              <a:t>₁, </a:t>
            </a:r>
            <a:r>
              <a:rPr lang="en-US" altLang="zh-CN" sz="2600" b="1"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sym typeface="Microsoft Yahei" panose="020B0503020204020204" pitchFamily="34" charset="-122"/>
              </a:rPr>
              <a:t>v</a:t>
            </a:r>
            <a:r>
              <a:rPr lang="en-US" altLang="zh-CN" sz="26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sym typeface="Microsoft Yahei" panose="020B0503020204020204" pitchFamily="34" charset="-122"/>
              </a:rPr>
              <a:t>₂, ..., </a:t>
            </a:r>
            <a:r>
              <a:rPr lang="en-US" altLang="zh-CN" sz="2600" b="1"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sym typeface="Microsoft Yahei" panose="020B0503020204020204" pitchFamily="34" charset="-122"/>
              </a:rPr>
              <a:t>v</a:t>
            </a:r>
            <a:r>
              <a:rPr lang="en-US" altLang="zh-CN" sz="2600" i="1"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sym typeface="Microsoft Yahei" panose="020B0503020204020204" pitchFamily="34" charset="-122"/>
              </a:rPr>
              <a:t>ₖ</a:t>
            </a:r>
            <a:r>
              <a:rPr lang="en-US" altLang="zh-CN" sz="26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sym typeface="Microsoft Yahei" panose="020B0503020204020204" pitchFamily="34" charset="-122"/>
              </a:rPr>
              <a:t>, ...</a:t>
            </a:r>
            <a:r>
              <a:rPr lang="zh-CN" altLang="en-US" sz="26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sym typeface="Microsoft Yahei" panose="020B0503020204020204" pitchFamily="34" charset="-122"/>
              </a:rPr>
              <a:t>具有什么性质</a:t>
            </a:r>
            <a:r>
              <a:rPr lang="en-US" altLang="zh-CN" sz="26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sym typeface="Microsoft Yahei" panose="020B0503020204020204" pitchFamily="34" charset="-122"/>
              </a:rPr>
              <a:t>?</a:t>
            </a:r>
            <a:endParaRPr lang="zh-CN" altLang="en-US" sz="2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sym typeface="Microsoft Yahei" panose="020B0503020204020204" pitchFamily="34" charset="-122"/>
            </a:endParaRPr>
          </a:p>
        </p:txBody>
      </p:sp>
      <p:sp>
        <p:nvSpPr>
          <p:cNvPr id="11" name="文本框 10"/>
          <p:cNvSpPr txBox="1"/>
          <p:nvPr>
            <p:custDataLst>
              <p:tags r:id="rId3"/>
            </p:custDataLst>
          </p:nvPr>
        </p:nvSpPr>
        <p:spPr>
          <a:xfrm>
            <a:off x="1828800" y="2863691"/>
            <a:ext cx="1602105" cy="487680"/>
          </a:xfrm>
          <a:prstGeom prst="rect">
            <a:avLst/>
          </a:prstGeom>
          <a:noFill/>
          <a:ln w="12700">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14:hiddenLine>
            </a:ext>
          </a:extLst>
        </p:spPr>
        <p:txBody>
          <a:bodyPr vert="horz" wrap="square" rtlCol="0" anchor="ctr">
            <a:spAutoFit/>
          </a:bodyPr>
          <a:lstStyle/>
          <a:p>
            <a:r>
              <a:rPr lang="zh-CN" altLang="en-US" sz="260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sym typeface="Microsoft Yahei" panose="020B0503020204020204" pitchFamily="34" charset="-122"/>
              </a:rPr>
              <a:t>两两共轭</a:t>
            </a:r>
            <a:endParaRPr lang="zh-CN" altLang="en-US" sz="2600">
              <a:solidFill>
                <a:srgbClr val="000000"/>
              </a:solidFill>
              <a:latin typeface="Times New Roman" panose="02020603050405020304" pitchFamily="18" charset="0"/>
              <a:ea typeface="楷体" panose="02010609060101010101" pitchFamily="49" charset="-122"/>
              <a:cs typeface="Times New Roman" panose="02020603050405020304" pitchFamily="18" charset="0"/>
              <a:sym typeface="Microsoft Yahei" panose="020B0503020204020204" pitchFamily="34" charset="-122"/>
            </a:endParaRPr>
          </a:p>
        </p:txBody>
      </p:sp>
      <p:sp>
        <p:nvSpPr>
          <p:cNvPr id="12" name="椭圆 11"/>
          <p:cNvSpPr>
            <a:spLocks noChangeAspect="1"/>
          </p:cNvSpPr>
          <p:nvPr>
            <p:custDataLst>
              <p:tags r:id="rId4"/>
            </p:custDataLst>
          </p:nvPr>
        </p:nvSpPr>
        <p:spPr>
          <a:xfrm>
            <a:off x="1114425" y="285035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Times New Roman" panose="02020603050405020304" pitchFamily="18" charset="0"/>
                <a:ea typeface="楷体" panose="02010609060101010101" pitchFamily="49" charset="-122"/>
                <a:cs typeface="Times New Roman" panose="02020603050405020304" pitchFamily="18" charset="0"/>
                <a:sym typeface="Microsoft Yahei" panose="020B0503020204020204" pitchFamily="34" charset="-122"/>
              </a:rPr>
              <a:t>A</a:t>
            </a:r>
            <a:endParaRPr lang="zh-CN" altLang="en-US" sz="1600">
              <a:solidFill>
                <a:srgbClr val="FFFFFF"/>
              </a:solidFill>
              <a:latin typeface="Times New Roman" panose="02020603050405020304" pitchFamily="18" charset="0"/>
              <a:ea typeface="楷体" panose="02010609060101010101" pitchFamily="49" charset="-122"/>
              <a:cs typeface="Times New Roman" panose="02020603050405020304" pitchFamily="18" charset="0"/>
              <a:sym typeface="Microsoft Yahei" panose="020B0503020204020204" pitchFamily="34" charset="-122"/>
            </a:endParaRPr>
          </a:p>
        </p:txBody>
      </p:sp>
      <p:sp>
        <p:nvSpPr>
          <p:cNvPr id="13" name="文本框 12"/>
          <p:cNvSpPr txBox="1"/>
          <p:nvPr>
            <p:custDataLst>
              <p:tags r:id="rId5"/>
            </p:custDataLst>
          </p:nvPr>
        </p:nvSpPr>
        <p:spPr>
          <a:xfrm>
            <a:off x="1828800" y="3720941"/>
            <a:ext cx="1602105" cy="487680"/>
          </a:xfrm>
          <a:prstGeom prst="rect">
            <a:avLst/>
          </a:prstGeom>
          <a:noFill/>
          <a:ln w="12700">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14:hiddenLine>
            </a:ext>
          </a:extLst>
        </p:spPr>
        <p:txBody>
          <a:bodyPr vert="horz" wrap="square" rtlCol="0" anchor="ctr">
            <a:spAutoFit/>
          </a:bodyPr>
          <a:lstStyle/>
          <a:p>
            <a:r>
              <a:rPr lang="zh-CN" altLang="en-US" sz="260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sym typeface="Microsoft Yahei" panose="020B0503020204020204" pitchFamily="34" charset="-122"/>
              </a:rPr>
              <a:t>两两垂直</a:t>
            </a:r>
            <a:endParaRPr lang="zh-CN" altLang="en-US" sz="2600">
              <a:solidFill>
                <a:srgbClr val="000000"/>
              </a:solidFill>
              <a:latin typeface="Times New Roman" panose="02020603050405020304" pitchFamily="18" charset="0"/>
              <a:ea typeface="楷体" panose="02010609060101010101" pitchFamily="49" charset="-122"/>
              <a:cs typeface="Times New Roman" panose="02020603050405020304" pitchFamily="18" charset="0"/>
              <a:sym typeface="Microsoft Yahei" panose="020B0503020204020204" pitchFamily="34" charset="-122"/>
            </a:endParaRPr>
          </a:p>
        </p:txBody>
      </p:sp>
      <p:sp>
        <p:nvSpPr>
          <p:cNvPr id="14" name="椭圆 13"/>
          <p:cNvSpPr>
            <a:spLocks noChangeAspect="1"/>
          </p:cNvSpPr>
          <p:nvPr>
            <p:custDataLst>
              <p:tags r:id="rId6"/>
            </p:custDataLst>
          </p:nvPr>
        </p:nvSpPr>
        <p:spPr>
          <a:xfrm>
            <a:off x="1114425" y="37076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Times New Roman" panose="02020603050405020304" pitchFamily="18" charset="0"/>
                <a:ea typeface="楷体" panose="02010609060101010101" pitchFamily="49" charset="-122"/>
                <a:cs typeface="Times New Roman" panose="02020603050405020304" pitchFamily="18" charset="0"/>
                <a:sym typeface="Microsoft Yahei" panose="020B0503020204020204" pitchFamily="34" charset="-122"/>
              </a:rPr>
              <a:t>B</a:t>
            </a:r>
            <a:endParaRPr lang="zh-CN" altLang="en-US" sz="1600">
              <a:solidFill>
                <a:srgbClr val="FFFFFF"/>
              </a:solidFill>
              <a:latin typeface="Times New Roman" panose="02020603050405020304" pitchFamily="18" charset="0"/>
              <a:ea typeface="楷体" panose="02010609060101010101" pitchFamily="49" charset="-122"/>
              <a:cs typeface="Times New Roman" panose="02020603050405020304" pitchFamily="18" charset="0"/>
              <a:sym typeface="Microsoft Yahei" panose="020B0503020204020204" pitchFamily="34" charset="-122"/>
            </a:endParaRPr>
          </a:p>
        </p:txBody>
      </p:sp>
      <p:sp>
        <p:nvSpPr>
          <p:cNvPr id="15" name="文本框 14"/>
          <p:cNvSpPr txBox="1"/>
          <p:nvPr>
            <p:custDataLst>
              <p:tags r:id="rId7"/>
            </p:custDataLst>
          </p:nvPr>
        </p:nvSpPr>
        <p:spPr>
          <a:xfrm>
            <a:off x="1828800" y="4578191"/>
            <a:ext cx="1602105" cy="487680"/>
          </a:xfrm>
          <a:prstGeom prst="rect">
            <a:avLst/>
          </a:prstGeom>
          <a:noFill/>
          <a:ln w="12700">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14:hiddenLine>
            </a:ext>
          </a:extLst>
        </p:spPr>
        <p:txBody>
          <a:bodyPr vert="horz" wrap="square" rtlCol="0" anchor="ctr">
            <a:spAutoFit/>
          </a:bodyPr>
          <a:lstStyle/>
          <a:p>
            <a:r>
              <a:rPr lang="zh-CN" altLang="en-US" sz="260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sym typeface="Microsoft Yahei" panose="020B0503020204020204" pitchFamily="34" charset="-122"/>
              </a:rPr>
              <a:t>全部平行</a:t>
            </a:r>
            <a:endParaRPr lang="zh-CN" altLang="en-US" sz="2600">
              <a:solidFill>
                <a:srgbClr val="000000"/>
              </a:solidFill>
              <a:latin typeface="Times New Roman" panose="02020603050405020304" pitchFamily="18" charset="0"/>
              <a:ea typeface="楷体" panose="02010609060101010101" pitchFamily="49" charset="-122"/>
              <a:cs typeface="Times New Roman" panose="02020603050405020304" pitchFamily="18" charset="0"/>
              <a:sym typeface="Microsoft Yahei" panose="020B0503020204020204" pitchFamily="34" charset="-122"/>
            </a:endParaRPr>
          </a:p>
        </p:txBody>
      </p:sp>
      <p:sp>
        <p:nvSpPr>
          <p:cNvPr id="16" name="椭圆 15"/>
          <p:cNvSpPr>
            <a:spLocks noChangeAspect="1"/>
          </p:cNvSpPr>
          <p:nvPr>
            <p:custDataLst>
              <p:tags r:id="rId8"/>
            </p:custDataLst>
          </p:nvPr>
        </p:nvSpPr>
        <p:spPr>
          <a:xfrm>
            <a:off x="1114425" y="45648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Times New Roman" panose="02020603050405020304" pitchFamily="18" charset="0"/>
                <a:ea typeface="楷体" panose="02010609060101010101" pitchFamily="49" charset="-122"/>
                <a:cs typeface="Times New Roman" panose="02020603050405020304" pitchFamily="18" charset="0"/>
                <a:sym typeface="Microsoft Yahei" panose="020B0503020204020204" pitchFamily="34" charset="-122"/>
              </a:rPr>
              <a:t>C</a:t>
            </a:r>
            <a:endParaRPr lang="zh-CN" altLang="en-US" sz="1600">
              <a:solidFill>
                <a:srgbClr val="FFFFFF"/>
              </a:solidFill>
              <a:latin typeface="Times New Roman" panose="02020603050405020304" pitchFamily="18" charset="0"/>
              <a:ea typeface="楷体" panose="02010609060101010101" pitchFamily="49" charset="-122"/>
              <a:cs typeface="Times New Roman" panose="02020603050405020304" pitchFamily="18" charset="0"/>
              <a:sym typeface="Microsoft Yahei" panose="020B0503020204020204" pitchFamily="34" charset="-122"/>
            </a:endParaRPr>
          </a:p>
        </p:txBody>
      </p:sp>
      <p:sp>
        <p:nvSpPr>
          <p:cNvPr id="17" name="文本框 16"/>
          <p:cNvSpPr txBox="1"/>
          <p:nvPr>
            <p:custDataLst>
              <p:tags r:id="rId9"/>
            </p:custDataLst>
          </p:nvPr>
        </p:nvSpPr>
        <p:spPr>
          <a:xfrm>
            <a:off x="1828800" y="5435441"/>
            <a:ext cx="1602105" cy="487680"/>
          </a:xfrm>
          <a:prstGeom prst="rect">
            <a:avLst/>
          </a:prstGeom>
          <a:noFill/>
          <a:ln w="12700">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14:hiddenLine>
            </a:ext>
          </a:extLst>
        </p:spPr>
        <p:txBody>
          <a:bodyPr vert="horz" wrap="square" rtlCol="0" anchor="ctr">
            <a:spAutoFit/>
          </a:bodyPr>
          <a:lstStyle/>
          <a:p>
            <a:r>
              <a:rPr lang="zh-CN" altLang="en-US" sz="260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sym typeface="Microsoft Yahei" panose="020B0503020204020204" pitchFamily="34" charset="-122"/>
              </a:rPr>
              <a:t>全部相等</a:t>
            </a:r>
            <a:endParaRPr lang="zh-CN" altLang="en-US" sz="2600">
              <a:solidFill>
                <a:srgbClr val="000000"/>
              </a:solidFill>
              <a:latin typeface="Times New Roman" panose="02020603050405020304" pitchFamily="18" charset="0"/>
              <a:ea typeface="楷体" panose="02010609060101010101" pitchFamily="49" charset="-122"/>
              <a:cs typeface="Times New Roman" panose="02020603050405020304" pitchFamily="18" charset="0"/>
              <a:sym typeface="Microsoft Yahei" panose="020B0503020204020204" pitchFamily="34" charset="-122"/>
            </a:endParaRPr>
          </a:p>
        </p:txBody>
      </p:sp>
      <p:sp>
        <p:nvSpPr>
          <p:cNvPr id="18" name="椭圆 17"/>
          <p:cNvSpPr>
            <a:spLocks noChangeAspect="1"/>
          </p:cNvSpPr>
          <p:nvPr>
            <p:custDataLst>
              <p:tags r:id="rId10"/>
            </p:custDataLst>
          </p:nvPr>
        </p:nvSpPr>
        <p:spPr>
          <a:xfrm>
            <a:off x="1114425" y="54221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Times New Roman" panose="02020603050405020304" pitchFamily="18" charset="0"/>
                <a:ea typeface="楷体" panose="02010609060101010101" pitchFamily="49" charset="-122"/>
                <a:cs typeface="Times New Roman" panose="02020603050405020304" pitchFamily="18" charset="0"/>
                <a:sym typeface="Microsoft Yahei" panose="020B0503020204020204" pitchFamily="34" charset="-122"/>
              </a:rPr>
              <a:t>D</a:t>
            </a:r>
            <a:endParaRPr lang="zh-CN" altLang="en-US" sz="1600">
              <a:solidFill>
                <a:srgbClr val="FFFFFF"/>
              </a:solidFill>
              <a:latin typeface="Times New Roman" panose="02020603050405020304" pitchFamily="18" charset="0"/>
              <a:ea typeface="楷体" panose="02010609060101010101" pitchFamily="49" charset="-122"/>
              <a:cs typeface="Times New Roman" panose="02020603050405020304" pitchFamily="18" charset="0"/>
              <a:sym typeface="Microsoft Yahei" panose="020B0503020204020204" pitchFamily="34" charset="-122"/>
            </a:endParaRPr>
          </a:p>
        </p:txBody>
      </p:sp>
      <p:sp>
        <p:nvSpPr>
          <p:cNvPr id="19" name="圆角矩形 18"/>
          <p:cNvSpPr/>
          <p:nvPr>
            <p:custDataLst>
              <p:tags r:id="rId11"/>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9" name="组合 8"/>
          <p:cNvGrpSpPr/>
          <p:nvPr>
            <p:custDataLst>
              <p:tags r:id="rId12"/>
            </p:custDataLst>
          </p:nvPr>
        </p:nvGrpSpPr>
        <p:grpSpPr>
          <a:xfrm>
            <a:off x="0" y="0"/>
            <a:ext cx="9144000" cy="635000"/>
            <a:chOff x="0" y="0"/>
            <a:chExt cx="9144000" cy="635000"/>
          </a:xfrm>
        </p:grpSpPr>
        <p:sp>
          <p:nvSpPr>
            <p:cNvPr id="5" name="TitleBackground"/>
            <p:cNvSpPr/>
            <p:nvPr>
              <p:custDataLst>
                <p:tags r:id="rId14"/>
              </p:custDataLst>
            </p:nvPr>
          </p:nvSpPr>
          <p:spPr>
            <a:xfrm>
              <a:off x="0" y="0"/>
              <a:ext cx="9144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endPar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endPar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4" name="图片 3"/>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3229035469"/>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宋体" panose="02010600030101010101" pitchFamily="2" charset="-122"/>
                <a:ea typeface="宋体" panose="02010600030101010101" pitchFamily="2" charset="-122"/>
              </a:rPr>
              <a:t>关键变量的关系</a:t>
            </a:r>
            <a:endParaRPr lang="zh-CN" altLang="en-US" dirty="0">
              <a:latin typeface="宋体" panose="02010600030101010101" pitchFamily="2" charset="-122"/>
              <a:ea typeface="宋体" panose="02010600030101010101" pitchFamily="2" charset="-122"/>
            </a:endParaRPr>
          </a:p>
        </p:txBody>
      </p:sp>
      <p:sp>
        <p:nvSpPr>
          <p:cNvPr id="3" name="内容占位符 2"/>
          <p:cNvSpPr>
            <a:spLocks noGrp="1"/>
          </p:cNvSpPr>
          <p:nvPr>
            <p:ph idx="1"/>
          </p:nvPr>
        </p:nvSpPr>
        <p:spPr>
          <a:xfrm>
            <a:off x="628650" y="3734347"/>
            <a:ext cx="7886700" cy="2442616"/>
          </a:xfrm>
        </p:spPr>
        <p:txBody>
          <a:bodyPr>
            <a:normAutofit/>
          </a:bodyPr>
          <a:lstStyle/>
          <a:p>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因而从</a:t>
            </a: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r</a:t>
            </a:r>
            <a:r>
              <a:rPr lang="en-US" altLang="zh-CN" baseline="-25000" dirty="0" smtClean="0">
                <a:latin typeface="Times New Roman" panose="02020603050405020304" pitchFamily="18" charset="0"/>
                <a:ea typeface="楷体" panose="02010609060101010101" pitchFamily="49" charset="-122"/>
                <a:cs typeface="Times New Roman" panose="02020603050405020304" pitchFamily="18" charset="0"/>
              </a:rPr>
              <a:t>0</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a:t>
            </a: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r</a:t>
            </a:r>
            <a:r>
              <a:rPr lang="en-US" altLang="zh-CN" baseline="-25000" dirty="0" smtClean="0">
                <a:latin typeface="Times New Roman" panose="02020603050405020304" pitchFamily="18" charset="0"/>
                <a:ea typeface="楷体" panose="02010609060101010101" pitchFamily="49" charset="-122"/>
                <a:cs typeface="Times New Roman" panose="02020603050405020304" pitchFamily="18" charset="0"/>
              </a:rPr>
              <a:t>1</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 </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r</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n</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中，存在</a:t>
            </a:r>
            <a:r>
              <a:rPr lang="en-US" altLang="zh-CN" i="1" dirty="0">
                <a:latin typeface="Times New Roman" panose="02020603050405020304" pitchFamily="18" charset="0"/>
                <a:ea typeface="楷体" panose="02010609060101010101" pitchFamily="49" charset="-122"/>
                <a:cs typeface="Times New Roman" panose="02020603050405020304" pitchFamily="18" charset="0"/>
              </a:rPr>
              <a:t>m</a:t>
            </a:r>
            <a:r>
              <a:rPr lang="en-US" altLang="zh-CN"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i="1" dirty="0" smtClean="0">
                <a:latin typeface="Times New Roman" panose="02020603050405020304" pitchFamily="18" charset="0"/>
                <a:ea typeface="楷体" panose="02010609060101010101" pitchFamily="49" charset="-122"/>
                <a:cs typeface="Times New Roman" panose="02020603050405020304" pitchFamily="18" charset="0"/>
              </a:rPr>
              <a:t>n</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，满足</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r</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m</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 </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0</a:t>
            </a:r>
          </a:p>
          <a:p>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即</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pPr marL="0" indent="0" algn="ctr">
              <a:buNone/>
            </a:pP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b</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 </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Ax</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m</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 0</a:t>
            </a:r>
          </a:p>
          <a:p>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这说明从理论上，共轭梯度迭代不超过</a:t>
            </a:r>
            <a:r>
              <a:rPr lang="en-US" altLang="zh-CN" i="1" dirty="0" smtClean="0">
                <a:latin typeface="Times New Roman" panose="02020603050405020304" pitchFamily="18" charset="0"/>
                <a:ea typeface="楷体" panose="02010609060101010101" pitchFamily="49" charset="-122"/>
                <a:cs typeface="Times New Roman" panose="02020603050405020304" pitchFamily="18" charset="0"/>
              </a:rPr>
              <a:t>n</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步即收敛于精确解</a:t>
            </a:r>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0" name="文本框 39"/>
          <p:cNvSpPr txBox="1"/>
          <p:nvPr/>
        </p:nvSpPr>
        <p:spPr>
          <a:xfrm>
            <a:off x="958444" y="2994953"/>
            <a:ext cx="463588" cy="523220"/>
          </a:xfrm>
          <a:prstGeom prst="rect">
            <a:avLst/>
          </a:prstGeom>
          <a:noFill/>
        </p:spPr>
        <p:txBody>
          <a:bodyPr wrap="none" rtlCol="0">
            <a:spAutoFit/>
          </a:bodyPr>
          <a:lstStyle/>
          <a:p>
            <a:pPr algn="ctr"/>
            <a:r>
              <a:rPr lang="en-US" altLang="zh-CN" sz="2800" b="1" dirty="0" smtClean="0">
                <a:latin typeface="Times New Roman" panose="02020603050405020304" pitchFamily="18" charset="0"/>
                <a:cs typeface="Times New Roman" panose="02020603050405020304" pitchFamily="18" charset="0"/>
              </a:rPr>
              <a:t>r</a:t>
            </a:r>
            <a:r>
              <a:rPr lang="en-US" altLang="zh-CN" sz="2800" baseline="-25000" dirty="0" smtClean="0">
                <a:latin typeface="Times New Roman" panose="02020603050405020304" pitchFamily="18" charset="0"/>
                <a:cs typeface="Times New Roman" panose="02020603050405020304" pitchFamily="18" charset="0"/>
              </a:rPr>
              <a:t>0</a:t>
            </a:r>
            <a:endParaRPr lang="zh-CN" altLang="en-US" sz="2800" baseline="-25000" dirty="0">
              <a:latin typeface="Times New Roman" panose="02020603050405020304" pitchFamily="18" charset="0"/>
              <a:cs typeface="Times New Roman" panose="02020603050405020304" pitchFamily="18" charset="0"/>
            </a:endParaRPr>
          </a:p>
        </p:txBody>
      </p:sp>
      <p:sp>
        <p:nvSpPr>
          <p:cNvPr id="41" name="文本框 40"/>
          <p:cNvSpPr txBox="1"/>
          <p:nvPr/>
        </p:nvSpPr>
        <p:spPr>
          <a:xfrm>
            <a:off x="2103826" y="2994953"/>
            <a:ext cx="463588"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r</a:t>
            </a:r>
            <a:r>
              <a:rPr lang="en-US" altLang="zh-CN" sz="2800" baseline="-25000" dirty="0" smtClean="0">
                <a:latin typeface="Times New Roman" panose="02020603050405020304" pitchFamily="18" charset="0"/>
                <a:cs typeface="Times New Roman" panose="02020603050405020304" pitchFamily="18" charset="0"/>
              </a:rPr>
              <a:t>1</a:t>
            </a:r>
            <a:endParaRPr lang="zh-CN" altLang="en-US" sz="2800" baseline="-25000" dirty="0">
              <a:latin typeface="Times New Roman" panose="02020603050405020304" pitchFamily="18" charset="0"/>
              <a:cs typeface="Times New Roman" panose="02020603050405020304" pitchFamily="18" charset="0"/>
            </a:endParaRPr>
          </a:p>
        </p:txBody>
      </p:sp>
      <p:cxnSp>
        <p:nvCxnSpPr>
          <p:cNvPr id="42" name="直接箭头连接符 41"/>
          <p:cNvCxnSpPr/>
          <p:nvPr/>
        </p:nvCxnSpPr>
        <p:spPr>
          <a:xfrm>
            <a:off x="1383826" y="3255302"/>
            <a:ext cx="72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接箭头连接符 42"/>
          <p:cNvCxnSpPr/>
          <p:nvPr/>
        </p:nvCxnSpPr>
        <p:spPr>
          <a:xfrm>
            <a:off x="2567414" y="3255302"/>
            <a:ext cx="72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4" name="文本框 43"/>
          <p:cNvSpPr txBox="1"/>
          <p:nvPr/>
        </p:nvSpPr>
        <p:spPr>
          <a:xfrm>
            <a:off x="4256703" y="2996120"/>
            <a:ext cx="689612" cy="523220"/>
          </a:xfrm>
          <a:prstGeom prst="rect">
            <a:avLst/>
          </a:prstGeom>
          <a:noFill/>
        </p:spPr>
        <p:txBody>
          <a:bodyPr wrap="none" rtlCol="0">
            <a:spAutoFit/>
          </a:bodyPr>
          <a:lstStyle/>
          <a:p>
            <a:r>
              <a:rPr lang="en-US" altLang="zh-CN" sz="2800" b="1" dirty="0" err="1" smtClean="0">
                <a:latin typeface="Times New Roman" panose="02020603050405020304" pitchFamily="18" charset="0"/>
                <a:cs typeface="Times New Roman" panose="02020603050405020304" pitchFamily="18" charset="0"/>
              </a:rPr>
              <a:t>r</a:t>
            </a:r>
            <a:r>
              <a:rPr lang="en-US" altLang="zh-CN" sz="2800" i="1" baseline="-25000" dirty="0" err="1" smtClean="0">
                <a:latin typeface="Times New Roman" panose="02020603050405020304" pitchFamily="18" charset="0"/>
                <a:cs typeface="Times New Roman" panose="02020603050405020304" pitchFamily="18" charset="0"/>
              </a:rPr>
              <a:t>k</a:t>
            </a:r>
            <a:r>
              <a:rPr lang="en-US" altLang="zh-CN" sz="2800" baseline="-25000" dirty="0" smtClean="0">
                <a:latin typeface="Times New Roman" panose="02020603050405020304" pitchFamily="18" charset="0"/>
                <a:cs typeface="Times New Roman" panose="02020603050405020304" pitchFamily="18" charset="0"/>
              </a:rPr>
              <a:t>–1</a:t>
            </a:r>
            <a:endParaRPr lang="zh-CN" altLang="en-US" sz="2800" baseline="-25000" dirty="0">
              <a:latin typeface="Times New Roman" panose="02020603050405020304" pitchFamily="18" charset="0"/>
              <a:cs typeface="Times New Roman" panose="02020603050405020304" pitchFamily="18" charset="0"/>
            </a:endParaRPr>
          </a:p>
        </p:txBody>
      </p:sp>
      <p:cxnSp>
        <p:nvCxnSpPr>
          <p:cNvPr id="45" name="直接箭头连接符 44"/>
          <p:cNvCxnSpPr/>
          <p:nvPr/>
        </p:nvCxnSpPr>
        <p:spPr>
          <a:xfrm>
            <a:off x="4720291" y="3256469"/>
            <a:ext cx="72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6" name="文本框 45"/>
          <p:cNvSpPr txBox="1"/>
          <p:nvPr/>
        </p:nvSpPr>
        <p:spPr>
          <a:xfrm>
            <a:off x="5440291" y="2995688"/>
            <a:ext cx="463588" cy="523220"/>
          </a:xfrm>
          <a:prstGeom prst="rect">
            <a:avLst/>
          </a:prstGeom>
          <a:noFill/>
        </p:spPr>
        <p:txBody>
          <a:bodyPr wrap="none" rtlCol="0">
            <a:spAutoFit/>
          </a:bodyPr>
          <a:lstStyle/>
          <a:p>
            <a:r>
              <a:rPr lang="en-US" altLang="zh-CN" sz="2800" b="1" dirty="0" err="1" smtClean="0">
                <a:latin typeface="Times New Roman" panose="02020603050405020304" pitchFamily="18" charset="0"/>
                <a:cs typeface="Times New Roman" panose="02020603050405020304" pitchFamily="18" charset="0"/>
              </a:rPr>
              <a:t>r</a:t>
            </a:r>
            <a:r>
              <a:rPr lang="en-US" altLang="zh-CN" sz="2800" i="1" baseline="-25000" dirty="0" err="1" smtClean="0">
                <a:latin typeface="Times New Roman" panose="02020603050405020304" pitchFamily="18" charset="0"/>
                <a:cs typeface="Times New Roman" panose="02020603050405020304" pitchFamily="18" charset="0"/>
              </a:rPr>
              <a:t>k</a:t>
            </a:r>
            <a:endParaRPr lang="zh-CN" altLang="en-US" sz="2800" i="1" baseline="-25000" dirty="0">
              <a:latin typeface="Times New Roman" panose="02020603050405020304" pitchFamily="18" charset="0"/>
              <a:cs typeface="Times New Roman" panose="02020603050405020304" pitchFamily="18" charset="0"/>
            </a:endParaRPr>
          </a:p>
        </p:txBody>
      </p:sp>
      <p:cxnSp>
        <p:nvCxnSpPr>
          <p:cNvPr id="47" name="直接箭头连接符 46"/>
          <p:cNvCxnSpPr/>
          <p:nvPr/>
        </p:nvCxnSpPr>
        <p:spPr>
          <a:xfrm>
            <a:off x="5903879" y="3255302"/>
            <a:ext cx="72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8" name="文本框 47"/>
          <p:cNvSpPr txBox="1"/>
          <p:nvPr/>
        </p:nvSpPr>
        <p:spPr>
          <a:xfrm>
            <a:off x="2103826" y="1884753"/>
            <a:ext cx="484428"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v</a:t>
            </a:r>
            <a:r>
              <a:rPr lang="en-US" altLang="zh-CN" sz="2800" baseline="-25000" dirty="0" smtClean="0">
                <a:latin typeface="Times New Roman" panose="02020603050405020304" pitchFamily="18" charset="0"/>
                <a:cs typeface="Times New Roman" panose="02020603050405020304" pitchFamily="18" charset="0"/>
              </a:rPr>
              <a:t>1</a:t>
            </a:r>
            <a:endParaRPr lang="zh-CN" altLang="en-US" sz="2800" baseline="-25000" dirty="0">
              <a:latin typeface="Times New Roman" panose="02020603050405020304" pitchFamily="18" charset="0"/>
              <a:cs typeface="Times New Roman" panose="02020603050405020304" pitchFamily="18" charset="0"/>
            </a:endParaRPr>
          </a:p>
        </p:txBody>
      </p:sp>
      <p:sp>
        <p:nvSpPr>
          <p:cNvPr id="49" name="文本框 48"/>
          <p:cNvSpPr txBox="1"/>
          <p:nvPr/>
        </p:nvSpPr>
        <p:spPr>
          <a:xfrm>
            <a:off x="4256703" y="1883258"/>
            <a:ext cx="710451" cy="523220"/>
          </a:xfrm>
          <a:prstGeom prst="rect">
            <a:avLst/>
          </a:prstGeom>
          <a:noFill/>
        </p:spPr>
        <p:txBody>
          <a:bodyPr wrap="none" rtlCol="0">
            <a:spAutoFit/>
          </a:bodyPr>
          <a:lstStyle/>
          <a:p>
            <a:r>
              <a:rPr lang="en-US" altLang="zh-CN" sz="2800" b="1" dirty="0" err="1" smtClean="0">
                <a:latin typeface="Times New Roman" panose="02020603050405020304" pitchFamily="18" charset="0"/>
                <a:cs typeface="Times New Roman" panose="02020603050405020304" pitchFamily="18" charset="0"/>
              </a:rPr>
              <a:t>v</a:t>
            </a:r>
            <a:r>
              <a:rPr lang="en-US" altLang="zh-CN" sz="2800" i="1" baseline="-25000" dirty="0" err="1" smtClean="0">
                <a:latin typeface="Times New Roman" panose="02020603050405020304" pitchFamily="18" charset="0"/>
                <a:cs typeface="Times New Roman" panose="02020603050405020304" pitchFamily="18" charset="0"/>
              </a:rPr>
              <a:t>k</a:t>
            </a:r>
            <a:r>
              <a:rPr lang="en-US" altLang="zh-CN" sz="2800" baseline="-25000" dirty="0" smtClean="0">
                <a:latin typeface="Times New Roman" panose="02020603050405020304" pitchFamily="18" charset="0"/>
                <a:cs typeface="Times New Roman" panose="02020603050405020304" pitchFamily="18" charset="0"/>
              </a:rPr>
              <a:t>–1</a:t>
            </a:r>
            <a:endParaRPr lang="zh-CN" altLang="en-US" sz="2800" baseline="-25000" dirty="0">
              <a:latin typeface="Times New Roman" panose="02020603050405020304" pitchFamily="18" charset="0"/>
              <a:cs typeface="Times New Roman" panose="02020603050405020304" pitchFamily="18" charset="0"/>
            </a:endParaRPr>
          </a:p>
        </p:txBody>
      </p:sp>
      <p:cxnSp>
        <p:nvCxnSpPr>
          <p:cNvPr id="50" name="直接箭头连接符 49"/>
          <p:cNvCxnSpPr/>
          <p:nvPr/>
        </p:nvCxnSpPr>
        <p:spPr>
          <a:xfrm>
            <a:off x="4720291" y="2146269"/>
            <a:ext cx="72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1" name="文本框 50"/>
          <p:cNvSpPr txBox="1"/>
          <p:nvPr/>
        </p:nvSpPr>
        <p:spPr>
          <a:xfrm>
            <a:off x="5440291" y="1883258"/>
            <a:ext cx="484428" cy="523220"/>
          </a:xfrm>
          <a:prstGeom prst="rect">
            <a:avLst/>
          </a:prstGeom>
          <a:noFill/>
        </p:spPr>
        <p:txBody>
          <a:bodyPr wrap="none" rtlCol="0">
            <a:spAutoFit/>
          </a:bodyPr>
          <a:lstStyle/>
          <a:p>
            <a:r>
              <a:rPr lang="en-US" altLang="zh-CN" sz="2800" b="1" dirty="0" err="1" smtClean="0">
                <a:latin typeface="Times New Roman" panose="02020603050405020304" pitchFamily="18" charset="0"/>
                <a:cs typeface="Times New Roman" panose="02020603050405020304" pitchFamily="18" charset="0"/>
              </a:rPr>
              <a:t>v</a:t>
            </a:r>
            <a:r>
              <a:rPr lang="en-US" altLang="zh-CN" sz="2800" i="1" baseline="-25000" dirty="0" err="1" smtClean="0">
                <a:latin typeface="Times New Roman" panose="02020603050405020304" pitchFamily="18" charset="0"/>
                <a:cs typeface="Times New Roman" panose="02020603050405020304" pitchFamily="18" charset="0"/>
              </a:rPr>
              <a:t>k</a:t>
            </a:r>
            <a:endParaRPr lang="zh-CN" altLang="en-US" sz="2800" i="1" baseline="-25000" dirty="0">
              <a:latin typeface="Times New Roman" panose="02020603050405020304" pitchFamily="18" charset="0"/>
              <a:cs typeface="Times New Roman" panose="02020603050405020304" pitchFamily="18" charset="0"/>
            </a:endParaRPr>
          </a:p>
        </p:txBody>
      </p:sp>
      <p:cxnSp>
        <p:nvCxnSpPr>
          <p:cNvPr id="52" name="直接箭头连接符 51"/>
          <p:cNvCxnSpPr/>
          <p:nvPr/>
        </p:nvCxnSpPr>
        <p:spPr>
          <a:xfrm>
            <a:off x="5903879" y="2147624"/>
            <a:ext cx="72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3" name="文本框 52"/>
          <p:cNvSpPr txBox="1"/>
          <p:nvPr/>
        </p:nvSpPr>
        <p:spPr>
          <a:xfrm>
            <a:off x="6623879" y="1883258"/>
            <a:ext cx="724878"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v</a:t>
            </a:r>
            <a:r>
              <a:rPr lang="en-US" altLang="zh-CN" sz="2800" i="1" baseline="-25000" dirty="0" smtClean="0">
                <a:latin typeface="Times New Roman" panose="02020603050405020304" pitchFamily="18" charset="0"/>
                <a:cs typeface="Times New Roman" panose="02020603050405020304" pitchFamily="18" charset="0"/>
              </a:rPr>
              <a:t>k</a:t>
            </a:r>
            <a:r>
              <a:rPr lang="en-US" altLang="zh-CN" sz="2800" baseline="-25000" dirty="0" smtClean="0">
                <a:latin typeface="Times New Roman" panose="02020603050405020304" pitchFamily="18" charset="0"/>
                <a:cs typeface="Times New Roman" panose="02020603050405020304" pitchFamily="18" charset="0"/>
              </a:rPr>
              <a:t>+1</a:t>
            </a:r>
            <a:endParaRPr lang="zh-CN" altLang="en-US" sz="2800" baseline="-25000" dirty="0">
              <a:latin typeface="Times New Roman" panose="02020603050405020304" pitchFamily="18" charset="0"/>
              <a:cs typeface="Times New Roman" panose="02020603050405020304" pitchFamily="18" charset="0"/>
            </a:endParaRPr>
          </a:p>
        </p:txBody>
      </p:sp>
      <p:cxnSp>
        <p:nvCxnSpPr>
          <p:cNvPr id="54" name="直接箭头连接符 53"/>
          <p:cNvCxnSpPr/>
          <p:nvPr/>
        </p:nvCxnSpPr>
        <p:spPr>
          <a:xfrm flipV="1">
            <a:off x="1383826" y="2383200"/>
            <a:ext cx="720000" cy="72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直接箭头连接符 54"/>
          <p:cNvCxnSpPr/>
          <p:nvPr/>
        </p:nvCxnSpPr>
        <p:spPr>
          <a:xfrm>
            <a:off x="2567414" y="2145102"/>
            <a:ext cx="72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6" name="直接箭头连接符 55"/>
          <p:cNvCxnSpPr/>
          <p:nvPr/>
        </p:nvCxnSpPr>
        <p:spPr>
          <a:xfrm flipV="1">
            <a:off x="2588254" y="2383200"/>
            <a:ext cx="720000" cy="72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直接箭头连接符 56"/>
          <p:cNvCxnSpPr/>
          <p:nvPr/>
        </p:nvCxnSpPr>
        <p:spPr>
          <a:xfrm flipV="1">
            <a:off x="4729591" y="2383200"/>
            <a:ext cx="720000" cy="72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8" name="直接箭头连接符 57"/>
          <p:cNvCxnSpPr/>
          <p:nvPr/>
        </p:nvCxnSpPr>
        <p:spPr>
          <a:xfrm flipV="1">
            <a:off x="5891269" y="2383200"/>
            <a:ext cx="720000" cy="72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9" name="直接箭头连接符 58"/>
          <p:cNvCxnSpPr/>
          <p:nvPr/>
        </p:nvCxnSpPr>
        <p:spPr>
          <a:xfrm>
            <a:off x="4488497" y="2383200"/>
            <a:ext cx="0" cy="72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直接箭头连接符 59"/>
          <p:cNvCxnSpPr/>
          <p:nvPr/>
        </p:nvCxnSpPr>
        <p:spPr>
          <a:xfrm>
            <a:off x="5672085" y="2383200"/>
            <a:ext cx="0" cy="72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1" name="文本框 60"/>
          <p:cNvSpPr txBox="1"/>
          <p:nvPr/>
        </p:nvSpPr>
        <p:spPr>
          <a:xfrm>
            <a:off x="6614180" y="2995688"/>
            <a:ext cx="704039"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r</a:t>
            </a:r>
            <a:r>
              <a:rPr lang="en-US" altLang="zh-CN" sz="2800" i="1" baseline="-25000" dirty="0" smtClean="0">
                <a:latin typeface="Times New Roman" panose="02020603050405020304" pitchFamily="18" charset="0"/>
                <a:cs typeface="Times New Roman" panose="02020603050405020304" pitchFamily="18" charset="0"/>
              </a:rPr>
              <a:t>k</a:t>
            </a:r>
            <a:r>
              <a:rPr lang="en-US" altLang="zh-CN" sz="2800" baseline="-25000" dirty="0" smtClean="0">
                <a:latin typeface="Times New Roman" panose="02020603050405020304" pitchFamily="18" charset="0"/>
                <a:cs typeface="Times New Roman" panose="02020603050405020304" pitchFamily="18" charset="0"/>
              </a:rPr>
              <a:t>+1</a:t>
            </a:r>
            <a:endParaRPr lang="zh-CN" altLang="en-US" sz="2800" baseline="-25000" dirty="0">
              <a:latin typeface="Times New Roman" panose="02020603050405020304" pitchFamily="18" charset="0"/>
              <a:cs typeface="Times New Roman" panose="02020603050405020304" pitchFamily="18" charset="0"/>
            </a:endParaRPr>
          </a:p>
        </p:txBody>
      </p:sp>
      <p:cxnSp>
        <p:nvCxnSpPr>
          <p:cNvPr id="62" name="直接箭头连接符 61"/>
          <p:cNvCxnSpPr/>
          <p:nvPr/>
        </p:nvCxnSpPr>
        <p:spPr>
          <a:xfrm>
            <a:off x="6840524" y="2383200"/>
            <a:ext cx="0" cy="72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63" name="组合 62"/>
          <p:cNvGrpSpPr/>
          <p:nvPr/>
        </p:nvGrpSpPr>
        <p:grpSpPr>
          <a:xfrm>
            <a:off x="2155124" y="2382826"/>
            <a:ext cx="444352" cy="720000"/>
            <a:chOff x="2155124" y="2382826"/>
            <a:chExt cx="444352" cy="720000"/>
          </a:xfrm>
        </p:grpSpPr>
        <p:cxnSp>
          <p:nvCxnSpPr>
            <p:cNvPr id="64" name="直接箭头连接符 63"/>
            <p:cNvCxnSpPr/>
            <p:nvPr/>
          </p:nvCxnSpPr>
          <p:spPr>
            <a:xfrm>
              <a:off x="2346040" y="2382826"/>
              <a:ext cx="0" cy="72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5" name="文本框 64"/>
            <p:cNvSpPr txBox="1"/>
            <p:nvPr/>
          </p:nvSpPr>
          <p:spPr>
            <a:xfrm>
              <a:off x="2155124" y="2401290"/>
              <a:ext cx="444352"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A</a:t>
              </a:r>
              <a:endParaRPr lang="zh-CN" altLang="en-US" sz="2800" b="1" dirty="0">
                <a:latin typeface="Times New Roman" panose="02020603050405020304" pitchFamily="18" charset="0"/>
                <a:cs typeface="Times New Roman" panose="02020603050405020304" pitchFamily="18" charset="0"/>
              </a:endParaRPr>
            </a:p>
          </p:txBody>
        </p:sp>
      </p:grpSp>
      <p:sp>
        <p:nvSpPr>
          <p:cNvPr id="66" name="文本框 65"/>
          <p:cNvSpPr txBox="1"/>
          <p:nvPr/>
        </p:nvSpPr>
        <p:spPr>
          <a:xfrm>
            <a:off x="4296460" y="2413564"/>
            <a:ext cx="444352"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A</a:t>
            </a:r>
            <a:endParaRPr lang="zh-CN" altLang="en-US" sz="2800" b="1" dirty="0">
              <a:latin typeface="Times New Roman" panose="02020603050405020304" pitchFamily="18" charset="0"/>
              <a:cs typeface="Times New Roman" panose="02020603050405020304" pitchFamily="18" charset="0"/>
            </a:endParaRPr>
          </a:p>
        </p:txBody>
      </p:sp>
      <p:sp>
        <p:nvSpPr>
          <p:cNvPr id="67" name="文本框 66"/>
          <p:cNvSpPr txBox="1"/>
          <p:nvPr/>
        </p:nvSpPr>
        <p:spPr>
          <a:xfrm>
            <a:off x="5480367" y="2403812"/>
            <a:ext cx="444352"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A</a:t>
            </a:r>
            <a:endParaRPr lang="zh-CN" altLang="en-US" sz="2800" b="1" dirty="0">
              <a:latin typeface="Times New Roman" panose="02020603050405020304" pitchFamily="18" charset="0"/>
              <a:cs typeface="Times New Roman" panose="02020603050405020304" pitchFamily="18" charset="0"/>
            </a:endParaRPr>
          </a:p>
        </p:txBody>
      </p:sp>
      <p:sp>
        <p:nvSpPr>
          <p:cNvPr id="68" name="文本框 67"/>
          <p:cNvSpPr txBox="1"/>
          <p:nvPr/>
        </p:nvSpPr>
        <p:spPr>
          <a:xfrm>
            <a:off x="6663955" y="2414919"/>
            <a:ext cx="444352"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A</a:t>
            </a:r>
            <a:endParaRPr lang="zh-CN" altLang="en-US" sz="2800" b="1" dirty="0">
              <a:latin typeface="Times New Roman" panose="02020603050405020304" pitchFamily="18" charset="0"/>
              <a:cs typeface="Times New Roman" panose="02020603050405020304" pitchFamily="18" charset="0"/>
            </a:endParaRPr>
          </a:p>
        </p:txBody>
      </p:sp>
      <p:sp>
        <p:nvSpPr>
          <p:cNvPr id="69" name="文本框 68"/>
          <p:cNvSpPr txBox="1"/>
          <p:nvPr/>
        </p:nvSpPr>
        <p:spPr>
          <a:xfrm>
            <a:off x="3733177" y="2905688"/>
            <a:ext cx="543739"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a:t>
            </a:r>
            <a:endParaRPr lang="zh-CN" altLang="en-US" sz="2800" baseline="-25000" dirty="0">
              <a:latin typeface="Times New Roman" panose="02020603050405020304" pitchFamily="18" charset="0"/>
              <a:cs typeface="Times New Roman" panose="02020603050405020304" pitchFamily="18" charset="0"/>
            </a:endParaRPr>
          </a:p>
        </p:txBody>
      </p:sp>
      <p:sp>
        <p:nvSpPr>
          <p:cNvPr id="70" name="文本框 69"/>
          <p:cNvSpPr txBox="1"/>
          <p:nvPr/>
        </p:nvSpPr>
        <p:spPr>
          <a:xfrm>
            <a:off x="3748265" y="1789658"/>
            <a:ext cx="543739"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a:t>
            </a:r>
            <a:endParaRPr lang="zh-CN" altLang="en-US" sz="2800" baseline="-25000" dirty="0">
              <a:latin typeface="Times New Roman" panose="02020603050405020304" pitchFamily="18" charset="0"/>
              <a:cs typeface="Times New Roman" panose="02020603050405020304" pitchFamily="18" charset="0"/>
            </a:endParaRPr>
          </a:p>
        </p:txBody>
      </p:sp>
      <p:sp>
        <p:nvSpPr>
          <p:cNvPr id="71" name="文本框 70"/>
          <p:cNvSpPr txBox="1"/>
          <p:nvPr/>
        </p:nvSpPr>
        <p:spPr>
          <a:xfrm>
            <a:off x="3296714" y="1883258"/>
            <a:ext cx="484428"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v</a:t>
            </a:r>
            <a:r>
              <a:rPr lang="en-US" altLang="zh-CN" sz="2800" baseline="-25000" dirty="0" smtClean="0">
                <a:latin typeface="Times New Roman" panose="02020603050405020304" pitchFamily="18" charset="0"/>
                <a:cs typeface="Times New Roman" panose="02020603050405020304" pitchFamily="18" charset="0"/>
              </a:rPr>
              <a:t>2</a:t>
            </a:r>
            <a:endParaRPr lang="zh-CN" altLang="en-US" sz="2800" baseline="-25000" dirty="0">
              <a:latin typeface="Times New Roman" panose="02020603050405020304" pitchFamily="18" charset="0"/>
              <a:cs typeface="Times New Roman" panose="02020603050405020304" pitchFamily="18" charset="0"/>
            </a:endParaRPr>
          </a:p>
        </p:txBody>
      </p:sp>
      <p:sp>
        <p:nvSpPr>
          <p:cNvPr id="72" name="文本框 71"/>
          <p:cNvSpPr txBox="1"/>
          <p:nvPr/>
        </p:nvSpPr>
        <p:spPr>
          <a:xfrm>
            <a:off x="3304619" y="2995688"/>
            <a:ext cx="463588"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r</a:t>
            </a:r>
            <a:r>
              <a:rPr lang="en-US" altLang="zh-CN" sz="2800" baseline="-25000" dirty="0" smtClean="0">
                <a:latin typeface="Times New Roman" panose="02020603050405020304" pitchFamily="18" charset="0"/>
                <a:cs typeface="Times New Roman" panose="02020603050405020304" pitchFamily="18" charset="0"/>
              </a:rPr>
              <a:t>2</a:t>
            </a:r>
            <a:endParaRPr lang="zh-CN" altLang="en-US" sz="2800" baseline="-25000" dirty="0">
              <a:latin typeface="Times New Roman" panose="02020603050405020304" pitchFamily="18" charset="0"/>
              <a:cs typeface="Times New Roman" panose="02020603050405020304" pitchFamily="18" charset="0"/>
            </a:endParaRPr>
          </a:p>
        </p:txBody>
      </p:sp>
      <p:grpSp>
        <p:nvGrpSpPr>
          <p:cNvPr id="73" name="组合 72"/>
          <p:cNvGrpSpPr/>
          <p:nvPr/>
        </p:nvGrpSpPr>
        <p:grpSpPr>
          <a:xfrm>
            <a:off x="3337062" y="2382826"/>
            <a:ext cx="444352" cy="720000"/>
            <a:chOff x="3337062" y="2382826"/>
            <a:chExt cx="444352" cy="720000"/>
          </a:xfrm>
        </p:grpSpPr>
        <p:cxnSp>
          <p:nvCxnSpPr>
            <p:cNvPr id="74" name="直接箭头连接符 73"/>
            <p:cNvCxnSpPr/>
            <p:nvPr/>
          </p:nvCxnSpPr>
          <p:spPr>
            <a:xfrm>
              <a:off x="3527978" y="2382826"/>
              <a:ext cx="0" cy="72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5" name="文本框 74"/>
            <p:cNvSpPr txBox="1"/>
            <p:nvPr/>
          </p:nvSpPr>
          <p:spPr>
            <a:xfrm>
              <a:off x="3337062" y="2401290"/>
              <a:ext cx="444352"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A</a:t>
              </a:r>
              <a:endParaRPr lang="zh-CN" altLang="en-US" sz="2800" b="1" dirty="0">
                <a:latin typeface="Times New Roman" panose="02020603050405020304" pitchFamily="18" charset="0"/>
                <a:cs typeface="Times New Roman" panose="02020603050405020304" pitchFamily="18" charset="0"/>
              </a:endParaRPr>
            </a:p>
          </p:txBody>
        </p:sp>
      </p:grpSp>
      <p:sp>
        <p:nvSpPr>
          <p:cNvPr id="76" name="文本框 75"/>
          <p:cNvSpPr txBox="1"/>
          <p:nvPr/>
        </p:nvSpPr>
        <p:spPr>
          <a:xfrm>
            <a:off x="7268021" y="1788347"/>
            <a:ext cx="543739"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a:t>
            </a:r>
            <a:endParaRPr lang="zh-CN" altLang="en-US" sz="2800" baseline="-25000" dirty="0">
              <a:latin typeface="Times New Roman" panose="02020603050405020304" pitchFamily="18" charset="0"/>
              <a:cs typeface="Times New Roman" panose="02020603050405020304" pitchFamily="18" charset="0"/>
            </a:endParaRPr>
          </a:p>
        </p:txBody>
      </p:sp>
      <p:sp>
        <p:nvSpPr>
          <p:cNvPr id="77" name="文本框 76"/>
          <p:cNvSpPr txBox="1"/>
          <p:nvPr/>
        </p:nvSpPr>
        <p:spPr>
          <a:xfrm>
            <a:off x="7320910" y="2905963"/>
            <a:ext cx="543739"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a:t>
            </a:r>
            <a:endParaRPr lang="zh-CN" altLang="en-US" sz="2800" baseline="-25000" dirty="0">
              <a:latin typeface="Times New Roman" panose="02020603050405020304" pitchFamily="18" charset="0"/>
              <a:cs typeface="Times New Roman" panose="02020603050405020304" pitchFamily="18" charset="0"/>
            </a:endParaRPr>
          </a:p>
        </p:txBody>
      </p:sp>
    </p:spTree>
    <p:custDataLst>
      <p:tags r:id="rId1"/>
    </p:custDataLst>
    <p:extLst>
      <p:ext uri="{BB962C8B-B14F-4D97-AF65-F5344CB8AC3E}">
        <p14:creationId xmlns:p14="http://schemas.microsoft.com/office/powerpoint/2010/main" val="140849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宋体" panose="02010600030101010101" pitchFamily="2" charset="-122"/>
                <a:ea typeface="宋体" panose="02010600030101010101" pitchFamily="2" charset="-122"/>
              </a:rPr>
              <a:t>非线性问题的共轭梯度法</a:t>
            </a:r>
            <a:endParaRPr lang="zh-CN" altLang="en-US" dirty="0">
              <a:latin typeface="宋体" panose="02010600030101010101" pitchFamily="2" charset="-122"/>
              <a:ea typeface="宋体" panose="02010600030101010101" pitchFamily="2" charset="-122"/>
            </a:endParaRP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对于任意的多元函数</a:t>
                </a:r>
                <a:r>
                  <a:rPr lang="en-US" altLang="zh-CN" i="1" dirty="0" smtClean="0">
                    <a:latin typeface="Times New Roman" panose="02020603050405020304" pitchFamily="18" charset="0"/>
                    <a:ea typeface="楷体" panose="02010609060101010101" pitchFamily="49" charset="-122"/>
                    <a:cs typeface="Times New Roman" panose="02020603050405020304" pitchFamily="18" charset="0"/>
                  </a:rPr>
                  <a:t>f</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x</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，它可以在</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x</a:t>
                </a:r>
                <a:r>
                  <a:rPr lang="en-US" altLang="zh-CN" i="1" baseline="30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位置，用泰勒级数展开为：</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𝑓</m:t>
                      </m:r>
                      <m:d>
                        <m:dPr>
                          <m:ctrlPr>
                            <a:rPr lang="en-US" altLang="zh-CN" b="0" i="1" smtClean="0">
                              <a:latin typeface="Cambria Math" panose="02040503050406030204" pitchFamily="18" charset="0"/>
                            </a:rPr>
                          </m:ctrlPr>
                        </m:dPr>
                        <m:e>
                          <m:r>
                            <a:rPr lang="en-US" altLang="zh-CN" b="1" i="0" smtClean="0">
                              <a:latin typeface="Cambria Math" panose="02040503050406030204" pitchFamily="18" charset="0"/>
                            </a:rPr>
                            <m:t>𝐱</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𝑓</m:t>
                      </m:r>
                      <m:d>
                        <m:dPr>
                          <m:ctrlPr>
                            <a:rPr lang="en-US" altLang="zh-CN" b="0" i="1" smtClean="0">
                              <a:latin typeface="Cambria Math" panose="02040503050406030204" pitchFamily="18" charset="0"/>
                            </a:rPr>
                          </m:ctrlPr>
                        </m:dPr>
                        <m:e>
                          <m:sSup>
                            <m:sSupPr>
                              <m:ctrlPr>
                                <a:rPr lang="en-US" altLang="zh-CN" b="0" i="1" smtClean="0">
                                  <a:latin typeface="Cambria Math" panose="02040503050406030204" pitchFamily="18" charset="0"/>
                                </a:rPr>
                              </m:ctrlPr>
                            </m:sSupPr>
                            <m:e>
                              <m:r>
                                <a:rPr lang="en-US" altLang="zh-CN" b="1" i="0" smtClean="0">
                                  <a:latin typeface="Cambria Math" panose="02040503050406030204" pitchFamily="18" charset="0"/>
                                </a:rPr>
                                <m:t>𝐱</m:t>
                              </m:r>
                            </m:e>
                            <m:sup>
                              <m:r>
                                <a:rPr lang="en-US" altLang="zh-CN" b="0" i="1" smtClean="0">
                                  <a:latin typeface="Cambria Math" panose="02040503050406030204" pitchFamily="18" charset="0"/>
                                </a:rPr>
                                <m:t>𝑘</m:t>
                              </m:r>
                            </m:sup>
                          </m:sSup>
                        </m:e>
                      </m:d>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d>
                            <m:dPr>
                              <m:ctrlPr>
                                <a:rPr lang="en-US" altLang="zh-CN" b="0" i="1" smtClean="0">
                                  <a:latin typeface="Cambria Math" panose="02040503050406030204" pitchFamily="18" charset="0"/>
                                </a:rPr>
                              </m:ctrlPr>
                            </m:dPr>
                            <m:e>
                              <m:r>
                                <a:rPr lang="en-US" altLang="zh-CN" b="1" i="0" smtClean="0">
                                  <a:latin typeface="Cambria Math" panose="02040503050406030204" pitchFamily="18" charset="0"/>
                                </a:rPr>
                                <m:t>𝐱</m:t>
                              </m:r>
                              <m:r>
                                <a:rPr lang="en-US" altLang="zh-CN" b="0" i="1" smtClean="0">
                                  <a:latin typeface="Cambria Math" panose="02040503050406030204" pitchFamily="18" charset="0"/>
                                </a:rPr>
                                <m:t> −</m:t>
                              </m:r>
                              <m:sSup>
                                <m:sSupPr>
                                  <m:ctrlPr>
                                    <a:rPr lang="en-US" altLang="zh-CN" b="0" i="1" smtClean="0">
                                      <a:latin typeface="Cambria Math" panose="02040503050406030204" pitchFamily="18" charset="0"/>
                                    </a:rPr>
                                  </m:ctrlPr>
                                </m:sSupPr>
                                <m:e>
                                  <m:r>
                                    <a:rPr lang="en-US" altLang="zh-CN" b="1" i="0" smtClean="0">
                                      <a:latin typeface="Cambria Math" panose="02040503050406030204" pitchFamily="18" charset="0"/>
                                    </a:rPr>
                                    <m:t>𝐱</m:t>
                                  </m:r>
                                </m:e>
                                <m:sup>
                                  <m:r>
                                    <a:rPr lang="en-US" altLang="zh-CN" b="0" i="1" smtClean="0">
                                      <a:latin typeface="Cambria Math" panose="02040503050406030204" pitchFamily="18" charset="0"/>
                                    </a:rPr>
                                    <m:t>𝑘</m:t>
                                  </m:r>
                                </m:sup>
                              </m:sSup>
                            </m:e>
                          </m:d>
                        </m:e>
                        <m:sup>
                          <m:r>
                            <m:rPr>
                              <m:sty m:val="p"/>
                            </m:rPr>
                            <a:rPr lang="en-US" altLang="zh-CN" b="0" i="0" smtClean="0">
                              <a:latin typeface="Cambria Math" panose="02040503050406030204" pitchFamily="18" charset="0"/>
                            </a:rPr>
                            <m:t>T</m:t>
                          </m:r>
                        </m:sup>
                      </m:sSup>
                      <m:r>
                        <a:rPr lang="en-US" altLang="zh-CN" b="0" i="0" smtClean="0">
                          <a:latin typeface="Cambria Math" panose="02040503050406030204" pitchFamily="18" charset="0"/>
                        </a:rPr>
                        <m:t>𝛻</m:t>
                      </m:r>
                      <m:r>
                        <a:rPr lang="en-US" altLang="zh-CN" b="0" i="1" smtClean="0">
                          <a:latin typeface="Cambria Math" panose="02040503050406030204" pitchFamily="18" charset="0"/>
                        </a:rPr>
                        <m:t>𝑓</m:t>
                      </m:r>
                      <m:d>
                        <m:dPr>
                          <m:ctrlPr>
                            <a:rPr lang="en-US" altLang="zh-CN" b="0" i="1" smtClean="0">
                              <a:latin typeface="Cambria Math" panose="02040503050406030204" pitchFamily="18" charset="0"/>
                            </a:rPr>
                          </m:ctrlPr>
                        </m:dPr>
                        <m:e>
                          <m:sSup>
                            <m:sSupPr>
                              <m:ctrlPr>
                                <a:rPr lang="en-US" altLang="zh-CN" b="0" i="1" smtClean="0">
                                  <a:latin typeface="Cambria Math" panose="02040503050406030204" pitchFamily="18" charset="0"/>
                                </a:rPr>
                              </m:ctrlPr>
                            </m:sSupPr>
                            <m:e>
                              <m:r>
                                <a:rPr lang="en-US" altLang="zh-CN" b="1" i="0" smtClean="0">
                                  <a:latin typeface="Cambria Math" panose="02040503050406030204" pitchFamily="18" charset="0"/>
                                </a:rPr>
                                <m:t>𝐱</m:t>
                              </m:r>
                            </m:e>
                            <m:sup>
                              <m:r>
                                <a:rPr lang="en-US" altLang="zh-CN" b="0" i="1" smtClean="0">
                                  <a:latin typeface="Cambria Math" panose="02040503050406030204" pitchFamily="18" charset="0"/>
                                </a:rPr>
                                <m:t>𝑘</m:t>
                              </m:r>
                            </m:sup>
                          </m:sSup>
                        </m:e>
                      </m:d>
                    </m:oMath>
                  </m:oMathPara>
                </a14:m>
                <a:endParaRPr lang="en-US" altLang="zh-CN" b="0" i="1" dirty="0" smtClean="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1</m:t>
                          </m:r>
                        </m:num>
                        <m:den>
                          <m:r>
                            <a:rPr lang="en-US" altLang="zh-CN" b="0" i="1" smtClean="0">
                              <a:latin typeface="Cambria Math" panose="02040503050406030204" pitchFamily="18" charset="0"/>
                            </a:rPr>
                            <m:t>2</m:t>
                          </m:r>
                        </m:den>
                      </m:f>
                      <m:sSup>
                        <m:sSupPr>
                          <m:ctrlPr>
                            <a:rPr lang="en-US" altLang="zh-CN" i="1">
                              <a:latin typeface="Cambria Math" panose="02040503050406030204" pitchFamily="18" charset="0"/>
                            </a:rPr>
                          </m:ctrlPr>
                        </m:sSupPr>
                        <m:e>
                          <m:d>
                            <m:dPr>
                              <m:ctrlPr>
                                <a:rPr lang="en-US" altLang="zh-CN" i="1">
                                  <a:latin typeface="Cambria Math" panose="02040503050406030204" pitchFamily="18" charset="0"/>
                                </a:rPr>
                              </m:ctrlPr>
                            </m:dPr>
                            <m:e>
                              <m:r>
                                <a:rPr lang="en-US" altLang="zh-CN" b="1">
                                  <a:latin typeface="Cambria Math" panose="02040503050406030204" pitchFamily="18" charset="0"/>
                                </a:rPr>
                                <m:t>𝐱</m:t>
                              </m:r>
                              <m:r>
                                <a:rPr lang="en-US" altLang="zh-CN" i="1">
                                  <a:latin typeface="Cambria Math" panose="02040503050406030204" pitchFamily="18" charset="0"/>
                                </a:rPr>
                                <m:t> −</m:t>
                              </m:r>
                              <m:sSup>
                                <m:sSupPr>
                                  <m:ctrlPr>
                                    <a:rPr lang="en-US" altLang="zh-CN" i="1">
                                      <a:latin typeface="Cambria Math" panose="02040503050406030204" pitchFamily="18" charset="0"/>
                                    </a:rPr>
                                  </m:ctrlPr>
                                </m:sSupPr>
                                <m:e>
                                  <m:r>
                                    <a:rPr lang="en-US" altLang="zh-CN" b="1">
                                      <a:latin typeface="Cambria Math" panose="02040503050406030204" pitchFamily="18" charset="0"/>
                                    </a:rPr>
                                    <m:t>𝐱</m:t>
                                  </m:r>
                                </m:e>
                                <m:sup>
                                  <m:r>
                                    <a:rPr lang="en-US" altLang="zh-CN" b="0" i="1" smtClean="0">
                                      <a:latin typeface="Cambria Math" panose="02040503050406030204" pitchFamily="18" charset="0"/>
                                    </a:rPr>
                                    <m:t>𝑘</m:t>
                                  </m:r>
                                </m:sup>
                              </m:sSup>
                            </m:e>
                          </m:d>
                        </m:e>
                        <m:sup>
                          <m:r>
                            <m:rPr>
                              <m:sty m:val="p"/>
                            </m:rPr>
                            <a:rPr lang="en-US" altLang="zh-CN">
                              <a:latin typeface="Cambria Math" panose="02040503050406030204" pitchFamily="18" charset="0"/>
                            </a:rPr>
                            <m:t>T</m:t>
                          </m:r>
                        </m:sup>
                      </m:sSup>
                      <m:sSup>
                        <m:sSupPr>
                          <m:ctrlPr>
                            <a:rPr lang="en-US" altLang="zh-CN" b="0" i="1" smtClean="0">
                              <a:latin typeface="Cambria Math" panose="02040503050406030204" pitchFamily="18" charset="0"/>
                            </a:rPr>
                          </m:ctrlPr>
                        </m:sSupPr>
                        <m:e>
                          <m:r>
                            <a:rPr lang="en-US" altLang="zh-CN" b="0" i="0" smtClean="0">
                              <a:latin typeface="Cambria Math" panose="02040503050406030204" pitchFamily="18" charset="0"/>
                            </a:rPr>
                            <m:t>𝛻</m:t>
                          </m:r>
                        </m:e>
                        <m:sup>
                          <m:r>
                            <a:rPr lang="en-US" altLang="zh-CN" b="0" i="1" smtClean="0">
                              <a:latin typeface="Cambria Math" panose="02040503050406030204" pitchFamily="18" charset="0"/>
                            </a:rPr>
                            <m:t>2</m:t>
                          </m:r>
                        </m:sup>
                      </m:sSup>
                      <m:r>
                        <a:rPr lang="en-US" altLang="zh-CN" b="0" i="1" smtClean="0">
                          <a:latin typeface="Cambria Math" panose="02040503050406030204" pitchFamily="18" charset="0"/>
                        </a:rPr>
                        <m:t>𝑓</m:t>
                      </m:r>
                      <m:d>
                        <m:dPr>
                          <m:ctrlPr>
                            <a:rPr lang="en-US" altLang="zh-CN" b="0" i="1" smtClean="0">
                              <a:latin typeface="Cambria Math" panose="02040503050406030204" pitchFamily="18" charset="0"/>
                            </a:rPr>
                          </m:ctrlPr>
                        </m:dPr>
                        <m:e>
                          <m:sSup>
                            <m:sSupPr>
                              <m:ctrlPr>
                                <a:rPr lang="en-US" altLang="zh-CN" b="0" i="1" smtClean="0">
                                  <a:latin typeface="Cambria Math" panose="02040503050406030204" pitchFamily="18" charset="0"/>
                                </a:rPr>
                              </m:ctrlPr>
                            </m:sSupPr>
                            <m:e>
                              <m:r>
                                <a:rPr lang="en-US" altLang="zh-CN" b="1" i="0" smtClean="0">
                                  <a:latin typeface="Cambria Math" panose="02040503050406030204" pitchFamily="18" charset="0"/>
                                </a:rPr>
                                <m:t>𝐱</m:t>
                              </m:r>
                            </m:e>
                            <m:sup>
                              <m:r>
                                <a:rPr lang="en-US" altLang="zh-CN" b="0" i="1" smtClean="0">
                                  <a:latin typeface="Cambria Math" panose="02040503050406030204" pitchFamily="18" charset="0"/>
                                </a:rPr>
                                <m:t>𝑘</m:t>
                              </m:r>
                            </m:sup>
                          </m:sSup>
                        </m:e>
                      </m:d>
                      <m:d>
                        <m:dPr>
                          <m:ctrlPr>
                            <a:rPr lang="en-US" altLang="zh-CN" b="0" i="1" smtClean="0">
                              <a:latin typeface="Cambria Math" panose="02040503050406030204" pitchFamily="18" charset="0"/>
                            </a:rPr>
                          </m:ctrlPr>
                        </m:dPr>
                        <m:e>
                          <m:r>
                            <a:rPr lang="en-US" altLang="zh-CN" b="1">
                              <a:latin typeface="Cambria Math" panose="02040503050406030204" pitchFamily="18" charset="0"/>
                            </a:rPr>
                            <m:t>𝐱</m:t>
                          </m:r>
                          <m:r>
                            <a:rPr lang="en-US" altLang="zh-CN" i="1">
                              <a:latin typeface="Cambria Math" panose="02040503050406030204" pitchFamily="18" charset="0"/>
                            </a:rPr>
                            <m:t> −</m:t>
                          </m:r>
                          <m:sSup>
                            <m:sSupPr>
                              <m:ctrlPr>
                                <a:rPr lang="en-US" altLang="zh-CN" i="1">
                                  <a:latin typeface="Cambria Math" panose="02040503050406030204" pitchFamily="18" charset="0"/>
                                </a:rPr>
                              </m:ctrlPr>
                            </m:sSupPr>
                            <m:e>
                              <m:r>
                                <a:rPr lang="en-US" altLang="zh-CN" b="1">
                                  <a:latin typeface="Cambria Math" panose="02040503050406030204" pitchFamily="18" charset="0"/>
                                </a:rPr>
                                <m:t>𝐱</m:t>
                              </m:r>
                            </m:e>
                            <m:sup>
                              <m:r>
                                <a:rPr lang="en-US" altLang="zh-CN" b="0" i="1" smtClean="0">
                                  <a:latin typeface="Cambria Math" panose="02040503050406030204" pitchFamily="18" charset="0"/>
                                </a:rPr>
                                <m:t>𝑘</m:t>
                              </m:r>
                            </m:sup>
                          </m:sSup>
                        </m:e>
                      </m:d>
                      <m:r>
                        <a:rPr lang="en-US" altLang="zh-CN" b="0" i="1" smtClean="0">
                          <a:latin typeface="Cambria Math" panose="02040503050406030204" pitchFamily="18" charset="0"/>
                        </a:rPr>
                        <m:t>+⋯</m:t>
                      </m:r>
                    </m:oMath>
                  </m:oMathPara>
                </a14:m>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a:p>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牛顿法需要求解线性方程组</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pPr marL="0" indent="0" algn="ctr">
                  <a:buNone/>
                </a:pPr>
                <a:r>
                  <a:rPr lang="ja-JP" altLang="zh-CN"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ja-JP" baseline="30000" dirty="0" smtClean="0">
                    <a:latin typeface="Times New Roman" panose="02020603050405020304" pitchFamily="18" charset="0"/>
                    <a:ea typeface="楷体" panose="02010609060101010101" pitchFamily="49" charset="-122"/>
                    <a:cs typeface="Times New Roman" panose="02020603050405020304" pitchFamily="18" charset="0"/>
                  </a:rPr>
                  <a:t>2</a:t>
                </a:r>
                <a:r>
                  <a:rPr lang="en-US" altLang="ja-JP" i="1" dirty="0" smtClean="0">
                    <a:latin typeface="Times New Roman" panose="02020603050405020304" pitchFamily="18" charset="0"/>
                    <a:ea typeface="楷体" panose="02010609060101010101" pitchFamily="49" charset="-122"/>
                    <a:cs typeface="Times New Roman" panose="02020603050405020304" pitchFamily="18" charset="0"/>
                  </a:rPr>
                  <a:t>f</a:t>
                </a:r>
                <a:r>
                  <a:rPr lang="en-US" altLang="ja-JP"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ja-JP" b="1" dirty="0" err="1" smtClean="0">
                    <a:latin typeface="Times New Roman" panose="02020603050405020304" pitchFamily="18" charset="0"/>
                    <a:ea typeface="楷体" panose="02010609060101010101" pitchFamily="49" charset="-122"/>
                    <a:cs typeface="Times New Roman" panose="02020603050405020304" pitchFamily="18" charset="0"/>
                  </a:rPr>
                  <a:t>x</a:t>
                </a:r>
                <a:r>
                  <a:rPr lang="en-US" altLang="ja-JP" i="1" baseline="30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ja-JP"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ja-JP" b="1" dirty="0" err="1" smtClean="0">
                    <a:latin typeface="Times New Roman" panose="02020603050405020304" pitchFamily="18" charset="0"/>
                    <a:ea typeface="楷体" panose="02010609060101010101" pitchFamily="49" charset="-122"/>
                    <a:cs typeface="Times New Roman" panose="02020603050405020304" pitchFamily="18" charset="0"/>
                  </a:rPr>
                  <a:t>d</a:t>
                </a:r>
                <a:r>
                  <a:rPr lang="en-US" altLang="ja-JP"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ja-JP" baseline="-25000" dirty="0" smtClean="0">
                    <a:latin typeface="Times New Roman" panose="02020603050405020304" pitchFamily="18" charset="0"/>
                    <a:ea typeface="楷体" panose="02010609060101010101" pitchFamily="49" charset="-122"/>
                    <a:cs typeface="Times New Roman" panose="02020603050405020304" pitchFamily="18" charset="0"/>
                  </a:rPr>
                  <a:t> + 1</a:t>
                </a:r>
                <a:r>
                  <a:rPr lang="en-US" altLang="ja-JP" dirty="0" smtClean="0">
                    <a:latin typeface="Times New Roman" panose="02020603050405020304" pitchFamily="18" charset="0"/>
                    <a:ea typeface="楷体" panose="02010609060101010101" pitchFamily="49" charset="-122"/>
                    <a:cs typeface="Times New Roman" panose="02020603050405020304" pitchFamily="18" charset="0"/>
                  </a:rPr>
                  <a:t> = –</a:t>
                </a:r>
                <a:r>
                  <a:rPr lang="en-US" altLang="ja-JP" dirty="0" smtClean="0">
                    <a:latin typeface="Times New Roman" panose="02020603050405020304" pitchFamily="18" charset="0"/>
                    <a:ea typeface="Cambria Math" panose="02040503050406030204" pitchFamily="18" charset="0"/>
                    <a:cs typeface="Times New Roman" panose="02020603050405020304" pitchFamily="18" charset="0"/>
                  </a:rPr>
                  <a:t>∇</a:t>
                </a:r>
                <a:r>
                  <a:rPr lang="en-US" altLang="ja-JP" i="1" dirty="0" smtClean="0">
                    <a:latin typeface="Times New Roman" panose="02020603050405020304" pitchFamily="18" charset="0"/>
                    <a:ea typeface="Cambria Math" panose="02040503050406030204" pitchFamily="18" charset="0"/>
                    <a:cs typeface="Times New Roman" panose="02020603050405020304" pitchFamily="18" charset="0"/>
                  </a:rPr>
                  <a:t>f</a:t>
                </a:r>
                <a:r>
                  <a:rPr lang="en-US" altLang="ja-JP" dirty="0" smtClean="0">
                    <a:latin typeface="Times New Roman" panose="02020603050405020304" pitchFamily="18" charset="0"/>
                    <a:ea typeface="Cambria Math" panose="02040503050406030204" pitchFamily="18" charset="0"/>
                    <a:cs typeface="Times New Roman" panose="02020603050405020304" pitchFamily="18" charset="0"/>
                  </a:rPr>
                  <a:t>(</a:t>
                </a:r>
                <a:r>
                  <a:rPr lang="en-US" altLang="ja-JP" b="1" dirty="0" err="1" smtClean="0">
                    <a:latin typeface="Times New Roman" panose="02020603050405020304" pitchFamily="18" charset="0"/>
                    <a:ea typeface="Cambria Math" panose="02040503050406030204" pitchFamily="18" charset="0"/>
                    <a:cs typeface="Times New Roman" panose="02020603050405020304" pitchFamily="18" charset="0"/>
                  </a:rPr>
                  <a:t>x</a:t>
                </a:r>
                <a:r>
                  <a:rPr lang="en-US" altLang="ja-JP" i="1" baseline="30000" dirty="0" err="1" smtClean="0">
                    <a:latin typeface="Times New Roman" panose="02020603050405020304" pitchFamily="18" charset="0"/>
                    <a:ea typeface="Cambria Math" panose="02040503050406030204" pitchFamily="18" charset="0"/>
                    <a:cs typeface="Times New Roman" panose="02020603050405020304" pitchFamily="18" charset="0"/>
                  </a:rPr>
                  <a:t>k</a:t>
                </a:r>
                <a:r>
                  <a:rPr lang="en-US" altLang="ja-JP" dirty="0" smtClean="0">
                    <a:latin typeface="Times New Roman" panose="02020603050405020304" pitchFamily="18" charset="0"/>
                    <a:ea typeface="Cambria Math" panose="02040503050406030204" pitchFamily="18" charset="0"/>
                    <a:cs typeface="Times New Roman" panose="02020603050405020304" pitchFamily="18" charset="0"/>
                  </a:rPr>
                  <a:t>)</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方程组的系数矩阵</a:t>
                </a:r>
                <a:r>
                  <a:rPr lang="ja-JP" altLang="zh-CN" dirty="0">
                    <a:latin typeface="Times New Roman" panose="02020603050405020304" pitchFamily="18" charset="0"/>
                    <a:ea typeface="楷体" panose="02010609060101010101" pitchFamily="49" charset="-122"/>
                    <a:cs typeface="Times New Roman" panose="02020603050405020304" pitchFamily="18" charset="0"/>
                  </a:rPr>
                  <a:t>∇</a:t>
                </a:r>
                <a:r>
                  <a:rPr lang="en-US" altLang="ja-JP" baseline="30000" dirty="0">
                    <a:latin typeface="Times New Roman" panose="02020603050405020304" pitchFamily="18" charset="0"/>
                    <a:ea typeface="楷体" panose="02010609060101010101" pitchFamily="49" charset="-122"/>
                    <a:cs typeface="Times New Roman" panose="02020603050405020304" pitchFamily="18" charset="0"/>
                  </a:rPr>
                  <a:t>2</a:t>
                </a:r>
                <a:r>
                  <a:rPr lang="en-US" altLang="ja-JP" i="1" dirty="0">
                    <a:latin typeface="Times New Roman" panose="02020603050405020304" pitchFamily="18" charset="0"/>
                    <a:ea typeface="楷体" panose="02010609060101010101" pitchFamily="49" charset="-122"/>
                    <a:cs typeface="Times New Roman" panose="02020603050405020304" pitchFamily="18" charset="0"/>
                  </a:rPr>
                  <a:t>f</a:t>
                </a:r>
                <a:r>
                  <a:rPr lang="en-US" altLang="ja-JP" dirty="0">
                    <a:latin typeface="Times New Roman" panose="02020603050405020304" pitchFamily="18" charset="0"/>
                    <a:ea typeface="楷体" panose="02010609060101010101" pitchFamily="49" charset="-122"/>
                    <a:cs typeface="Times New Roman" panose="02020603050405020304" pitchFamily="18" charset="0"/>
                  </a:rPr>
                  <a:t>(</a:t>
                </a:r>
                <a:r>
                  <a:rPr lang="en-US" altLang="ja-JP" b="1" dirty="0" err="1">
                    <a:latin typeface="Times New Roman" panose="02020603050405020304" pitchFamily="18" charset="0"/>
                    <a:ea typeface="楷体" panose="02010609060101010101" pitchFamily="49" charset="-122"/>
                    <a:cs typeface="Times New Roman" panose="02020603050405020304" pitchFamily="18" charset="0"/>
                  </a:rPr>
                  <a:t>x</a:t>
                </a:r>
                <a:r>
                  <a:rPr lang="en-US" altLang="ja-JP" i="1" baseline="30000" dirty="0" err="1">
                    <a:latin typeface="Times New Roman" panose="02020603050405020304" pitchFamily="18" charset="0"/>
                    <a:ea typeface="楷体" panose="02010609060101010101" pitchFamily="49" charset="-122"/>
                    <a:cs typeface="Times New Roman" panose="02020603050405020304" pitchFamily="18" charset="0"/>
                  </a:rPr>
                  <a:t>k</a:t>
                </a:r>
                <a:r>
                  <a:rPr lang="en-US" altLang="ja-JP"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即海森矩阵，它满足正定对称</a:t>
                </a:r>
                <a:r>
                  <a:rPr lang="zh-CN" altLang="en-US" dirty="0">
                    <a:latin typeface="Times New Roman" panose="02020603050405020304" pitchFamily="18" charset="0"/>
                    <a:ea typeface="楷体" panose="02010609060101010101" pitchFamily="49" charset="-122"/>
                    <a:cs typeface="Times New Roman" panose="02020603050405020304" pitchFamily="18" charset="0"/>
                  </a:rPr>
                  <a:t>条件</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，因而可以用共轭梯度法求解</a:t>
                </a:r>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3"/>
                <a:stretch>
                  <a:fillRect l="-1391" t="-2801"/>
                </a:stretch>
              </a:blipFill>
            </p:spPr>
            <p:txBody>
              <a:bodyPr/>
              <a:lstStyle/>
              <a:p>
                <a:r>
                  <a:rPr lang="zh-CN" altLang="en-US">
                    <a:noFill/>
                  </a:rPr>
                  <a:t> </a:t>
                </a:r>
              </a:p>
            </p:txBody>
          </p:sp>
        </mc:Fallback>
      </mc:AlternateContent>
    </p:spTree>
    <p:custDataLst>
      <p:tags r:id="rId1"/>
    </p:custDataLst>
    <p:extLst>
      <p:ext uri="{BB962C8B-B14F-4D97-AF65-F5344CB8AC3E}">
        <p14:creationId xmlns:p14="http://schemas.microsoft.com/office/powerpoint/2010/main" val="34645824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宋体" panose="02010600030101010101" pitchFamily="2" charset="-122"/>
                <a:ea typeface="宋体" panose="02010600030101010101" pitchFamily="2" charset="-122"/>
              </a:rPr>
              <a:t>非线性共轭梯度算法</a:t>
            </a:r>
            <a:endParaRPr lang="zh-CN" altLang="en-US" dirty="0">
              <a:latin typeface="宋体" panose="02010600030101010101" pitchFamily="2" charset="-122"/>
              <a:ea typeface="宋体" panose="02010600030101010101" pitchFamily="2" charset="-122"/>
            </a:endParaRP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给定函数</a:t>
                </a:r>
                <a:r>
                  <a:rPr lang="en-US" altLang="zh-CN" i="1" dirty="0" smtClean="0">
                    <a:latin typeface="Times New Roman" panose="02020603050405020304" pitchFamily="18" charset="0"/>
                    <a:ea typeface="楷体" panose="02010609060101010101" pitchFamily="49" charset="-122"/>
                    <a:cs typeface="Times New Roman" panose="02020603050405020304" pitchFamily="18" charset="0"/>
                  </a:rPr>
                  <a:t>f</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x</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，当前位置</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x</a:t>
                </a:r>
                <a:r>
                  <a:rPr lang="en-US" altLang="zh-CN" i="1" baseline="30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，前一次优化方向</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d</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endParaRPr lang="en-US" altLang="zh-CN" i="1" baseline="-25000" dirty="0" smtClean="0">
                  <a:latin typeface="Times New Roman" panose="02020603050405020304" pitchFamily="18" charset="0"/>
                  <a:ea typeface="楷体" panose="02010609060101010101" pitchFamily="49" charset="-122"/>
                  <a:cs typeface="Times New Roman" panose="02020603050405020304" pitchFamily="18" charset="0"/>
                </a:endParaRPr>
              </a:p>
              <a:p>
                <a:pPr marL="0" indent="0" algn="ctr">
                  <a:buNone/>
                </a:pP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g</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 ∇</a:t>
                </a:r>
                <a:r>
                  <a:rPr lang="en-US" altLang="zh-CN" i="1" dirty="0" smtClean="0">
                    <a:latin typeface="Times New Roman" panose="02020603050405020304" pitchFamily="18" charset="0"/>
                    <a:ea typeface="楷体" panose="02010609060101010101" pitchFamily="49" charset="-122"/>
                    <a:cs typeface="Times New Roman" panose="02020603050405020304" pitchFamily="18" charset="0"/>
                  </a:rPr>
                  <a:t>f</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x</a:t>
                </a:r>
                <a:r>
                  <a:rPr lang="en-US" altLang="zh-CN" i="1" baseline="30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p>
              <a:p>
                <a:pPr marL="0" indent="0" algn="ctr">
                  <a:buNone/>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𝛽</m:t>
                          </m:r>
                        </m:e>
                        <m:sub>
                          <m:r>
                            <a:rPr lang="en-US" altLang="zh-CN" i="1">
                              <a:latin typeface="Cambria Math" panose="02040503050406030204" pitchFamily="18" charset="0"/>
                            </a:rPr>
                            <m:t>𝑘</m:t>
                          </m:r>
                        </m:sub>
                      </m:sSub>
                      <m:r>
                        <a:rPr lang="en-US" altLang="zh-CN" i="1">
                          <a:latin typeface="Cambria Math" panose="02040503050406030204" pitchFamily="18" charset="0"/>
                        </a:rPr>
                        <m:t>=</m:t>
                      </m:r>
                      <m:r>
                        <a:rPr lang="en-US" altLang="zh-CN" b="0" i="1" smtClean="0">
                          <a:latin typeface="Cambria Math" panose="02040503050406030204" pitchFamily="18" charset="0"/>
                        </a:rPr>
                        <m:t>−</m:t>
                      </m:r>
                      <m:f>
                        <m:fPr>
                          <m:ctrlPr>
                            <a:rPr lang="en-US" altLang="zh-CN" i="1">
                              <a:latin typeface="Cambria Math" panose="02040503050406030204" pitchFamily="18" charset="0"/>
                            </a:rPr>
                          </m:ctrlPr>
                        </m:fPr>
                        <m:num>
                          <m:sSubSup>
                            <m:sSubSupPr>
                              <m:ctrlPr>
                                <a:rPr lang="en-US" altLang="zh-CN" i="1">
                                  <a:latin typeface="Cambria Math" panose="02040503050406030204" pitchFamily="18" charset="0"/>
                                </a:rPr>
                              </m:ctrlPr>
                            </m:sSubSupPr>
                            <m:e>
                              <m:r>
                                <a:rPr lang="en-US" altLang="zh-CN" b="1" i="0" smtClean="0">
                                  <a:latin typeface="Cambria Math" panose="02040503050406030204" pitchFamily="18" charset="0"/>
                                </a:rPr>
                                <m:t>𝐝</m:t>
                              </m:r>
                            </m:e>
                            <m:sub>
                              <m:r>
                                <a:rPr lang="en-US" altLang="zh-CN" i="1">
                                  <a:latin typeface="Cambria Math" panose="02040503050406030204" pitchFamily="18" charset="0"/>
                                </a:rPr>
                                <m:t>𝑘</m:t>
                              </m:r>
                            </m:sub>
                            <m:sup>
                              <m:r>
                                <a:rPr lang="en-US" altLang="zh-CN" i="1">
                                  <a:latin typeface="Cambria Math" panose="02040503050406030204" pitchFamily="18" charset="0"/>
                                </a:rPr>
                                <m:t>𝑇</m:t>
                              </m:r>
                            </m:sup>
                          </m:sSubSup>
                          <m:sSup>
                            <m:sSupPr>
                              <m:ctrlPr>
                                <a:rPr lang="en-US" altLang="zh-CN" b="0" i="1" smtClean="0">
                                  <a:latin typeface="Cambria Math" panose="02040503050406030204" pitchFamily="18" charset="0"/>
                                </a:rPr>
                              </m:ctrlPr>
                            </m:sSupPr>
                            <m:e>
                              <m:r>
                                <a:rPr lang="en-US" altLang="zh-CN" b="0" i="0" smtClean="0">
                                  <a:latin typeface="Cambria Math" panose="02040503050406030204" pitchFamily="18" charset="0"/>
                                </a:rPr>
                                <m:t>𝛻</m:t>
                              </m:r>
                            </m:e>
                            <m:sup>
                              <m:r>
                                <a:rPr lang="en-US" altLang="zh-CN" b="0" i="1" smtClean="0">
                                  <a:latin typeface="Cambria Math" panose="02040503050406030204" pitchFamily="18" charset="0"/>
                                </a:rPr>
                                <m:t>2</m:t>
                              </m:r>
                            </m:sup>
                          </m:sSup>
                          <m:r>
                            <a:rPr lang="en-US" altLang="zh-CN" b="0" i="1" smtClean="0">
                              <a:latin typeface="Cambria Math" panose="02040503050406030204" pitchFamily="18" charset="0"/>
                            </a:rPr>
                            <m:t>𝑓</m:t>
                          </m:r>
                          <m:d>
                            <m:dPr>
                              <m:ctrlPr>
                                <a:rPr lang="en-US" altLang="zh-CN" b="0" i="1" smtClean="0">
                                  <a:latin typeface="Cambria Math" panose="02040503050406030204" pitchFamily="18" charset="0"/>
                                </a:rPr>
                              </m:ctrlPr>
                            </m:dPr>
                            <m:e>
                              <m:sSup>
                                <m:sSupPr>
                                  <m:ctrlPr>
                                    <a:rPr lang="en-US" altLang="zh-CN" b="0" i="1" smtClean="0">
                                      <a:latin typeface="Cambria Math" panose="02040503050406030204" pitchFamily="18" charset="0"/>
                                    </a:rPr>
                                  </m:ctrlPr>
                                </m:sSupPr>
                                <m:e>
                                  <m:r>
                                    <a:rPr lang="en-US" altLang="zh-CN" b="1" i="0" smtClean="0">
                                      <a:latin typeface="Cambria Math" panose="02040503050406030204" pitchFamily="18" charset="0"/>
                                    </a:rPr>
                                    <m:t>𝐱</m:t>
                                  </m:r>
                                </m:e>
                                <m:sup>
                                  <m:r>
                                    <a:rPr lang="en-US" altLang="zh-CN" b="0" i="1" smtClean="0">
                                      <a:latin typeface="Cambria Math" panose="02040503050406030204" pitchFamily="18" charset="0"/>
                                    </a:rPr>
                                    <m:t>𝑘</m:t>
                                  </m:r>
                                </m:sup>
                              </m:sSup>
                            </m:e>
                          </m:d>
                          <m:sSub>
                            <m:sSubPr>
                              <m:ctrlPr>
                                <a:rPr lang="en-US" altLang="zh-CN" i="1">
                                  <a:latin typeface="Cambria Math" panose="02040503050406030204" pitchFamily="18" charset="0"/>
                                </a:rPr>
                              </m:ctrlPr>
                            </m:sSubPr>
                            <m:e>
                              <m:r>
                                <a:rPr lang="en-US" altLang="zh-CN" b="1" i="0" smtClean="0">
                                  <a:latin typeface="Cambria Math" panose="02040503050406030204" pitchFamily="18" charset="0"/>
                                </a:rPr>
                                <m:t>𝐠</m:t>
                              </m:r>
                            </m:e>
                            <m:sub>
                              <m:r>
                                <a:rPr lang="en-US" altLang="zh-CN" i="1">
                                  <a:latin typeface="Cambria Math" panose="02040503050406030204" pitchFamily="18" charset="0"/>
                                </a:rPr>
                                <m:t>𝑘</m:t>
                              </m:r>
                            </m:sub>
                          </m:sSub>
                        </m:num>
                        <m:den>
                          <m:sSubSup>
                            <m:sSubSupPr>
                              <m:ctrlPr>
                                <a:rPr lang="en-US" altLang="zh-CN" b="0" i="1" smtClean="0">
                                  <a:latin typeface="Cambria Math" panose="02040503050406030204" pitchFamily="18" charset="0"/>
                                </a:rPr>
                              </m:ctrlPr>
                            </m:sSubSupPr>
                            <m:e>
                              <m:r>
                                <a:rPr lang="en-US" altLang="zh-CN" b="1" i="0" smtClean="0">
                                  <a:latin typeface="Cambria Math" panose="02040503050406030204" pitchFamily="18" charset="0"/>
                                </a:rPr>
                                <m:t>𝐝</m:t>
                              </m:r>
                            </m:e>
                            <m:sub>
                              <m:r>
                                <a:rPr lang="en-US" altLang="zh-CN" b="0" i="1" smtClean="0">
                                  <a:latin typeface="Cambria Math" panose="02040503050406030204" pitchFamily="18" charset="0"/>
                                </a:rPr>
                                <m:t>𝑘</m:t>
                              </m:r>
                            </m:sub>
                            <m:sup>
                              <m:r>
                                <a:rPr lang="en-US" altLang="zh-CN" b="0" i="1" smtClean="0">
                                  <a:latin typeface="Cambria Math" panose="02040503050406030204" pitchFamily="18" charset="0"/>
                                </a:rPr>
                                <m:t>𝑇</m:t>
                              </m:r>
                            </m:sup>
                          </m:sSubSup>
                          <m:sSup>
                            <m:sSupPr>
                              <m:ctrlPr>
                                <a:rPr lang="en-US" altLang="zh-CN" b="0" i="1" smtClean="0">
                                  <a:latin typeface="Cambria Math" panose="02040503050406030204" pitchFamily="18" charset="0"/>
                                </a:rPr>
                              </m:ctrlPr>
                            </m:sSupPr>
                            <m:e>
                              <m:r>
                                <a:rPr lang="en-US" altLang="zh-CN" b="0" i="0" smtClean="0">
                                  <a:latin typeface="Cambria Math" panose="02040503050406030204" pitchFamily="18" charset="0"/>
                                </a:rPr>
                                <m:t>𝛻</m:t>
                              </m:r>
                            </m:e>
                            <m:sup>
                              <m:r>
                                <a:rPr lang="en-US" altLang="zh-CN" b="0" i="1" smtClean="0">
                                  <a:latin typeface="Cambria Math" panose="02040503050406030204" pitchFamily="18" charset="0"/>
                                </a:rPr>
                                <m:t>2</m:t>
                              </m:r>
                            </m:sup>
                          </m:sSup>
                          <m:r>
                            <a:rPr lang="en-US" altLang="zh-CN" b="0" i="1" smtClean="0">
                              <a:latin typeface="Cambria Math" panose="02040503050406030204" pitchFamily="18" charset="0"/>
                            </a:rPr>
                            <m:t>𝑓</m:t>
                          </m:r>
                          <m:d>
                            <m:dPr>
                              <m:ctrlPr>
                                <a:rPr lang="en-US" altLang="zh-CN" b="0" i="1" smtClean="0">
                                  <a:latin typeface="Cambria Math" panose="02040503050406030204" pitchFamily="18" charset="0"/>
                                </a:rPr>
                              </m:ctrlPr>
                            </m:dPr>
                            <m:e>
                              <m:sSup>
                                <m:sSupPr>
                                  <m:ctrlPr>
                                    <a:rPr lang="en-US" altLang="zh-CN" b="0" i="1" smtClean="0">
                                      <a:latin typeface="Cambria Math" panose="02040503050406030204" pitchFamily="18" charset="0"/>
                                    </a:rPr>
                                  </m:ctrlPr>
                                </m:sSupPr>
                                <m:e>
                                  <m:r>
                                    <a:rPr lang="en-US" altLang="zh-CN" b="1" i="0" smtClean="0">
                                      <a:latin typeface="Cambria Math" panose="02040503050406030204" pitchFamily="18" charset="0"/>
                                    </a:rPr>
                                    <m:t>𝐱</m:t>
                                  </m:r>
                                </m:e>
                                <m:sup>
                                  <m:r>
                                    <a:rPr lang="en-US" altLang="zh-CN" b="0" i="1" smtClean="0">
                                      <a:latin typeface="Cambria Math" panose="02040503050406030204" pitchFamily="18" charset="0"/>
                                    </a:rPr>
                                    <m:t>𝑘</m:t>
                                  </m:r>
                                </m:sup>
                              </m:sSup>
                            </m:e>
                          </m:d>
                          <m:sSub>
                            <m:sSubPr>
                              <m:ctrlPr>
                                <a:rPr lang="en-US" altLang="zh-CN" b="0" i="1" smtClean="0">
                                  <a:latin typeface="Cambria Math" panose="02040503050406030204" pitchFamily="18" charset="0"/>
                                </a:rPr>
                              </m:ctrlPr>
                            </m:sSubPr>
                            <m:e>
                              <m:r>
                                <a:rPr lang="en-US" altLang="zh-CN" b="1" i="0" smtClean="0">
                                  <a:latin typeface="Cambria Math" panose="02040503050406030204" pitchFamily="18" charset="0"/>
                                </a:rPr>
                                <m:t>𝐝</m:t>
                              </m:r>
                            </m:e>
                            <m:sub>
                              <m:r>
                                <a:rPr lang="en-US" altLang="zh-CN" b="0" i="1" smtClean="0">
                                  <a:latin typeface="Cambria Math" panose="02040503050406030204" pitchFamily="18" charset="0"/>
                                </a:rPr>
                                <m:t>𝑘</m:t>
                              </m:r>
                            </m:sub>
                          </m:sSub>
                        </m:den>
                      </m:f>
                    </m:oMath>
                  </m:oMathPara>
                </a14:m>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pPr marL="0" indent="0" algn="ctr">
                  <a:buNone/>
                </a:pP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d</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baseline="-25000" dirty="0" smtClean="0">
                    <a:latin typeface="Times New Roman" panose="02020603050405020304" pitchFamily="18" charset="0"/>
                    <a:ea typeface="楷体" panose="02010609060101010101" pitchFamily="49" charset="-122"/>
                    <a:cs typeface="Times New Roman" panose="02020603050405020304" pitchFamily="18" charset="0"/>
                  </a:rPr>
                  <a:t> + 1</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 –</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g</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 </a:t>
                </a:r>
                <a:r>
                  <a:rPr lang="en-US" altLang="zh-CN" i="1" dirty="0" smtClean="0">
                    <a:latin typeface="Times New Roman" panose="02020603050405020304" pitchFamily="18" charset="0"/>
                    <a:ea typeface="楷体" panose="02010609060101010101" pitchFamily="49" charset="-122"/>
                    <a:cs typeface="Times New Roman" panose="02020603050405020304" pitchFamily="18" charset="0"/>
                  </a:rPr>
                  <a:t>β</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d</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endParaRPr lang="en-US" altLang="zh-CN" i="1" baseline="-25000" dirty="0">
                  <a:latin typeface="Times New Roman" panose="02020603050405020304" pitchFamily="18" charset="0"/>
                  <a:ea typeface="楷体" panose="02010609060101010101" pitchFamily="49" charset="-122"/>
                  <a:cs typeface="Times New Roman" panose="02020603050405020304" pitchFamily="18" charset="0"/>
                </a:endParaRPr>
              </a:p>
              <a:p>
                <a:pPr marL="0" indent="0" algn="ctr">
                  <a:buNone/>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𝛼</m:t>
                          </m:r>
                        </m:e>
                        <m:sub>
                          <m:r>
                            <a:rPr lang="en-US" altLang="zh-CN" b="0" i="1" smtClean="0">
                              <a:latin typeface="Cambria Math" panose="02040503050406030204" pitchFamily="18" charset="0"/>
                            </a:rPr>
                            <m:t>𝑘</m:t>
                          </m:r>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func>
                        <m:funcPr>
                          <m:ctrlPr>
                            <a:rPr lang="en-US" altLang="zh-CN" b="0" i="1" smtClean="0">
                              <a:latin typeface="Cambria Math" panose="02040503050406030204" pitchFamily="18" charset="0"/>
                            </a:rPr>
                          </m:ctrlPr>
                        </m:funcPr>
                        <m:fName>
                          <m:limLow>
                            <m:limLowPr>
                              <m:ctrlPr>
                                <a:rPr lang="en-US" altLang="zh-CN" b="0" i="1" smtClean="0">
                                  <a:latin typeface="Cambria Math" panose="02040503050406030204" pitchFamily="18" charset="0"/>
                                </a:rPr>
                              </m:ctrlPr>
                            </m:limLowPr>
                            <m:e>
                              <m:r>
                                <m:rPr>
                                  <m:sty m:val="p"/>
                                </m:rPr>
                                <a:rPr lang="en-US" altLang="zh-CN" b="0" i="0" smtClean="0">
                                  <a:latin typeface="Cambria Math" panose="02040503050406030204" pitchFamily="18" charset="0"/>
                                </a:rPr>
                                <m:t>argmin</m:t>
                              </m:r>
                            </m:e>
                            <m:lim>
                              <m:r>
                                <a:rPr lang="en-US" altLang="zh-CN" b="0" i="1" smtClean="0">
                                  <a:latin typeface="Cambria Math" panose="02040503050406030204" pitchFamily="18" charset="0"/>
                                </a:rPr>
                                <m:t>𝛼</m:t>
                              </m:r>
                            </m:lim>
                          </m:limLow>
                        </m:fName>
                        <m:e>
                          <m:r>
                            <a:rPr lang="en-US" altLang="zh-CN" b="0" i="1" smtClean="0">
                              <a:latin typeface="Cambria Math" panose="02040503050406030204" pitchFamily="18" charset="0"/>
                            </a:rPr>
                            <m:t>𝑓</m:t>
                          </m:r>
                          <m:d>
                            <m:dPr>
                              <m:ctrlPr>
                                <a:rPr lang="en-US" altLang="zh-CN" b="0" i="1" smtClean="0">
                                  <a:latin typeface="Cambria Math" panose="02040503050406030204" pitchFamily="18" charset="0"/>
                                </a:rPr>
                              </m:ctrlPr>
                            </m:dPr>
                            <m:e>
                              <m:sSup>
                                <m:sSupPr>
                                  <m:ctrlPr>
                                    <a:rPr lang="en-US" altLang="zh-CN" b="0" i="1" smtClean="0">
                                      <a:latin typeface="Cambria Math" panose="02040503050406030204" pitchFamily="18" charset="0"/>
                                    </a:rPr>
                                  </m:ctrlPr>
                                </m:sSupPr>
                                <m:e>
                                  <m:r>
                                    <a:rPr lang="en-US" altLang="zh-CN" b="1" i="0" smtClean="0">
                                      <a:latin typeface="Cambria Math" panose="02040503050406030204" pitchFamily="18" charset="0"/>
                                    </a:rPr>
                                    <m:t>𝐱</m:t>
                                  </m:r>
                                </m:e>
                                <m:sup>
                                  <m:r>
                                    <a:rPr lang="en-US" altLang="zh-CN" b="0" i="1" smtClean="0">
                                      <a:latin typeface="Cambria Math" panose="02040503050406030204" pitchFamily="18" charset="0"/>
                                    </a:rPr>
                                    <m:t>𝑘</m:t>
                                  </m:r>
                                </m:sup>
                              </m:sSup>
                              <m:r>
                                <a:rPr lang="en-US" altLang="zh-CN" b="0" i="1" smtClean="0">
                                  <a:latin typeface="Cambria Math" panose="02040503050406030204" pitchFamily="18" charset="0"/>
                                </a:rPr>
                                <m:t>+</m:t>
                              </m:r>
                              <m:r>
                                <a:rPr lang="en-US" altLang="zh-CN" b="0" i="1" smtClean="0">
                                  <a:latin typeface="Cambria Math" panose="02040503050406030204" pitchFamily="18" charset="0"/>
                                </a:rPr>
                                <m:t>𝛼</m:t>
                              </m:r>
                              <m:sSub>
                                <m:sSubPr>
                                  <m:ctrlPr>
                                    <a:rPr lang="en-US" altLang="zh-CN" b="0" i="1" smtClean="0">
                                      <a:latin typeface="Cambria Math" panose="02040503050406030204" pitchFamily="18" charset="0"/>
                                    </a:rPr>
                                  </m:ctrlPr>
                                </m:sSubPr>
                                <m:e>
                                  <m:r>
                                    <a:rPr lang="en-US" altLang="zh-CN" b="1" i="0" smtClean="0">
                                      <a:latin typeface="Cambria Math" panose="02040503050406030204" pitchFamily="18" charset="0"/>
                                    </a:rPr>
                                    <m:t>𝐝</m:t>
                                  </m:r>
                                </m:e>
                                <m:sub>
                                  <m:r>
                                    <a:rPr lang="en-US" altLang="zh-CN" b="0" i="1" smtClean="0">
                                      <a:latin typeface="Cambria Math" panose="02040503050406030204" pitchFamily="18" charset="0"/>
                                    </a:rPr>
                                    <m:t>𝑘</m:t>
                                  </m:r>
                                  <m:r>
                                    <a:rPr lang="en-US" altLang="zh-CN" b="0" i="1" smtClean="0">
                                      <a:latin typeface="Cambria Math" panose="02040503050406030204" pitchFamily="18" charset="0"/>
                                    </a:rPr>
                                    <m:t>+1</m:t>
                                  </m:r>
                                </m:sub>
                              </m:sSub>
                            </m:e>
                          </m:d>
                        </m:e>
                      </m:func>
                    </m:oMath>
                  </m:oMathPara>
                </a14:m>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pPr marL="0" indent="0" algn="ctr">
                  <a:buNone/>
                </a:pP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x</a:t>
                </a:r>
                <a:r>
                  <a:rPr lang="en-US" altLang="zh-CN" i="1" baseline="30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baseline="30000" dirty="0" smtClean="0">
                    <a:latin typeface="Times New Roman" panose="02020603050405020304" pitchFamily="18" charset="0"/>
                    <a:ea typeface="楷体" panose="02010609060101010101" pitchFamily="49" charset="-122"/>
                    <a:cs typeface="Times New Roman" panose="02020603050405020304" pitchFamily="18" charset="0"/>
                  </a:rPr>
                  <a:t> + 1</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 </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x</a:t>
                </a:r>
                <a:r>
                  <a:rPr lang="en-US" altLang="zh-CN" i="1" baseline="30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 </a:t>
                </a:r>
                <a:r>
                  <a:rPr lang="en-US" altLang="zh-CN" i="1" dirty="0" smtClean="0">
                    <a:latin typeface="Times New Roman" panose="02020603050405020304" pitchFamily="18" charset="0"/>
                    <a:ea typeface="楷体" panose="02010609060101010101" pitchFamily="49" charset="-122"/>
                    <a:cs typeface="Times New Roman" panose="02020603050405020304" pitchFamily="18" charset="0"/>
                  </a:rPr>
                  <a:t>α</a:t>
                </a:r>
                <a:r>
                  <a:rPr lang="en-US" altLang="zh-CN" i="1" baseline="-25000" dirty="0"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baseline="-25000" dirty="0" smtClean="0">
                    <a:latin typeface="Times New Roman" panose="02020603050405020304" pitchFamily="18" charset="0"/>
                    <a:ea typeface="楷体" panose="02010609060101010101" pitchFamily="49" charset="-122"/>
                    <a:cs typeface="Times New Roman" panose="02020603050405020304" pitchFamily="18" charset="0"/>
                  </a:rPr>
                  <a:t> + 1</a:t>
                </a: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d</a:t>
                </a:r>
                <a:r>
                  <a:rPr lang="en-US" altLang="zh-CN" i="1" baseline="-25000" dirty="0"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baseline="-25000" dirty="0" smtClean="0">
                    <a:latin typeface="Times New Roman" panose="02020603050405020304" pitchFamily="18" charset="0"/>
                    <a:ea typeface="楷体" panose="02010609060101010101" pitchFamily="49" charset="-122"/>
                    <a:cs typeface="Times New Roman" panose="02020603050405020304" pitchFamily="18" charset="0"/>
                  </a:rPr>
                  <a:t> + 1</a:t>
                </a:r>
              </a:p>
              <a:p>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非线性共轭梯度法能达到超线性收敛</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3"/>
                <a:stretch>
                  <a:fillRect l="-1391" t="-2801"/>
                </a:stretch>
              </a:blipFill>
            </p:spPr>
            <p:txBody>
              <a:bodyPr/>
              <a:lstStyle/>
              <a:p>
                <a:r>
                  <a:rPr lang="zh-CN" altLang="en-US">
                    <a:noFill/>
                  </a:rPr>
                  <a:t> </a:t>
                </a:r>
              </a:p>
            </p:txBody>
          </p:sp>
        </mc:Fallback>
      </mc:AlternateContent>
    </p:spTree>
    <p:custDataLst>
      <p:tags r:id="rId1"/>
    </p:custDataLst>
    <p:extLst>
      <p:ext uri="{BB962C8B-B14F-4D97-AF65-F5344CB8AC3E}">
        <p14:creationId xmlns:p14="http://schemas.microsoft.com/office/powerpoint/2010/main" val="2284315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宋体" panose="02010600030101010101" pitchFamily="2" charset="-122"/>
                <a:ea typeface="宋体" panose="02010600030101010101" pitchFamily="2" charset="-122"/>
              </a:rPr>
              <a:t>线性与非线性的比较</a:t>
            </a:r>
            <a:endParaRPr lang="zh-CN" altLang="en-US" dirty="0">
              <a:latin typeface="宋体" panose="02010600030101010101" pitchFamily="2" charset="-122"/>
              <a:ea typeface="宋体" panose="02010600030101010101" pitchFamily="2" charset="-122"/>
            </a:endParaRPr>
          </a:p>
        </p:txBody>
      </p:sp>
      <p:graphicFrame>
        <p:nvGraphicFramePr>
          <p:cNvPr id="5" name="内容占位符 4"/>
          <p:cNvGraphicFramePr>
            <a:graphicFrameLocks noGrp="1"/>
          </p:cNvGraphicFramePr>
          <p:nvPr>
            <p:ph idx="1"/>
            <p:extLst>
              <p:ext uri="{D42A27DB-BD31-4B8C-83A1-F6EECF244321}">
                <p14:modId xmlns:p14="http://schemas.microsoft.com/office/powerpoint/2010/main" val="2717479667"/>
              </p:ext>
            </p:extLst>
          </p:nvPr>
        </p:nvGraphicFramePr>
        <p:xfrm>
          <a:off x="628650" y="1825625"/>
          <a:ext cx="7886700" cy="3627120"/>
        </p:xfrm>
        <a:graphic>
          <a:graphicData uri="http://schemas.openxmlformats.org/drawingml/2006/table">
            <a:tbl>
              <a:tblPr firstRow="1" bandRow="1">
                <a:tableStyleId>{5940675A-B579-460E-94D1-54222C63F5DA}</a:tableStyleId>
              </a:tblPr>
              <a:tblGrid>
                <a:gridCol w="2158938">
                  <a:extLst>
                    <a:ext uri="{9D8B030D-6E8A-4147-A177-3AD203B41FA5}">
                      <a16:colId xmlns:a16="http://schemas.microsoft.com/office/drawing/2014/main" val="3510232665"/>
                    </a:ext>
                  </a:extLst>
                </a:gridCol>
                <a:gridCol w="2689934">
                  <a:extLst>
                    <a:ext uri="{9D8B030D-6E8A-4147-A177-3AD203B41FA5}">
                      <a16:colId xmlns:a16="http://schemas.microsoft.com/office/drawing/2014/main" val="4255924647"/>
                    </a:ext>
                  </a:extLst>
                </a:gridCol>
                <a:gridCol w="3037828">
                  <a:extLst>
                    <a:ext uri="{9D8B030D-6E8A-4147-A177-3AD203B41FA5}">
                      <a16:colId xmlns:a16="http://schemas.microsoft.com/office/drawing/2014/main" val="2006350493"/>
                    </a:ext>
                  </a:extLst>
                </a:gridCol>
              </a:tblGrid>
              <a:tr h="370840">
                <a:tc>
                  <a:txBody>
                    <a:bodyPr/>
                    <a:lstStyle/>
                    <a:p>
                      <a:pPr algn="ctr"/>
                      <a:endParaRPr lang="zh-CN" altLang="en-US" sz="2800" dirty="0">
                        <a:latin typeface="楷体" panose="02010609060101010101" pitchFamily="49" charset="-122"/>
                        <a:ea typeface="楷体" panose="02010609060101010101" pitchFamily="49" charset="-122"/>
                      </a:endParaRPr>
                    </a:p>
                  </a:txBody>
                  <a:tcPr anchor="ctr"/>
                </a:tc>
                <a:tc>
                  <a:txBody>
                    <a:bodyPr/>
                    <a:lstStyle/>
                    <a:p>
                      <a:pPr algn="ctr"/>
                      <a:r>
                        <a:rPr lang="zh-CN" altLang="en-US" sz="2800" dirty="0" smtClean="0">
                          <a:latin typeface="楷体" panose="02010609060101010101" pitchFamily="49" charset="-122"/>
                          <a:ea typeface="楷体" panose="02010609060101010101" pitchFamily="49" charset="-122"/>
                        </a:rPr>
                        <a:t>线性共轭梯度法</a:t>
                      </a:r>
                      <a:endParaRPr lang="zh-CN" altLang="en-US" sz="2800" dirty="0">
                        <a:latin typeface="楷体" panose="02010609060101010101" pitchFamily="49" charset="-122"/>
                        <a:ea typeface="楷体" panose="02010609060101010101" pitchFamily="49" charset="-122"/>
                      </a:endParaRPr>
                    </a:p>
                  </a:txBody>
                  <a:tcPr anchor="ctr"/>
                </a:tc>
                <a:tc>
                  <a:txBody>
                    <a:bodyPr/>
                    <a:lstStyle/>
                    <a:p>
                      <a:pPr algn="ctr"/>
                      <a:r>
                        <a:rPr lang="zh-CN" altLang="en-US" sz="2800" dirty="0" smtClean="0">
                          <a:latin typeface="楷体" panose="02010609060101010101" pitchFamily="49" charset="-122"/>
                          <a:ea typeface="楷体" panose="02010609060101010101" pitchFamily="49" charset="-122"/>
                        </a:rPr>
                        <a:t>非线性共轭梯度法</a:t>
                      </a:r>
                      <a:endParaRPr lang="zh-CN" altLang="en-US" sz="2800" dirty="0">
                        <a:latin typeface="楷体" panose="02010609060101010101" pitchFamily="49" charset="-122"/>
                        <a:ea typeface="楷体" panose="02010609060101010101" pitchFamily="49" charset="-122"/>
                      </a:endParaRPr>
                    </a:p>
                  </a:txBody>
                  <a:tcPr anchor="ctr"/>
                </a:tc>
                <a:extLst>
                  <a:ext uri="{0D108BD9-81ED-4DB2-BD59-A6C34878D82A}">
                    <a16:rowId xmlns:a16="http://schemas.microsoft.com/office/drawing/2014/main" val="2983880924"/>
                  </a:ext>
                </a:extLst>
              </a:tr>
              <a:tr h="370840">
                <a:tc>
                  <a:txBody>
                    <a:bodyPr/>
                    <a:lstStyle/>
                    <a:p>
                      <a:pPr algn="ctr"/>
                      <a:r>
                        <a:rPr lang="zh-CN" altLang="en-US" sz="2800" dirty="0" smtClean="0">
                          <a:latin typeface="楷体" panose="02010609060101010101" pitchFamily="49" charset="-122"/>
                          <a:ea typeface="楷体" panose="02010609060101010101" pitchFamily="49" charset="-122"/>
                        </a:rPr>
                        <a:t>目标</a:t>
                      </a:r>
                      <a:endParaRPr lang="zh-CN" altLang="en-US" sz="2800" dirty="0">
                        <a:latin typeface="楷体" panose="02010609060101010101" pitchFamily="49" charset="-122"/>
                        <a:ea typeface="楷体" panose="02010609060101010101" pitchFamily="49" charset="-122"/>
                      </a:endParaRPr>
                    </a:p>
                  </a:txBody>
                  <a:tcPr anchor="ctr"/>
                </a:tc>
                <a:tc>
                  <a:txBody>
                    <a:bodyPr/>
                    <a:lstStyle/>
                    <a:p>
                      <a:pPr algn="ctr"/>
                      <a:r>
                        <a:rPr lang="zh-CN" altLang="en-US" sz="2800" dirty="0" smtClean="0">
                          <a:latin typeface="楷体" panose="02010609060101010101" pitchFamily="49" charset="-122"/>
                          <a:ea typeface="楷体" panose="02010609060101010101" pitchFamily="49" charset="-122"/>
                        </a:rPr>
                        <a:t>求解线性系统</a:t>
                      </a:r>
                      <a:endParaRPr lang="zh-CN" altLang="en-US" sz="2800" dirty="0">
                        <a:latin typeface="楷体" panose="02010609060101010101" pitchFamily="49" charset="-122"/>
                        <a:ea typeface="楷体" panose="02010609060101010101" pitchFamily="49" charset="-122"/>
                      </a:endParaRPr>
                    </a:p>
                  </a:txBody>
                  <a:tcPr anchor="ctr"/>
                </a:tc>
                <a:tc>
                  <a:txBody>
                    <a:bodyPr/>
                    <a:lstStyle/>
                    <a:p>
                      <a:pPr algn="ctr"/>
                      <a:r>
                        <a:rPr lang="zh-CN" altLang="en-US" sz="2800" dirty="0" smtClean="0">
                          <a:latin typeface="楷体" panose="02010609060101010101" pitchFamily="49" charset="-122"/>
                          <a:ea typeface="楷体" panose="02010609060101010101" pitchFamily="49" charset="-122"/>
                        </a:rPr>
                        <a:t>计算函数极值</a:t>
                      </a:r>
                      <a:endParaRPr lang="zh-CN" altLang="en-US" sz="2800" dirty="0">
                        <a:latin typeface="楷体" panose="02010609060101010101" pitchFamily="49" charset="-122"/>
                        <a:ea typeface="楷体" panose="02010609060101010101" pitchFamily="49" charset="-122"/>
                      </a:endParaRPr>
                    </a:p>
                  </a:txBody>
                  <a:tcPr anchor="ctr"/>
                </a:tc>
                <a:extLst>
                  <a:ext uri="{0D108BD9-81ED-4DB2-BD59-A6C34878D82A}">
                    <a16:rowId xmlns:a16="http://schemas.microsoft.com/office/drawing/2014/main" val="3694811054"/>
                  </a:ext>
                </a:extLst>
              </a:tr>
              <a:tr h="370840">
                <a:tc>
                  <a:txBody>
                    <a:bodyPr/>
                    <a:lstStyle/>
                    <a:p>
                      <a:pPr algn="ctr"/>
                      <a:r>
                        <a:rPr lang="zh-CN" altLang="en-US" sz="2800" dirty="0" smtClean="0">
                          <a:latin typeface="楷体" panose="02010609060101010101" pitchFamily="49" charset="-122"/>
                          <a:ea typeface="楷体" panose="02010609060101010101" pitchFamily="49" charset="-122"/>
                        </a:rPr>
                        <a:t>矩阵</a:t>
                      </a:r>
                      <a:endParaRPr lang="zh-CN" altLang="en-US" sz="2800" dirty="0">
                        <a:latin typeface="楷体" panose="02010609060101010101" pitchFamily="49" charset="-122"/>
                        <a:ea typeface="楷体" panose="02010609060101010101" pitchFamily="49" charset="-122"/>
                      </a:endParaRPr>
                    </a:p>
                  </a:txBody>
                  <a:tcPr anchor="ctr"/>
                </a:tc>
                <a:tc>
                  <a:txBody>
                    <a:bodyPr/>
                    <a:lstStyle/>
                    <a:p>
                      <a:pPr algn="ctr"/>
                      <a:r>
                        <a:rPr lang="zh-CN" altLang="en-US" sz="2800" dirty="0" smtClean="0">
                          <a:latin typeface="楷体" panose="02010609060101010101" pitchFamily="49" charset="-122"/>
                          <a:ea typeface="楷体" panose="02010609060101010101" pitchFamily="49" charset="-122"/>
                        </a:rPr>
                        <a:t>给定矩阵</a:t>
                      </a:r>
                      <a:endParaRPr lang="zh-CN" altLang="en-US" sz="2800" dirty="0">
                        <a:latin typeface="楷体" panose="02010609060101010101" pitchFamily="49" charset="-122"/>
                        <a:ea typeface="楷体" panose="02010609060101010101" pitchFamily="49" charset="-122"/>
                      </a:endParaRPr>
                    </a:p>
                  </a:txBody>
                  <a:tcPr anchor="ctr"/>
                </a:tc>
                <a:tc>
                  <a:txBody>
                    <a:bodyPr/>
                    <a:lstStyle/>
                    <a:p>
                      <a:pPr algn="ctr"/>
                      <a:r>
                        <a:rPr lang="zh-CN" altLang="en-US" sz="2800" dirty="0" smtClean="0">
                          <a:latin typeface="楷体" panose="02010609060101010101" pitchFamily="49" charset="-122"/>
                          <a:ea typeface="楷体" panose="02010609060101010101" pitchFamily="49" charset="-122"/>
                        </a:rPr>
                        <a:t>函数的海森矩阵</a:t>
                      </a:r>
                      <a:endParaRPr lang="zh-CN" altLang="en-US" sz="2800" dirty="0">
                        <a:latin typeface="楷体" panose="02010609060101010101" pitchFamily="49" charset="-122"/>
                        <a:ea typeface="楷体" panose="02010609060101010101" pitchFamily="49" charset="-122"/>
                      </a:endParaRPr>
                    </a:p>
                  </a:txBody>
                  <a:tcPr anchor="ctr"/>
                </a:tc>
                <a:extLst>
                  <a:ext uri="{0D108BD9-81ED-4DB2-BD59-A6C34878D82A}">
                    <a16:rowId xmlns:a16="http://schemas.microsoft.com/office/drawing/2014/main" val="2272897724"/>
                  </a:ext>
                </a:extLst>
              </a:tr>
              <a:tr h="370840">
                <a:tc>
                  <a:txBody>
                    <a:bodyPr/>
                    <a:lstStyle/>
                    <a:p>
                      <a:pPr algn="ctr"/>
                      <a:r>
                        <a:rPr lang="zh-CN" altLang="en-US" sz="2800" dirty="0" smtClean="0">
                          <a:latin typeface="楷体" panose="02010609060101010101" pitchFamily="49" charset="-122"/>
                          <a:ea typeface="楷体" panose="02010609060101010101" pitchFamily="49" charset="-122"/>
                        </a:rPr>
                        <a:t>残差</a:t>
                      </a:r>
                      <a:endParaRPr lang="zh-CN" altLang="en-US" sz="2800" dirty="0">
                        <a:latin typeface="楷体" panose="02010609060101010101" pitchFamily="49" charset="-122"/>
                        <a:ea typeface="楷体" panose="02010609060101010101" pitchFamily="49" charset="-122"/>
                      </a:endParaRPr>
                    </a:p>
                  </a:txBody>
                  <a:tcPr anchor="ctr"/>
                </a:tc>
                <a:tc>
                  <a:txBody>
                    <a:bodyPr/>
                    <a:lstStyle/>
                    <a:p>
                      <a:pPr algn="ctr"/>
                      <a:r>
                        <a:rPr lang="zh-CN" altLang="en-US" sz="2800" dirty="0" smtClean="0">
                          <a:latin typeface="楷体" panose="02010609060101010101" pitchFamily="49" charset="-122"/>
                          <a:ea typeface="楷体" panose="02010609060101010101" pitchFamily="49" charset="-122"/>
                        </a:rPr>
                        <a:t>给定向量</a:t>
                      </a:r>
                      <a:endParaRPr lang="zh-CN" altLang="en-US" sz="2800" dirty="0">
                        <a:latin typeface="楷体" panose="02010609060101010101" pitchFamily="49" charset="-122"/>
                        <a:ea typeface="楷体" panose="02010609060101010101" pitchFamily="49" charset="-122"/>
                      </a:endParaRPr>
                    </a:p>
                  </a:txBody>
                  <a:tcPr anchor="ctr"/>
                </a:tc>
                <a:tc>
                  <a:txBody>
                    <a:bodyPr/>
                    <a:lstStyle/>
                    <a:p>
                      <a:pPr algn="ctr"/>
                      <a:r>
                        <a:rPr lang="zh-CN" altLang="en-US" sz="2800" dirty="0" smtClean="0">
                          <a:latin typeface="楷体" panose="02010609060101010101" pitchFamily="49" charset="-122"/>
                          <a:ea typeface="楷体" panose="02010609060101010101" pitchFamily="49" charset="-122"/>
                        </a:rPr>
                        <a:t>函数梯度</a:t>
                      </a:r>
                      <a:endParaRPr lang="zh-CN" altLang="en-US" sz="2800" dirty="0">
                        <a:latin typeface="楷体" panose="02010609060101010101" pitchFamily="49" charset="-122"/>
                        <a:ea typeface="楷体" panose="02010609060101010101" pitchFamily="49" charset="-122"/>
                      </a:endParaRPr>
                    </a:p>
                  </a:txBody>
                  <a:tcPr anchor="ctr"/>
                </a:tc>
                <a:extLst>
                  <a:ext uri="{0D108BD9-81ED-4DB2-BD59-A6C34878D82A}">
                    <a16:rowId xmlns:a16="http://schemas.microsoft.com/office/drawing/2014/main" val="2134493531"/>
                  </a:ext>
                </a:extLst>
              </a:tr>
              <a:tr h="370840">
                <a:tc>
                  <a:txBody>
                    <a:bodyPr/>
                    <a:lstStyle/>
                    <a:p>
                      <a:pPr algn="ctr"/>
                      <a:r>
                        <a:rPr lang="zh-CN" altLang="en-US" sz="2800" dirty="0" smtClean="0">
                          <a:latin typeface="楷体" panose="02010609060101010101" pitchFamily="49" charset="-122"/>
                          <a:ea typeface="楷体" panose="02010609060101010101" pitchFamily="49" charset="-122"/>
                        </a:rPr>
                        <a:t>优化方向</a:t>
                      </a:r>
                      <a:endParaRPr lang="zh-CN" altLang="en-US" sz="2800" dirty="0">
                        <a:latin typeface="楷体" panose="02010609060101010101" pitchFamily="49" charset="-122"/>
                        <a:ea typeface="楷体" panose="02010609060101010101" pitchFamily="49" charset="-122"/>
                      </a:endParaRPr>
                    </a:p>
                  </a:txBody>
                  <a:tcPr anchor="ctr"/>
                </a:tc>
                <a:tc>
                  <a:txBody>
                    <a:bodyPr/>
                    <a:lstStyle/>
                    <a:p>
                      <a:pPr algn="ctr"/>
                      <a:r>
                        <a:rPr lang="zh-CN" altLang="en-US" sz="2800" dirty="0" smtClean="0">
                          <a:latin typeface="楷体" panose="02010609060101010101" pitchFamily="49" charset="-122"/>
                          <a:ea typeface="楷体" panose="02010609060101010101" pitchFamily="49" charset="-122"/>
                        </a:rPr>
                        <a:t>从残差中提取</a:t>
                      </a:r>
                      <a:endParaRPr lang="zh-CN" altLang="en-US" sz="2800" dirty="0">
                        <a:latin typeface="楷体" panose="02010609060101010101" pitchFamily="49" charset="-122"/>
                        <a:ea typeface="楷体" panose="02010609060101010101" pitchFamily="49" charset="-122"/>
                      </a:endParaRPr>
                    </a:p>
                  </a:txBody>
                  <a:tcPr anchor="ctr"/>
                </a:tc>
                <a:tc>
                  <a:txBody>
                    <a:bodyPr/>
                    <a:lstStyle/>
                    <a:p>
                      <a:pPr algn="ctr"/>
                      <a:r>
                        <a:rPr lang="zh-CN" altLang="en-US" sz="2800" dirty="0" smtClean="0">
                          <a:latin typeface="楷体" panose="02010609060101010101" pitchFamily="49" charset="-122"/>
                          <a:ea typeface="楷体" panose="02010609060101010101" pitchFamily="49" charset="-122"/>
                        </a:rPr>
                        <a:t>从残差中提取</a:t>
                      </a:r>
                      <a:endParaRPr lang="zh-CN" altLang="en-US" sz="2800" dirty="0">
                        <a:latin typeface="楷体" panose="02010609060101010101" pitchFamily="49" charset="-122"/>
                        <a:ea typeface="楷体" panose="02010609060101010101" pitchFamily="49" charset="-122"/>
                      </a:endParaRPr>
                    </a:p>
                  </a:txBody>
                  <a:tcPr anchor="ctr"/>
                </a:tc>
                <a:extLst>
                  <a:ext uri="{0D108BD9-81ED-4DB2-BD59-A6C34878D82A}">
                    <a16:rowId xmlns:a16="http://schemas.microsoft.com/office/drawing/2014/main" val="1926438230"/>
                  </a:ext>
                </a:extLst>
              </a:tr>
              <a:tr h="370840">
                <a:tc>
                  <a:txBody>
                    <a:bodyPr/>
                    <a:lstStyle/>
                    <a:p>
                      <a:pPr algn="ctr"/>
                      <a:r>
                        <a:rPr lang="zh-CN" altLang="en-US" sz="2800" dirty="0" smtClean="0">
                          <a:latin typeface="楷体" panose="02010609060101010101" pitchFamily="49" charset="-122"/>
                          <a:ea typeface="楷体" panose="02010609060101010101" pitchFamily="49" charset="-122"/>
                        </a:rPr>
                        <a:t>优化步长</a:t>
                      </a:r>
                      <a:endParaRPr lang="zh-CN" altLang="en-US" sz="2800" dirty="0">
                        <a:latin typeface="楷体" panose="02010609060101010101" pitchFamily="49" charset="-122"/>
                        <a:ea typeface="楷体" panose="02010609060101010101" pitchFamily="49" charset="-122"/>
                      </a:endParaRPr>
                    </a:p>
                  </a:txBody>
                  <a:tcPr anchor="ctr"/>
                </a:tc>
                <a:tc>
                  <a:txBody>
                    <a:bodyPr/>
                    <a:lstStyle/>
                    <a:p>
                      <a:pPr algn="ctr"/>
                      <a:r>
                        <a:rPr lang="zh-CN" altLang="en-US" sz="2800" dirty="0" smtClean="0">
                          <a:latin typeface="楷体" panose="02010609060101010101" pitchFamily="49" charset="-122"/>
                          <a:ea typeface="楷体" panose="02010609060101010101" pitchFamily="49" charset="-122"/>
                        </a:rPr>
                        <a:t>点积除法得到</a:t>
                      </a:r>
                      <a:endParaRPr lang="zh-CN" altLang="en-US" sz="2800" dirty="0">
                        <a:latin typeface="楷体" panose="02010609060101010101" pitchFamily="49" charset="-122"/>
                        <a:ea typeface="楷体" panose="02010609060101010101" pitchFamily="49" charset="-122"/>
                      </a:endParaRPr>
                    </a:p>
                  </a:txBody>
                  <a:tcPr anchor="ctr"/>
                </a:tc>
                <a:tc>
                  <a:txBody>
                    <a:bodyPr/>
                    <a:lstStyle/>
                    <a:p>
                      <a:pPr algn="ctr"/>
                      <a:r>
                        <a:rPr lang="zh-CN" altLang="en-US" sz="2800" dirty="0" smtClean="0">
                          <a:latin typeface="楷体" panose="02010609060101010101" pitchFamily="49" charset="-122"/>
                          <a:ea typeface="楷体" panose="02010609060101010101" pitchFamily="49" charset="-122"/>
                        </a:rPr>
                        <a:t>搜索得到</a:t>
                      </a:r>
                      <a:endParaRPr lang="zh-CN" altLang="en-US" sz="2800" dirty="0">
                        <a:latin typeface="楷体" panose="02010609060101010101" pitchFamily="49" charset="-122"/>
                        <a:ea typeface="楷体" panose="02010609060101010101" pitchFamily="49" charset="-122"/>
                      </a:endParaRPr>
                    </a:p>
                  </a:txBody>
                  <a:tcPr anchor="ctr"/>
                </a:tc>
                <a:extLst>
                  <a:ext uri="{0D108BD9-81ED-4DB2-BD59-A6C34878D82A}">
                    <a16:rowId xmlns:a16="http://schemas.microsoft.com/office/drawing/2014/main" val="3327693426"/>
                  </a:ext>
                </a:extLst>
              </a:tr>
              <a:tr h="370840">
                <a:tc>
                  <a:txBody>
                    <a:bodyPr/>
                    <a:lstStyle/>
                    <a:p>
                      <a:pPr algn="ctr"/>
                      <a:r>
                        <a:rPr lang="zh-CN" altLang="en-US" sz="2800" dirty="0" smtClean="0">
                          <a:latin typeface="楷体" panose="02010609060101010101" pitchFamily="49" charset="-122"/>
                          <a:ea typeface="楷体" panose="02010609060101010101" pitchFamily="49" charset="-122"/>
                        </a:rPr>
                        <a:t>收敛性</a:t>
                      </a:r>
                      <a:endParaRPr lang="zh-CN" altLang="en-US" sz="2800" dirty="0">
                        <a:latin typeface="楷体" panose="02010609060101010101" pitchFamily="49" charset="-122"/>
                        <a:ea typeface="楷体" panose="02010609060101010101" pitchFamily="49" charset="-122"/>
                      </a:endParaRPr>
                    </a:p>
                  </a:txBody>
                  <a:tcPr anchor="ctr"/>
                </a:tc>
                <a:tc>
                  <a:txBody>
                    <a:bodyPr/>
                    <a:lstStyle/>
                    <a:p>
                      <a:pPr algn="ctr"/>
                      <a:r>
                        <a:rPr lang="zh-CN" altLang="en-US" sz="2800" dirty="0" smtClean="0">
                          <a:latin typeface="楷体" panose="02010609060101010101" pitchFamily="49" charset="-122"/>
                          <a:ea typeface="楷体" panose="02010609060101010101" pitchFamily="49" charset="-122"/>
                        </a:rPr>
                        <a:t>有限步收敛</a:t>
                      </a:r>
                      <a:endParaRPr lang="zh-CN" altLang="en-US" sz="2800" dirty="0">
                        <a:latin typeface="楷体" panose="02010609060101010101" pitchFamily="49" charset="-122"/>
                        <a:ea typeface="楷体" panose="02010609060101010101" pitchFamily="49" charset="-122"/>
                      </a:endParaRPr>
                    </a:p>
                  </a:txBody>
                  <a:tcPr anchor="ctr"/>
                </a:tc>
                <a:tc>
                  <a:txBody>
                    <a:bodyPr/>
                    <a:lstStyle/>
                    <a:p>
                      <a:pPr algn="ctr"/>
                      <a:r>
                        <a:rPr lang="zh-CN" altLang="en-US" sz="2800" dirty="0" smtClean="0">
                          <a:latin typeface="楷体" panose="02010609060101010101" pitchFamily="49" charset="-122"/>
                          <a:ea typeface="楷体" panose="02010609060101010101" pitchFamily="49" charset="-122"/>
                        </a:rPr>
                        <a:t>超线性收敛</a:t>
                      </a:r>
                      <a:endParaRPr lang="zh-CN" altLang="en-US" sz="2800" dirty="0">
                        <a:latin typeface="楷体" panose="02010609060101010101" pitchFamily="49" charset="-122"/>
                        <a:ea typeface="楷体" panose="02010609060101010101" pitchFamily="49" charset="-122"/>
                      </a:endParaRPr>
                    </a:p>
                  </a:txBody>
                  <a:tcPr anchor="ctr"/>
                </a:tc>
                <a:extLst>
                  <a:ext uri="{0D108BD9-81ED-4DB2-BD59-A6C34878D82A}">
                    <a16:rowId xmlns:a16="http://schemas.microsoft.com/office/drawing/2014/main" val="1435836272"/>
                  </a:ext>
                </a:extLst>
              </a:tr>
            </a:tbl>
          </a:graphicData>
        </a:graphic>
      </p:graphicFrame>
    </p:spTree>
    <p:custDataLst>
      <p:tags r:id="rId1"/>
    </p:custDataLst>
    <p:extLst>
      <p:ext uri="{BB962C8B-B14F-4D97-AF65-F5344CB8AC3E}">
        <p14:creationId xmlns:p14="http://schemas.microsoft.com/office/powerpoint/2010/main" val="659101281"/>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宋体" panose="02010600030101010101" pitchFamily="2" charset="-122"/>
                <a:ea typeface="宋体" panose="02010600030101010101" pitchFamily="2" charset="-122"/>
              </a:rPr>
              <a:t>海森矩阵的替代方案</a:t>
            </a:r>
            <a:endParaRPr lang="zh-CN" altLang="en-US" dirty="0">
              <a:latin typeface="宋体" panose="02010600030101010101" pitchFamily="2" charset="-122"/>
              <a:ea typeface="宋体" panose="02010600030101010101" pitchFamily="2" charset="-122"/>
            </a:endParaRP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a:bodyPr>
              <a:lstStyle/>
              <a:p>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算法用到海森矩阵的一步：</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𝛽</m:t>
                          </m:r>
                        </m:e>
                        <m:sub>
                          <m:r>
                            <a:rPr lang="en-US" altLang="zh-CN" i="1">
                              <a:latin typeface="Cambria Math" panose="02040503050406030204" pitchFamily="18" charset="0"/>
                            </a:rPr>
                            <m:t>𝑘</m:t>
                          </m:r>
                        </m:sub>
                      </m:sSub>
                      <m:r>
                        <a:rPr lang="en-US" altLang="zh-CN" i="1">
                          <a:latin typeface="Cambria Math" panose="02040503050406030204" pitchFamily="18" charset="0"/>
                        </a:rPr>
                        <m:t>=−</m:t>
                      </m:r>
                      <m:f>
                        <m:fPr>
                          <m:ctrlPr>
                            <a:rPr lang="en-US" altLang="zh-CN" i="1">
                              <a:latin typeface="Cambria Math" panose="02040503050406030204" pitchFamily="18" charset="0"/>
                            </a:rPr>
                          </m:ctrlPr>
                        </m:fPr>
                        <m:num>
                          <m:sSubSup>
                            <m:sSubSupPr>
                              <m:ctrlPr>
                                <a:rPr lang="en-US" altLang="zh-CN" i="1">
                                  <a:latin typeface="Cambria Math" panose="02040503050406030204" pitchFamily="18" charset="0"/>
                                </a:rPr>
                              </m:ctrlPr>
                            </m:sSubSupPr>
                            <m:e>
                              <m:r>
                                <a:rPr lang="en-US" altLang="zh-CN" b="1">
                                  <a:latin typeface="Cambria Math" panose="02040503050406030204" pitchFamily="18" charset="0"/>
                                </a:rPr>
                                <m:t>𝐝</m:t>
                              </m:r>
                            </m:e>
                            <m:sub>
                              <m:r>
                                <a:rPr lang="en-US" altLang="zh-CN" i="1">
                                  <a:latin typeface="Cambria Math" panose="02040503050406030204" pitchFamily="18" charset="0"/>
                                </a:rPr>
                                <m:t>𝑘</m:t>
                              </m:r>
                            </m:sub>
                            <m:sup>
                              <m:r>
                                <a:rPr lang="en-US" altLang="zh-CN" i="1">
                                  <a:latin typeface="Cambria Math" panose="02040503050406030204" pitchFamily="18" charset="0"/>
                                </a:rPr>
                                <m:t>𝑇</m:t>
                              </m:r>
                            </m:sup>
                          </m:sSubSup>
                          <m:sSup>
                            <m:sSupPr>
                              <m:ctrlPr>
                                <a:rPr lang="en-US" altLang="zh-CN" i="1">
                                  <a:latin typeface="Cambria Math" panose="02040503050406030204" pitchFamily="18" charset="0"/>
                                </a:rPr>
                              </m:ctrlPr>
                            </m:sSupPr>
                            <m:e>
                              <m:r>
                                <a:rPr lang="en-US" altLang="zh-CN" i="0">
                                  <a:latin typeface="Cambria Math" panose="02040503050406030204" pitchFamily="18" charset="0"/>
                                </a:rPr>
                                <m:t>𝛻</m:t>
                              </m:r>
                            </m:e>
                            <m:sup>
                              <m:r>
                                <a:rPr lang="en-US" altLang="zh-CN" i="1">
                                  <a:latin typeface="Cambria Math" panose="02040503050406030204" pitchFamily="18" charset="0"/>
                                </a:rPr>
                                <m:t>2</m:t>
                              </m:r>
                            </m:sup>
                          </m:sSup>
                          <m:r>
                            <a:rPr lang="en-US" altLang="zh-CN" i="1">
                              <a:latin typeface="Cambria Math" panose="02040503050406030204" pitchFamily="18" charset="0"/>
                            </a:rPr>
                            <m:t>𝑓</m:t>
                          </m:r>
                          <m:d>
                            <m:dPr>
                              <m:ctrlPr>
                                <a:rPr lang="en-US" altLang="zh-CN" i="1">
                                  <a:latin typeface="Cambria Math" panose="02040503050406030204" pitchFamily="18" charset="0"/>
                                </a:rPr>
                              </m:ctrlPr>
                            </m:dPr>
                            <m:e>
                              <m:sSup>
                                <m:sSupPr>
                                  <m:ctrlPr>
                                    <a:rPr lang="en-US" altLang="zh-CN" i="1">
                                      <a:latin typeface="Cambria Math" panose="02040503050406030204" pitchFamily="18" charset="0"/>
                                    </a:rPr>
                                  </m:ctrlPr>
                                </m:sSupPr>
                                <m:e>
                                  <m:r>
                                    <a:rPr lang="en-US" altLang="zh-CN" b="1">
                                      <a:latin typeface="Cambria Math" panose="02040503050406030204" pitchFamily="18" charset="0"/>
                                    </a:rPr>
                                    <m:t>𝐱</m:t>
                                  </m:r>
                                </m:e>
                                <m:sup>
                                  <m:r>
                                    <a:rPr lang="en-US" altLang="zh-CN" i="1">
                                      <a:latin typeface="Cambria Math" panose="02040503050406030204" pitchFamily="18" charset="0"/>
                                    </a:rPr>
                                    <m:t>𝑘</m:t>
                                  </m:r>
                                </m:sup>
                              </m:sSup>
                            </m:e>
                          </m:d>
                          <m:sSub>
                            <m:sSubPr>
                              <m:ctrlPr>
                                <a:rPr lang="en-US" altLang="zh-CN" i="1">
                                  <a:latin typeface="Cambria Math" panose="02040503050406030204" pitchFamily="18" charset="0"/>
                                </a:rPr>
                              </m:ctrlPr>
                            </m:sSubPr>
                            <m:e>
                              <m:r>
                                <a:rPr lang="en-US" altLang="zh-CN" b="1">
                                  <a:latin typeface="Cambria Math" panose="02040503050406030204" pitchFamily="18" charset="0"/>
                                </a:rPr>
                                <m:t>𝐠</m:t>
                              </m:r>
                            </m:e>
                            <m:sub>
                              <m:r>
                                <a:rPr lang="en-US" altLang="zh-CN" i="1">
                                  <a:latin typeface="Cambria Math" panose="02040503050406030204" pitchFamily="18" charset="0"/>
                                </a:rPr>
                                <m:t>𝑘</m:t>
                              </m:r>
                            </m:sub>
                          </m:sSub>
                        </m:num>
                        <m:den>
                          <m:sSubSup>
                            <m:sSubSupPr>
                              <m:ctrlPr>
                                <a:rPr lang="en-US" altLang="zh-CN" i="1">
                                  <a:latin typeface="Cambria Math" panose="02040503050406030204" pitchFamily="18" charset="0"/>
                                </a:rPr>
                              </m:ctrlPr>
                            </m:sSubSupPr>
                            <m:e>
                              <m:r>
                                <a:rPr lang="en-US" altLang="zh-CN" b="1">
                                  <a:latin typeface="Cambria Math" panose="02040503050406030204" pitchFamily="18" charset="0"/>
                                </a:rPr>
                                <m:t>𝐝</m:t>
                              </m:r>
                            </m:e>
                            <m:sub>
                              <m:r>
                                <a:rPr lang="en-US" altLang="zh-CN" i="1">
                                  <a:latin typeface="Cambria Math" panose="02040503050406030204" pitchFamily="18" charset="0"/>
                                </a:rPr>
                                <m:t>𝑘</m:t>
                              </m:r>
                            </m:sub>
                            <m:sup>
                              <m:r>
                                <a:rPr lang="en-US" altLang="zh-CN" i="1">
                                  <a:latin typeface="Cambria Math" panose="02040503050406030204" pitchFamily="18" charset="0"/>
                                </a:rPr>
                                <m:t>𝑇</m:t>
                              </m:r>
                            </m:sup>
                          </m:sSubSup>
                          <m:sSup>
                            <m:sSupPr>
                              <m:ctrlPr>
                                <a:rPr lang="en-US" altLang="zh-CN" i="1">
                                  <a:latin typeface="Cambria Math" panose="02040503050406030204" pitchFamily="18" charset="0"/>
                                </a:rPr>
                              </m:ctrlPr>
                            </m:sSupPr>
                            <m:e>
                              <m:r>
                                <a:rPr lang="en-US" altLang="zh-CN" i="0">
                                  <a:latin typeface="Cambria Math" panose="02040503050406030204" pitchFamily="18" charset="0"/>
                                </a:rPr>
                                <m:t>𝛻</m:t>
                              </m:r>
                            </m:e>
                            <m:sup>
                              <m:r>
                                <a:rPr lang="en-US" altLang="zh-CN" i="1">
                                  <a:latin typeface="Cambria Math" panose="02040503050406030204" pitchFamily="18" charset="0"/>
                                </a:rPr>
                                <m:t>2</m:t>
                              </m:r>
                            </m:sup>
                          </m:sSup>
                          <m:r>
                            <a:rPr lang="en-US" altLang="zh-CN" i="1">
                              <a:latin typeface="Cambria Math" panose="02040503050406030204" pitchFamily="18" charset="0"/>
                            </a:rPr>
                            <m:t>𝑓</m:t>
                          </m:r>
                          <m:d>
                            <m:dPr>
                              <m:ctrlPr>
                                <a:rPr lang="en-US" altLang="zh-CN" i="1">
                                  <a:latin typeface="Cambria Math" panose="02040503050406030204" pitchFamily="18" charset="0"/>
                                </a:rPr>
                              </m:ctrlPr>
                            </m:dPr>
                            <m:e>
                              <m:sSup>
                                <m:sSupPr>
                                  <m:ctrlPr>
                                    <a:rPr lang="en-US" altLang="zh-CN" i="1">
                                      <a:latin typeface="Cambria Math" panose="02040503050406030204" pitchFamily="18" charset="0"/>
                                    </a:rPr>
                                  </m:ctrlPr>
                                </m:sSupPr>
                                <m:e>
                                  <m:r>
                                    <a:rPr lang="en-US" altLang="zh-CN" b="1">
                                      <a:latin typeface="Cambria Math" panose="02040503050406030204" pitchFamily="18" charset="0"/>
                                    </a:rPr>
                                    <m:t>𝐱</m:t>
                                  </m:r>
                                </m:e>
                                <m:sup>
                                  <m:r>
                                    <a:rPr lang="en-US" altLang="zh-CN" i="1">
                                      <a:latin typeface="Cambria Math" panose="02040503050406030204" pitchFamily="18" charset="0"/>
                                    </a:rPr>
                                    <m:t>𝑘</m:t>
                                  </m:r>
                                </m:sup>
                              </m:sSup>
                            </m:e>
                          </m:d>
                          <m:sSub>
                            <m:sSubPr>
                              <m:ctrlPr>
                                <a:rPr lang="en-US" altLang="zh-CN" i="1">
                                  <a:latin typeface="Cambria Math" panose="02040503050406030204" pitchFamily="18" charset="0"/>
                                </a:rPr>
                              </m:ctrlPr>
                            </m:sSubPr>
                            <m:e>
                              <m:r>
                                <a:rPr lang="en-US" altLang="zh-CN" b="1">
                                  <a:latin typeface="Cambria Math" panose="02040503050406030204" pitchFamily="18" charset="0"/>
                                </a:rPr>
                                <m:t>𝐝</m:t>
                              </m:r>
                            </m:e>
                            <m:sub>
                              <m:r>
                                <a:rPr lang="en-US" altLang="zh-CN" i="1">
                                  <a:latin typeface="Cambria Math" panose="02040503050406030204" pitchFamily="18" charset="0"/>
                                </a:rPr>
                                <m:t>𝑘</m:t>
                              </m:r>
                            </m:sub>
                          </m:sSub>
                        </m:den>
                      </m:f>
                    </m:oMath>
                  </m:oMathPara>
                </a14:m>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a:p>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当海森矩阵难以计算时，上式需要方向：</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pPr marL="0" indent="0" algn="ctr">
                  <a:buNone/>
                </a:pP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baseline="30000" dirty="0" smtClean="0">
                    <a:latin typeface="Times New Roman" panose="02020603050405020304" pitchFamily="18" charset="0"/>
                    <a:ea typeface="楷体" panose="02010609060101010101" pitchFamily="49" charset="-122"/>
                    <a:cs typeface="Times New Roman" panose="02020603050405020304" pitchFamily="18" charset="0"/>
                  </a:rPr>
                  <a:t>2</a:t>
                </a:r>
                <a:r>
                  <a:rPr lang="en-US" altLang="zh-CN" i="1" dirty="0" smtClean="0">
                    <a:latin typeface="Times New Roman" panose="02020603050405020304" pitchFamily="18" charset="0"/>
                    <a:ea typeface="楷体" panose="02010609060101010101" pitchFamily="49" charset="-122"/>
                    <a:cs typeface="Times New Roman" panose="02020603050405020304" pitchFamily="18" charset="0"/>
                  </a:rPr>
                  <a:t>f</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x</a:t>
                </a:r>
                <a:r>
                  <a:rPr lang="en-US" altLang="zh-CN" i="1" baseline="30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d</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endParaRPr lang="en-US" altLang="zh-CN" i="1" baseline="-25000" dirty="0">
                  <a:latin typeface="Times New Roman" panose="02020603050405020304" pitchFamily="18" charset="0"/>
                  <a:ea typeface="楷体" panose="02010609060101010101" pitchFamily="49" charset="-122"/>
                  <a:cs typeface="Times New Roman" panose="02020603050405020304" pitchFamily="18" charset="0"/>
                </a:endParaRPr>
              </a:p>
              <a:p>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用割线代替切线，上面向量可以近似写为：</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pPr marL="0" indent="0" algn="ctr">
                  <a:buNone/>
                </a:pP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baseline="30000" dirty="0" smtClean="0">
                    <a:latin typeface="Times New Roman" panose="02020603050405020304" pitchFamily="18" charset="0"/>
                    <a:ea typeface="楷体" panose="02010609060101010101" pitchFamily="49" charset="-122"/>
                    <a:cs typeface="Times New Roman" panose="02020603050405020304" pitchFamily="18" charset="0"/>
                  </a:rPr>
                  <a:t>2</a:t>
                </a:r>
                <a:r>
                  <a:rPr lang="en-US" altLang="zh-CN" i="1" dirty="0" smtClean="0">
                    <a:latin typeface="Times New Roman" panose="02020603050405020304" pitchFamily="18" charset="0"/>
                    <a:ea typeface="楷体" panose="02010609060101010101" pitchFamily="49" charset="-122"/>
                    <a:cs typeface="Times New Roman" panose="02020603050405020304" pitchFamily="18" charset="0"/>
                  </a:rPr>
                  <a:t>f</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x</a:t>
                </a:r>
                <a:r>
                  <a:rPr lang="en-US" altLang="zh-CN" i="1" baseline="30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d</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a:t>
                </a:r>
                <a:r>
                  <a:rPr lang="ja-JP" altLang="en-US" dirty="0" smtClean="0">
                    <a:latin typeface="Times New Roman" panose="02020603050405020304" pitchFamily="18" charset="0"/>
                    <a:ea typeface="楷体" panose="02010609060101010101" pitchFamily="49" charset="-122"/>
                    <a:cs typeface="Times New Roman" panose="02020603050405020304" pitchFamily="18" charset="0"/>
                  </a:rPr>
                  <a:t> ∇</a:t>
                </a:r>
                <a:r>
                  <a:rPr lang="en-US" altLang="ja-JP" i="1" dirty="0" smtClean="0">
                    <a:latin typeface="Times New Roman" panose="02020603050405020304" pitchFamily="18" charset="0"/>
                    <a:ea typeface="楷体" panose="02010609060101010101" pitchFamily="49" charset="-122"/>
                    <a:cs typeface="Times New Roman" panose="02020603050405020304" pitchFamily="18" charset="0"/>
                  </a:rPr>
                  <a:t>f</a:t>
                </a:r>
                <a:r>
                  <a:rPr lang="en-US" altLang="ja-JP"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ja-JP" b="1" dirty="0" err="1" smtClean="0">
                    <a:latin typeface="Times New Roman" panose="02020603050405020304" pitchFamily="18" charset="0"/>
                    <a:ea typeface="楷体" panose="02010609060101010101" pitchFamily="49" charset="-122"/>
                    <a:cs typeface="Times New Roman" panose="02020603050405020304" pitchFamily="18" charset="0"/>
                  </a:rPr>
                  <a:t>x</a:t>
                </a:r>
                <a:r>
                  <a:rPr lang="en-US" altLang="ja-JP" i="1" baseline="30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ja-JP" dirty="0" smtClean="0">
                    <a:latin typeface="Times New Roman" panose="02020603050405020304" pitchFamily="18" charset="0"/>
                    <a:ea typeface="楷体" panose="02010609060101010101" pitchFamily="49" charset="-122"/>
                    <a:cs typeface="Times New Roman" panose="02020603050405020304" pitchFamily="18" charset="0"/>
                  </a:rPr>
                  <a:t>) – </a:t>
                </a:r>
                <a:r>
                  <a:rPr lang="ja-JP" altLang="en-US" dirty="0">
                    <a:latin typeface="Times New Roman" panose="02020603050405020304" pitchFamily="18" charset="0"/>
                    <a:ea typeface="楷体" panose="02010609060101010101" pitchFamily="49" charset="-122"/>
                    <a:cs typeface="Times New Roman" panose="02020603050405020304" pitchFamily="18" charset="0"/>
                  </a:rPr>
                  <a:t>∇</a:t>
                </a:r>
                <a:r>
                  <a:rPr lang="en-US" altLang="ja-JP" i="1" dirty="0" smtClean="0">
                    <a:latin typeface="Times New Roman" panose="02020603050405020304" pitchFamily="18" charset="0"/>
                    <a:ea typeface="楷体" panose="02010609060101010101" pitchFamily="49" charset="-122"/>
                    <a:cs typeface="Times New Roman" panose="02020603050405020304" pitchFamily="18" charset="0"/>
                  </a:rPr>
                  <a:t>f</a:t>
                </a:r>
                <a:r>
                  <a:rPr lang="en-US" altLang="ja-JP"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ja-JP" b="1" dirty="0" err="1" smtClean="0">
                    <a:latin typeface="Times New Roman" panose="02020603050405020304" pitchFamily="18" charset="0"/>
                    <a:ea typeface="楷体" panose="02010609060101010101" pitchFamily="49" charset="-122"/>
                    <a:cs typeface="Times New Roman" panose="02020603050405020304" pitchFamily="18" charset="0"/>
                  </a:rPr>
                  <a:t>x</a:t>
                </a:r>
                <a:r>
                  <a:rPr lang="en-US" altLang="ja-JP" i="1" baseline="30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ja-JP" baseline="30000" dirty="0" smtClean="0">
                    <a:latin typeface="Times New Roman" panose="02020603050405020304" pitchFamily="18" charset="0"/>
                    <a:ea typeface="楷体" panose="02010609060101010101" pitchFamily="49" charset="-122"/>
                    <a:cs typeface="Times New Roman" panose="02020603050405020304" pitchFamily="18" charset="0"/>
                  </a:rPr>
                  <a:t> – 1</a:t>
                </a:r>
                <a:r>
                  <a:rPr lang="en-US" altLang="ja-JP" dirty="0" smtClean="0">
                    <a:latin typeface="Times New Roman" panose="02020603050405020304" pitchFamily="18" charset="0"/>
                    <a:ea typeface="楷体" panose="02010609060101010101" pitchFamily="49" charset="-122"/>
                    <a:cs typeface="Times New Roman" panose="02020603050405020304" pitchFamily="18" charset="0"/>
                  </a:rPr>
                  <a:t>)</a:t>
                </a:r>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a:p>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3"/>
                <a:stretch>
                  <a:fillRect l="-1391" t="-2801"/>
                </a:stretch>
              </a:blipFill>
            </p:spPr>
            <p:txBody>
              <a:bodyPr/>
              <a:lstStyle/>
              <a:p>
                <a:r>
                  <a:rPr lang="zh-CN" altLang="en-US">
                    <a:noFill/>
                  </a:rPr>
                  <a:t> </a:t>
                </a:r>
              </a:p>
            </p:txBody>
          </p:sp>
        </mc:Fallback>
      </mc:AlternateContent>
    </p:spTree>
    <p:custDataLst>
      <p:tags r:id="rId1"/>
    </p:custDataLst>
    <p:extLst>
      <p:ext uri="{BB962C8B-B14F-4D97-AF65-F5344CB8AC3E}">
        <p14:creationId xmlns:p14="http://schemas.microsoft.com/office/powerpoint/2010/main" val="11803120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宋体" panose="02010600030101010101" pitchFamily="2" charset="-122"/>
                <a:ea typeface="宋体" panose="02010600030101010101" pitchFamily="2" charset="-122"/>
              </a:rPr>
              <a:t>避免海森矩阵的改进算法</a:t>
            </a:r>
            <a:endParaRPr lang="zh-CN" altLang="en-US" dirty="0">
              <a:latin typeface="宋体" panose="02010600030101010101" pitchFamily="2" charset="-122"/>
              <a:ea typeface="宋体" panose="02010600030101010101" pitchFamily="2" charset="-122"/>
            </a:endParaRP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给定函数</a:t>
                </a:r>
                <a:r>
                  <a:rPr lang="en-US" altLang="zh-CN" i="1" dirty="0" smtClean="0">
                    <a:latin typeface="Times New Roman" panose="02020603050405020304" pitchFamily="18" charset="0"/>
                    <a:ea typeface="楷体" panose="02010609060101010101" pitchFamily="49" charset="-122"/>
                    <a:cs typeface="Times New Roman" panose="02020603050405020304" pitchFamily="18" charset="0"/>
                  </a:rPr>
                  <a:t>f</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x</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，当前位置</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x</a:t>
                </a:r>
                <a:r>
                  <a:rPr lang="en-US" altLang="zh-CN" i="1" baseline="30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，前一次优化方向</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d</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endParaRPr lang="en-US" altLang="zh-CN" i="1" baseline="-25000" dirty="0" smtClean="0">
                  <a:latin typeface="Times New Roman" panose="02020603050405020304" pitchFamily="18" charset="0"/>
                  <a:ea typeface="楷体" panose="02010609060101010101" pitchFamily="49" charset="-122"/>
                  <a:cs typeface="Times New Roman" panose="02020603050405020304" pitchFamily="18" charset="0"/>
                </a:endParaRPr>
              </a:p>
              <a:p>
                <a:pPr marL="0" indent="0" algn="ctr">
                  <a:buNone/>
                </a:pP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g</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 ∇</a:t>
                </a:r>
                <a:r>
                  <a:rPr lang="en-US" altLang="zh-CN" i="1" dirty="0" smtClean="0">
                    <a:latin typeface="Times New Roman" panose="02020603050405020304" pitchFamily="18" charset="0"/>
                    <a:ea typeface="楷体" panose="02010609060101010101" pitchFamily="49" charset="-122"/>
                    <a:cs typeface="Times New Roman" panose="02020603050405020304" pitchFamily="18" charset="0"/>
                  </a:rPr>
                  <a:t>f</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x</a:t>
                </a:r>
                <a:r>
                  <a:rPr lang="en-US" altLang="zh-CN" i="1" baseline="30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p>
              <a:p>
                <a:pPr marL="0" indent="0" algn="ctr">
                  <a:buNone/>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𝛽</m:t>
                          </m:r>
                        </m:e>
                        <m:sub>
                          <m:r>
                            <a:rPr lang="en-US" altLang="zh-CN" i="1">
                              <a:latin typeface="Cambria Math" panose="02040503050406030204" pitchFamily="18" charset="0"/>
                            </a:rPr>
                            <m:t>𝑘</m:t>
                          </m:r>
                        </m:sub>
                      </m:sSub>
                      <m:r>
                        <a:rPr lang="en-US" altLang="zh-CN" i="1">
                          <a:latin typeface="Cambria Math" panose="02040503050406030204" pitchFamily="18" charset="0"/>
                        </a:rPr>
                        <m:t>=</m:t>
                      </m:r>
                      <m:r>
                        <a:rPr lang="en-US" altLang="zh-CN" b="0" i="1" smtClean="0">
                          <a:latin typeface="Cambria Math" panose="02040503050406030204" pitchFamily="18" charset="0"/>
                        </a:rPr>
                        <m:t>−</m:t>
                      </m:r>
                      <m:f>
                        <m:fPr>
                          <m:ctrlPr>
                            <a:rPr lang="en-US" altLang="zh-CN" i="1">
                              <a:latin typeface="Cambria Math" panose="02040503050406030204" pitchFamily="18" charset="0"/>
                            </a:rPr>
                          </m:ctrlPr>
                        </m:fPr>
                        <m:num>
                          <m:sSup>
                            <m:sSupPr>
                              <m:ctrlPr>
                                <a:rPr lang="en-US" altLang="zh-CN" b="0" i="1" smtClean="0">
                                  <a:latin typeface="Cambria Math" panose="02040503050406030204" pitchFamily="18" charset="0"/>
                                </a:rPr>
                              </m:ctrlPr>
                            </m:sSupPr>
                            <m:e>
                              <m:d>
                                <m:dPr>
                                  <m:ctrlPr>
                                    <a:rPr lang="en-US" altLang="zh-CN" b="0" i="1" smtClean="0">
                                      <a:latin typeface="Cambria Math" panose="02040503050406030204" pitchFamily="18" charset="0"/>
                                    </a:rPr>
                                  </m:ctrlPr>
                                </m:dPr>
                                <m:e>
                                  <m:r>
                                    <a:rPr lang="en-US" altLang="zh-CN" b="0" i="0" smtClean="0">
                                      <a:latin typeface="Cambria Math" panose="02040503050406030204" pitchFamily="18" charset="0"/>
                                    </a:rPr>
                                    <m:t>𝛻</m:t>
                                  </m:r>
                                  <m:r>
                                    <a:rPr lang="en-US" altLang="zh-CN" b="0" i="1" smtClean="0">
                                      <a:latin typeface="Cambria Math" panose="02040503050406030204" pitchFamily="18" charset="0"/>
                                    </a:rPr>
                                    <m:t>𝑓</m:t>
                                  </m:r>
                                  <m:d>
                                    <m:dPr>
                                      <m:ctrlPr>
                                        <a:rPr lang="en-US" altLang="zh-CN" b="0" i="1" smtClean="0">
                                          <a:latin typeface="Cambria Math" panose="02040503050406030204" pitchFamily="18" charset="0"/>
                                        </a:rPr>
                                      </m:ctrlPr>
                                    </m:dPr>
                                    <m:e>
                                      <m:sSup>
                                        <m:sSupPr>
                                          <m:ctrlPr>
                                            <a:rPr lang="en-US" altLang="zh-CN" b="0" i="1" smtClean="0">
                                              <a:latin typeface="Cambria Math" panose="02040503050406030204" pitchFamily="18" charset="0"/>
                                            </a:rPr>
                                          </m:ctrlPr>
                                        </m:sSupPr>
                                        <m:e>
                                          <m:r>
                                            <a:rPr lang="en-US" altLang="zh-CN" b="1" i="0" smtClean="0">
                                              <a:latin typeface="Cambria Math" panose="02040503050406030204" pitchFamily="18" charset="0"/>
                                            </a:rPr>
                                            <m:t>𝐱</m:t>
                                          </m:r>
                                        </m:e>
                                        <m:sup>
                                          <m:r>
                                            <a:rPr lang="en-US" altLang="zh-CN" b="0" i="1" smtClean="0">
                                              <a:latin typeface="Cambria Math" panose="02040503050406030204" pitchFamily="18" charset="0"/>
                                            </a:rPr>
                                            <m:t>𝑘</m:t>
                                          </m:r>
                                        </m:sup>
                                      </m:sSup>
                                    </m:e>
                                  </m:d>
                                  <m:r>
                                    <a:rPr lang="en-US" altLang="zh-CN" b="0" i="1" smtClean="0">
                                      <a:latin typeface="Cambria Math" panose="02040503050406030204" pitchFamily="18" charset="0"/>
                                    </a:rPr>
                                    <m:t>−</m:t>
                                  </m:r>
                                  <m:r>
                                    <a:rPr lang="en-US" altLang="zh-CN" b="0" i="0" smtClean="0">
                                      <a:latin typeface="Cambria Math" panose="02040503050406030204" pitchFamily="18" charset="0"/>
                                    </a:rPr>
                                    <m:t>𝛻</m:t>
                                  </m:r>
                                  <m:r>
                                    <a:rPr lang="en-US" altLang="zh-CN" b="0" i="1" smtClean="0">
                                      <a:latin typeface="Cambria Math" panose="02040503050406030204" pitchFamily="18" charset="0"/>
                                    </a:rPr>
                                    <m:t>𝑓</m:t>
                                  </m:r>
                                  <m:d>
                                    <m:dPr>
                                      <m:ctrlPr>
                                        <a:rPr lang="en-US" altLang="zh-CN" b="0" i="1" smtClean="0">
                                          <a:latin typeface="Cambria Math" panose="02040503050406030204" pitchFamily="18" charset="0"/>
                                        </a:rPr>
                                      </m:ctrlPr>
                                    </m:dPr>
                                    <m:e>
                                      <m:sSup>
                                        <m:sSupPr>
                                          <m:ctrlPr>
                                            <a:rPr lang="en-US" altLang="zh-CN" b="0" i="1" smtClean="0">
                                              <a:latin typeface="Cambria Math" panose="02040503050406030204" pitchFamily="18" charset="0"/>
                                            </a:rPr>
                                          </m:ctrlPr>
                                        </m:sSupPr>
                                        <m:e>
                                          <m:r>
                                            <a:rPr lang="en-US" altLang="zh-CN" b="1" i="0" smtClean="0">
                                              <a:latin typeface="Cambria Math" panose="02040503050406030204" pitchFamily="18" charset="0"/>
                                            </a:rPr>
                                            <m:t>𝐱</m:t>
                                          </m:r>
                                        </m:e>
                                        <m:sup>
                                          <m:r>
                                            <a:rPr lang="en-US" altLang="zh-CN" b="0" i="1" smtClean="0">
                                              <a:latin typeface="Cambria Math" panose="02040503050406030204" pitchFamily="18" charset="0"/>
                                            </a:rPr>
                                            <m:t>𝑘</m:t>
                                          </m:r>
                                          <m:r>
                                            <a:rPr lang="en-US" altLang="zh-CN" b="0" i="1" smtClean="0">
                                              <a:latin typeface="Cambria Math" panose="02040503050406030204" pitchFamily="18" charset="0"/>
                                            </a:rPr>
                                            <m:t>−1</m:t>
                                          </m:r>
                                        </m:sup>
                                      </m:sSup>
                                    </m:e>
                                  </m:d>
                                </m:e>
                              </m:d>
                            </m:e>
                            <m:sup>
                              <m:r>
                                <m:rPr>
                                  <m:sty m:val="p"/>
                                </m:rPr>
                                <a:rPr lang="en-US" altLang="zh-CN" b="0" i="0" smtClean="0">
                                  <a:latin typeface="Cambria Math" panose="02040503050406030204" pitchFamily="18" charset="0"/>
                                </a:rPr>
                                <m:t>T</m:t>
                              </m:r>
                            </m:sup>
                          </m:sSup>
                          <m:sSub>
                            <m:sSubPr>
                              <m:ctrlPr>
                                <a:rPr lang="en-US" altLang="zh-CN" i="1">
                                  <a:latin typeface="Cambria Math" panose="02040503050406030204" pitchFamily="18" charset="0"/>
                                </a:rPr>
                              </m:ctrlPr>
                            </m:sSubPr>
                            <m:e>
                              <m:r>
                                <a:rPr lang="en-US" altLang="zh-CN" b="1" i="0" smtClean="0">
                                  <a:latin typeface="Cambria Math" panose="02040503050406030204" pitchFamily="18" charset="0"/>
                                </a:rPr>
                                <m:t>𝐠</m:t>
                              </m:r>
                            </m:e>
                            <m:sub>
                              <m:r>
                                <a:rPr lang="en-US" altLang="zh-CN" i="1">
                                  <a:latin typeface="Cambria Math" panose="02040503050406030204" pitchFamily="18" charset="0"/>
                                </a:rPr>
                                <m:t>𝑘</m:t>
                              </m:r>
                            </m:sub>
                          </m:sSub>
                        </m:num>
                        <m:den>
                          <m:sSup>
                            <m:sSupPr>
                              <m:ctrlPr>
                                <a:rPr lang="en-US" altLang="zh-CN" i="1">
                                  <a:latin typeface="Cambria Math" panose="02040503050406030204" pitchFamily="18" charset="0"/>
                                </a:rPr>
                              </m:ctrlPr>
                            </m:sSupPr>
                            <m:e>
                              <m:d>
                                <m:dPr>
                                  <m:ctrlPr>
                                    <a:rPr lang="en-US" altLang="zh-CN" i="1">
                                      <a:latin typeface="Cambria Math" panose="02040503050406030204" pitchFamily="18" charset="0"/>
                                    </a:rPr>
                                  </m:ctrlPr>
                                </m:dPr>
                                <m:e>
                                  <m:r>
                                    <a:rPr lang="en-US" altLang="zh-CN" i="0">
                                      <a:latin typeface="Cambria Math" panose="02040503050406030204" pitchFamily="18" charset="0"/>
                                    </a:rPr>
                                    <m:t>𝛻</m:t>
                                  </m:r>
                                  <m:r>
                                    <a:rPr lang="en-US" altLang="zh-CN" i="1">
                                      <a:latin typeface="Cambria Math" panose="02040503050406030204" pitchFamily="18" charset="0"/>
                                    </a:rPr>
                                    <m:t>𝑓</m:t>
                                  </m:r>
                                  <m:d>
                                    <m:dPr>
                                      <m:ctrlPr>
                                        <a:rPr lang="en-US" altLang="zh-CN" i="1">
                                          <a:latin typeface="Cambria Math" panose="02040503050406030204" pitchFamily="18" charset="0"/>
                                        </a:rPr>
                                      </m:ctrlPr>
                                    </m:dPr>
                                    <m:e>
                                      <m:sSup>
                                        <m:sSupPr>
                                          <m:ctrlPr>
                                            <a:rPr lang="en-US" altLang="zh-CN" i="1">
                                              <a:latin typeface="Cambria Math" panose="02040503050406030204" pitchFamily="18" charset="0"/>
                                            </a:rPr>
                                          </m:ctrlPr>
                                        </m:sSupPr>
                                        <m:e>
                                          <m:r>
                                            <a:rPr lang="en-US" altLang="zh-CN" b="1">
                                              <a:latin typeface="Cambria Math" panose="02040503050406030204" pitchFamily="18" charset="0"/>
                                            </a:rPr>
                                            <m:t>𝐱</m:t>
                                          </m:r>
                                        </m:e>
                                        <m:sup>
                                          <m:r>
                                            <a:rPr lang="en-US" altLang="zh-CN" i="1">
                                              <a:latin typeface="Cambria Math" panose="02040503050406030204" pitchFamily="18" charset="0"/>
                                            </a:rPr>
                                            <m:t>𝑘</m:t>
                                          </m:r>
                                        </m:sup>
                                      </m:sSup>
                                    </m:e>
                                  </m:d>
                                  <m:r>
                                    <a:rPr lang="en-US" altLang="zh-CN" i="1">
                                      <a:latin typeface="Cambria Math" panose="02040503050406030204" pitchFamily="18" charset="0"/>
                                    </a:rPr>
                                    <m:t>−</m:t>
                                  </m:r>
                                  <m:r>
                                    <a:rPr lang="en-US" altLang="zh-CN" i="0">
                                      <a:latin typeface="Cambria Math" panose="02040503050406030204" pitchFamily="18" charset="0"/>
                                    </a:rPr>
                                    <m:t>𝛻</m:t>
                                  </m:r>
                                  <m:r>
                                    <a:rPr lang="en-US" altLang="zh-CN" i="1">
                                      <a:latin typeface="Cambria Math" panose="02040503050406030204" pitchFamily="18" charset="0"/>
                                    </a:rPr>
                                    <m:t>𝑓</m:t>
                                  </m:r>
                                  <m:d>
                                    <m:dPr>
                                      <m:ctrlPr>
                                        <a:rPr lang="en-US" altLang="zh-CN" i="1">
                                          <a:latin typeface="Cambria Math" panose="02040503050406030204" pitchFamily="18" charset="0"/>
                                        </a:rPr>
                                      </m:ctrlPr>
                                    </m:dPr>
                                    <m:e>
                                      <m:sSup>
                                        <m:sSupPr>
                                          <m:ctrlPr>
                                            <a:rPr lang="en-US" altLang="zh-CN" i="1">
                                              <a:latin typeface="Cambria Math" panose="02040503050406030204" pitchFamily="18" charset="0"/>
                                            </a:rPr>
                                          </m:ctrlPr>
                                        </m:sSupPr>
                                        <m:e>
                                          <m:r>
                                            <a:rPr lang="en-US" altLang="zh-CN" b="1">
                                              <a:latin typeface="Cambria Math" panose="02040503050406030204" pitchFamily="18" charset="0"/>
                                            </a:rPr>
                                            <m:t>𝐱</m:t>
                                          </m:r>
                                        </m:e>
                                        <m:sup>
                                          <m:r>
                                            <a:rPr lang="en-US" altLang="zh-CN" i="1">
                                              <a:latin typeface="Cambria Math" panose="02040503050406030204" pitchFamily="18" charset="0"/>
                                            </a:rPr>
                                            <m:t>𝑘</m:t>
                                          </m:r>
                                          <m:r>
                                            <a:rPr lang="en-US" altLang="zh-CN" i="1">
                                              <a:latin typeface="Cambria Math" panose="02040503050406030204" pitchFamily="18" charset="0"/>
                                            </a:rPr>
                                            <m:t>−1</m:t>
                                          </m:r>
                                        </m:sup>
                                      </m:sSup>
                                    </m:e>
                                  </m:d>
                                </m:e>
                              </m:d>
                            </m:e>
                            <m:sup>
                              <m:r>
                                <m:rPr>
                                  <m:sty m:val="p"/>
                                </m:rPr>
                                <a:rPr lang="en-US" altLang="zh-CN">
                                  <a:latin typeface="Cambria Math" panose="02040503050406030204" pitchFamily="18" charset="0"/>
                                </a:rPr>
                                <m:t>T</m:t>
                              </m:r>
                            </m:sup>
                          </m:sSup>
                          <m:sSub>
                            <m:sSubPr>
                              <m:ctrlPr>
                                <a:rPr lang="en-US" altLang="zh-CN" b="0" i="1" smtClean="0">
                                  <a:latin typeface="Cambria Math" panose="02040503050406030204" pitchFamily="18" charset="0"/>
                                </a:rPr>
                              </m:ctrlPr>
                            </m:sSubPr>
                            <m:e>
                              <m:r>
                                <a:rPr lang="en-US" altLang="zh-CN" b="1" i="0" smtClean="0">
                                  <a:latin typeface="Cambria Math" panose="02040503050406030204" pitchFamily="18" charset="0"/>
                                </a:rPr>
                                <m:t>𝐝</m:t>
                              </m:r>
                            </m:e>
                            <m:sub>
                              <m:r>
                                <a:rPr lang="en-US" altLang="zh-CN" b="0" i="1" smtClean="0">
                                  <a:latin typeface="Cambria Math" panose="02040503050406030204" pitchFamily="18" charset="0"/>
                                </a:rPr>
                                <m:t>𝑘</m:t>
                              </m:r>
                            </m:sub>
                          </m:sSub>
                        </m:den>
                      </m:f>
                    </m:oMath>
                  </m:oMathPara>
                </a14:m>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pPr marL="0" indent="0" algn="ctr">
                  <a:buNone/>
                </a:pP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d</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baseline="-25000" dirty="0" smtClean="0">
                    <a:latin typeface="Times New Roman" panose="02020603050405020304" pitchFamily="18" charset="0"/>
                    <a:ea typeface="楷体" panose="02010609060101010101" pitchFamily="49" charset="-122"/>
                    <a:cs typeface="Times New Roman" panose="02020603050405020304" pitchFamily="18" charset="0"/>
                  </a:rPr>
                  <a:t> + 1</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 –</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g</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 </a:t>
                </a:r>
                <a:r>
                  <a:rPr lang="en-US" altLang="zh-CN" i="1" dirty="0" smtClean="0">
                    <a:latin typeface="Times New Roman" panose="02020603050405020304" pitchFamily="18" charset="0"/>
                    <a:ea typeface="楷体" panose="02010609060101010101" pitchFamily="49" charset="-122"/>
                    <a:cs typeface="Times New Roman" panose="02020603050405020304" pitchFamily="18" charset="0"/>
                  </a:rPr>
                  <a:t>β</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d</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k</a:t>
                </a:r>
                <a:endParaRPr lang="en-US" altLang="zh-CN" i="1" baseline="-25000" dirty="0">
                  <a:latin typeface="Times New Roman" panose="02020603050405020304" pitchFamily="18" charset="0"/>
                  <a:ea typeface="楷体" panose="02010609060101010101" pitchFamily="49" charset="-122"/>
                  <a:cs typeface="Times New Roman" panose="02020603050405020304" pitchFamily="18" charset="0"/>
                </a:endParaRPr>
              </a:p>
              <a:p>
                <a:pPr marL="0" indent="0" algn="ctr">
                  <a:buNone/>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𝛼</m:t>
                          </m:r>
                        </m:e>
                        <m:sub>
                          <m:r>
                            <a:rPr lang="en-US" altLang="zh-CN" b="0" i="1" smtClean="0">
                              <a:latin typeface="Cambria Math" panose="02040503050406030204" pitchFamily="18" charset="0"/>
                            </a:rPr>
                            <m:t>𝑘</m:t>
                          </m:r>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func>
                        <m:funcPr>
                          <m:ctrlPr>
                            <a:rPr lang="en-US" altLang="zh-CN" b="0" i="1" smtClean="0">
                              <a:latin typeface="Cambria Math" panose="02040503050406030204" pitchFamily="18" charset="0"/>
                            </a:rPr>
                          </m:ctrlPr>
                        </m:funcPr>
                        <m:fName>
                          <m:limLow>
                            <m:limLowPr>
                              <m:ctrlPr>
                                <a:rPr lang="en-US" altLang="zh-CN" b="0" i="1" smtClean="0">
                                  <a:latin typeface="Cambria Math" panose="02040503050406030204" pitchFamily="18" charset="0"/>
                                </a:rPr>
                              </m:ctrlPr>
                            </m:limLowPr>
                            <m:e>
                              <m:r>
                                <m:rPr>
                                  <m:sty m:val="p"/>
                                </m:rPr>
                                <a:rPr lang="en-US" altLang="zh-CN" b="0" i="0" smtClean="0">
                                  <a:latin typeface="Cambria Math" panose="02040503050406030204" pitchFamily="18" charset="0"/>
                                </a:rPr>
                                <m:t>argmin</m:t>
                              </m:r>
                            </m:e>
                            <m:lim>
                              <m:r>
                                <a:rPr lang="en-US" altLang="zh-CN" b="0" i="1" smtClean="0">
                                  <a:latin typeface="Cambria Math" panose="02040503050406030204" pitchFamily="18" charset="0"/>
                                </a:rPr>
                                <m:t>𝛼</m:t>
                              </m:r>
                            </m:lim>
                          </m:limLow>
                        </m:fName>
                        <m:e>
                          <m:r>
                            <a:rPr lang="en-US" altLang="zh-CN" b="0" i="1" smtClean="0">
                              <a:latin typeface="Cambria Math" panose="02040503050406030204" pitchFamily="18" charset="0"/>
                            </a:rPr>
                            <m:t>𝑓</m:t>
                          </m:r>
                          <m:d>
                            <m:dPr>
                              <m:ctrlPr>
                                <a:rPr lang="en-US" altLang="zh-CN" b="0" i="1" smtClean="0">
                                  <a:latin typeface="Cambria Math" panose="02040503050406030204" pitchFamily="18" charset="0"/>
                                </a:rPr>
                              </m:ctrlPr>
                            </m:dPr>
                            <m:e>
                              <m:sSup>
                                <m:sSupPr>
                                  <m:ctrlPr>
                                    <a:rPr lang="en-US" altLang="zh-CN" b="0" i="1" smtClean="0">
                                      <a:latin typeface="Cambria Math" panose="02040503050406030204" pitchFamily="18" charset="0"/>
                                    </a:rPr>
                                  </m:ctrlPr>
                                </m:sSupPr>
                                <m:e>
                                  <m:r>
                                    <a:rPr lang="en-US" altLang="zh-CN" b="1" i="0" smtClean="0">
                                      <a:latin typeface="Cambria Math" panose="02040503050406030204" pitchFamily="18" charset="0"/>
                                    </a:rPr>
                                    <m:t>𝐱</m:t>
                                  </m:r>
                                </m:e>
                                <m:sup>
                                  <m:r>
                                    <a:rPr lang="en-US" altLang="zh-CN" b="0" i="1" smtClean="0">
                                      <a:latin typeface="Cambria Math" panose="02040503050406030204" pitchFamily="18" charset="0"/>
                                    </a:rPr>
                                    <m:t>𝑘</m:t>
                                  </m:r>
                                </m:sup>
                              </m:sSup>
                              <m:r>
                                <a:rPr lang="en-US" altLang="zh-CN" b="0" i="1" smtClean="0">
                                  <a:latin typeface="Cambria Math" panose="02040503050406030204" pitchFamily="18" charset="0"/>
                                </a:rPr>
                                <m:t>+</m:t>
                              </m:r>
                              <m:r>
                                <a:rPr lang="en-US" altLang="zh-CN" b="0" i="1" smtClean="0">
                                  <a:latin typeface="Cambria Math" panose="02040503050406030204" pitchFamily="18" charset="0"/>
                                </a:rPr>
                                <m:t>𝛼</m:t>
                              </m:r>
                              <m:sSub>
                                <m:sSubPr>
                                  <m:ctrlPr>
                                    <a:rPr lang="en-US" altLang="zh-CN" b="0" i="1" smtClean="0">
                                      <a:latin typeface="Cambria Math" panose="02040503050406030204" pitchFamily="18" charset="0"/>
                                    </a:rPr>
                                  </m:ctrlPr>
                                </m:sSubPr>
                                <m:e>
                                  <m:r>
                                    <a:rPr lang="en-US" altLang="zh-CN" b="1" i="0" smtClean="0">
                                      <a:latin typeface="Cambria Math" panose="02040503050406030204" pitchFamily="18" charset="0"/>
                                    </a:rPr>
                                    <m:t>𝐝</m:t>
                                  </m:r>
                                </m:e>
                                <m:sub>
                                  <m:r>
                                    <a:rPr lang="en-US" altLang="zh-CN" b="0" i="1" smtClean="0">
                                      <a:latin typeface="Cambria Math" panose="02040503050406030204" pitchFamily="18" charset="0"/>
                                    </a:rPr>
                                    <m:t>𝑘</m:t>
                                  </m:r>
                                  <m:r>
                                    <a:rPr lang="en-US" altLang="zh-CN" b="0" i="1" smtClean="0">
                                      <a:latin typeface="Cambria Math" panose="02040503050406030204" pitchFamily="18" charset="0"/>
                                    </a:rPr>
                                    <m:t>+1</m:t>
                                  </m:r>
                                </m:sub>
                              </m:sSub>
                            </m:e>
                          </m:d>
                        </m:e>
                      </m:func>
                    </m:oMath>
                  </m:oMathPara>
                </a14:m>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pPr marL="0" indent="0" algn="ctr">
                  <a:buNone/>
                </a:pP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x</a:t>
                </a:r>
                <a:r>
                  <a:rPr lang="en-US" altLang="zh-CN" i="1" baseline="30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baseline="30000" dirty="0" smtClean="0">
                    <a:latin typeface="Times New Roman" panose="02020603050405020304" pitchFamily="18" charset="0"/>
                    <a:ea typeface="楷体" panose="02010609060101010101" pitchFamily="49" charset="-122"/>
                    <a:cs typeface="Times New Roman" panose="02020603050405020304" pitchFamily="18" charset="0"/>
                  </a:rPr>
                  <a:t> + 1</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 </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x</a:t>
                </a:r>
                <a:r>
                  <a:rPr lang="en-US" altLang="zh-CN" i="1" baseline="30000" dirty="0" err="1"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 </a:t>
                </a:r>
                <a:r>
                  <a:rPr lang="en-US" altLang="zh-CN" i="1" dirty="0" smtClean="0">
                    <a:latin typeface="Times New Roman" panose="02020603050405020304" pitchFamily="18" charset="0"/>
                    <a:ea typeface="楷体" panose="02010609060101010101" pitchFamily="49" charset="-122"/>
                    <a:cs typeface="Times New Roman" panose="02020603050405020304" pitchFamily="18" charset="0"/>
                  </a:rPr>
                  <a:t>α</a:t>
                </a:r>
                <a:r>
                  <a:rPr lang="en-US" altLang="zh-CN" i="1" baseline="-25000" dirty="0"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baseline="-25000" dirty="0" smtClean="0">
                    <a:latin typeface="Times New Roman" panose="02020603050405020304" pitchFamily="18" charset="0"/>
                    <a:ea typeface="楷体" panose="02010609060101010101" pitchFamily="49" charset="-122"/>
                    <a:cs typeface="Times New Roman" panose="02020603050405020304" pitchFamily="18" charset="0"/>
                  </a:rPr>
                  <a:t> + 1</a:t>
                </a: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d</a:t>
                </a:r>
                <a:r>
                  <a:rPr lang="en-US" altLang="zh-CN" i="1" baseline="-25000" dirty="0" smtClean="0">
                    <a:latin typeface="Times New Roman" panose="02020603050405020304" pitchFamily="18" charset="0"/>
                    <a:ea typeface="楷体" panose="02010609060101010101" pitchFamily="49" charset="-122"/>
                    <a:cs typeface="Times New Roman" panose="02020603050405020304" pitchFamily="18" charset="0"/>
                  </a:rPr>
                  <a:t>k</a:t>
                </a:r>
                <a:r>
                  <a:rPr lang="en-US" altLang="zh-CN" baseline="-25000" dirty="0" smtClean="0">
                    <a:latin typeface="Times New Roman" panose="02020603050405020304" pitchFamily="18" charset="0"/>
                    <a:ea typeface="楷体" panose="02010609060101010101" pitchFamily="49" charset="-122"/>
                    <a:cs typeface="Times New Roman" panose="02020603050405020304" pitchFamily="18" charset="0"/>
                  </a:rPr>
                  <a:t> + 1</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3"/>
                <a:stretch>
                  <a:fillRect l="-1391" t="-2801"/>
                </a:stretch>
              </a:blipFill>
            </p:spPr>
            <p:txBody>
              <a:bodyPr/>
              <a:lstStyle/>
              <a:p>
                <a:r>
                  <a:rPr lang="zh-CN" altLang="en-US">
                    <a:noFill/>
                  </a:rPr>
                  <a:t> </a:t>
                </a:r>
              </a:p>
            </p:txBody>
          </p:sp>
        </mc:Fallback>
      </mc:AlternateContent>
    </p:spTree>
    <p:custDataLst>
      <p:tags r:id="rId1"/>
    </p:custDataLst>
    <p:extLst>
      <p:ext uri="{BB962C8B-B14F-4D97-AF65-F5344CB8AC3E}">
        <p14:creationId xmlns:p14="http://schemas.microsoft.com/office/powerpoint/2010/main" val="1103089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宋体" panose="02010600030101010101" pitchFamily="2" charset="-122"/>
                <a:ea typeface="宋体" panose="02010600030101010101" pitchFamily="2" charset="-122"/>
              </a:rPr>
              <a:t>线性搜索方法</a:t>
            </a:r>
            <a:endParaRPr lang="zh-CN" altLang="en-US" dirty="0">
              <a:latin typeface="宋体" panose="02010600030101010101" pitchFamily="2" charset="-122"/>
              <a:ea typeface="宋体" panose="02010600030101010101" pitchFamily="2" charset="-122"/>
            </a:endParaRPr>
          </a:p>
        </p:txBody>
      </p:sp>
      <p:sp>
        <p:nvSpPr>
          <p:cNvPr id="3" name="内容占位符 2"/>
          <p:cNvSpPr>
            <a:spLocks noGrp="1"/>
          </p:cNvSpPr>
          <p:nvPr>
            <p:ph idx="1"/>
          </p:nvPr>
        </p:nvSpPr>
        <p:spPr/>
        <p:txBody>
          <a:bodyPr/>
          <a:lstStyle/>
          <a:p>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在非线性共轭梯度法中需要搜索</a:t>
            </a:r>
            <a:r>
              <a:rPr lang="en-US" altLang="zh-CN" i="1" dirty="0">
                <a:latin typeface="Times New Roman" panose="02020603050405020304" pitchFamily="18" charset="0"/>
                <a:ea typeface="楷体" panose="02010609060101010101" pitchFamily="49" charset="-122"/>
                <a:cs typeface="Times New Roman" panose="02020603050405020304" pitchFamily="18" charset="0"/>
              </a:rPr>
              <a:t>α</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pPr marL="0" indent="0" algn="ctr">
              <a:buNone/>
            </a:pPr>
            <a:r>
              <a:rPr lang="en-US" altLang="zh-CN" i="1" dirty="0" smtClean="0">
                <a:latin typeface="Times New Roman" panose="02020603050405020304" pitchFamily="18" charset="0"/>
                <a:ea typeface="楷体" panose="02010609060101010101" pitchFamily="49" charset="-122"/>
                <a:cs typeface="Times New Roman" panose="02020603050405020304" pitchFamily="18" charset="0"/>
              </a:rPr>
              <a:t>f</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x</a:t>
            </a:r>
            <a:r>
              <a:rPr lang="en-US" altLang="zh-CN" baseline="-25000" dirty="0" smtClean="0">
                <a:latin typeface="Times New Roman" panose="02020603050405020304" pitchFamily="18" charset="0"/>
                <a:ea typeface="楷体" panose="02010609060101010101" pitchFamily="49" charset="-122"/>
                <a:cs typeface="Times New Roman" panose="02020603050405020304" pitchFamily="18" charset="0"/>
              </a:rPr>
              <a:t>0</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a:t>
            </a:r>
            <a:r>
              <a:rPr lang="en-US" altLang="zh-CN"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i="1" dirty="0" smtClean="0">
                <a:latin typeface="Times New Roman" panose="02020603050405020304" pitchFamily="18" charset="0"/>
                <a:ea typeface="楷体" panose="02010609060101010101" pitchFamily="49" charset="-122"/>
                <a:cs typeface="Times New Roman" panose="02020603050405020304" pitchFamily="18" charset="0"/>
              </a:rPr>
              <a:t>α</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d</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p>
          <a:p>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让</a:t>
            </a:r>
            <a:r>
              <a:rPr lang="en-US" altLang="zh-CN" i="1" dirty="0" smtClean="0">
                <a:latin typeface="Times New Roman" panose="02020603050405020304" pitchFamily="18" charset="0"/>
                <a:ea typeface="楷体" panose="02010609060101010101" pitchFamily="49" charset="-122"/>
                <a:cs typeface="Times New Roman" panose="02020603050405020304" pitchFamily="18" charset="0"/>
              </a:rPr>
              <a:t>f</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在直线</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x</a:t>
            </a:r>
            <a:r>
              <a:rPr lang="en-US" altLang="zh-CN" baseline="-25000" dirty="0">
                <a:latin typeface="Times New Roman" panose="02020603050405020304" pitchFamily="18" charset="0"/>
                <a:ea typeface="楷体" panose="02010609060101010101" pitchFamily="49" charset="-122"/>
                <a:cs typeface="Times New Roman" panose="02020603050405020304" pitchFamily="18" charset="0"/>
              </a:rPr>
              <a:t>0</a:t>
            </a:r>
            <a:r>
              <a:rPr lang="en-US" altLang="zh-CN" dirty="0">
                <a:latin typeface="Times New Roman" panose="02020603050405020304" pitchFamily="18" charset="0"/>
                <a:ea typeface="楷体" panose="02010609060101010101" pitchFamily="49" charset="-122"/>
                <a:cs typeface="Times New Roman" panose="02020603050405020304" pitchFamily="18" charset="0"/>
              </a:rPr>
              <a:t> + </a:t>
            </a:r>
            <a:r>
              <a:rPr lang="en-US" altLang="zh-CN" i="1" dirty="0" smtClean="0">
                <a:latin typeface="Times New Roman" panose="02020603050405020304" pitchFamily="18" charset="0"/>
                <a:ea typeface="楷体" panose="02010609060101010101" pitchFamily="49" charset="-122"/>
                <a:cs typeface="Times New Roman" panose="02020603050405020304" pitchFamily="18" charset="0"/>
              </a:rPr>
              <a:t>α</a:t>
            </a: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d</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达到极小值</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在直线</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x</a:t>
            </a:r>
            <a:r>
              <a:rPr lang="en-US" altLang="zh-CN" baseline="-25000" dirty="0">
                <a:latin typeface="Times New Roman" panose="02020603050405020304" pitchFamily="18" charset="0"/>
                <a:ea typeface="楷体" panose="02010609060101010101" pitchFamily="49" charset="-122"/>
                <a:cs typeface="Times New Roman" panose="02020603050405020304" pitchFamily="18" charset="0"/>
              </a:rPr>
              <a:t>0</a:t>
            </a:r>
            <a:r>
              <a:rPr lang="en-US" altLang="zh-CN" dirty="0">
                <a:latin typeface="Times New Roman" panose="02020603050405020304" pitchFamily="18" charset="0"/>
                <a:ea typeface="楷体" panose="02010609060101010101" pitchFamily="49" charset="-122"/>
                <a:cs typeface="Times New Roman" panose="02020603050405020304" pitchFamily="18" charset="0"/>
              </a:rPr>
              <a:t> + </a:t>
            </a:r>
            <a:r>
              <a:rPr lang="en-US" altLang="zh-CN" i="1" dirty="0">
                <a:latin typeface="Times New Roman" panose="02020603050405020304" pitchFamily="18" charset="0"/>
                <a:ea typeface="楷体" panose="02010609060101010101" pitchFamily="49" charset="-122"/>
                <a:cs typeface="Times New Roman" panose="02020603050405020304" pitchFamily="18" charset="0"/>
              </a:rPr>
              <a:t>α</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d</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找到∇</a:t>
            </a:r>
            <a:r>
              <a:rPr lang="en-US" altLang="zh-CN" i="1" dirty="0" smtClean="0">
                <a:latin typeface="Times New Roman" panose="02020603050405020304" pitchFamily="18" charset="0"/>
                <a:ea typeface="楷体" panose="02010609060101010101" pitchFamily="49" charset="-122"/>
                <a:cs typeface="Times New Roman" panose="02020603050405020304" pitchFamily="18" charset="0"/>
              </a:rPr>
              <a:t>f</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与</a:t>
            </a:r>
            <a:r>
              <a:rPr lang="en-US" altLang="zh-CN" i="1" dirty="0">
                <a:latin typeface="Times New Roman" panose="02020603050405020304" pitchFamily="18" charset="0"/>
                <a:ea typeface="楷体" panose="02010609060101010101" pitchFamily="49" charset="-122"/>
                <a:cs typeface="Times New Roman" panose="02020603050405020304" pitchFamily="18" charset="0"/>
              </a:rPr>
              <a:t>α</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垂直的点</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如何更快搜索</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p>
          <a:p>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p:txBody>
      </p:sp>
    </p:spTree>
    <p:custDataLst>
      <p:tags r:id="rId1"/>
    </p:custDataLst>
    <p:extLst>
      <p:ext uri="{BB962C8B-B14F-4D97-AF65-F5344CB8AC3E}">
        <p14:creationId xmlns:p14="http://schemas.microsoft.com/office/powerpoint/2010/main" val="32320891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宋体" panose="02010600030101010101" pitchFamily="2" charset="-122"/>
                <a:ea typeface="宋体" panose="02010600030101010101" pitchFamily="2" charset="-122"/>
              </a:rPr>
              <a:t>黄金分割</a:t>
            </a:r>
            <a:endParaRPr lang="zh-CN" altLang="en-US" dirty="0">
              <a:latin typeface="宋体" panose="02010600030101010101" pitchFamily="2" charset="-122"/>
              <a:ea typeface="宋体" panose="02010600030101010101" pitchFamily="2" charset="-122"/>
            </a:endParaRPr>
          </a:p>
        </p:txBody>
      </p:sp>
      <p:sp>
        <p:nvSpPr>
          <p:cNvPr id="3" name="内容占位符 2"/>
          <p:cNvSpPr>
            <a:spLocks noGrp="1"/>
          </p:cNvSpPr>
          <p:nvPr>
            <p:ph idx="1"/>
          </p:nvPr>
        </p:nvSpPr>
        <p:spPr>
          <a:xfrm>
            <a:off x="628650" y="4828478"/>
            <a:ext cx="7886700" cy="1348484"/>
          </a:xfrm>
        </p:spPr>
        <p:txBody>
          <a:bodyPr/>
          <a:lstStyle/>
          <a:p>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黄金分割定义：一条线段被分成不相等的两部分，较短部分与较长部分的长度之比等于较长部分与线段整体的长度之比</a:t>
            </a:r>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grpSp>
        <p:nvGrpSpPr>
          <p:cNvPr id="5" name="Group 4"/>
          <p:cNvGrpSpPr>
            <a:grpSpLocks noChangeAspect="1"/>
          </p:cNvGrpSpPr>
          <p:nvPr/>
        </p:nvGrpSpPr>
        <p:grpSpPr bwMode="auto">
          <a:xfrm>
            <a:off x="2291109" y="1758602"/>
            <a:ext cx="2973387" cy="3001962"/>
            <a:chOff x="511" y="1109"/>
            <a:chExt cx="1873" cy="1891"/>
          </a:xfrm>
        </p:grpSpPr>
        <p:sp>
          <p:nvSpPr>
            <p:cNvPr id="8" name="Oval 6"/>
            <p:cNvSpPr>
              <a:spLocks noChangeArrowheads="1"/>
            </p:cNvSpPr>
            <p:nvPr/>
          </p:nvSpPr>
          <p:spPr bwMode="auto">
            <a:xfrm>
              <a:off x="511" y="1127"/>
              <a:ext cx="1873" cy="1873"/>
            </a:xfrm>
            <a:prstGeom prst="ellipse">
              <a:avLst/>
            </a:prstGeom>
            <a:noFill/>
            <a:ln w="14288"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9" name="Line 7"/>
            <p:cNvSpPr>
              <a:spLocks noChangeShapeType="1"/>
            </p:cNvSpPr>
            <p:nvPr/>
          </p:nvSpPr>
          <p:spPr bwMode="auto">
            <a:xfrm flipH="1">
              <a:off x="897" y="1127"/>
              <a:ext cx="551" cy="1695"/>
            </a:xfrm>
            <a:prstGeom prst="line">
              <a:avLst/>
            </a:prstGeom>
            <a:noFill/>
            <a:ln w="14288" cap="rnd">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0" name="Line 8"/>
            <p:cNvSpPr>
              <a:spLocks noChangeShapeType="1"/>
            </p:cNvSpPr>
            <p:nvPr/>
          </p:nvSpPr>
          <p:spPr bwMode="auto">
            <a:xfrm flipV="1">
              <a:off x="897" y="1774"/>
              <a:ext cx="1442" cy="1048"/>
            </a:xfrm>
            <a:prstGeom prst="line">
              <a:avLst/>
            </a:prstGeom>
            <a:noFill/>
            <a:ln w="14288" cap="rnd">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1" name="Line 9"/>
            <p:cNvSpPr>
              <a:spLocks noChangeShapeType="1"/>
            </p:cNvSpPr>
            <p:nvPr/>
          </p:nvSpPr>
          <p:spPr bwMode="auto">
            <a:xfrm flipH="1">
              <a:off x="557" y="1774"/>
              <a:ext cx="1782" cy="0"/>
            </a:xfrm>
            <a:prstGeom prst="line">
              <a:avLst/>
            </a:prstGeom>
            <a:noFill/>
            <a:ln w="14288" cap="rnd">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2" name="Line 10"/>
            <p:cNvSpPr>
              <a:spLocks noChangeShapeType="1"/>
            </p:cNvSpPr>
            <p:nvPr/>
          </p:nvSpPr>
          <p:spPr bwMode="auto">
            <a:xfrm>
              <a:off x="557" y="1774"/>
              <a:ext cx="1441" cy="1048"/>
            </a:xfrm>
            <a:prstGeom prst="line">
              <a:avLst/>
            </a:prstGeom>
            <a:noFill/>
            <a:ln w="14288" cap="rnd">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3" name="Line 11"/>
            <p:cNvSpPr>
              <a:spLocks noChangeShapeType="1"/>
            </p:cNvSpPr>
            <p:nvPr/>
          </p:nvSpPr>
          <p:spPr bwMode="auto">
            <a:xfrm flipH="1" flipV="1">
              <a:off x="1448" y="1127"/>
              <a:ext cx="550" cy="1695"/>
            </a:xfrm>
            <a:prstGeom prst="line">
              <a:avLst/>
            </a:prstGeom>
            <a:noFill/>
            <a:ln w="14288" cap="rnd">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4" name="Oval 12"/>
            <p:cNvSpPr>
              <a:spLocks noChangeArrowheads="1"/>
            </p:cNvSpPr>
            <p:nvPr/>
          </p:nvSpPr>
          <p:spPr bwMode="auto">
            <a:xfrm>
              <a:off x="1429" y="1109"/>
              <a:ext cx="37" cy="37"/>
            </a:xfrm>
            <a:prstGeom prst="ellipse">
              <a:avLst/>
            </a:prstGeom>
            <a:solidFill>
              <a:srgbClr val="FFFFFF"/>
            </a:solidFill>
            <a:ln w="14288" cap="rnd">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6" name="Oval 14"/>
            <p:cNvSpPr>
              <a:spLocks noChangeArrowheads="1"/>
            </p:cNvSpPr>
            <p:nvPr/>
          </p:nvSpPr>
          <p:spPr bwMode="auto">
            <a:xfrm>
              <a:off x="538" y="1756"/>
              <a:ext cx="38" cy="37"/>
            </a:xfrm>
            <a:prstGeom prst="ellipse">
              <a:avLst/>
            </a:prstGeom>
            <a:solidFill>
              <a:srgbClr val="FFFFFF"/>
            </a:solidFill>
            <a:ln w="9525" cap="rnd">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8" name="Oval 16"/>
            <p:cNvSpPr>
              <a:spLocks noChangeArrowheads="1"/>
            </p:cNvSpPr>
            <p:nvPr/>
          </p:nvSpPr>
          <p:spPr bwMode="auto">
            <a:xfrm>
              <a:off x="878" y="2803"/>
              <a:ext cx="38" cy="37"/>
            </a:xfrm>
            <a:prstGeom prst="ellipse">
              <a:avLst/>
            </a:prstGeom>
            <a:solidFill>
              <a:srgbClr val="FFFFFF"/>
            </a:solidFill>
            <a:ln w="9525" cap="rnd">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0" name="Oval 18"/>
            <p:cNvSpPr>
              <a:spLocks noChangeArrowheads="1"/>
            </p:cNvSpPr>
            <p:nvPr/>
          </p:nvSpPr>
          <p:spPr bwMode="auto">
            <a:xfrm>
              <a:off x="1980" y="2803"/>
              <a:ext cx="37" cy="37"/>
            </a:xfrm>
            <a:prstGeom prst="ellipse">
              <a:avLst/>
            </a:prstGeom>
            <a:solidFill>
              <a:srgbClr val="FFFFFF"/>
            </a:solidFill>
            <a:ln w="9525" cap="rnd">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2" name="Oval 20"/>
            <p:cNvSpPr>
              <a:spLocks noChangeArrowheads="1"/>
            </p:cNvSpPr>
            <p:nvPr/>
          </p:nvSpPr>
          <p:spPr bwMode="auto">
            <a:xfrm>
              <a:off x="2320" y="1756"/>
              <a:ext cx="37" cy="37"/>
            </a:xfrm>
            <a:prstGeom prst="ellipse">
              <a:avLst/>
            </a:prstGeom>
            <a:solidFill>
              <a:srgbClr val="FFFFFF"/>
            </a:solidFill>
            <a:ln w="9525" cap="rnd">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6" name="Oval 24"/>
            <p:cNvSpPr>
              <a:spLocks noChangeArrowheads="1"/>
            </p:cNvSpPr>
            <p:nvPr/>
          </p:nvSpPr>
          <p:spPr bwMode="auto">
            <a:xfrm>
              <a:off x="1639" y="1756"/>
              <a:ext cx="38" cy="37"/>
            </a:xfrm>
            <a:prstGeom prst="ellipse">
              <a:avLst/>
            </a:prstGeom>
            <a:solidFill>
              <a:srgbClr val="FFFFFF"/>
            </a:solidFill>
            <a:ln w="9525" cap="rnd">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grpSp>
      <p:sp>
        <p:nvSpPr>
          <p:cNvPr id="29" name="文本框 28"/>
          <p:cNvSpPr txBox="1"/>
          <p:nvPr/>
        </p:nvSpPr>
        <p:spPr>
          <a:xfrm>
            <a:off x="1968745" y="2397892"/>
            <a:ext cx="444352" cy="523220"/>
          </a:xfrm>
          <a:prstGeom prst="rect">
            <a:avLst/>
          </a:prstGeom>
          <a:noFill/>
        </p:spPr>
        <p:txBody>
          <a:bodyPr wrap="none" rtlCol="0">
            <a:spAutoFit/>
          </a:bodyPr>
          <a:lstStyle/>
          <a:p>
            <a:r>
              <a:rPr lang="en-US" altLang="zh-CN" sz="2800" dirty="0" smtClean="0">
                <a:latin typeface="Times New Roman" panose="02020603050405020304" pitchFamily="18" charset="0"/>
                <a:cs typeface="Times New Roman" panose="02020603050405020304" pitchFamily="18" charset="0"/>
              </a:rPr>
              <a:t>A</a:t>
            </a:r>
            <a:endParaRPr lang="zh-CN" altLang="en-US" sz="2800" dirty="0">
              <a:latin typeface="Times New Roman" panose="02020603050405020304" pitchFamily="18" charset="0"/>
              <a:cs typeface="Times New Roman" panose="02020603050405020304" pitchFamily="18" charset="0"/>
            </a:endParaRPr>
          </a:p>
        </p:txBody>
      </p:sp>
      <p:sp>
        <p:nvSpPr>
          <p:cNvPr id="30" name="文本框 29"/>
          <p:cNvSpPr txBox="1"/>
          <p:nvPr/>
        </p:nvSpPr>
        <p:spPr>
          <a:xfrm>
            <a:off x="5163346" y="2474753"/>
            <a:ext cx="423514" cy="523220"/>
          </a:xfrm>
          <a:prstGeom prst="rect">
            <a:avLst/>
          </a:prstGeom>
          <a:noFill/>
        </p:spPr>
        <p:txBody>
          <a:bodyPr wrap="none" rtlCol="0">
            <a:spAutoFit/>
          </a:bodyPr>
          <a:lstStyle/>
          <a:p>
            <a:r>
              <a:rPr lang="en-US" altLang="zh-CN" sz="2800" dirty="0" smtClean="0">
                <a:latin typeface="Times New Roman" panose="02020603050405020304" pitchFamily="18" charset="0"/>
                <a:cs typeface="Times New Roman" panose="02020603050405020304" pitchFamily="18" charset="0"/>
              </a:rPr>
              <a:t>B</a:t>
            </a:r>
            <a:endParaRPr lang="zh-CN" altLang="en-US" sz="2800" dirty="0">
              <a:latin typeface="Times New Roman" panose="02020603050405020304" pitchFamily="18" charset="0"/>
              <a:cs typeface="Times New Roman" panose="02020603050405020304" pitchFamily="18" charset="0"/>
            </a:endParaRPr>
          </a:p>
        </p:txBody>
      </p:sp>
      <p:sp>
        <p:nvSpPr>
          <p:cNvPr id="31" name="文本框 30"/>
          <p:cNvSpPr txBox="1"/>
          <p:nvPr/>
        </p:nvSpPr>
        <p:spPr>
          <a:xfrm>
            <a:off x="4023941" y="2397892"/>
            <a:ext cx="423514" cy="523220"/>
          </a:xfrm>
          <a:prstGeom prst="rect">
            <a:avLst/>
          </a:prstGeom>
          <a:noFill/>
        </p:spPr>
        <p:txBody>
          <a:bodyPr wrap="none" rtlCol="0">
            <a:spAutoFit/>
          </a:bodyPr>
          <a:lstStyle/>
          <a:p>
            <a:r>
              <a:rPr lang="en-US" altLang="zh-CN" sz="2800" dirty="0" smtClean="0">
                <a:latin typeface="Times New Roman" panose="02020603050405020304" pitchFamily="18" charset="0"/>
                <a:cs typeface="Times New Roman" panose="02020603050405020304" pitchFamily="18" charset="0"/>
              </a:rPr>
              <a:t>C</a:t>
            </a:r>
            <a:endParaRPr lang="zh-CN" altLang="en-US" sz="28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2" name="文本框 31"/>
              <p:cNvSpPr txBox="1"/>
              <p:nvPr/>
            </p:nvSpPr>
            <p:spPr>
              <a:xfrm>
                <a:off x="5526433" y="3193329"/>
                <a:ext cx="1488100" cy="80945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CN" sz="2800" b="0" i="1" smtClean="0">
                              <a:latin typeface="Cambria Math" panose="02040503050406030204" pitchFamily="18" charset="0"/>
                            </a:rPr>
                          </m:ctrlPr>
                        </m:fPr>
                        <m:num>
                          <m:r>
                            <a:rPr lang="en-US" altLang="zh-CN" sz="2800" b="0" i="1" smtClean="0">
                              <a:latin typeface="Cambria Math" panose="02040503050406030204" pitchFamily="18" charset="0"/>
                            </a:rPr>
                            <m:t>𝐵𝐶</m:t>
                          </m:r>
                        </m:num>
                        <m:den>
                          <m:r>
                            <a:rPr lang="en-US" altLang="zh-CN" sz="2800" b="0" i="1" smtClean="0">
                              <a:latin typeface="Cambria Math" panose="02040503050406030204" pitchFamily="18" charset="0"/>
                            </a:rPr>
                            <m:t>𝐴𝐶</m:t>
                          </m:r>
                        </m:den>
                      </m:f>
                      <m:r>
                        <a:rPr lang="en-US" altLang="zh-CN" sz="2800" b="0" i="1" smtClean="0">
                          <a:latin typeface="Cambria Math" panose="02040503050406030204" pitchFamily="18" charset="0"/>
                        </a:rPr>
                        <m:t>=</m:t>
                      </m:r>
                      <m:f>
                        <m:fPr>
                          <m:ctrlPr>
                            <a:rPr lang="en-US" altLang="zh-CN" sz="2800" b="0" i="1" smtClean="0">
                              <a:latin typeface="Cambria Math" panose="02040503050406030204" pitchFamily="18" charset="0"/>
                            </a:rPr>
                          </m:ctrlPr>
                        </m:fPr>
                        <m:num>
                          <m:r>
                            <a:rPr lang="en-US" altLang="zh-CN" sz="2800" b="0" i="1" smtClean="0">
                              <a:latin typeface="Cambria Math" panose="02040503050406030204" pitchFamily="18" charset="0"/>
                            </a:rPr>
                            <m:t>𝐴𝐶</m:t>
                          </m:r>
                        </m:num>
                        <m:den>
                          <m:r>
                            <a:rPr lang="en-US" altLang="zh-CN" sz="2800" b="0" i="1" smtClean="0">
                              <a:latin typeface="Cambria Math" panose="02040503050406030204" pitchFamily="18" charset="0"/>
                            </a:rPr>
                            <m:t>𝐴𝐵</m:t>
                          </m:r>
                        </m:den>
                      </m:f>
                    </m:oMath>
                  </m:oMathPara>
                </a14:m>
                <a:endParaRPr lang="zh-CN" altLang="en-US" sz="2800" dirty="0"/>
              </a:p>
            </p:txBody>
          </p:sp>
        </mc:Choice>
        <mc:Fallback xmlns="">
          <p:sp>
            <p:nvSpPr>
              <p:cNvPr id="32" name="文本框 31"/>
              <p:cNvSpPr txBox="1">
                <a:spLocks noRot="1" noChangeAspect="1" noMove="1" noResize="1" noEditPoints="1" noAdjustHandles="1" noChangeArrowheads="1" noChangeShapeType="1" noTextEdit="1"/>
              </p:cNvSpPr>
              <p:nvPr/>
            </p:nvSpPr>
            <p:spPr>
              <a:xfrm>
                <a:off x="5526433" y="3193329"/>
                <a:ext cx="1488100" cy="809452"/>
              </a:xfrm>
              <a:prstGeom prst="rect">
                <a:avLst/>
              </a:prstGeom>
              <a:blipFill>
                <a:blip r:embed="rId3"/>
                <a:stretch>
                  <a:fillRect/>
                </a:stretch>
              </a:blipFill>
            </p:spPr>
            <p:txBody>
              <a:bodyPr/>
              <a:lstStyle/>
              <a:p>
                <a:r>
                  <a:rPr lang="zh-CN" altLang="en-US">
                    <a:noFill/>
                  </a:rPr>
                  <a:t> </a:t>
                </a:r>
              </a:p>
            </p:txBody>
          </p:sp>
        </mc:Fallback>
      </mc:AlternateContent>
    </p:spTree>
    <p:custDataLst>
      <p:tags r:id="rId1"/>
    </p:custDataLst>
    <p:extLst>
      <p:ext uri="{BB962C8B-B14F-4D97-AF65-F5344CB8AC3E}">
        <p14:creationId xmlns:p14="http://schemas.microsoft.com/office/powerpoint/2010/main" val="831933599"/>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宋体" panose="02010600030101010101" pitchFamily="2" charset="-122"/>
                <a:ea typeface="宋体" panose="02010600030101010101" pitchFamily="2" charset="-122"/>
              </a:rPr>
              <a:t>黄金分割</a:t>
            </a:r>
            <a:endParaRPr lang="zh-CN" altLang="en-US" dirty="0">
              <a:latin typeface="宋体" panose="02010600030101010101" pitchFamily="2" charset="-122"/>
              <a:ea typeface="宋体" panose="02010600030101010101" pitchFamily="2" charset="-122"/>
            </a:endParaRPr>
          </a:p>
        </p:txBody>
      </p:sp>
      <p:sp>
        <p:nvSpPr>
          <p:cNvPr id="3" name="内容占位符 2"/>
          <p:cNvSpPr>
            <a:spLocks noGrp="1"/>
          </p:cNvSpPr>
          <p:nvPr>
            <p:ph idx="1"/>
          </p:nvPr>
        </p:nvSpPr>
        <p:spPr>
          <a:xfrm>
            <a:off x="628650" y="4538546"/>
            <a:ext cx="7886700" cy="1638416"/>
          </a:xfrm>
        </p:spPr>
        <p:txBody>
          <a:bodyPr/>
          <a:lstStyle/>
          <a:p>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黄金分割的性质：</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一条线段有两个黄金分割点</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较长部分被另一个黄金分割点黄金分割</a:t>
            </a:r>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grpSp>
        <p:nvGrpSpPr>
          <p:cNvPr id="4" name="Group 4"/>
          <p:cNvGrpSpPr>
            <a:grpSpLocks noChangeAspect="1"/>
          </p:cNvGrpSpPr>
          <p:nvPr/>
        </p:nvGrpSpPr>
        <p:grpSpPr bwMode="auto">
          <a:xfrm>
            <a:off x="5219599" y="1690689"/>
            <a:ext cx="2973387" cy="3001962"/>
            <a:chOff x="511" y="1109"/>
            <a:chExt cx="1873" cy="1891"/>
          </a:xfrm>
        </p:grpSpPr>
        <p:sp>
          <p:nvSpPr>
            <p:cNvPr id="5" name="Oval 6"/>
            <p:cNvSpPr>
              <a:spLocks noChangeArrowheads="1"/>
            </p:cNvSpPr>
            <p:nvPr/>
          </p:nvSpPr>
          <p:spPr bwMode="auto">
            <a:xfrm>
              <a:off x="511" y="1127"/>
              <a:ext cx="1873" cy="1873"/>
            </a:xfrm>
            <a:prstGeom prst="ellipse">
              <a:avLst/>
            </a:prstGeom>
            <a:noFill/>
            <a:ln w="14288"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6" name="Line 7"/>
            <p:cNvSpPr>
              <a:spLocks noChangeShapeType="1"/>
            </p:cNvSpPr>
            <p:nvPr/>
          </p:nvSpPr>
          <p:spPr bwMode="auto">
            <a:xfrm flipH="1">
              <a:off x="897" y="1127"/>
              <a:ext cx="551" cy="1695"/>
            </a:xfrm>
            <a:prstGeom prst="line">
              <a:avLst/>
            </a:prstGeom>
            <a:noFill/>
            <a:ln w="14288" cap="rnd">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7" name="Line 8"/>
            <p:cNvSpPr>
              <a:spLocks noChangeShapeType="1"/>
            </p:cNvSpPr>
            <p:nvPr/>
          </p:nvSpPr>
          <p:spPr bwMode="auto">
            <a:xfrm flipV="1">
              <a:off x="897" y="1774"/>
              <a:ext cx="1442" cy="1048"/>
            </a:xfrm>
            <a:prstGeom prst="line">
              <a:avLst/>
            </a:prstGeom>
            <a:noFill/>
            <a:ln w="14288" cap="rnd">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8" name="Line 9"/>
            <p:cNvSpPr>
              <a:spLocks noChangeShapeType="1"/>
            </p:cNvSpPr>
            <p:nvPr/>
          </p:nvSpPr>
          <p:spPr bwMode="auto">
            <a:xfrm flipH="1">
              <a:off x="557" y="1774"/>
              <a:ext cx="1782" cy="0"/>
            </a:xfrm>
            <a:prstGeom prst="line">
              <a:avLst/>
            </a:prstGeom>
            <a:noFill/>
            <a:ln w="14288" cap="rnd">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9" name="Line 10"/>
            <p:cNvSpPr>
              <a:spLocks noChangeShapeType="1"/>
            </p:cNvSpPr>
            <p:nvPr/>
          </p:nvSpPr>
          <p:spPr bwMode="auto">
            <a:xfrm>
              <a:off x="557" y="1774"/>
              <a:ext cx="1441" cy="1048"/>
            </a:xfrm>
            <a:prstGeom prst="line">
              <a:avLst/>
            </a:prstGeom>
            <a:noFill/>
            <a:ln w="14288" cap="rnd">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0" name="Line 11"/>
            <p:cNvSpPr>
              <a:spLocks noChangeShapeType="1"/>
            </p:cNvSpPr>
            <p:nvPr/>
          </p:nvSpPr>
          <p:spPr bwMode="auto">
            <a:xfrm flipH="1" flipV="1">
              <a:off x="1448" y="1127"/>
              <a:ext cx="550" cy="1695"/>
            </a:xfrm>
            <a:prstGeom prst="line">
              <a:avLst/>
            </a:prstGeom>
            <a:noFill/>
            <a:ln w="14288" cap="rnd">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1" name="Oval 12"/>
            <p:cNvSpPr>
              <a:spLocks noChangeArrowheads="1"/>
            </p:cNvSpPr>
            <p:nvPr/>
          </p:nvSpPr>
          <p:spPr bwMode="auto">
            <a:xfrm>
              <a:off x="1429" y="1109"/>
              <a:ext cx="37" cy="37"/>
            </a:xfrm>
            <a:prstGeom prst="ellipse">
              <a:avLst/>
            </a:prstGeom>
            <a:solidFill>
              <a:srgbClr val="FFFFFF"/>
            </a:solidFill>
            <a:ln w="14288" cap="rnd">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2" name="Oval 14"/>
            <p:cNvSpPr>
              <a:spLocks noChangeArrowheads="1"/>
            </p:cNvSpPr>
            <p:nvPr/>
          </p:nvSpPr>
          <p:spPr bwMode="auto">
            <a:xfrm>
              <a:off x="538" y="1756"/>
              <a:ext cx="38" cy="37"/>
            </a:xfrm>
            <a:prstGeom prst="ellipse">
              <a:avLst/>
            </a:prstGeom>
            <a:solidFill>
              <a:srgbClr val="FFFFFF"/>
            </a:solidFill>
            <a:ln w="9525" cap="rnd">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3" name="Oval 16"/>
            <p:cNvSpPr>
              <a:spLocks noChangeArrowheads="1"/>
            </p:cNvSpPr>
            <p:nvPr/>
          </p:nvSpPr>
          <p:spPr bwMode="auto">
            <a:xfrm>
              <a:off x="878" y="2803"/>
              <a:ext cx="38" cy="37"/>
            </a:xfrm>
            <a:prstGeom prst="ellipse">
              <a:avLst/>
            </a:prstGeom>
            <a:solidFill>
              <a:srgbClr val="FFFFFF"/>
            </a:solidFill>
            <a:ln w="9525" cap="rnd">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4" name="Oval 18"/>
            <p:cNvSpPr>
              <a:spLocks noChangeArrowheads="1"/>
            </p:cNvSpPr>
            <p:nvPr/>
          </p:nvSpPr>
          <p:spPr bwMode="auto">
            <a:xfrm>
              <a:off x="1980" y="2803"/>
              <a:ext cx="37" cy="37"/>
            </a:xfrm>
            <a:prstGeom prst="ellipse">
              <a:avLst/>
            </a:prstGeom>
            <a:solidFill>
              <a:srgbClr val="FFFFFF"/>
            </a:solidFill>
            <a:ln w="9525" cap="rnd">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5" name="Oval 20"/>
            <p:cNvSpPr>
              <a:spLocks noChangeArrowheads="1"/>
            </p:cNvSpPr>
            <p:nvPr/>
          </p:nvSpPr>
          <p:spPr bwMode="auto">
            <a:xfrm>
              <a:off x="2320" y="1756"/>
              <a:ext cx="37" cy="37"/>
            </a:xfrm>
            <a:prstGeom prst="ellipse">
              <a:avLst/>
            </a:prstGeom>
            <a:solidFill>
              <a:srgbClr val="FFFFFF"/>
            </a:solidFill>
            <a:ln w="9525" cap="rnd">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6" name="Oval 24"/>
            <p:cNvSpPr>
              <a:spLocks noChangeArrowheads="1"/>
            </p:cNvSpPr>
            <p:nvPr/>
          </p:nvSpPr>
          <p:spPr bwMode="auto">
            <a:xfrm>
              <a:off x="1639" y="1756"/>
              <a:ext cx="38" cy="37"/>
            </a:xfrm>
            <a:prstGeom prst="ellipse">
              <a:avLst/>
            </a:prstGeom>
            <a:solidFill>
              <a:srgbClr val="FFFFFF"/>
            </a:solidFill>
            <a:ln w="9525" cap="rnd">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1" name="Oval 16"/>
            <p:cNvSpPr>
              <a:spLocks noChangeArrowheads="1"/>
            </p:cNvSpPr>
            <p:nvPr/>
          </p:nvSpPr>
          <p:spPr bwMode="auto">
            <a:xfrm>
              <a:off x="1215" y="1751"/>
              <a:ext cx="38" cy="37"/>
            </a:xfrm>
            <a:prstGeom prst="ellipse">
              <a:avLst/>
            </a:prstGeom>
            <a:solidFill>
              <a:srgbClr val="FFFFFF"/>
            </a:solidFill>
            <a:ln w="9525" cap="rnd">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grpSp>
      <p:sp>
        <p:nvSpPr>
          <p:cNvPr id="17" name="文本框 16"/>
          <p:cNvSpPr txBox="1"/>
          <p:nvPr/>
        </p:nvSpPr>
        <p:spPr>
          <a:xfrm>
            <a:off x="4897235" y="2329979"/>
            <a:ext cx="444352" cy="523220"/>
          </a:xfrm>
          <a:prstGeom prst="rect">
            <a:avLst/>
          </a:prstGeom>
          <a:noFill/>
        </p:spPr>
        <p:txBody>
          <a:bodyPr wrap="none" rtlCol="0">
            <a:spAutoFit/>
          </a:bodyPr>
          <a:lstStyle/>
          <a:p>
            <a:r>
              <a:rPr lang="en-US" altLang="zh-CN" sz="2800" dirty="0" smtClean="0">
                <a:latin typeface="Times New Roman" panose="02020603050405020304" pitchFamily="18" charset="0"/>
                <a:cs typeface="Times New Roman" panose="02020603050405020304" pitchFamily="18" charset="0"/>
              </a:rPr>
              <a:t>A</a:t>
            </a:r>
            <a:endParaRPr lang="zh-CN" altLang="en-US" sz="2800" dirty="0">
              <a:latin typeface="Times New Roman" panose="02020603050405020304" pitchFamily="18" charset="0"/>
              <a:cs typeface="Times New Roman" panose="02020603050405020304" pitchFamily="18" charset="0"/>
            </a:endParaRPr>
          </a:p>
        </p:txBody>
      </p:sp>
      <p:sp>
        <p:nvSpPr>
          <p:cNvPr id="18" name="文本框 17"/>
          <p:cNvSpPr txBox="1"/>
          <p:nvPr/>
        </p:nvSpPr>
        <p:spPr>
          <a:xfrm>
            <a:off x="8091836" y="2406840"/>
            <a:ext cx="423514" cy="523220"/>
          </a:xfrm>
          <a:prstGeom prst="rect">
            <a:avLst/>
          </a:prstGeom>
          <a:noFill/>
        </p:spPr>
        <p:txBody>
          <a:bodyPr wrap="none" rtlCol="0">
            <a:spAutoFit/>
          </a:bodyPr>
          <a:lstStyle/>
          <a:p>
            <a:r>
              <a:rPr lang="en-US" altLang="zh-CN" sz="2800" dirty="0" smtClean="0">
                <a:latin typeface="Times New Roman" panose="02020603050405020304" pitchFamily="18" charset="0"/>
                <a:cs typeface="Times New Roman" panose="02020603050405020304" pitchFamily="18" charset="0"/>
              </a:rPr>
              <a:t>B</a:t>
            </a:r>
            <a:endParaRPr lang="zh-CN" altLang="en-US" sz="2800" dirty="0">
              <a:latin typeface="Times New Roman" panose="02020603050405020304" pitchFamily="18" charset="0"/>
              <a:cs typeface="Times New Roman" panose="02020603050405020304" pitchFamily="18" charset="0"/>
            </a:endParaRPr>
          </a:p>
        </p:txBody>
      </p:sp>
      <p:sp>
        <p:nvSpPr>
          <p:cNvPr id="19" name="文本框 18"/>
          <p:cNvSpPr txBox="1"/>
          <p:nvPr/>
        </p:nvSpPr>
        <p:spPr>
          <a:xfrm>
            <a:off x="6952431" y="2329979"/>
            <a:ext cx="423514" cy="523220"/>
          </a:xfrm>
          <a:prstGeom prst="rect">
            <a:avLst/>
          </a:prstGeom>
          <a:noFill/>
        </p:spPr>
        <p:txBody>
          <a:bodyPr wrap="none" rtlCol="0">
            <a:spAutoFit/>
          </a:bodyPr>
          <a:lstStyle/>
          <a:p>
            <a:r>
              <a:rPr lang="en-US" altLang="zh-CN" sz="2800" dirty="0" smtClean="0">
                <a:latin typeface="Times New Roman" panose="02020603050405020304" pitchFamily="18" charset="0"/>
                <a:cs typeface="Times New Roman" panose="02020603050405020304" pitchFamily="18" charset="0"/>
              </a:rPr>
              <a:t>C</a:t>
            </a:r>
            <a:endParaRPr lang="zh-CN" altLang="en-US" sz="2800" dirty="0">
              <a:latin typeface="Times New Roman" panose="02020603050405020304" pitchFamily="18" charset="0"/>
              <a:cs typeface="Times New Roman" panose="02020603050405020304" pitchFamily="18" charset="0"/>
            </a:endParaRPr>
          </a:p>
        </p:txBody>
      </p:sp>
      <p:sp>
        <p:nvSpPr>
          <p:cNvPr id="20" name="文本框 19"/>
          <p:cNvSpPr txBox="1"/>
          <p:nvPr/>
        </p:nvSpPr>
        <p:spPr>
          <a:xfrm>
            <a:off x="6017341" y="2311365"/>
            <a:ext cx="444352" cy="523220"/>
          </a:xfrm>
          <a:prstGeom prst="rect">
            <a:avLst/>
          </a:prstGeom>
          <a:noFill/>
        </p:spPr>
        <p:txBody>
          <a:bodyPr wrap="none" rtlCol="0">
            <a:spAutoFit/>
          </a:bodyPr>
          <a:lstStyle/>
          <a:p>
            <a:r>
              <a:rPr lang="en-US" altLang="zh-CN" sz="2800" dirty="0" smtClean="0">
                <a:latin typeface="Times New Roman" panose="02020603050405020304" pitchFamily="18" charset="0"/>
                <a:cs typeface="Times New Roman" panose="02020603050405020304" pitchFamily="18" charset="0"/>
              </a:rPr>
              <a:t>D</a:t>
            </a:r>
            <a:endParaRPr lang="zh-CN" altLang="en-US" sz="28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2" name="文本框 21"/>
              <p:cNvSpPr txBox="1"/>
              <p:nvPr/>
            </p:nvSpPr>
            <p:spPr>
              <a:xfrm>
                <a:off x="657555" y="2474646"/>
                <a:ext cx="3969805" cy="91082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CN" sz="2800" b="0" i="1" smtClean="0">
                              <a:latin typeface="Cambria Math" panose="02040503050406030204" pitchFamily="18" charset="0"/>
                            </a:rPr>
                          </m:ctrlPr>
                        </m:fPr>
                        <m:num>
                          <m:r>
                            <a:rPr lang="en-US" altLang="zh-CN" sz="2800" b="0" i="1" smtClean="0">
                              <a:latin typeface="Cambria Math" panose="02040503050406030204" pitchFamily="18" charset="0"/>
                            </a:rPr>
                            <m:t>𝐵𝐶</m:t>
                          </m:r>
                        </m:num>
                        <m:den>
                          <m:r>
                            <a:rPr lang="en-US" altLang="zh-CN" sz="2800" b="0" i="1" smtClean="0">
                              <a:latin typeface="Cambria Math" panose="02040503050406030204" pitchFamily="18" charset="0"/>
                            </a:rPr>
                            <m:t>𝐴𝐶</m:t>
                          </m:r>
                        </m:den>
                      </m:f>
                      <m:r>
                        <a:rPr lang="en-US" altLang="zh-CN" sz="2800" b="0" i="1" smtClean="0">
                          <a:latin typeface="Cambria Math" panose="02040503050406030204" pitchFamily="18" charset="0"/>
                        </a:rPr>
                        <m:t>=</m:t>
                      </m:r>
                      <m:f>
                        <m:fPr>
                          <m:ctrlPr>
                            <a:rPr lang="en-US" altLang="zh-CN" sz="2800" b="0" i="1" smtClean="0">
                              <a:latin typeface="Cambria Math" panose="02040503050406030204" pitchFamily="18" charset="0"/>
                            </a:rPr>
                          </m:ctrlPr>
                        </m:fPr>
                        <m:num>
                          <m:r>
                            <a:rPr lang="en-US" altLang="zh-CN" sz="2800" b="0" i="1" smtClean="0">
                              <a:latin typeface="Cambria Math" panose="02040503050406030204" pitchFamily="18" charset="0"/>
                            </a:rPr>
                            <m:t>𝐴𝐶</m:t>
                          </m:r>
                        </m:num>
                        <m:den>
                          <m:r>
                            <a:rPr lang="en-US" altLang="zh-CN" sz="2800" b="0" i="1" smtClean="0">
                              <a:latin typeface="Cambria Math" panose="02040503050406030204" pitchFamily="18" charset="0"/>
                            </a:rPr>
                            <m:t>𝐴𝐵</m:t>
                          </m:r>
                        </m:den>
                      </m:f>
                      <m:r>
                        <a:rPr lang="en-US" altLang="zh-CN" sz="2800" b="0" i="1" smtClean="0">
                          <a:latin typeface="Cambria Math" panose="02040503050406030204" pitchFamily="18" charset="0"/>
                        </a:rPr>
                        <m:t>=</m:t>
                      </m:r>
                      <m:f>
                        <m:fPr>
                          <m:ctrlPr>
                            <a:rPr lang="en-US" altLang="zh-CN" sz="2800" b="0" i="1" smtClean="0">
                              <a:latin typeface="Cambria Math" panose="02040503050406030204" pitchFamily="18" charset="0"/>
                            </a:rPr>
                          </m:ctrlPr>
                        </m:fPr>
                        <m:num>
                          <m:r>
                            <a:rPr lang="en-US" altLang="zh-CN" sz="2800" b="0" i="1" smtClean="0">
                              <a:latin typeface="Cambria Math" panose="02040503050406030204" pitchFamily="18" charset="0"/>
                            </a:rPr>
                            <m:t>𝐴𝐷</m:t>
                          </m:r>
                        </m:num>
                        <m:den>
                          <m:r>
                            <a:rPr lang="en-US" altLang="zh-CN" sz="2800" b="0" i="1" smtClean="0">
                              <a:latin typeface="Cambria Math" panose="02040503050406030204" pitchFamily="18" charset="0"/>
                            </a:rPr>
                            <m:t>𝐴𝐶</m:t>
                          </m:r>
                        </m:den>
                      </m:f>
                      <m:r>
                        <a:rPr lang="en-US" altLang="zh-CN" sz="2800" b="0" i="1" smtClean="0">
                          <a:latin typeface="Cambria Math" panose="02040503050406030204" pitchFamily="18" charset="0"/>
                        </a:rPr>
                        <m:t>=</m:t>
                      </m:r>
                      <m:f>
                        <m:fPr>
                          <m:ctrlPr>
                            <a:rPr lang="en-US" altLang="zh-CN" sz="2800" b="0" i="1" smtClean="0">
                              <a:latin typeface="Cambria Math" panose="02040503050406030204" pitchFamily="18" charset="0"/>
                            </a:rPr>
                          </m:ctrlPr>
                        </m:fPr>
                        <m:num>
                          <m:rad>
                            <m:radPr>
                              <m:degHide m:val="on"/>
                              <m:ctrlPr>
                                <a:rPr lang="en-US" altLang="zh-CN" sz="2800" b="0" i="1" smtClean="0">
                                  <a:latin typeface="Cambria Math" panose="02040503050406030204" pitchFamily="18" charset="0"/>
                                </a:rPr>
                              </m:ctrlPr>
                            </m:radPr>
                            <m:deg/>
                            <m:e>
                              <m:r>
                                <a:rPr lang="en-US" altLang="zh-CN" sz="2800" b="0" i="1" smtClean="0">
                                  <a:latin typeface="Cambria Math" panose="02040503050406030204" pitchFamily="18" charset="0"/>
                                </a:rPr>
                                <m:t>5</m:t>
                              </m:r>
                            </m:e>
                          </m:rad>
                          <m:r>
                            <a:rPr lang="en-US" altLang="zh-CN" sz="2800" b="0" i="1" smtClean="0">
                              <a:latin typeface="Cambria Math" panose="02040503050406030204" pitchFamily="18" charset="0"/>
                            </a:rPr>
                            <m:t>−1</m:t>
                          </m:r>
                        </m:num>
                        <m:den>
                          <m:r>
                            <a:rPr lang="en-US" altLang="zh-CN" sz="2800" b="0" i="1" smtClean="0">
                              <a:latin typeface="Cambria Math" panose="02040503050406030204" pitchFamily="18" charset="0"/>
                            </a:rPr>
                            <m:t>2</m:t>
                          </m:r>
                        </m:den>
                      </m:f>
                    </m:oMath>
                  </m:oMathPara>
                </a14:m>
                <a:endParaRPr lang="zh-CN" altLang="en-US" sz="2800" dirty="0"/>
              </a:p>
            </p:txBody>
          </p:sp>
        </mc:Choice>
        <mc:Fallback xmlns="">
          <p:sp>
            <p:nvSpPr>
              <p:cNvPr id="22" name="文本框 21"/>
              <p:cNvSpPr txBox="1">
                <a:spLocks noRot="1" noChangeAspect="1" noMove="1" noResize="1" noEditPoints="1" noAdjustHandles="1" noChangeArrowheads="1" noChangeShapeType="1" noTextEdit="1"/>
              </p:cNvSpPr>
              <p:nvPr/>
            </p:nvSpPr>
            <p:spPr>
              <a:xfrm>
                <a:off x="657555" y="2474646"/>
                <a:ext cx="3969805" cy="910827"/>
              </a:xfrm>
              <a:prstGeom prst="rect">
                <a:avLst/>
              </a:prstGeom>
              <a:blipFill>
                <a:blip r:embed="rId3"/>
                <a:stretch>
                  <a:fillRect/>
                </a:stretch>
              </a:blipFill>
            </p:spPr>
            <p:txBody>
              <a:bodyPr/>
              <a:lstStyle/>
              <a:p>
                <a:r>
                  <a:rPr lang="zh-CN" altLang="en-US">
                    <a:noFill/>
                  </a:rPr>
                  <a:t> </a:t>
                </a:r>
              </a:p>
            </p:txBody>
          </p:sp>
        </mc:Fallback>
      </mc:AlternateContent>
    </p:spTree>
    <p:custDataLst>
      <p:tags r:id="rId1"/>
    </p:custDataLst>
    <p:extLst>
      <p:ext uri="{BB962C8B-B14F-4D97-AF65-F5344CB8AC3E}">
        <p14:creationId xmlns:p14="http://schemas.microsoft.com/office/powerpoint/2010/main" val="1757162709"/>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宋体" panose="02010600030101010101" pitchFamily="2" charset="-122"/>
                <a:ea typeface="宋体" panose="02010600030101010101" pitchFamily="2" charset="-122"/>
              </a:rPr>
              <a:t>一元函数极值黄金分割法</a:t>
            </a:r>
            <a:endParaRPr lang="zh-CN" altLang="en-US" dirty="0">
              <a:latin typeface="宋体" panose="02010600030101010101" pitchFamily="2" charset="-122"/>
              <a:ea typeface="宋体" panose="02010600030101010101" pitchFamily="2" charset="-122"/>
            </a:endParaRPr>
          </a:p>
        </p:txBody>
      </p:sp>
      <p:sp>
        <p:nvSpPr>
          <p:cNvPr id="3" name="内容占位符 2"/>
          <p:cNvSpPr>
            <a:spLocks noGrp="1"/>
          </p:cNvSpPr>
          <p:nvPr>
            <p:ph idx="1"/>
          </p:nvPr>
        </p:nvSpPr>
        <p:spPr>
          <a:xfrm>
            <a:off x="628650" y="2051825"/>
            <a:ext cx="7886700" cy="4125138"/>
          </a:xfrm>
        </p:spPr>
        <p:txBody>
          <a:bodyPr/>
          <a:lstStyle/>
          <a:p>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计算步骤：</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在搜索区间</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i="1" dirty="0" err="1" smtClean="0">
                <a:latin typeface="Times New Roman" panose="02020603050405020304" pitchFamily="18" charset="0"/>
                <a:ea typeface="楷体" panose="02010609060101010101" pitchFamily="49" charset="-122"/>
                <a:cs typeface="Times New Roman" panose="02020603050405020304" pitchFamily="18" charset="0"/>
              </a:rPr>
              <a:t>a</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i</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a:t>
            </a:r>
            <a:r>
              <a:rPr lang="en-US" altLang="zh-CN" i="1" dirty="0" smtClean="0">
                <a:latin typeface="Times New Roman" panose="02020603050405020304" pitchFamily="18" charset="0"/>
                <a:ea typeface="楷体" panose="02010609060101010101" pitchFamily="49" charset="-122"/>
                <a:cs typeface="Times New Roman" panose="02020603050405020304" pitchFamily="18" charset="0"/>
              </a:rPr>
              <a:t>b</a:t>
            </a:r>
            <a:r>
              <a:rPr lang="en-US" altLang="zh-CN" i="1" baseline="-25000" dirty="0" smtClean="0">
                <a:latin typeface="Times New Roman" panose="02020603050405020304" pitchFamily="18" charset="0"/>
                <a:ea typeface="楷体" panose="02010609060101010101" pitchFamily="49" charset="-122"/>
                <a:cs typeface="Times New Roman" panose="02020603050405020304" pitchFamily="18" charset="0"/>
              </a:rPr>
              <a:t>i</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构造黄金分割点</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i="1" dirty="0" err="1" smtClean="0">
                <a:latin typeface="Times New Roman" panose="02020603050405020304" pitchFamily="18" charset="0"/>
                <a:ea typeface="楷体" panose="02010609060101010101" pitchFamily="49" charset="-122"/>
                <a:cs typeface="Times New Roman" panose="02020603050405020304" pitchFamily="18" charset="0"/>
              </a:rPr>
              <a:t>s</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i</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a:t>
            </a:r>
            <a:r>
              <a:rPr lang="en-US" altLang="zh-CN" i="1" dirty="0" err="1" smtClean="0">
                <a:latin typeface="Times New Roman" panose="02020603050405020304" pitchFamily="18" charset="0"/>
                <a:ea typeface="楷体" panose="02010609060101010101" pitchFamily="49" charset="-122"/>
                <a:cs typeface="Times New Roman" panose="02020603050405020304" pitchFamily="18" charset="0"/>
              </a:rPr>
              <a:t>t</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i</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p>
          <a:p>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比较</a:t>
            </a:r>
            <a:r>
              <a:rPr lang="en-US" altLang="zh-CN" i="1" dirty="0" smtClean="0">
                <a:latin typeface="Times New Roman" panose="02020603050405020304" pitchFamily="18" charset="0"/>
                <a:ea typeface="楷体" panose="02010609060101010101" pitchFamily="49" charset="-122"/>
                <a:cs typeface="Times New Roman" panose="02020603050405020304" pitchFamily="18" charset="0"/>
              </a:rPr>
              <a:t>f</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i="1" dirty="0" err="1" smtClean="0">
                <a:latin typeface="Times New Roman" panose="02020603050405020304" pitchFamily="18" charset="0"/>
                <a:ea typeface="楷体" panose="02010609060101010101" pitchFamily="49" charset="-122"/>
                <a:cs typeface="Times New Roman" panose="02020603050405020304" pitchFamily="18" charset="0"/>
              </a:rPr>
              <a:t>s</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i</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和</a:t>
            </a:r>
            <a:r>
              <a:rPr lang="en-US" altLang="zh-CN" i="1" dirty="0" smtClean="0">
                <a:latin typeface="Times New Roman" panose="02020603050405020304" pitchFamily="18" charset="0"/>
                <a:ea typeface="楷体" panose="02010609060101010101" pitchFamily="49" charset="-122"/>
                <a:cs typeface="Times New Roman" panose="02020603050405020304" pitchFamily="18" charset="0"/>
              </a:rPr>
              <a:t>f</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i="1" dirty="0" err="1" smtClean="0">
                <a:latin typeface="Times New Roman" panose="02020603050405020304" pitchFamily="18" charset="0"/>
                <a:ea typeface="楷体" panose="02010609060101010101" pitchFamily="49" charset="-122"/>
                <a:cs typeface="Times New Roman" panose="02020603050405020304" pitchFamily="18" charset="0"/>
              </a:rPr>
              <a:t>t</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i</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的大小</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如果</a:t>
            </a:r>
            <a:r>
              <a:rPr lang="en-US" altLang="zh-CN" i="1" dirty="0" smtClean="0">
                <a:latin typeface="Times New Roman" panose="02020603050405020304" pitchFamily="18" charset="0"/>
                <a:ea typeface="楷体" panose="02010609060101010101" pitchFamily="49" charset="-122"/>
                <a:cs typeface="Times New Roman" panose="02020603050405020304" pitchFamily="18" charset="0"/>
              </a:rPr>
              <a:t>f</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i="1" dirty="0" err="1" smtClean="0">
                <a:latin typeface="Times New Roman" panose="02020603050405020304" pitchFamily="18" charset="0"/>
                <a:ea typeface="楷体" panose="02010609060101010101" pitchFamily="49" charset="-122"/>
                <a:cs typeface="Times New Roman" panose="02020603050405020304" pitchFamily="18" charset="0"/>
              </a:rPr>
              <a:t>s</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i</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较大，则抛弃区间</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i="1" dirty="0" err="1" smtClean="0">
                <a:latin typeface="Times New Roman" panose="02020603050405020304" pitchFamily="18" charset="0"/>
                <a:ea typeface="楷体" panose="02010609060101010101" pitchFamily="49" charset="-122"/>
                <a:cs typeface="Times New Roman" panose="02020603050405020304" pitchFamily="18" charset="0"/>
              </a:rPr>
              <a:t>a</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i</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a:t>
            </a:r>
            <a:r>
              <a:rPr lang="en-US" altLang="zh-CN" i="1" dirty="0" err="1" smtClean="0">
                <a:latin typeface="Times New Roman" panose="02020603050405020304" pitchFamily="18" charset="0"/>
                <a:ea typeface="楷体" panose="02010609060101010101" pitchFamily="49" charset="-122"/>
                <a:cs typeface="Times New Roman" panose="02020603050405020304" pitchFamily="18" charset="0"/>
              </a:rPr>
              <a:t>s</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i</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 ，</a:t>
            </a:r>
            <a:r>
              <a:rPr lang="en-US" altLang="zh-CN" i="1" dirty="0" err="1" smtClean="0">
                <a:latin typeface="Times New Roman" panose="02020603050405020304" pitchFamily="18" charset="0"/>
                <a:ea typeface="楷体" panose="02010609060101010101" pitchFamily="49" charset="-122"/>
                <a:cs typeface="Times New Roman" panose="02020603050405020304" pitchFamily="18" charset="0"/>
              </a:rPr>
              <a:t>t</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i</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成为区间</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i="1" dirty="0" err="1" smtClean="0">
                <a:latin typeface="Times New Roman" panose="02020603050405020304" pitchFamily="18" charset="0"/>
                <a:ea typeface="楷体" panose="02010609060101010101" pitchFamily="49" charset="-122"/>
                <a:cs typeface="Times New Roman" panose="02020603050405020304" pitchFamily="18" charset="0"/>
              </a:rPr>
              <a:t>s</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i</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a:t>
            </a:r>
            <a:r>
              <a:rPr lang="en-US" altLang="zh-CN" i="1" dirty="0" smtClean="0">
                <a:latin typeface="Times New Roman" panose="02020603050405020304" pitchFamily="18" charset="0"/>
                <a:ea typeface="楷体" panose="02010609060101010101" pitchFamily="49" charset="-122"/>
                <a:cs typeface="Times New Roman" panose="02020603050405020304" pitchFamily="18" charset="0"/>
              </a:rPr>
              <a:t>b</a:t>
            </a:r>
            <a:r>
              <a:rPr lang="en-US" altLang="zh-CN" i="1" baseline="-25000" dirty="0" smtClean="0">
                <a:latin typeface="Times New Roman" panose="02020603050405020304" pitchFamily="18" charset="0"/>
                <a:ea typeface="楷体" panose="02010609060101010101" pitchFamily="49" charset="-122"/>
                <a:cs typeface="Times New Roman" panose="02020603050405020304" pitchFamily="18" charset="0"/>
              </a:rPr>
              <a:t>i</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的一个黄金分割点</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如果</a:t>
            </a:r>
            <a:r>
              <a:rPr lang="en-US" altLang="zh-CN" i="1" dirty="0" smtClean="0">
                <a:latin typeface="Times New Roman" panose="02020603050405020304" pitchFamily="18" charset="0"/>
                <a:ea typeface="楷体" panose="02010609060101010101" pitchFamily="49" charset="-122"/>
                <a:cs typeface="Times New Roman" panose="02020603050405020304" pitchFamily="18" charset="0"/>
              </a:rPr>
              <a:t>f</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i="1" dirty="0" err="1" smtClean="0">
                <a:latin typeface="Times New Roman" panose="02020603050405020304" pitchFamily="18" charset="0"/>
                <a:ea typeface="楷体" panose="02010609060101010101" pitchFamily="49" charset="-122"/>
                <a:cs typeface="Times New Roman" panose="02020603050405020304" pitchFamily="18" charset="0"/>
              </a:rPr>
              <a:t>t</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i</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较大，则抛弃区间</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i="1" dirty="0" err="1" smtClean="0">
                <a:latin typeface="Times New Roman" panose="02020603050405020304" pitchFamily="18" charset="0"/>
                <a:ea typeface="楷体" panose="02010609060101010101" pitchFamily="49" charset="-122"/>
                <a:cs typeface="Times New Roman" panose="02020603050405020304" pitchFamily="18" charset="0"/>
              </a:rPr>
              <a:t>t</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i</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a:t>
            </a:r>
            <a:r>
              <a:rPr lang="en-US" altLang="zh-CN" i="1" dirty="0" smtClean="0">
                <a:latin typeface="Times New Roman" panose="02020603050405020304" pitchFamily="18" charset="0"/>
                <a:ea typeface="楷体" panose="02010609060101010101" pitchFamily="49" charset="-122"/>
                <a:cs typeface="Times New Roman" panose="02020603050405020304" pitchFamily="18" charset="0"/>
              </a:rPr>
              <a:t>b</a:t>
            </a:r>
            <a:r>
              <a:rPr lang="en-US" altLang="zh-CN" i="1" baseline="-25000" dirty="0" smtClean="0">
                <a:latin typeface="Times New Roman" panose="02020603050405020304" pitchFamily="18" charset="0"/>
                <a:ea typeface="楷体" panose="02010609060101010101" pitchFamily="49" charset="-122"/>
                <a:cs typeface="Times New Roman" panose="02020603050405020304" pitchFamily="18" charset="0"/>
              </a:rPr>
              <a:t>i</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 ，</a:t>
            </a:r>
            <a:r>
              <a:rPr lang="en-US" altLang="zh-CN" i="1" dirty="0" err="1" smtClean="0">
                <a:latin typeface="Times New Roman" panose="02020603050405020304" pitchFamily="18" charset="0"/>
                <a:ea typeface="楷体" panose="02010609060101010101" pitchFamily="49" charset="-122"/>
                <a:cs typeface="Times New Roman" panose="02020603050405020304" pitchFamily="18" charset="0"/>
              </a:rPr>
              <a:t>s</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i</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成为区间</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i="1" dirty="0" err="1" smtClean="0">
                <a:latin typeface="Times New Roman" panose="02020603050405020304" pitchFamily="18" charset="0"/>
                <a:ea typeface="楷体" panose="02010609060101010101" pitchFamily="49" charset="-122"/>
                <a:cs typeface="Times New Roman" panose="02020603050405020304" pitchFamily="18" charset="0"/>
              </a:rPr>
              <a:t>a</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i</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a:t>
            </a:r>
            <a:r>
              <a:rPr lang="en-US" altLang="zh-CN" i="1" dirty="0" err="1" smtClean="0">
                <a:latin typeface="Times New Roman" panose="02020603050405020304" pitchFamily="18" charset="0"/>
                <a:ea typeface="楷体" panose="02010609060101010101" pitchFamily="49" charset="-122"/>
                <a:cs typeface="Times New Roman" panose="02020603050405020304" pitchFamily="18" charset="0"/>
              </a:rPr>
              <a:t>t</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i</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的一个黄金分割点</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对剩余的区间重复上述步骤</a:t>
            </a:r>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Tree>
    <p:custDataLst>
      <p:tags r:id="rId1"/>
    </p:custDataLst>
    <p:extLst>
      <p:ext uri="{BB962C8B-B14F-4D97-AF65-F5344CB8AC3E}">
        <p14:creationId xmlns:p14="http://schemas.microsoft.com/office/powerpoint/2010/main" val="3133353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宋体" panose="02010600030101010101" pitchFamily="2" charset="-122"/>
                <a:ea typeface="宋体" panose="02010600030101010101" pitchFamily="2" charset="-122"/>
              </a:rPr>
              <a:t>一元函数零点二分法</a:t>
            </a:r>
            <a:endParaRPr lang="zh-CN" altLang="en-US" dirty="0">
              <a:latin typeface="宋体" panose="02010600030101010101" pitchFamily="2" charset="-122"/>
              <a:ea typeface="宋体" panose="02010600030101010101" pitchFamily="2" charset="-122"/>
            </a:endParaRPr>
          </a:p>
        </p:txBody>
      </p:sp>
      <p:sp>
        <p:nvSpPr>
          <p:cNvPr id="3" name="内容占位符 2"/>
          <p:cNvSpPr>
            <a:spLocks noGrp="1"/>
          </p:cNvSpPr>
          <p:nvPr>
            <p:ph idx="1"/>
          </p:nvPr>
        </p:nvSpPr>
        <p:spPr>
          <a:xfrm>
            <a:off x="628650" y="1690689"/>
            <a:ext cx="7886700" cy="4113987"/>
          </a:xfrm>
        </p:spPr>
        <p:txBody>
          <a:bodyPr/>
          <a:lstStyle/>
          <a:p>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中间值定理：</a:t>
            </a:r>
            <a:r>
              <a:rPr lang="en-US" altLang="zh-CN" i="1" dirty="0" smtClean="0">
                <a:latin typeface="Times New Roman" panose="02020603050405020304" pitchFamily="18" charset="0"/>
                <a:ea typeface="楷体" panose="02010609060101010101" pitchFamily="49" charset="-122"/>
                <a:cs typeface="Times New Roman" panose="02020603050405020304" pitchFamily="18" charset="0"/>
              </a:rPr>
              <a:t>f</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i="1" dirty="0" smtClean="0">
                <a:latin typeface="Times New Roman" panose="02020603050405020304" pitchFamily="18" charset="0"/>
                <a:ea typeface="楷体" panose="02010609060101010101" pitchFamily="49" charset="-122"/>
                <a:cs typeface="Times New Roman" panose="02020603050405020304" pitchFamily="18" charset="0"/>
              </a:rPr>
              <a:t>x</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i="1" dirty="0" smtClean="0">
                <a:latin typeface="Times New Roman" panose="02020603050405020304" pitchFamily="18" charset="0"/>
                <a:ea typeface="楷体" panose="02010609060101010101" pitchFamily="49" charset="-122"/>
                <a:cs typeface="Times New Roman" panose="02020603050405020304" pitchFamily="18" charset="0"/>
              </a:rPr>
              <a:t>C</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i="1" dirty="0" smtClean="0">
                <a:latin typeface="Times New Roman" panose="02020603050405020304" pitchFamily="18" charset="0"/>
                <a:ea typeface="楷体" panose="02010609060101010101" pitchFamily="49" charset="-122"/>
                <a:cs typeface="Times New Roman" panose="02020603050405020304" pitchFamily="18" charset="0"/>
              </a:rPr>
              <a:t>a</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a:t>
            </a:r>
            <a:r>
              <a:rPr lang="en-US" altLang="zh-CN" i="1" dirty="0" smtClean="0">
                <a:latin typeface="Times New Roman" panose="02020603050405020304" pitchFamily="18" charset="0"/>
                <a:ea typeface="楷体" panose="02010609060101010101" pitchFamily="49" charset="-122"/>
                <a:cs typeface="Times New Roman" panose="02020603050405020304" pitchFamily="18" charset="0"/>
              </a:rPr>
              <a:t>b</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，且</a:t>
            </a:r>
            <a:r>
              <a:rPr lang="en-US" altLang="zh-CN" i="1" dirty="0" smtClean="0">
                <a:latin typeface="Times New Roman" panose="02020603050405020304" pitchFamily="18" charset="0"/>
                <a:ea typeface="楷体" panose="02010609060101010101" pitchFamily="49" charset="-122"/>
                <a:cs typeface="Times New Roman" panose="02020603050405020304" pitchFamily="18" charset="0"/>
              </a:rPr>
              <a:t>f</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i="1" dirty="0" smtClean="0">
                <a:latin typeface="Times New Roman" panose="02020603050405020304" pitchFamily="18" charset="0"/>
                <a:ea typeface="楷体" panose="02010609060101010101" pitchFamily="49" charset="-122"/>
                <a:cs typeface="Times New Roman" panose="02020603050405020304" pitchFamily="18" charset="0"/>
              </a:rPr>
              <a:t>a</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i="1" dirty="0" smtClean="0">
                <a:latin typeface="Times New Roman" panose="02020603050405020304" pitchFamily="18" charset="0"/>
                <a:ea typeface="楷体" panose="02010609060101010101" pitchFamily="49" charset="-122"/>
                <a:cs typeface="Times New Roman" panose="02020603050405020304" pitchFamily="18" charset="0"/>
              </a:rPr>
              <a:t>f</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i="1" dirty="0" smtClean="0">
                <a:latin typeface="Times New Roman" panose="02020603050405020304" pitchFamily="18" charset="0"/>
                <a:ea typeface="楷体" panose="02010609060101010101" pitchFamily="49" charset="-122"/>
                <a:cs typeface="Times New Roman" panose="02020603050405020304" pitchFamily="18" charset="0"/>
              </a:rPr>
              <a:t>b</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&lt; 0</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，则存在</a:t>
            </a:r>
            <a:r>
              <a:rPr lang="en-US" altLang="zh-CN" i="1" dirty="0" smtClean="0">
                <a:latin typeface="Times New Roman" panose="02020603050405020304" pitchFamily="18" charset="0"/>
                <a:ea typeface="楷体" panose="02010609060101010101" pitchFamily="49" charset="-122"/>
                <a:cs typeface="Times New Roman" panose="02020603050405020304" pitchFamily="18" charset="0"/>
              </a:rPr>
              <a:t>x</a:t>
            </a:r>
            <a:r>
              <a:rPr lang="en-US" altLang="zh-CN" baseline="-25000" dirty="0" smtClean="0">
                <a:latin typeface="Times New Roman" panose="02020603050405020304" pitchFamily="18" charset="0"/>
                <a:ea typeface="楷体" panose="02010609060101010101" pitchFamily="49" charset="-122"/>
                <a:cs typeface="Times New Roman" panose="02020603050405020304" pitchFamily="18" charset="0"/>
              </a:rPr>
              <a:t>0</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i="1" dirty="0" smtClean="0">
                <a:latin typeface="Times New Roman" panose="02020603050405020304" pitchFamily="18" charset="0"/>
                <a:ea typeface="楷体" panose="02010609060101010101" pitchFamily="49" charset="-122"/>
                <a:cs typeface="Times New Roman" panose="02020603050405020304" pitchFamily="18" charset="0"/>
              </a:rPr>
              <a:t>a</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a:t>
            </a:r>
            <a:r>
              <a:rPr lang="en-US" altLang="zh-CN" i="1" dirty="0" smtClean="0">
                <a:latin typeface="Times New Roman" panose="02020603050405020304" pitchFamily="18" charset="0"/>
                <a:ea typeface="楷体" panose="02010609060101010101" pitchFamily="49" charset="-122"/>
                <a:cs typeface="Times New Roman" panose="02020603050405020304" pitchFamily="18" charset="0"/>
              </a:rPr>
              <a:t>b</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，使得</a:t>
            </a:r>
            <a:r>
              <a:rPr lang="en-US" altLang="zh-CN" i="1" dirty="0" smtClean="0">
                <a:latin typeface="Times New Roman" panose="02020603050405020304" pitchFamily="18" charset="0"/>
                <a:ea typeface="楷体" panose="02010609060101010101" pitchFamily="49" charset="-122"/>
                <a:cs typeface="Times New Roman" panose="02020603050405020304" pitchFamily="18" charset="0"/>
              </a:rPr>
              <a:t>f</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i="1" dirty="0" smtClean="0">
                <a:latin typeface="Times New Roman" panose="02020603050405020304" pitchFamily="18" charset="0"/>
                <a:ea typeface="楷体" panose="02010609060101010101" pitchFamily="49" charset="-122"/>
                <a:cs typeface="Times New Roman" panose="02020603050405020304" pitchFamily="18" charset="0"/>
              </a:rPr>
              <a:t>x</a:t>
            </a:r>
            <a:r>
              <a:rPr lang="en-US" altLang="zh-CN" baseline="-25000" dirty="0" smtClean="0">
                <a:latin typeface="Times New Roman" panose="02020603050405020304" pitchFamily="18" charset="0"/>
                <a:ea typeface="楷体" panose="02010609060101010101" pitchFamily="49" charset="-122"/>
                <a:cs typeface="Times New Roman" panose="02020603050405020304" pitchFamily="18" charset="0"/>
              </a:rPr>
              <a:t>0</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 0</a:t>
            </a:r>
          </a:p>
          <a:p>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计算思路：</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设</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i="1" dirty="0" err="1" smtClean="0">
                <a:latin typeface="Times New Roman" panose="02020603050405020304" pitchFamily="18" charset="0"/>
                <a:ea typeface="楷体" panose="02010609060101010101" pitchFamily="49" charset="-122"/>
                <a:cs typeface="Times New Roman" panose="02020603050405020304" pitchFamily="18" charset="0"/>
              </a:rPr>
              <a:t>a</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i</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a:t>
            </a:r>
            <a:r>
              <a:rPr lang="en-US" altLang="zh-CN" i="1" dirty="0" smtClean="0">
                <a:latin typeface="Times New Roman" panose="02020603050405020304" pitchFamily="18" charset="0"/>
                <a:ea typeface="楷体" panose="02010609060101010101" pitchFamily="49" charset="-122"/>
                <a:cs typeface="Times New Roman" panose="02020603050405020304" pitchFamily="18" charset="0"/>
              </a:rPr>
              <a:t>b</a:t>
            </a:r>
            <a:r>
              <a:rPr lang="en-US" altLang="zh-CN" i="1" baseline="-25000" dirty="0" smtClean="0">
                <a:latin typeface="Times New Roman" panose="02020603050405020304" pitchFamily="18" charset="0"/>
                <a:ea typeface="楷体" panose="02010609060101010101" pitchFamily="49" charset="-122"/>
                <a:cs typeface="Times New Roman" panose="02020603050405020304" pitchFamily="18" charset="0"/>
              </a:rPr>
              <a:t>i</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是</a:t>
            </a:r>
            <a:r>
              <a:rPr lang="en-US" altLang="zh-CN" i="1" dirty="0" smtClean="0">
                <a:latin typeface="Times New Roman" panose="02020603050405020304" pitchFamily="18" charset="0"/>
                <a:ea typeface="楷体" panose="02010609060101010101" pitchFamily="49" charset="-122"/>
                <a:cs typeface="Times New Roman" panose="02020603050405020304" pitchFamily="18" charset="0"/>
              </a:rPr>
              <a:t>f</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i="1" dirty="0" smtClean="0">
                <a:latin typeface="Times New Roman" panose="02020603050405020304" pitchFamily="18" charset="0"/>
                <a:ea typeface="楷体" panose="02010609060101010101" pitchFamily="49" charset="-122"/>
                <a:cs typeface="Times New Roman" panose="02020603050405020304" pitchFamily="18" charset="0"/>
              </a:rPr>
              <a:t>x</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零点的搜索区间，取区间的中点</a:t>
            </a:r>
            <a:r>
              <a:rPr lang="en-US" altLang="zh-CN" i="1" dirty="0" smtClean="0">
                <a:latin typeface="Times New Roman" panose="02020603050405020304" pitchFamily="18" charset="0"/>
                <a:ea typeface="楷体" panose="02010609060101010101" pitchFamily="49" charset="-122"/>
                <a:cs typeface="Times New Roman" panose="02020603050405020304" pitchFamily="18" charset="0"/>
              </a:rPr>
              <a:t>m</a:t>
            </a:r>
            <a:r>
              <a:rPr lang="en-US" altLang="zh-CN" i="1" baseline="-25000" dirty="0" smtClean="0">
                <a:latin typeface="Times New Roman" panose="02020603050405020304" pitchFamily="18" charset="0"/>
                <a:ea typeface="楷体" panose="02010609060101010101" pitchFamily="49" charset="-122"/>
                <a:cs typeface="Times New Roman" panose="02020603050405020304" pitchFamily="18" charset="0"/>
              </a:rPr>
              <a:t>i</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，计算</a:t>
            </a:r>
            <a:r>
              <a:rPr lang="en-US" altLang="zh-CN" i="1" dirty="0" smtClean="0">
                <a:latin typeface="Times New Roman" panose="02020603050405020304" pitchFamily="18" charset="0"/>
                <a:ea typeface="楷体" panose="02010609060101010101" pitchFamily="49" charset="-122"/>
                <a:cs typeface="Times New Roman" panose="02020603050405020304" pitchFamily="18" charset="0"/>
              </a:rPr>
              <a:t>f</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i="1" dirty="0" smtClean="0">
                <a:latin typeface="Times New Roman" panose="02020603050405020304" pitchFamily="18" charset="0"/>
                <a:ea typeface="楷体" panose="02010609060101010101" pitchFamily="49" charset="-122"/>
                <a:cs typeface="Times New Roman" panose="02020603050405020304" pitchFamily="18" charset="0"/>
              </a:rPr>
              <a:t>m</a:t>
            </a:r>
            <a:r>
              <a:rPr lang="en-US" altLang="zh-CN" i="1" baseline="-25000" dirty="0" smtClean="0">
                <a:latin typeface="Times New Roman" panose="02020603050405020304" pitchFamily="18" charset="0"/>
                <a:ea typeface="楷体" panose="02010609060101010101" pitchFamily="49" charset="-122"/>
                <a:cs typeface="Times New Roman" panose="02020603050405020304" pitchFamily="18" charset="0"/>
              </a:rPr>
              <a:t>i</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的符号</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如果</a:t>
            </a:r>
            <a:r>
              <a:rPr lang="en-US" altLang="zh-CN" i="1" dirty="0" smtClean="0">
                <a:latin typeface="Times New Roman" panose="02020603050405020304" pitchFamily="18" charset="0"/>
                <a:ea typeface="楷体" panose="02010609060101010101" pitchFamily="49" charset="-122"/>
                <a:cs typeface="Times New Roman" panose="02020603050405020304" pitchFamily="18" charset="0"/>
              </a:rPr>
              <a:t>f</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i="1" dirty="0" smtClean="0">
                <a:latin typeface="Times New Roman" panose="02020603050405020304" pitchFamily="18" charset="0"/>
                <a:ea typeface="楷体" panose="02010609060101010101" pitchFamily="49" charset="-122"/>
                <a:cs typeface="Times New Roman" panose="02020603050405020304" pitchFamily="18" charset="0"/>
              </a:rPr>
              <a:t>m</a:t>
            </a:r>
            <a:r>
              <a:rPr lang="en-US" altLang="zh-CN" i="1" baseline="-25000" dirty="0" smtClean="0">
                <a:latin typeface="Times New Roman" panose="02020603050405020304" pitchFamily="18" charset="0"/>
                <a:ea typeface="楷体" panose="02010609060101010101" pitchFamily="49" charset="-122"/>
                <a:cs typeface="Times New Roman" panose="02020603050405020304" pitchFamily="18" charset="0"/>
              </a:rPr>
              <a:t>i</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与</a:t>
            </a:r>
            <a:r>
              <a:rPr lang="en-US" altLang="zh-CN" i="1" dirty="0" smtClean="0">
                <a:latin typeface="Times New Roman" panose="02020603050405020304" pitchFamily="18" charset="0"/>
                <a:ea typeface="楷体" panose="02010609060101010101" pitchFamily="49" charset="-122"/>
                <a:cs typeface="Times New Roman" panose="02020603050405020304" pitchFamily="18" charset="0"/>
              </a:rPr>
              <a:t>f</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i="1" dirty="0" err="1" smtClean="0">
                <a:latin typeface="Times New Roman" panose="02020603050405020304" pitchFamily="18" charset="0"/>
                <a:ea typeface="楷体" panose="02010609060101010101" pitchFamily="49" charset="-122"/>
                <a:cs typeface="Times New Roman" panose="02020603050405020304" pitchFamily="18" charset="0"/>
              </a:rPr>
              <a:t>a</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i</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同号，抛弃区间</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i="1" dirty="0" err="1" smtClean="0">
                <a:latin typeface="Times New Roman" panose="02020603050405020304" pitchFamily="18" charset="0"/>
                <a:ea typeface="楷体" panose="02010609060101010101" pitchFamily="49" charset="-122"/>
                <a:cs typeface="Times New Roman" panose="02020603050405020304" pitchFamily="18" charset="0"/>
              </a:rPr>
              <a:t>a</a:t>
            </a:r>
            <a:r>
              <a:rPr lang="en-US" altLang="zh-CN" i="1" baseline="-25000" dirty="0" err="1" smtClean="0">
                <a:latin typeface="Times New Roman" panose="02020603050405020304" pitchFamily="18" charset="0"/>
                <a:ea typeface="楷体" panose="02010609060101010101" pitchFamily="49" charset="-122"/>
                <a:cs typeface="Times New Roman" panose="02020603050405020304" pitchFamily="18" charset="0"/>
              </a:rPr>
              <a:t>i</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a:t>
            </a:r>
            <a:r>
              <a:rPr lang="en-US" altLang="zh-CN" i="1" dirty="0" smtClean="0">
                <a:latin typeface="Times New Roman" panose="02020603050405020304" pitchFamily="18" charset="0"/>
                <a:ea typeface="楷体" panose="02010609060101010101" pitchFamily="49" charset="-122"/>
                <a:cs typeface="Times New Roman" panose="02020603050405020304" pitchFamily="18" charset="0"/>
              </a:rPr>
              <a:t>m</a:t>
            </a:r>
            <a:r>
              <a:rPr lang="en-US" altLang="zh-CN" i="1" baseline="-25000" dirty="0" smtClean="0">
                <a:latin typeface="Times New Roman" panose="02020603050405020304" pitchFamily="18" charset="0"/>
                <a:ea typeface="楷体" panose="02010609060101010101" pitchFamily="49" charset="-122"/>
                <a:cs typeface="Times New Roman" panose="02020603050405020304" pitchFamily="18" charset="0"/>
              </a:rPr>
              <a:t>i</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p>
          <a:p>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如果</a:t>
            </a:r>
            <a:r>
              <a:rPr lang="en-US" altLang="zh-CN" i="1" dirty="0" smtClean="0">
                <a:latin typeface="Times New Roman" panose="02020603050405020304" pitchFamily="18" charset="0"/>
                <a:ea typeface="楷体" panose="02010609060101010101" pitchFamily="49" charset="-122"/>
                <a:cs typeface="Times New Roman" panose="02020603050405020304" pitchFamily="18" charset="0"/>
              </a:rPr>
              <a:t>f</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i="1" dirty="0" smtClean="0">
                <a:latin typeface="Times New Roman" panose="02020603050405020304" pitchFamily="18" charset="0"/>
                <a:ea typeface="楷体" panose="02010609060101010101" pitchFamily="49" charset="-122"/>
                <a:cs typeface="Times New Roman" panose="02020603050405020304" pitchFamily="18" charset="0"/>
              </a:rPr>
              <a:t>m</a:t>
            </a:r>
            <a:r>
              <a:rPr lang="en-US" altLang="zh-CN" i="1" baseline="-25000" dirty="0" smtClean="0">
                <a:latin typeface="Times New Roman" panose="02020603050405020304" pitchFamily="18" charset="0"/>
                <a:ea typeface="楷体" panose="02010609060101010101" pitchFamily="49" charset="-122"/>
                <a:cs typeface="Times New Roman" panose="02020603050405020304" pitchFamily="18" charset="0"/>
              </a:rPr>
              <a:t>i</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与</a:t>
            </a:r>
            <a:r>
              <a:rPr lang="en-US" altLang="zh-CN" i="1" dirty="0" smtClean="0">
                <a:latin typeface="Times New Roman" panose="02020603050405020304" pitchFamily="18" charset="0"/>
                <a:ea typeface="楷体" panose="02010609060101010101" pitchFamily="49" charset="-122"/>
                <a:cs typeface="Times New Roman" panose="02020603050405020304" pitchFamily="18" charset="0"/>
              </a:rPr>
              <a:t>f</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i="1" dirty="0" smtClean="0">
                <a:latin typeface="Times New Roman" panose="02020603050405020304" pitchFamily="18" charset="0"/>
                <a:ea typeface="楷体" panose="02010609060101010101" pitchFamily="49" charset="-122"/>
                <a:cs typeface="Times New Roman" panose="02020603050405020304" pitchFamily="18" charset="0"/>
              </a:rPr>
              <a:t>b</a:t>
            </a:r>
            <a:r>
              <a:rPr lang="en-US" altLang="zh-CN" i="1" baseline="-25000" dirty="0" smtClean="0">
                <a:latin typeface="Times New Roman" panose="02020603050405020304" pitchFamily="18" charset="0"/>
                <a:ea typeface="楷体" panose="02010609060101010101" pitchFamily="49" charset="-122"/>
                <a:cs typeface="Times New Roman" panose="02020603050405020304" pitchFamily="18" charset="0"/>
              </a:rPr>
              <a:t>i</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同号，抛弃区间</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i="1" dirty="0" smtClean="0">
                <a:latin typeface="Times New Roman" panose="02020603050405020304" pitchFamily="18" charset="0"/>
                <a:ea typeface="楷体" panose="02010609060101010101" pitchFamily="49" charset="-122"/>
                <a:cs typeface="Times New Roman" panose="02020603050405020304" pitchFamily="18" charset="0"/>
              </a:rPr>
              <a:t>b</a:t>
            </a:r>
            <a:r>
              <a:rPr lang="en-US" altLang="zh-CN" i="1" baseline="-25000" dirty="0" smtClean="0">
                <a:latin typeface="Times New Roman" panose="02020603050405020304" pitchFamily="18" charset="0"/>
                <a:ea typeface="楷体" panose="02010609060101010101" pitchFamily="49" charset="-122"/>
                <a:cs typeface="Times New Roman" panose="02020603050405020304" pitchFamily="18" charset="0"/>
              </a:rPr>
              <a:t>i</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a:t>
            </a:r>
            <a:r>
              <a:rPr lang="en-US" altLang="zh-CN" i="1" dirty="0" smtClean="0">
                <a:latin typeface="Times New Roman" panose="02020603050405020304" pitchFamily="18" charset="0"/>
                <a:ea typeface="楷体" panose="02010609060101010101" pitchFamily="49" charset="-122"/>
                <a:cs typeface="Times New Roman" panose="02020603050405020304" pitchFamily="18" charset="0"/>
              </a:rPr>
              <a:t>m</a:t>
            </a:r>
            <a:r>
              <a:rPr lang="en-US" altLang="zh-CN" i="1" baseline="-25000" dirty="0" smtClean="0">
                <a:latin typeface="Times New Roman" panose="02020603050405020304" pitchFamily="18" charset="0"/>
                <a:ea typeface="楷体" panose="02010609060101010101" pitchFamily="49" charset="-122"/>
                <a:cs typeface="Times New Roman" panose="02020603050405020304" pitchFamily="18" charset="0"/>
              </a:rPr>
              <a:t>i</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p>
          <a:p>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对剩余的区间重复上述步骤</a:t>
            </a:r>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Tree>
    <p:custDataLst>
      <p:tags r:id="rId1"/>
    </p:custDataLst>
    <p:extLst>
      <p:ext uri="{BB962C8B-B14F-4D97-AF65-F5344CB8AC3E}">
        <p14:creationId xmlns:p14="http://schemas.microsoft.com/office/powerpoint/2010/main" val="25358167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宋体" panose="02010600030101010101" pitchFamily="2" charset="-122"/>
                <a:ea typeface="宋体" panose="02010600030101010101" pitchFamily="2" charset="-122"/>
              </a:rPr>
              <a:t>二分法与</a:t>
            </a:r>
            <a:r>
              <a:rPr lang="zh-CN" altLang="en-US" dirty="0">
                <a:latin typeface="宋体" panose="02010600030101010101" pitchFamily="2" charset="-122"/>
                <a:ea typeface="宋体" panose="02010600030101010101" pitchFamily="2" charset="-122"/>
              </a:rPr>
              <a:t>黄金分割法</a:t>
            </a:r>
            <a:r>
              <a:rPr lang="zh-CN" altLang="en-US" dirty="0" smtClean="0">
                <a:latin typeface="宋体" panose="02010600030101010101" pitchFamily="2" charset="-122"/>
                <a:ea typeface="宋体" panose="02010600030101010101" pitchFamily="2" charset="-122"/>
              </a:rPr>
              <a:t>的比较</a:t>
            </a:r>
            <a:endParaRPr lang="zh-CN" altLang="en-US" dirty="0">
              <a:latin typeface="宋体" panose="02010600030101010101" pitchFamily="2" charset="-122"/>
              <a:ea typeface="宋体" panose="02010600030101010101" pitchFamily="2" charset="-122"/>
            </a:endParaRPr>
          </a:p>
        </p:txBody>
      </p:sp>
      <p:sp>
        <p:nvSpPr>
          <p:cNvPr id="3" name="内容占位符 2"/>
          <p:cNvSpPr>
            <a:spLocks noGrp="1"/>
          </p:cNvSpPr>
          <p:nvPr>
            <p:ph idx="1"/>
          </p:nvPr>
        </p:nvSpPr>
        <p:spPr>
          <a:xfrm>
            <a:off x="628650" y="5039058"/>
            <a:ext cx="7886700" cy="1082961"/>
          </a:xfrm>
        </p:spPr>
        <p:txBody>
          <a:bodyPr>
            <a:normAutofit/>
          </a:bodyPr>
          <a:lstStyle/>
          <a:p>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黄金分割算法可以避免计算导函数，因而只需要函数满足</a:t>
            </a:r>
            <a:r>
              <a:rPr lang="en-US" altLang="zh-CN" i="1" dirty="0" smtClean="0">
                <a:latin typeface="Times New Roman" panose="02020603050405020304" pitchFamily="18" charset="0"/>
                <a:ea typeface="楷体" panose="02010609060101010101" pitchFamily="49" charset="-122"/>
                <a:cs typeface="Times New Roman" panose="02020603050405020304" pitchFamily="18" charset="0"/>
              </a:rPr>
              <a:t>C</a:t>
            </a:r>
            <a:r>
              <a:rPr lang="en-US" altLang="zh-CN" baseline="30000" dirty="0" smtClean="0">
                <a:latin typeface="Times New Roman" panose="02020603050405020304" pitchFamily="18" charset="0"/>
                <a:ea typeface="楷体" panose="02010609060101010101" pitchFamily="49" charset="-122"/>
                <a:cs typeface="Times New Roman" panose="02020603050405020304" pitchFamily="18" charset="0"/>
              </a:rPr>
              <a:t>0</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连续</a:t>
            </a:r>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4" name="表格 3"/>
              <p:cNvGraphicFramePr>
                <a:graphicFrameLocks noGrp="1"/>
              </p:cNvGraphicFramePr>
              <p:nvPr>
                <p:extLst/>
              </p:nvPr>
            </p:nvGraphicFramePr>
            <p:xfrm>
              <a:off x="1208049" y="1690689"/>
              <a:ext cx="6727902" cy="2691067"/>
            </p:xfrm>
            <a:graphic>
              <a:graphicData uri="http://schemas.openxmlformats.org/drawingml/2006/table">
                <a:tbl>
                  <a:tblPr firstRow="1" bandRow="1">
                    <a:tableStyleId>{2D5ABB26-0587-4C30-8999-92F81FD0307C}</a:tableStyleId>
                  </a:tblPr>
                  <a:tblGrid>
                    <a:gridCol w="1408771">
                      <a:extLst>
                        <a:ext uri="{9D8B030D-6E8A-4147-A177-3AD203B41FA5}">
                          <a16:colId xmlns:a16="http://schemas.microsoft.com/office/drawing/2014/main" val="674629290"/>
                        </a:ext>
                      </a:extLst>
                    </a:gridCol>
                    <a:gridCol w="2553630">
                      <a:extLst>
                        <a:ext uri="{9D8B030D-6E8A-4147-A177-3AD203B41FA5}">
                          <a16:colId xmlns:a16="http://schemas.microsoft.com/office/drawing/2014/main" val="3640869901"/>
                        </a:ext>
                      </a:extLst>
                    </a:gridCol>
                    <a:gridCol w="2765501">
                      <a:extLst>
                        <a:ext uri="{9D8B030D-6E8A-4147-A177-3AD203B41FA5}">
                          <a16:colId xmlns:a16="http://schemas.microsoft.com/office/drawing/2014/main" val="1981360061"/>
                        </a:ext>
                      </a:extLst>
                    </a:gridCol>
                  </a:tblGrid>
                  <a:tr h="370840">
                    <a:tc>
                      <a:txBody>
                        <a:bodyPr/>
                        <a:lstStyle/>
                        <a:p>
                          <a:pPr algn="ctr"/>
                          <a:r>
                            <a:rPr lang="zh-CN" altLang="en-US" sz="2400" dirty="0" smtClean="0">
                              <a:latin typeface="Times New Roman" panose="02020603050405020304" pitchFamily="18" charset="0"/>
                              <a:ea typeface="楷体" panose="02010609060101010101" pitchFamily="49" charset="-122"/>
                              <a:cs typeface="Times New Roman" panose="02020603050405020304" pitchFamily="18" charset="0"/>
                            </a:rPr>
                            <a:t>算法类型</a:t>
                          </a:r>
                          <a:endParaRPr lang="zh-CN" altLang="en-US" sz="2400" dirty="0">
                            <a:latin typeface="Times New Roman" panose="02020603050405020304" pitchFamily="18" charset="0"/>
                            <a:ea typeface="楷体" panose="02010609060101010101" pitchFamily="49"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2400" dirty="0" smtClean="0">
                              <a:latin typeface="Times New Roman" panose="02020603050405020304" pitchFamily="18" charset="0"/>
                              <a:ea typeface="楷体" panose="02010609060101010101" pitchFamily="49" charset="-122"/>
                              <a:cs typeface="Times New Roman" panose="02020603050405020304" pitchFamily="18" charset="0"/>
                            </a:rPr>
                            <a:t>二分法</a:t>
                          </a:r>
                          <a:endParaRPr lang="zh-CN" altLang="en-US" sz="2400" dirty="0">
                            <a:latin typeface="Times New Roman" panose="02020603050405020304" pitchFamily="18" charset="0"/>
                            <a:ea typeface="楷体" panose="02010609060101010101" pitchFamily="49"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2400" dirty="0" smtClean="0">
                              <a:latin typeface="Times New Roman" panose="02020603050405020304" pitchFamily="18" charset="0"/>
                              <a:ea typeface="楷体" panose="02010609060101010101" pitchFamily="49" charset="-122"/>
                              <a:cs typeface="Times New Roman" panose="02020603050405020304" pitchFamily="18" charset="0"/>
                            </a:rPr>
                            <a:t>黄金分割法</a:t>
                          </a:r>
                          <a:endParaRPr lang="zh-CN" altLang="en-US" sz="2400" dirty="0">
                            <a:latin typeface="Times New Roman" panose="02020603050405020304" pitchFamily="18" charset="0"/>
                            <a:ea typeface="楷体" panose="02010609060101010101" pitchFamily="49"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02248905"/>
                      </a:ext>
                    </a:extLst>
                  </a:tr>
                  <a:tr h="370840">
                    <a:tc>
                      <a:txBody>
                        <a:bodyPr/>
                        <a:lstStyle/>
                        <a:p>
                          <a:pPr algn="ctr"/>
                          <a:r>
                            <a:rPr lang="zh-CN" altLang="en-US" sz="2400" dirty="0" smtClean="0">
                              <a:latin typeface="Times New Roman" panose="02020603050405020304" pitchFamily="18" charset="0"/>
                              <a:ea typeface="楷体" panose="02010609060101010101" pitchFamily="49" charset="-122"/>
                              <a:cs typeface="Times New Roman" panose="02020603050405020304" pitchFamily="18" charset="0"/>
                            </a:rPr>
                            <a:t>适用函数</a:t>
                          </a:r>
                          <a:endParaRPr lang="zh-CN" altLang="en-US" sz="2400" dirty="0">
                            <a:latin typeface="Times New Roman" panose="02020603050405020304" pitchFamily="18" charset="0"/>
                            <a:ea typeface="楷体" panose="02010609060101010101" pitchFamily="49"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i="1" dirty="0" smtClean="0">
                              <a:latin typeface="Times New Roman" panose="02020603050405020304" pitchFamily="18" charset="0"/>
                              <a:ea typeface="楷体" panose="02010609060101010101" pitchFamily="49" charset="-122"/>
                              <a:cs typeface="Times New Roman" panose="02020603050405020304" pitchFamily="18" charset="0"/>
                            </a:rPr>
                            <a:t>C</a:t>
                          </a:r>
                          <a:r>
                            <a:rPr lang="en-US" altLang="zh-CN" sz="2400" baseline="30000" dirty="0" smtClean="0">
                              <a:latin typeface="Times New Roman" panose="02020603050405020304" pitchFamily="18" charset="0"/>
                              <a:ea typeface="楷体" panose="02010609060101010101" pitchFamily="49" charset="-122"/>
                              <a:cs typeface="Times New Roman" panose="02020603050405020304" pitchFamily="18" charset="0"/>
                            </a:rPr>
                            <a:t>0</a:t>
                          </a:r>
                          <a:r>
                            <a:rPr lang="zh-CN" altLang="en-US" sz="2400" dirty="0" smtClean="0">
                              <a:latin typeface="Times New Roman" panose="02020603050405020304" pitchFamily="18" charset="0"/>
                              <a:ea typeface="楷体" panose="02010609060101010101" pitchFamily="49" charset="-122"/>
                              <a:cs typeface="Times New Roman" panose="02020603050405020304" pitchFamily="18" charset="0"/>
                            </a:rPr>
                            <a:t>连续函数</a:t>
                          </a:r>
                          <a:endParaRPr lang="zh-CN" altLang="en-US" sz="2400" dirty="0">
                            <a:latin typeface="Times New Roman" panose="02020603050405020304" pitchFamily="18" charset="0"/>
                            <a:ea typeface="楷体" panose="02010609060101010101" pitchFamily="49"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i="1" dirty="0" smtClean="0">
                              <a:latin typeface="Times New Roman" panose="02020603050405020304" pitchFamily="18" charset="0"/>
                              <a:ea typeface="楷体" panose="02010609060101010101" pitchFamily="49" charset="-122"/>
                              <a:cs typeface="Times New Roman" panose="02020603050405020304" pitchFamily="18" charset="0"/>
                            </a:rPr>
                            <a:t>C</a:t>
                          </a:r>
                          <a:r>
                            <a:rPr lang="en-US" altLang="zh-CN" sz="2400" baseline="30000" dirty="0" smtClean="0">
                              <a:latin typeface="Times New Roman" panose="02020603050405020304" pitchFamily="18" charset="0"/>
                              <a:ea typeface="楷体" panose="02010609060101010101" pitchFamily="49" charset="-122"/>
                              <a:cs typeface="Times New Roman" panose="02020603050405020304" pitchFamily="18" charset="0"/>
                            </a:rPr>
                            <a:t>0</a:t>
                          </a:r>
                          <a:r>
                            <a:rPr lang="zh-CN" altLang="en-US" sz="2400" dirty="0" smtClean="0">
                              <a:latin typeface="Times New Roman" panose="02020603050405020304" pitchFamily="18" charset="0"/>
                              <a:ea typeface="楷体" panose="02010609060101010101" pitchFamily="49" charset="-122"/>
                              <a:cs typeface="Times New Roman" panose="02020603050405020304" pitchFamily="18" charset="0"/>
                            </a:rPr>
                            <a:t>连续函数</a:t>
                          </a:r>
                          <a:endParaRPr lang="zh-CN" altLang="en-US" sz="2400" dirty="0">
                            <a:latin typeface="Times New Roman" panose="02020603050405020304" pitchFamily="18" charset="0"/>
                            <a:ea typeface="楷体" panose="02010609060101010101" pitchFamily="49"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31019892"/>
                      </a:ext>
                    </a:extLst>
                  </a:tr>
                  <a:tr h="370840">
                    <a:tc>
                      <a:txBody>
                        <a:bodyPr/>
                        <a:lstStyle/>
                        <a:p>
                          <a:pPr algn="ctr"/>
                          <a:r>
                            <a:rPr lang="zh-CN" altLang="en-US" sz="2400" dirty="0" smtClean="0">
                              <a:latin typeface="Times New Roman" panose="02020603050405020304" pitchFamily="18" charset="0"/>
                              <a:ea typeface="楷体" panose="02010609060101010101" pitchFamily="49" charset="-122"/>
                              <a:cs typeface="Times New Roman" panose="02020603050405020304" pitchFamily="18" charset="0"/>
                            </a:rPr>
                            <a:t>搜索目标</a:t>
                          </a:r>
                          <a:endParaRPr lang="zh-CN" altLang="en-US" sz="2400" dirty="0">
                            <a:latin typeface="Times New Roman" panose="02020603050405020304" pitchFamily="18" charset="0"/>
                            <a:ea typeface="楷体" panose="02010609060101010101" pitchFamily="49"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2400" dirty="0" smtClean="0">
                              <a:latin typeface="Times New Roman" panose="02020603050405020304" pitchFamily="18" charset="0"/>
                              <a:ea typeface="楷体" panose="02010609060101010101" pitchFamily="49" charset="-122"/>
                              <a:cs typeface="Times New Roman" panose="02020603050405020304" pitchFamily="18" charset="0"/>
                            </a:rPr>
                            <a:t>零点</a:t>
                          </a:r>
                          <a:endParaRPr lang="zh-CN" altLang="en-US" sz="2400" dirty="0">
                            <a:latin typeface="Times New Roman" panose="02020603050405020304" pitchFamily="18" charset="0"/>
                            <a:ea typeface="楷体" panose="02010609060101010101" pitchFamily="49"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2400" dirty="0" smtClean="0">
                              <a:latin typeface="Times New Roman" panose="02020603050405020304" pitchFamily="18" charset="0"/>
                              <a:ea typeface="楷体" panose="02010609060101010101" pitchFamily="49" charset="-122"/>
                              <a:cs typeface="Times New Roman" panose="02020603050405020304" pitchFamily="18" charset="0"/>
                            </a:rPr>
                            <a:t>极小值点</a:t>
                          </a:r>
                          <a:endParaRPr lang="zh-CN" altLang="en-US" sz="2400" dirty="0">
                            <a:latin typeface="Times New Roman" panose="02020603050405020304" pitchFamily="18" charset="0"/>
                            <a:ea typeface="楷体" panose="02010609060101010101" pitchFamily="49"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84452881"/>
                      </a:ext>
                    </a:extLst>
                  </a:tr>
                  <a:tr h="370840">
                    <a:tc>
                      <a:txBody>
                        <a:bodyPr/>
                        <a:lstStyle/>
                        <a:p>
                          <a:pPr algn="ctr"/>
                          <a:r>
                            <a:rPr lang="zh-CN" altLang="en-US" sz="2400" dirty="0" smtClean="0">
                              <a:latin typeface="Times New Roman" panose="02020603050405020304" pitchFamily="18" charset="0"/>
                              <a:ea typeface="楷体" panose="02010609060101010101" pitchFamily="49" charset="-122"/>
                              <a:cs typeface="Times New Roman" panose="02020603050405020304" pitchFamily="18" charset="0"/>
                            </a:rPr>
                            <a:t>收敛速度</a:t>
                          </a:r>
                          <a:endParaRPr lang="zh-CN" altLang="en-US" sz="2400" dirty="0">
                            <a:latin typeface="Times New Roman" panose="02020603050405020304" pitchFamily="18" charset="0"/>
                            <a:ea typeface="楷体" panose="02010609060101010101" pitchFamily="49"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2400" dirty="0" smtClean="0">
                              <a:latin typeface="Times New Roman" panose="02020603050405020304" pitchFamily="18" charset="0"/>
                              <a:ea typeface="楷体" panose="02010609060101010101" pitchFamily="49" charset="-122"/>
                              <a:cs typeface="Times New Roman" panose="02020603050405020304" pitchFamily="18" charset="0"/>
                            </a:rPr>
                            <a:t>线性收敛</a:t>
                          </a:r>
                          <a:endParaRPr lang="zh-CN" altLang="en-US" sz="2400" dirty="0">
                            <a:latin typeface="Times New Roman" panose="02020603050405020304" pitchFamily="18" charset="0"/>
                            <a:ea typeface="楷体" panose="02010609060101010101" pitchFamily="49"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2400" dirty="0" smtClean="0">
                              <a:latin typeface="Times New Roman" panose="02020603050405020304" pitchFamily="18" charset="0"/>
                              <a:ea typeface="楷体" panose="02010609060101010101" pitchFamily="49" charset="-122"/>
                              <a:cs typeface="Times New Roman" panose="02020603050405020304" pitchFamily="18" charset="0"/>
                            </a:rPr>
                            <a:t>线性收敛</a:t>
                          </a:r>
                          <a:endParaRPr lang="zh-CN" altLang="en-US" sz="2400" dirty="0">
                            <a:latin typeface="Times New Roman" panose="02020603050405020304" pitchFamily="18" charset="0"/>
                            <a:ea typeface="楷体" panose="02010609060101010101" pitchFamily="49"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24374355"/>
                      </a:ext>
                    </a:extLst>
                  </a:tr>
                  <a:tr h="370840">
                    <a:tc>
                      <a:txBody>
                        <a:bodyPr/>
                        <a:lstStyle/>
                        <a:p>
                          <a:pPr algn="ctr"/>
                          <a:r>
                            <a:rPr lang="zh-CN" altLang="en-US" sz="2400" dirty="0" smtClean="0">
                              <a:latin typeface="Times New Roman" panose="02020603050405020304" pitchFamily="18" charset="0"/>
                              <a:ea typeface="楷体" panose="02010609060101010101" pitchFamily="49" charset="-122"/>
                              <a:cs typeface="Times New Roman" panose="02020603050405020304" pitchFamily="18" charset="0"/>
                            </a:rPr>
                            <a:t>收敛公比</a:t>
                          </a:r>
                          <a:endParaRPr lang="zh-CN" altLang="en-US" sz="2400" dirty="0">
                            <a:latin typeface="Times New Roman" panose="02020603050405020304" pitchFamily="18" charset="0"/>
                            <a:ea typeface="楷体" panose="02010609060101010101" pitchFamily="49"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f>
                                  <m:fPr>
                                    <m:ctrlPr>
                                      <a:rPr lang="en-US" altLang="zh-CN" sz="2400" i="1" smtClean="0">
                                        <a:latin typeface="Cambria Math" panose="02040503050406030204" pitchFamily="18" charset="0"/>
                                      </a:rPr>
                                    </m:ctrlPr>
                                  </m:fPr>
                                  <m:num>
                                    <m:r>
                                      <a:rPr lang="en-US" altLang="zh-CN" sz="2400" smtClean="0">
                                        <a:latin typeface="Cambria Math" panose="02040503050406030204" pitchFamily="18" charset="0"/>
                                      </a:rPr>
                                      <m:t>1</m:t>
                                    </m:r>
                                  </m:num>
                                  <m:den>
                                    <m:r>
                                      <a:rPr lang="en-US" altLang="zh-CN" sz="2400" smtClean="0">
                                        <a:latin typeface="Cambria Math" panose="02040503050406030204" pitchFamily="18" charset="0"/>
                                      </a:rPr>
                                      <m:t>2</m:t>
                                    </m:r>
                                  </m:den>
                                </m:f>
                                <m:r>
                                  <a:rPr lang="en-US" altLang="zh-CN" sz="2400" smtClean="0">
                                    <a:latin typeface="Cambria Math" panose="02040503050406030204" pitchFamily="18" charset="0"/>
                                  </a:rPr>
                                  <m:t>=0.5</m:t>
                                </m:r>
                              </m:oMath>
                            </m:oMathPara>
                          </a14:m>
                          <a:endParaRPr lang="zh-CN" altLang="en-US" sz="2400" dirty="0">
                            <a:latin typeface="Times New Roman" panose="02020603050405020304" pitchFamily="18" charset="0"/>
                            <a:ea typeface="楷体" panose="02010609060101010101" pitchFamily="49"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f>
                                  <m:fPr>
                                    <m:ctrlPr>
                                      <a:rPr lang="en-US" altLang="zh-CN" sz="2400" i="1" smtClean="0">
                                        <a:latin typeface="Cambria Math" panose="02040503050406030204" pitchFamily="18" charset="0"/>
                                      </a:rPr>
                                    </m:ctrlPr>
                                  </m:fPr>
                                  <m:num>
                                    <m:rad>
                                      <m:radPr>
                                        <m:degHide m:val="on"/>
                                        <m:ctrlPr>
                                          <a:rPr lang="en-US" altLang="zh-CN" sz="2400" i="1" smtClean="0">
                                            <a:latin typeface="Cambria Math" panose="02040503050406030204" pitchFamily="18" charset="0"/>
                                          </a:rPr>
                                        </m:ctrlPr>
                                      </m:radPr>
                                      <m:deg/>
                                      <m:e>
                                        <m:r>
                                          <a:rPr lang="en-US" altLang="zh-CN" sz="2400" smtClean="0">
                                            <a:latin typeface="Cambria Math" panose="02040503050406030204" pitchFamily="18" charset="0"/>
                                          </a:rPr>
                                          <m:t>5</m:t>
                                        </m:r>
                                      </m:e>
                                    </m:rad>
                                    <m:r>
                                      <a:rPr lang="en-US" altLang="zh-CN" sz="2400" smtClean="0">
                                        <a:latin typeface="Cambria Math" panose="02040503050406030204" pitchFamily="18" charset="0"/>
                                      </a:rPr>
                                      <m:t>−1</m:t>
                                    </m:r>
                                  </m:num>
                                  <m:den>
                                    <m:r>
                                      <a:rPr lang="en-US" altLang="zh-CN" sz="2400" smtClean="0">
                                        <a:latin typeface="Cambria Math" panose="02040503050406030204" pitchFamily="18" charset="0"/>
                                      </a:rPr>
                                      <m:t>2</m:t>
                                    </m:r>
                                  </m:den>
                                </m:f>
                                <m:r>
                                  <a:rPr lang="en-US" altLang="zh-CN" sz="2400" smtClean="0">
                                    <a:latin typeface="Cambria Math" panose="02040503050406030204" pitchFamily="18" charset="0"/>
                                  </a:rPr>
                                  <m:t>≈0.618</m:t>
                                </m:r>
                              </m:oMath>
                            </m:oMathPara>
                          </a14:m>
                          <a:endParaRPr lang="zh-CN" altLang="en-US" sz="2400" dirty="0">
                            <a:latin typeface="Times New Roman" panose="02020603050405020304" pitchFamily="18" charset="0"/>
                            <a:ea typeface="楷体" panose="02010609060101010101" pitchFamily="49"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47535354"/>
                      </a:ext>
                    </a:extLst>
                  </a:tr>
                </a:tbl>
              </a:graphicData>
            </a:graphic>
          </p:graphicFrame>
        </mc:Choice>
        <mc:Fallback xmlns="">
          <p:graphicFrame>
            <p:nvGraphicFramePr>
              <p:cNvPr id="4" name="表格 3"/>
              <p:cNvGraphicFramePr>
                <a:graphicFrameLocks noGrp="1"/>
              </p:cNvGraphicFramePr>
              <p:nvPr>
                <p:extLst>
                  <p:ext uri="{D42A27DB-BD31-4B8C-83A1-F6EECF244321}">
                    <p14:modId xmlns:p14="http://schemas.microsoft.com/office/powerpoint/2010/main" val="257176383"/>
                  </p:ext>
                </p:extLst>
              </p:nvPr>
            </p:nvGraphicFramePr>
            <p:xfrm>
              <a:off x="1208049" y="1690689"/>
              <a:ext cx="6727902" cy="2691067"/>
            </p:xfrm>
            <a:graphic>
              <a:graphicData uri="http://schemas.openxmlformats.org/drawingml/2006/table">
                <a:tbl>
                  <a:tblPr firstRow="1" bandRow="1">
                    <a:tableStyleId>{2D5ABB26-0587-4C30-8999-92F81FD0307C}</a:tableStyleId>
                  </a:tblPr>
                  <a:tblGrid>
                    <a:gridCol w="1408771">
                      <a:extLst>
                        <a:ext uri="{9D8B030D-6E8A-4147-A177-3AD203B41FA5}">
                          <a16:colId xmlns:a16="http://schemas.microsoft.com/office/drawing/2014/main" val="674629290"/>
                        </a:ext>
                      </a:extLst>
                    </a:gridCol>
                    <a:gridCol w="2553630">
                      <a:extLst>
                        <a:ext uri="{9D8B030D-6E8A-4147-A177-3AD203B41FA5}">
                          <a16:colId xmlns:a16="http://schemas.microsoft.com/office/drawing/2014/main" val="3640869901"/>
                        </a:ext>
                      </a:extLst>
                    </a:gridCol>
                    <a:gridCol w="2765501">
                      <a:extLst>
                        <a:ext uri="{9D8B030D-6E8A-4147-A177-3AD203B41FA5}">
                          <a16:colId xmlns:a16="http://schemas.microsoft.com/office/drawing/2014/main" val="1981360061"/>
                        </a:ext>
                      </a:extLst>
                    </a:gridCol>
                  </a:tblGrid>
                  <a:tr h="457200">
                    <a:tc>
                      <a:txBody>
                        <a:bodyPr/>
                        <a:lstStyle/>
                        <a:p>
                          <a:pPr algn="ctr"/>
                          <a:r>
                            <a:rPr lang="zh-CN" altLang="en-US" sz="2400" dirty="0" smtClean="0">
                              <a:latin typeface="Times New Roman" panose="02020603050405020304" pitchFamily="18" charset="0"/>
                              <a:ea typeface="楷体" panose="02010609060101010101" pitchFamily="49" charset="-122"/>
                              <a:cs typeface="Times New Roman" panose="02020603050405020304" pitchFamily="18" charset="0"/>
                            </a:rPr>
                            <a:t>算法类型</a:t>
                          </a:r>
                          <a:endParaRPr lang="zh-CN" altLang="en-US" sz="2400" dirty="0">
                            <a:latin typeface="Times New Roman" panose="02020603050405020304" pitchFamily="18" charset="0"/>
                            <a:ea typeface="楷体" panose="02010609060101010101" pitchFamily="49"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2400" dirty="0" smtClean="0">
                              <a:latin typeface="Times New Roman" panose="02020603050405020304" pitchFamily="18" charset="0"/>
                              <a:ea typeface="楷体" panose="02010609060101010101" pitchFamily="49" charset="-122"/>
                              <a:cs typeface="Times New Roman" panose="02020603050405020304" pitchFamily="18" charset="0"/>
                            </a:rPr>
                            <a:t>二分法</a:t>
                          </a:r>
                          <a:endParaRPr lang="zh-CN" altLang="en-US" sz="2400" dirty="0">
                            <a:latin typeface="Times New Roman" panose="02020603050405020304" pitchFamily="18" charset="0"/>
                            <a:ea typeface="楷体" panose="02010609060101010101" pitchFamily="49"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2400" dirty="0" smtClean="0">
                              <a:latin typeface="Times New Roman" panose="02020603050405020304" pitchFamily="18" charset="0"/>
                              <a:ea typeface="楷体" panose="02010609060101010101" pitchFamily="49" charset="-122"/>
                              <a:cs typeface="Times New Roman" panose="02020603050405020304" pitchFamily="18" charset="0"/>
                            </a:rPr>
                            <a:t>黄金分割法</a:t>
                          </a:r>
                          <a:endParaRPr lang="zh-CN" altLang="en-US" sz="2400" dirty="0">
                            <a:latin typeface="Times New Roman" panose="02020603050405020304" pitchFamily="18" charset="0"/>
                            <a:ea typeface="楷体" panose="02010609060101010101" pitchFamily="49"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02248905"/>
                      </a:ext>
                    </a:extLst>
                  </a:tr>
                  <a:tr h="457200">
                    <a:tc>
                      <a:txBody>
                        <a:bodyPr/>
                        <a:lstStyle/>
                        <a:p>
                          <a:pPr algn="ctr"/>
                          <a:r>
                            <a:rPr lang="zh-CN" altLang="en-US" sz="2400" dirty="0" smtClean="0">
                              <a:latin typeface="Times New Roman" panose="02020603050405020304" pitchFamily="18" charset="0"/>
                              <a:ea typeface="楷体" panose="02010609060101010101" pitchFamily="49" charset="-122"/>
                              <a:cs typeface="Times New Roman" panose="02020603050405020304" pitchFamily="18" charset="0"/>
                            </a:rPr>
                            <a:t>适用函数</a:t>
                          </a:r>
                          <a:endParaRPr lang="zh-CN" altLang="en-US" sz="2400" dirty="0">
                            <a:latin typeface="Times New Roman" panose="02020603050405020304" pitchFamily="18" charset="0"/>
                            <a:ea typeface="楷体" panose="02010609060101010101" pitchFamily="49"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i="1" dirty="0" smtClean="0">
                              <a:latin typeface="Times New Roman" panose="02020603050405020304" pitchFamily="18" charset="0"/>
                              <a:ea typeface="楷体" panose="02010609060101010101" pitchFamily="49" charset="-122"/>
                              <a:cs typeface="Times New Roman" panose="02020603050405020304" pitchFamily="18" charset="0"/>
                            </a:rPr>
                            <a:t>C</a:t>
                          </a:r>
                          <a:r>
                            <a:rPr lang="en-US" altLang="zh-CN" sz="2400" baseline="30000" dirty="0" smtClean="0">
                              <a:latin typeface="Times New Roman" panose="02020603050405020304" pitchFamily="18" charset="0"/>
                              <a:ea typeface="楷体" panose="02010609060101010101" pitchFamily="49" charset="-122"/>
                              <a:cs typeface="Times New Roman" panose="02020603050405020304" pitchFamily="18" charset="0"/>
                            </a:rPr>
                            <a:t>0</a:t>
                          </a:r>
                          <a:r>
                            <a:rPr lang="zh-CN" altLang="en-US" sz="2400" dirty="0" smtClean="0">
                              <a:latin typeface="Times New Roman" panose="02020603050405020304" pitchFamily="18" charset="0"/>
                              <a:ea typeface="楷体" panose="02010609060101010101" pitchFamily="49" charset="-122"/>
                              <a:cs typeface="Times New Roman" panose="02020603050405020304" pitchFamily="18" charset="0"/>
                            </a:rPr>
                            <a:t>连续函数</a:t>
                          </a:r>
                          <a:endParaRPr lang="zh-CN" altLang="en-US" sz="2400" dirty="0">
                            <a:latin typeface="Times New Roman" panose="02020603050405020304" pitchFamily="18" charset="0"/>
                            <a:ea typeface="楷体" panose="02010609060101010101" pitchFamily="49"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i="1" dirty="0" smtClean="0">
                              <a:latin typeface="Times New Roman" panose="02020603050405020304" pitchFamily="18" charset="0"/>
                              <a:ea typeface="楷体" panose="02010609060101010101" pitchFamily="49" charset="-122"/>
                              <a:cs typeface="Times New Roman" panose="02020603050405020304" pitchFamily="18" charset="0"/>
                            </a:rPr>
                            <a:t>C</a:t>
                          </a:r>
                          <a:r>
                            <a:rPr lang="en-US" altLang="zh-CN" sz="2400" baseline="30000" dirty="0" smtClean="0">
                              <a:latin typeface="Times New Roman" panose="02020603050405020304" pitchFamily="18" charset="0"/>
                              <a:ea typeface="楷体" panose="02010609060101010101" pitchFamily="49" charset="-122"/>
                              <a:cs typeface="Times New Roman" panose="02020603050405020304" pitchFamily="18" charset="0"/>
                            </a:rPr>
                            <a:t>0</a:t>
                          </a:r>
                          <a:r>
                            <a:rPr lang="zh-CN" altLang="en-US" sz="2400" dirty="0" smtClean="0">
                              <a:latin typeface="Times New Roman" panose="02020603050405020304" pitchFamily="18" charset="0"/>
                              <a:ea typeface="楷体" panose="02010609060101010101" pitchFamily="49" charset="-122"/>
                              <a:cs typeface="Times New Roman" panose="02020603050405020304" pitchFamily="18" charset="0"/>
                            </a:rPr>
                            <a:t>连续函数</a:t>
                          </a:r>
                          <a:endParaRPr lang="zh-CN" altLang="en-US" sz="2400" dirty="0">
                            <a:latin typeface="Times New Roman" panose="02020603050405020304" pitchFamily="18" charset="0"/>
                            <a:ea typeface="楷体" panose="02010609060101010101" pitchFamily="49"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31019892"/>
                      </a:ext>
                    </a:extLst>
                  </a:tr>
                  <a:tr h="457200">
                    <a:tc>
                      <a:txBody>
                        <a:bodyPr/>
                        <a:lstStyle/>
                        <a:p>
                          <a:pPr algn="ctr"/>
                          <a:r>
                            <a:rPr lang="zh-CN" altLang="en-US" sz="2400" dirty="0" smtClean="0">
                              <a:latin typeface="Times New Roman" panose="02020603050405020304" pitchFamily="18" charset="0"/>
                              <a:ea typeface="楷体" panose="02010609060101010101" pitchFamily="49" charset="-122"/>
                              <a:cs typeface="Times New Roman" panose="02020603050405020304" pitchFamily="18" charset="0"/>
                            </a:rPr>
                            <a:t>搜索目标</a:t>
                          </a:r>
                          <a:endParaRPr lang="zh-CN" altLang="en-US" sz="2400" dirty="0">
                            <a:latin typeface="Times New Roman" panose="02020603050405020304" pitchFamily="18" charset="0"/>
                            <a:ea typeface="楷体" panose="02010609060101010101" pitchFamily="49"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2400" dirty="0" smtClean="0">
                              <a:latin typeface="Times New Roman" panose="02020603050405020304" pitchFamily="18" charset="0"/>
                              <a:ea typeface="楷体" panose="02010609060101010101" pitchFamily="49" charset="-122"/>
                              <a:cs typeface="Times New Roman" panose="02020603050405020304" pitchFamily="18" charset="0"/>
                            </a:rPr>
                            <a:t>零点</a:t>
                          </a:r>
                          <a:endParaRPr lang="zh-CN" altLang="en-US" sz="2400" dirty="0">
                            <a:latin typeface="Times New Roman" panose="02020603050405020304" pitchFamily="18" charset="0"/>
                            <a:ea typeface="楷体" panose="02010609060101010101" pitchFamily="49"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2400" dirty="0" smtClean="0">
                              <a:latin typeface="Times New Roman" panose="02020603050405020304" pitchFamily="18" charset="0"/>
                              <a:ea typeface="楷体" panose="02010609060101010101" pitchFamily="49" charset="-122"/>
                              <a:cs typeface="Times New Roman" panose="02020603050405020304" pitchFamily="18" charset="0"/>
                            </a:rPr>
                            <a:t>极小值点</a:t>
                          </a:r>
                          <a:endParaRPr lang="zh-CN" altLang="en-US" sz="2400" dirty="0">
                            <a:latin typeface="Times New Roman" panose="02020603050405020304" pitchFamily="18" charset="0"/>
                            <a:ea typeface="楷体" panose="02010609060101010101" pitchFamily="49"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84452881"/>
                      </a:ext>
                    </a:extLst>
                  </a:tr>
                  <a:tr h="457200">
                    <a:tc>
                      <a:txBody>
                        <a:bodyPr/>
                        <a:lstStyle/>
                        <a:p>
                          <a:pPr algn="ctr"/>
                          <a:r>
                            <a:rPr lang="zh-CN" altLang="en-US" sz="2400" dirty="0" smtClean="0">
                              <a:latin typeface="Times New Roman" panose="02020603050405020304" pitchFamily="18" charset="0"/>
                              <a:ea typeface="楷体" panose="02010609060101010101" pitchFamily="49" charset="-122"/>
                              <a:cs typeface="Times New Roman" panose="02020603050405020304" pitchFamily="18" charset="0"/>
                            </a:rPr>
                            <a:t>收敛速度</a:t>
                          </a:r>
                          <a:endParaRPr lang="zh-CN" altLang="en-US" sz="2400" dirty="0">
                            <a:latin typeface="Times New Roman" panose="02020603050405020304" pitchFamily="18" charset="0"/>
                            <a:ea typeface="楷体" panose="02010609060101010101" pitchFamily="49"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2400" dirty="0" smtClean="0">
                              <a:latin typeface="Times New Roman" panose="02020603050405020304" pitchFamily="18" charset="0"/>
                              <a:ea typeface="楷体" panose="02010609060101010101" pitchFamily="49" charset="-122"/>
                              <a:cs typeface="Times New Roman" panose="02020603050405020304" pitchFamily="18" charset="0"/>
                            </a:rPr>
                            <a:t>线性收敛</a:t>
                          </a:r>
                          <a:endParaRPr lang="zh-CN" altLang="en-US" sz="2400" dirty="0">
                            <a:latin typeface="Times New Roman" panose="02020603050405020304" pitchFamily="18" charset="0"/>
                            <a:ea typeface="楷体" panose="02010609060101010101" pitchFamily="49"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2400" dirty="0" smtClean="0">
                              <a:latin typeface="Times New Roman" panose="02020603050405020304" pitchFamily="18" charset="0"/>
                              <a:ea typeface="楷体" panose="02010609060101010101" pitchFamily="49" charset="-122"/>
                              <a:cs typeface="Times New Roman" panose="02020603050405020304" pitchFamily="18" charset="0"/>
                            </a:rPr>
                            <a:t>线性收敛</a:t>
                          </a:r>
                          <a:endParaRPr lang="zh-CN" altLang="en-US" sz="2400" dirty="0">
                            <a:latin typeface="Times New Roman" panose="02020603050405020304" pitchFamily="18" charset="0"/>
                            <a:ea typeface="楷体" panose="02010609060101010101" pitchFamily="49"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24374355"/>
                      </a:ext>
                    </a:extLst>
                  </a:tr>
                  <a:tr h="862267">
                    <a:tc>
                      <a:txBody>
                        <a:bodyPr/>
                        <a:lstStyle/>
                        <a:p>
                          <a:pPr algn="ctr"/>
                          <a:r>
                            <a:rPr lang="zh-CN" altLang="en-US" sz="2400" dirty="0" smtClean="0">
                              <a:latin typeface="Times New Roman" panose="02020603050405020304" pitchFamily="18" charset="0"/>
                              <a:ea typeface="楷体" panose="02010609060101010101" pitchFamily="49" charset="-122"/>
                              <a:cs typeface="Times New Roman" panose="02020603050405020304" pitchFamily="18" charset="0"/>
                            </a:rPr>
                            <a:t>收敛公比</a:t>
                          </a:r>
                          <a:endParaRPr lang="zh-CN" altLang="en-US" sz="2400" dirty="0">
                            <a:latin typeface="Times New Roman" panose="02020603050405020304" pitchFamily="18" charset="0"/>
                            <a:ea typeface="楷体" panose="02010609060101010101" pitchFamily="49"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5370" t="-219014" r="-108831" b="-1408"/>
                          </a:stretch>
                        </a:blipFill>
                      </a:tcPr>
                    </a:tc>
                    <a:tc>
                      <a:txBody>
                        <a:bodyPr/>
                        <a:lstStyle/>
                        <a:p>
                          <a:endParaRPr lang="zh-C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43392" t="-219014" r="-441" b="-1408"/>
                          </a:stretch>
                        </a:blipFill>
                      </a:tcPr>
                    </a:tc>
                    <a:extLst>
                      <a:ext uri="{0D108BD9-81ED-4DB2-BD59-A6C34878D82A}">
                        <a16:rowId xmlns:a16="http://schemas.microsoft.com/office/drawing/2014/main" val="1647535354"/>
                      </a:ext>
                    </a:extLst>
                  </a:tr>
                </a:tbl>
              </a:graphicData>
            </a:graphic>
          </p:graphicFrame>
        </mc:Fallback>
      </mc:AlternateContent>
    </p:spTree>
    <p:custDataLst>
      <p:tags r:id="rId1"/>
    </p:custDataLst>
    <p:extLst>
      <p:ext uri="{BB962C8B-B14F-4D97-AF65-F5344CB8AC3E}">
        <p14:creationId xmlns:p14="http://schemas.microsoft.com/office/powerpoint/2010/main" val="3447006230"/>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宋体" panose="02010600030101010101" pitchFamily="2" charset="-122"/>
                <a:ea typeface="宋体" panose="02010600030101010101" pitchFamily="2" charset="-122"/>
              </a:rPr>
              <a:t>线性搜索方法</a:t>
            </a:r>
            <a:endParaRPr lang="zh-CN" altLang="en-US" dirty="0">
              <a:latin typeface="宋体" panose="02010600030101010101" pitchFamily="2" charset="-122"/>
              <a:ea typeface="宋体" panose="02010600030101010101" pitchFamily="2" charset="-122"/>
            </a:endParaRP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在共轭梯度法中，对于</a:t>
                </a:r>
                <a:r>
                  <a:rPr lang="en-US" altLang="zh-CN" i="1" dirty="0" smtClean="0">
                    <a:latin typeface="Times New Roman" panose="02020603050405020304" pitchFamily="18" charset="0"/>
                    <a:ea typeface="楷体" panose="02010609060101010101" pitchFamily="49" charset="-122"/>
                    <a:cs typeface="Times New Roman" panose="02020603050405020304" pitchFamily="18" charset="0"/>
                  </a:rPr>
                  <a:t>α</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的搜索</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pPr marL="0" indent="0" algn="ctr">
                  <a:buNone/>
                </a:pPr>
                <a:r>
                  <a:rPr lang="en-US" altLang="zh-CN" i="1" dirty="0" smtClean="0">
                    <a:latin typeface="Times New Roman" panose="02020603050405020304" pitchFamily="18" charset="0"/>
                    <a:ea typeface="楷体" panose="02010609060101010101" pitchFamily="49" charset="-122"/>
                    <a:cs typeface="Times New Roman" panose="02020603050405020304" pitchFamily="18" charset="0"/>
                  </a:rPr>
                  <a:t>f</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b="1" dirty="0" smtClean="0">
                    <a:latin typeface="Times New Roman" panose="02020603050405020304" pitchFamily="18" charset="0"/>
                    <a:ea typeface="楷体" panose="02010609060101010101" pitchFamily="49" charset="-122"/>
                    <a:cs typeface="Times New Roman" panose="02020603050405020304" pitchFamily="18" charset="0"/>
                  </a:rPr>
                  <a:t>x</a:t>
                </a:r>
                <a:r>
                  <a:rPr lang="en-US" altLang="zh-CN" baseline="-25000" dirty="0" smtClean="0">
                    <a:latin typeface="Times New Roman" panose="02020603050405020304" pitchFamily="18" charset="0"/>
                    <a:ea typeface="楷体" panose="02010609060101010101" pitchFamily="49" charset="-122"/>
                    <a:cs typeface="Times New Roman" panose="02020603050405020304" pitchFamily="18" charset="0"/>
                  </a:rPr>
                  <a:t>0</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a:t>
                </a:r>
                <a:r>
                  <a:rPr lang="en-US" altLang="zh-CN"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i="1" dirty="0" smtClean="0">
                    <a:latin typeface="Times New Roman" panose="02020603050405020304" pitchFamily="18" charset="0"/>
                    <a:ea typeface="楷体" panose="02010609060101010101" pitchFamily="49" charset="-122"/>
                    <a:cs typeface="Times New Roman" panose="02020603050405020304" pitchFamily="18" charset="0"/>
                  </a:rPr>
                  <a:t>α</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d</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p>
              <a:p>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目标是为了确保∇</a:t>
                </a:r>
                <a:r>
                  <a:rPr lang="en-US" altLang="zh-CN" i="1" dirty="0" smtClean="0">
                    <a:latin typeface="Times New Roman" panose="02020603050405020304" pitchFamily="18" charset="0"/>
                    <a:ea typeface="楷体" panose="02010609060101010101" pitchFamily="49" charset="-122"/>
                    <a:cs typeface="Times New Roman" panose="02020603050405020304" pitchFamily="18" charset="0"/>
                  </a:rPr>
                  <a:t>f</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与</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d</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垂直</a:t>
                </a:r>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a:p>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把</a:t>
                </a:r>
                <a:r>
                  <a:rPr lang="zh-CN" altLang="en-US"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i="1" dirty="0" err="1" smtClean="0">
                    <a:latin typeface="Times New Roman" panose="02020603050405020304" pitchFamily="18" charset="0"/>
                    <a:ea typeface="楷体" panose="02010609060101010101" pitchFamily="49" charset="-122"/>
                    <a:cs typeface="Times New Roman" panose="02020603050405020304" pitchFamily="18" charset="0"/>
                  </a:rPr>
                  <a:t>f·</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d</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视为一个与</a:t>
                </a:r>
                <a:r>
                  <a:rPr lang="en-US" altLang="zh-CN" i="1" dirty="0" smtClean="0">
                    <a:latin typeface="Times New Roman" panose="02020603050405020304" pitchFamily="18" charset="0"/>
                    <a:ea typeface="楷体" panose="02010609060101010101" pitchFamily="49" charset="-122"/>
                    <a:cs typeface="Times New Roman" panose="02020603050405020304" pitchFamily="18" charset="0"/>
                  </a:rPr>
                  <a:t>α</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近似线性变化的函数</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利用最近两次搜索的</a:t>
                </a:r>
                <a:r>
                  <a:rPr lang="en-US" altLang="zh-CN" i="1" dirty="0" smtClean="0">
                    <a:latin typeface="Times New Roman" panose="02020603050405020304" pitchFamily="18" charset="0"/>
                    <a:ea typeface="楷体" panose="02010609060101010101" pitchFamily="49" charset="-122"/>
                    <a:cs typeface="Times New Roman" panose="02020603050405020304" pitchFamily="18" charset="0"/>
                  </a:rPr>
                  <a:t>α</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及其对应的</a:t>
                </a:r>
                <a:r>
                  <a:rPr lang="zh-CN" altLang="en-US"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i="1" dirty="0" err="1" smtClean="0">
                    <a:latin typeface="Times New Roman" panose="02020603050405020304" pitchFamily="18" charset="0"/>
                    <a:ea typeface="楷体" panose="02010609060101010101" pitchFamily="49" charset="-122"/>
                    <a:cs typeface="Times New Roman" panose="02020603050405020304" pitchFamily="18" charset="0"/>
                  </a:rPr>
                  <a:t>f·</a:t>
                </a:r>
                <a:r>
                  <a:rPr lang="en-US" altLang="zh-CN" b="1" dirty="0" err="1" smtClean="0">
                    <a:latin typeface="Times New Roman" panose="02020603050405020304" pitchFamily="18" charset="0"/>
                    <a:ea typeface="楷体" panose="02010609060101010101" pitchFamily="49" charset="-122"/>
                    <a:cs typeface="Times New Roman" panose="02020603050405020304" pitchFamily="18" charset="0"/>
                  </a:rPr>
                  <a:t>d</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，导出新的</a:t>
                </a:r>
                <a:r>
                  <a:rPr lang="en-US" altLang="zh-CN" i="1" dirty="0" smtClean="0">
                    <a:latin typeface="Times New Roman" panose="02020603050405020304" pitchFamily="18" charset="0"/>
                    <a:ea typeface="楷体" panose="02010609060101010101" pitchFamily="49" charset="-122"/>
                    <a:cs typeface="Times New Roman" panose="02020603050405020304" pitchFamily="18" charset="0"/>
                  </a:rPr>
                  <a:t>α</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d>
                        <m:dPr>
                          <m:begChr m:val="|"/>
                          <m:endChr m:val="|"/>
                          <m:ctrlPr>
                            <a:rPr lang="en-US" altLang="zh-CN" b="0" i="1" smtClean="0">
                              <a:latin typeface="Cambria Math" panose="02040503050406030204" pitchFamily="18" charset="0"/>
                              <a:ea typeface="楷体" panose="02010609060101010101" pitchFamily="49" charset="-122"/>
                              <a:cs typeface="Times New Roman" panose="02020603050405020304" pitchFamily="18" charset="0"/>
                            </a:rPr>
                          </m:ctrlPr>
                        </m:dPr>
                        <m:e>
                          <m:m>
                            <m:mPr>
                              <m:mcs>
                                <m:mc>
                                  <m:mcPr>
                                    <m:count m:val="3"/>
                                    <m:mcJc m:val="center"/>
                                  </m:mcPr>
                                </m:mc>
                              </m:mcs>
                              <m:ctrlPr>
                                <a:rPr lang="en-US" altLang="zh-CN" b="0" i="1" smtClean="0">
                                  <a:latin typeface="Cambria Math" panose="02040503050406030204" pitchFamily="18" charset="0"/>
                                  <a:ea typeface="楷体" panose="02010609060101010101" pitchFamily="49" charset="-122"/>
                                  <a:cs typeface="Times New Roman" panose="02020603050405020304" pitchFamily="18" charset="0"/>
                                </a:rPr>
                              </m:ctrlPr>
                            </m:mPr>
                            <m:mr>
                              <m:e>
                                <m:r>
                                  <a:rPr lang="en-US" altLang="zh-CN" b="0" i="1" smtClean="0">
                                    <a:latin typeface="Cambria Math" panose="02040503050406030204" pitchFamily="18" charset="0"/>
                                    <a:ea typeface="楷体" panose="02010609060101010101" pitchFamily="49" charset="-122"/>
                                    <a:cs typeface="Times New Roman" panose="02020603050405020304" pitchFamily="18" charset="0"/>
                                  </a:rPr>
                                  <m:t>𝛼</m:t>
                                </m:r>
                              </m:e>
                              <m:e>
                                <m:r>
                                  <a:rPr lang="en-US" altLang="zh-CN" b="0" i="1" smtClean="0">
                                    <a:latin typeface="Cambria Math" panose="02040503050406030204" pitchFamily="18" charset="0"/>
                                    <a:ea typeface="楷体" panose="02010609060101010101" pitchFamily="49" charset="-122"/>
                                    <a:cs typeface="Times New Roman" panose="02020603050405020304" pitchFamily="18" charset="0"/>
                                  </a:rPr>
                                  <m:t>0</m:t>
                                </m:r>
                              </m:e>
                              <m:e>
                                <m:r>
                                  <a:rPr lang="en-US" altLang="zh-CN" b="0" i="1" smtClean="0">
                                    <a:latin typeface="Cambria Math" panose="02040503050406030204" pitchFamily="18" charset="0"/>
                                    <a:ea typeface="楷体" panose="02010609060101010101" pitchFamily="49" charset="-122"/>
                                    <a:cs typeface="Times New Roman" panose="02020603050405020304" pitchFamily="18" charset="0"/>
                                  </a:rPr>
                                  <m:t>1</m:t>
                                </m:r>
                              </m:e>
                            </m:mr>
                            <m:mr>
                              <m:e>
                                <m:sSup>
                                  <m:sSupPr>
                                    <m:ctrlPr>
                                      <a:rPr lang="en-US" altLang="zh-CN" b="0" i="1" smtClean="0">
                                        <a:latin typeface="Cambria Math" panose="02040503050406030204" pitchFamily="18" charset="0"/>
                                        <a:ea typeface="楷体" panose="02010609060101010101" pitchFamily="49" charset="-122"/>
                                        <a:cs typeface="Times New Roman" panose="02020603050405020304" pitchFamily="18" charset="0"/>
                                      </a:rPr>
                                    </m:ctrlPr>
                                  </m:sSupPr>
                                  <m:e>
                                    <m:r>
                                      <a:rPr lang="en-US" altLang="zh-CN" b="0" i="1" smtClean="0">
                                        <a:latin typeface="Cambria Math" panose="02040503050406030204" pitchFamily="18" charset="0"/>
                                        <a:ea typeface="楷体" panose="02010609060101010101" pitchFamily="49" charset="-122"/>
                                        <a:cs typeface="Times New Roman" panose="02020603050405020304" pitchFamily="18" charset="0"/>
                                      </a:rPr>
                                      <m:t>𝛼</m:t>
                                    </m:r>
                                  </m:e>
                                  <m:sup>
                                    <m:r>
                                      <a:rPr lang="en-US" altLang="zh-CN" b="0" i="1" smtClean="0">
                                        <a:latin typeface="Cambria Math" panose="02040503050406030204" pitchFamily="18" charset="0"/>
                                        <a:ea typeface="楷体" panose="02010609060101010101" pitchFamily="49" charset="-122"/>
                                        <a:cs typeface="Times New Roman" panose="02020603050405020304" pitchFamily="18" charset="0"/>
                                      </a:rPr>
                                      <m:t>𝑖</m:t>
                                    </m:r>
                                  </m:sup>
                                </m:sSup>
                              </m:e>
                              <m:e>
                                <m:r>
                                  <a:rPr lang="en-US" altLang="zh-CN" b="0" i="0" smtClean="0">
                                    <a:latin typeface="Cambria Math" panose="02040503050406030204" pitchFamily="18" charset="0"/>
                                    <a:ea typeface="楷体" panose="02010609060101010101" pitchFamily="49" charset="-122"/>
                                    <a:cs typeface="Times New Roman" panose="02020603050405020304" pitchFamily="18" charset="0"/>
                                  </a:rPr>
                                  <m:t>𝛻</m:t>
                                </m:r>
                                <m:r>
                                  <a:rPr lang="en-US" altLang="zh-CN" b="0" i="1" smtClean="0">
                                    <a:latin typeface="Cambria Math" panose="02040503050406030204" pitchFamily="18" charset="0"/>
                                    <a:ea typeface="楷体" panose="02010609060101010101" pitchFamily="49" charset="-122"/>
                                    <a:cs typeface="Times New Roman" panose="02020603050405020304" pitchFamily="18" charset="0"/>
                                  </a:rPr>
                                  <m:t>𝑓</m:t>
                                </m:r>
                                <m:d>
                                  <m:dPr>
                                    <m:ctrlPr>
                                      <a:rPr lang="en-US" altLang="zh-CN" b="0" i="1" smtClean="0">
                                        <a:latin typeface="Cambria Math" panose="02040503050406030204" pitchFamily="18" charset="0"/>
                                        <a:ea typeface="楷体" panose="02010609060101010101" pitchFamily="49" charset="-122"/>
                                        <a:cs typeface="Times New Roman" panose="02020603050405020304" pitchFamily="18" charset="0"/>
                                      </a:rPr>
                                    </m:ctrlPr>
                                  </m:dPr>
                                  <m:e>
                                    <m:sSub>
                                      <m:sSubPr>
                                        <m:ctrlPr>
                                          <a:rPr lang="en-US" altLang="zh-CN" b="0" i="1" smtClean="0">
                                            <a:latin typeface="Cambria Math" panose="02040503050406030204" pitchFamily="18" charset="0"/>
                                            <a:ea typeface="楷体" panose="02010609060101010101" pitchFamily="49" charset="-122"/>
                                            <a:cs typeface="Times New Roman" panose="02020603050405020304" pitchFamily="18" charset="0"/>
                                          </a:rPr>
                                        </m:ctrlPr>
                                      </m:sSubPr>
                                      <m:e>
                                        <m:r>
                                          <a:rPr lang="en-US" altLang="zh-CN" b="1" i="0" smtClean="0">
                                            <a:latin typeface="Cambria Math" panose="02040503050406030204" pitchFamily="18" charset="0"/>
                                            <a:ea typeface="楷体" panose="02010609060101010101" pitchFamily="49" charset="-122"/>
                                            <a:cs typeface="Times New Roman" panose="02020603050405020304" pitchFamily="18" charset="0"/>
                                          </a:rPr>
                                          <m:t>𝐱</m:t>
                                        </m:r>
                                      </m:e>
                                      <m:sub>
                                        <m:r>
                                          <a:rPr lang="en-US" altLang="zh-CN" b="0" i="1" smtClean="0">
                                            <a:latin typeface="Cambria Math" panose="02040503050406030204" pitchFamily="18" charset="0"/>
                                            <a:ea typeface="楷体" panose="02010609060101010101" pitchFamily="49" charset="-122"/>
                                            <a:cs typeface="Times New Roman" panose="02020603050405020304" pitchFamily="18" charset="0"/>
                                          </a:rPr>
                                          <m:t>0</m:t>
                                        </m:r>
                                      </m:sub>
                                    </m:sSub>
                                    <m:r>
                                      <a:rPr lang="en-US" altLang="zh-CN" b="0" i="1" smtClean="0">
                                        <a:latin typeface="Cambria Math" panose="02040503050406030204" pitchFamily="18" charset="0"/>
                                        <a:ea typeface="楷体" panose="02010609060101010101" pitchFamily="49" charset="-122"/>
                                        <a:cs typeface="Times New Roman" panose="02020603050405020304" pitchFamily="18" charset="0"/>
                                      </a:rPr>
                                      <m:t>+</m:t>
                                    </m:r>
                                    <m:sSup>
                                      <m:sSupPr>
                                        <m:ctrlPr>
                                          <a:rPr lang="en-US" altLang="zh-CN" b="0" i="1" smtClean="0">
                                            <a:latin typeface="Cambria Math" panose="02040503050406030204" pitchFamily="18" charset="0"/>
                                            <a:ea typeface="楷体" panose="02010609060101010101" pitchFamily="49" charset="-122"/>
                                            <a:cs typeface="Times New Roman" panose="02020603050405020304" pitchFamily="18" charset="0"/>
                                          </a:rPr>
                                        </m:ctrlPr>
                                      </m:sSupPr>
                                      <m:e>
                                        <m:r>
                                          <a:rPr lang="en-US" altLang="zh-CN" b="0" i="1" smtClean="0">
                                            <a:latin typeface="Cambria Math" panose="02040503050406030204" pitchFamily="18" charset="0"/>
                                            <a:ea typeface="楷体" panose="02010609060101010101" pitchFamily="49" charset="-122"/>
                                            <a:cs typeface="Times New Roman" panose="02020603050405020304" pitchFamily="18" charset="0"/>
                                          </a:rPr>
                                          <m:t>𝛼</m:t>
                                        </m:r>
                                      </m:e>
                                      <m:sup>
                                        <m:r>
                                          <a:rPr lang="en-US" altLang="zh-CN" b="0" i="1" smtClean="0">
                                            <a:latin typeface="Cambria Math" panose="02040503050406030204" pitchFamily="18" charset="0"/>
                                            <a:ea typeface="楷体" panose="02010609060101010101" pitchFamily="49" charset="-122"/>
                                            <a:cs typeface="Times New Roman" panose="02020603050405020304" pitchFamily="18" charset="0"/>
                                          </a:rPr>
                                          <m:t>𝑖</m:t>
                                        </m:r>
                                      </m:sup>
                                    </m:sSup>
                                    <m:r>
                                      <a:rPr lang="en-US" altLang="zh-CN" b="1" i="0" smtClean="0">
                                        <a:latin typeface="Cambria Math" panose="02040503050406030204" pitchFamily="18" charset="0"/>
                                        <a:ea typeface="楷体" panose="02010609060101010101" pitchFamily="49" charset="-122"/>
                                        <a:cs typeface="Times New Roman" panose="02020603050405020304" pitchFamily="18" charset="0"/>
                                      </a:rPr>
                                      <m:t>𝐝</m:t>
                                    </m:r>
                                  </m:e>
                                </m:d>
                                <m:r>
                                  <a:rPr lang="en-US" altLang="zh-CN" b="0" i="1" smtClean="0">
                                    <a:latin typeface="Cambria Math" panose="02040503050406030204" pitchFamily="18" charset="0"/>
                                    <a:ea typeface="楷体" panose="02010609060101010101" pitchFamily="49" charset="-122"/>
                                    <a:cs typeface="Times New Roman" panose="02020603050405020304" pitchFamily="18" charset="0"/>
                                  </a:rPr>
                                  <m:t>⋅</m:t>
                                </m:r>
                                <m:r>
                                  <a:rPr lang="en-US" altLang="zh-CN" b="1" i="0" smtClean="0">
                                    <a:latin typeface="Cambria Math" panose="02040503050406030204" pitchFamily="18" charset="0"/>
                                    <a:ea typeface="楷体" panose="02010609060101010101" pitchFamily="49" charset="-122"/>
                                    <a:cs typeface="Times New Roman" panose="02020603050405020304" pitchFamily="18" charset="0"/>
                                  </a:rPr>
                                  <m:t>𝐝</m:t>
                                </m:r>
                              </m:e>
                              <m:e>
                                <m:r>
                                  <a:rPr lang="en-US" altLang="zh-CN" b="0" i="1" smtClean="0">
                                    <a:latin typeface="Cambria Math" panose="02040503050406030204" pitchFamily="18" charset="0"/>
                                    <a:ea typeface="楷体" panose="02010609060101010101" pitchFamily="49" charset="-122"/>
                                    <a:cs typeface="Times New Roman" panose="02020603050405020304" pitchFamily="18" charset="0"/>
                                  </a:rPr>
                                  <m:t>1</m:t>
                                </m:r>
                              </m:e>
                            </m:mr>
                            <m:mr>
                              <m:e>
                                <m:sSup>
                                  <m:sSupPr>
                                    <m:ctrlPr>
                                      <a:rPr lang="en-US" altLang="zh-CN" b="0" i="1" smtClean="0">
                                        <a:latin typeface="Cambria Math" panose="02040503050406030204" pitchFamily="18" charset="0"/>
                                        <a:ea typeface="楷体" panose="02010609060101010101" pitchFamily="49" charset="-122"/>
                                        <a:cs typeface="Times New Roman" panose="02020603050405020304" pitchFamily="18" charset="0"/>
                                      </a:rPr>
                                    </m:ctrlPr>
                                  </m:sSupPr>
                                  <m:e>
                                    <m:r>
                                      <a:rPr lang="en-US" altLang="zh-CN" b="0" i="1" smtClean="0">
                                        <a:latin typeface="Cambria Math" panose="02040503050406030204" pitchFamily="18" charset="0"/>
                                        <a:ea typeface="楷体" panose="02010609060101010101" pitchFamily="49" charset="-122"/>
                                        <a:cs typeface="Times New Roman" panose="02020603050405020304" pitchFamily="18" charset="0"/>
                                      </a:rPr>
                                      <m:t>𝛼</m:t>
                                    </m:r>
                                  </m:e>
                                  <m:sup>
                                    <m:r>
                                      <a:rPr lang="en-US" altLang="zh-CN" b="0" i="1" smtClean="0">
                                        <a:latin typeface="Cambria Math" panose="02040503050406030204" pitchFamily="18" charset="0"/>
                                        <a:ea typeface="楷体" panose="02010609060101010101" pitchFamily="49" charset="-122"/>
                                        <a:cs typeface="Times New Roman" panose="02020603050405020304" pitchFamily="18" charset="0"/>
                                      </a:rPr>
                                      <m:t>𝑗</m:t>
                                    </m:r>
                                  </m:sup>
                                </m:sSup>
                              </m:e>
                              <m:e>
                                <m:r>
                                  <a:rPr lang="en-US" altLang="zh-CN" b="0" i="0" smtClean="0">
                                    <a:latin typeface="Cambria Math" panose="02040503050406030204" pitchFamily="18" charset="0"/>
                                    <a:ea typeface="楷体" panose="02010609060101010101" pitchFamily="49" charset="-122"/>
                                    <a:cs typeface="Times New Roman" panose="02020603050405020304" pitchFamily="18" charset="0"/>
                                  </a:rPr>
                                  <m:t>𝛻</m:t>
                                </m:r>
                                <m:r>
                                  <a:rPr lang="en-US" altLang="zh-CN" b="0" i="1" smtClean="0">
                                    <a:latin typeface="Cambria Math" panose="02040503050406030204" pitchFamily="18" charset="0"/>
                                    <a:ea typeface="楷体" panose="02010609060101010101" pitchFamily="49" charset="-122"/>
                                    <a:cs typeface="Times New Roman" panose="02020603050405020304" pitchFamily="18" charset="0"/>
                                  </a:rPr>
                                  <m:t>𝑓</m:t>
                                </m:r>
                                <m:d>
                                  <m:dPr>
                                    <m:ctrlPr>
                                      <a:rPr lang="en-US" altLang="zh-CN" b="0" i="1" smtClean="0">
                                        <a:latin typeface="Cambria Math" panose="02040503050406030204" pitchFamily="18" charset="0"/>
                                        <a:ea typeface="楷体" panose="02010609060101010101" pitchFamily="49" charset="-122"/>
                                        <a:cs typeface="Times New Roman" panose="02020603050405020304" pitchFamily="18" charset="0"/>
                                      </a:rPr>
                                    </m:ctrlPr>
                                  </m:dPr>
                                  <m:e>
                                    <m:sSub>
                                      <m:sSubPr>
                                        <m:ctrlPr>
                                          <a:rPr lang="en-US" altLang="zh-CN" b="0" i="1" smtClean="0">
                                            <a:latin typeface="Cambria Math" panose="02040503050406030204" pitchFamily="18" charset="0"/>
                                            <a:ea typeface="楷体" panose="02010609060101010101" pitchFamily="49" charset="-122"/>
                                            <a:cs typeface="Times New Roman" panose="02020603050405020304" pitchFamily="18" charset="0"/>
                                          </a:rPr>
                                        </m:ctrlPr>
                                      </m:sSubPr>
                                      <m:e>
                                        <m:r>
                                          <a:rPr lang="en-US" altLang="zh-CN" b="1" i="0" smtClean="0">
                                            <a:latin typeface="Cambria Math" panose="02040503050406030204" pitchFamily="18" charset="0"/>
                                            <a:ea typeface="楷体" panose="02010609060101010101" pitchFamily="49" charset="-122"/>
                                            <a:cs typeface="Times New Roman" panose="02020603050405020304" pitchFamily="18" charset="0"/>
                                          </a:rPr>
                                          <m:t>𝐱</m:t>
                                        </m:r>
                                      </m:e>
                                      <m:sub>
                                        <m:r>
                                          <a:rPr lang="en-US" altLang="zh-CN" b="0" i="1" smtClean="0">
                                            <a:latin typeface="Cambria Math" panose="02040503050406030204" pitchFamily="18" charset="0"/>
                                            <a:ea typeface="楷体" panose="02010609060101010101" pitchFamily="49" charset="-122"/>
                                            <a:cs typeface="Times New Roman" panose="02020603050405020304" pitchFamily="18" charset="0"/>
                                          </a:rPr>
                                          <m:t>0</m:t>
                                        </m:r>
                                      </m:sub>
                                    </m:sSub>
                                    <m:r>
                                      <a:rPr lang="en-US" altLang="zh-CN" b="0" i="1" smtClean="0">
                                        <a:latin typeface="Cambria Math" panose="02040503050406030204" pitchFamily="18" charset="0"/>
                                        <a:ea typeface="楷体" panose="02010609060101010101" pitchFamily="49" charset="-122"/>
                                        <a:cs typeface="Times New Roman" panose="02020603050405020304" pitchFamily="18" charset="0"/>
                                      </a:rPr>
                                      <m:t>+</m:t>
                                    </m:r>
                                    <m:sSup>
                                      <m:sSupPr>
                                        <m:ctrlPr>
                                          <a:rPr lang="en-US" altLang="zh-CN" b="0" i="1" smtClean="0">
                                            <a:latin typeface="Cambria Math" panose="02040503050406030204" pitchFamily="18" charset="0"/>
                                            <a:ea typeface="楷体" panose="02010609060101010101" pitchFamily="49" charset="-122"/>
                                            <a:cs typeface="Times New Roman" panose="02020603050405020304" pitchFamily="18" charset="0"/>
                                          </a:rPr>
                                        </m:ctrlPr>
                                      </m:sSupPr>
                                      <m:e>
                                        <m:r>
                                          <a:rPr lang="en-US" altLang="zh-CN" b="0" i="1" smtClean="0">
                                            <a:latin typeface="Cambria Math" panose="02040503050406030204" pitchFamily="18" charset="0"/>
                                            <a:ea typeface="楷体" panose="02010609060101010101" pitchFamily="49" charset="-122"/>
                                            <a:cs typeface="Times New Roman" panose="02020603050405020304" pitchFamily="18" charset="0"/>
                                          </a:rPr>
                                          <m:t>𝛼</m:t>
                                        </m:r>
                                      </m:e>
                                      <m:sup>
                                        <m:r>
                                          <a:rPr lang="en-US" altLang="zh-CN" b="0" i="1" smtClean="0">
                                            <a:latin typeface="Cambria Math" panose="02040503050406030204" pitchFamily="18" charset="0"/>
                                            <a:ea typeface="楷体" panose="02010609060101010101" pitchFamily="49" charset="-122"/>
                                            <a:cs typeface="Times New Roman" panose="02020603050405020304" pitchFamily="18" charset="0"/>
                                          </a:rPr>
                                          <m:t>𝑗</m:t>
                                        </m:r>
                                      </m:sup>
                                    </m:sSup>
                                    <m:r>
                                      <a:rPr lang="en-US" altLang="zh-CN" b="1" i="0" smtClean="0">
                                        <a:latin typeface="Cambria Math" panose="02040503050406030204" pitchFamily="18" charset="0"/>
                                        <a:ea typeface="楷体" panose="02010609060101010101" pitchFamily="49" charset="-122"/>
                                        <a:cs typeface="Times New Roman" panose="02020603050405020304" pitchFamily="18" charset="0"/>
                                      </a:rPr>
                                      <m:t>𝐝</m:t>
                                    </m:r>
                                  </m:e>
                                </m:d>
                                <m:r>
                                  <a:rPr lang="en-US" altLang="zh-CN" b="0" i="1" smtClean="0">
                                    <a:latin typeface="Cambria Math" panose="02040503050406030204" pitchFamily="18" charset="0"/>
                                    <a:ea typeface="楷体" panose="02010609060101010101" pitchFamily="49" charset="-122"/>
                                    <a:cs typeface="Times New Roman" panose="02020603050405020304" pitchFamily="18" charset="0"/>
                                  </a:rPr>
                                  <m:t>⋅</m:t>
                                </m:r>
                                <m:r>
                                  <a:rPr lang="en-US" altLang="zh-CN" b="1" i="0" smtClean="0">
                                    <a:latin typeface="Cambria Math" panose="02040503050406030204" pitchFamily="18" charset="0"/>
                                    <a:ea typeface="楷体" panose="02010609060101010101" pitchFamily="49" charset="-122"/>
                                    <a:cs typeface="Times New Roman" panose="02020603050405020304" pitchFamily="18" charset="0"/>
                                  </a:rPr>
                                  <m:t>𝐝</m:t>
                                </m:r>
                              </m:e>
                              <m:e>
                                <m:r>
                                  <a:rPr lang="en-US" altLang="zh-CN" b="0" i="1" smtClean="0">
                                    <a:latin typeface="Cambria Math" panose="02040503050406030204" pitchFamily="18" charset="0"/>
                                    <a:ea typeface="楷体" panose="02010609060101010101" pitchFamily="49" charset="-122"/>
                                    <a:cs typeface="Times New Roman" panose="02020603050405020304" pitchFamily="18" charset="0"/>
                                  </a:rPr>
                                  <m:t>1</m:t>
                                </m:r>
                              </m:e>
                            </m:mr>
                          </m:m>
                        </m:e>
                      </m:d>
                      <m:r>
                        <a:rPr lang="en-US" altLang="zh-CN" b="0" i="1" smtClean="0">
                          <a:latin typeface="Cambria Math" panose="02040503050406030204" pitchFamily="18" charset="0"/>
                          <a:ea typeface="楷体" panose="02010609060101010101" pitchFamily="49" charset="-122"/>
                          <a:cs typeface="Times New Roman" panose="02020603050405020304" pitchFamily="18" charset="0"/>
                        </a:rPr>
                        <m:t>=0</m:t>
                      </m:r>
                    </m:oMath>
                  </m:oMathPara>
                </a14:m>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3"/>
                <a:stretch>
                  <a:fillRect l="-1391" t="-2801"/>
                </a:stretch>
              </a:blipFill>
            </p:spPr>
            <p:txBody>
              <a:bodyPr/>
              <a:lstStyle/>
              <a:p>
                <a:r>
                  <a:rPr lang="zh-CN" altLang="en-US">
                    <a:noFill/>
                  </a:rPr>
                  <a:t> </a:t>
                </a:r>
              </a:p>
            </p:txBody>
          </p:sp>
        </mc:Fallback>
      </mc:AlternateContent>
    </p:spTree>
    <p:custDataLst>
      <p:tags r:id="rId1"/>
    </p:custDataLst>
    <p:extLst>
      <p:ext uri="{BB962C8B-B14F-4D97-AF65-F5344CB8AC3E}">
        <p14:creationId xmlns:p14="http://schemas.microsoft.com/office/powerpoint/2010/main" val="34453728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宋体" panose="02010600030101010101" pitchFamily="2" charset="-122"/>
                <a:ea typeface="宋体" panose="02010600030101010101" pitchFamily="2" charset="-122"/>
              </a:rPr>
              <a:t>总结</a:t>
            </a:r>
          </a:p>
        </p:txBody>
      </p:sp>
      <p:sp>
        <p:nvSpPr>
          <p:cNvPr id="3" name="内容占位符 2"/>
          <p:cNvSpPr>
            <a:spLocks noGrp="1"/>
          </p:cNvSpPr>
          <p:nvPr>
            <p:ph idx="1"/>
          </p:nvPr>
        </p:nvSpPr>
        <p:spPr/>
        <p:txBody>
          <a:bodyPr>
            <a:normAutofit lnSpcReduction="10000"/>
          </a:bodyPr>
          <a:lstStyle/>
          <a:p>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共轭梯度算法是一种迭代算法</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每步的优化方向与前一步关于海森矩阵共轭</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新优化方向从函数梯度与前一步优化方向中提取</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每次优化都到达梯度与优化方向垂直的位置</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线性共轭梯度算法可以在有限步内收敛</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收敛速度比较：</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pPr marL="0" indent="0" algn="ctr">
              <a:buNone/>
            </a:pP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梯度下降法</a:t>
            </a:r>
            <a:r>
              <a:rPr lang="ja-JP" altLang="en-US" dirty="0" smtClean="0">
                <a:latin typeface="Times New Roman" panose="02020603050405020304" pitchFamily="18" charset="0"/>
                <a:ea typeface="楷体" panose="02010609060101010101" pitchFamily="49" charset="-122"/>
                <a:cs typeface="Times New Roman" panose="02020603050405020304" pitchFamily="18" charset="0"/>
              </a:rPr>
              <a:t> </a:t>
            </a:r>
            <a:r>
              <a:rPr lang="en-US" altLang="ja-JP" dirty="0" smtClean="0">
                <a:latin typeface="Times New Roman" panose="02020603050405020304" pitchFamily="18" charset="0"/>
                <a:ea typeface="楷体" panose="02010609060101010101" pitchFamily="49" charset="-122"/>
                <a:cs typeface="Times New Roman" panose="02020603050405020304" pitchFamily="18" charset="0"/>
              </a:rPr>
              <a:t>&lt; </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共轭梯度法 </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&lt; </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牛顿法</a:t>
            </a:r>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a:p>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计算量比较：</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pPr marL="0" indent="0" algn="ctr">
              <a:buNone/>
            </a:pP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梯度下降法</a:t>
            </a:r>
            <a:r>
              <a:rPr lang="ja-JP" altLang="en-US" dirty="0" smtClean="0">
                <a:latin typeface="Times New Roman" panose="02020603050405020304" pitchFamily="18" charset="0"/>
                <a:ea typeface="楷体" panose="02010609060101010101" pitchFamily="49" charset="-122"/>
                <a:cs typeface="Times New Roman" panose="02020603050405020304" pitchFamily="18" charset="0"/>
              </a:rPr>
              <a:t> </a:t>
            </a:r>
            <a:r>
              <a:rPr lang="en-US" altLang="ja-JP" dirty="0" smtClean="0">
                <a:latin typeface="Times New Roman" panose="02020603050405020304" pitchFamily="18" charset="0"/>
                <a:ea typeface="楷体" panose="02010609060101010101" pitchFamily="49" charset="-122"/>
                <a:cs typeface="Times New Roman" panose="02020603050405020304" pitchFamily="18" charset="0"/>
              </a:rPr>
              <a:t>&lt; </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共轭梯度法 </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&lt; </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牛顿法</a:t>
            </a:r>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Tree>
    <p:custDataLst>
      <p:tags r:id="rId1"/>
    </p:custDataLst>
    <p:extLst>
      <p:ext uri="{BB962C8B-B14F-4D97-AF65-F5344CB8AC3E}">
        <p14:creationId xmlns:p14="http://schemas.microsoft.com/office/powerpoint/2010/main" val="105387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ags/tag1.xml><?xml version="1.0" encoding="utf-8"?>
<p:tagLst xmlns:a="http://schemas.openxmlformats.org/drawingml/2006/main" xmlns:r="http://schemas.openxmlformats.org/officeDocument/2006/relationships" xmlns:p="http://schemas.openxmlformats.org/presentationml/2006/main">
  <p:tag name="LOCALPRESID" val="17796652273675454"/>
</p:tagLst>
</file>

<file path=ppt/tags/tag2.xml><?xml version="1.0" encoding="utf-8"?>
<p:tagLst xmlns:a="http://schemas.openxmlformats.org/drawingml/2006/main" xmlns:r="http://schemas.openxmlformats.org/officeDocument/2006/relationships" xmlns:p="http://schemas.openxmlformats.org/presentationml/2006/main">
  <p:tag name="LOCALSLIDEID" val="17796652273759182"/>
</p:tagLst>
</file>

<file path=ppt/tags/tag3.xml><?xml version="1.0" encoding="utf-8"?>
<p:tagLst xmlns:a="http://schemas.openxmlformats.org/drawingml/2006/main" xmlns:r="http://schemas.openxmlformats.org/officeDocument/2006/relationships" xmlns:p="http://schemas.openxmlformats.org/presentationml/2006/main">
  <p:tag name="LOCALSLIDEID" val="17796652273921365"/>
</p:tagLst>
</file>

<file path=ppt/tags/tag4.xml><?xml version="1.0" encoding="utf-8"?>
<p:tagLst xmlns:a="http://schemas.openxmlformats.org/drawingml/2006/main" xmlns:r="http://schemas.openxmlformats.org/officeDocument/2006/relationships" xmlns:p="http://schemas.openxmlformats.org/presentationml/2006/main">
  <p:tag name="LOCALSLIDEID" val="17796652274075835"/>
</p:tagLst>
</file>

<file path=ppt/tags/tag5.xml><?xml version="1.0" encoding="utf-8"?>
<p:tagLst xmlns:a="http://schemas.openxmlformats.org/drawingml/2006/main" xmlns:r="http://schemas.openxmlformats.org/officeDocument/2006/relationships" xmlns:p="http://schemas.openxmlformats.org/presentationml/2006/main">
  <p:tag name="LOCALSLIDEID" val="17796652274092878"/>
</p:tagLst>
</file>

<file path=ppt/tags/tag6.xml><?xml version="1.0" encoding="utf-8"?>
<p:tagLst xmlns:a="http://schemas.openxmlformats.org/drawingml/2006/main" xmlns:r="http://schemas.openxmlformats.org/officeDocument/2006/relationships" xmlns:p="http://schemas.openxmlformats.org/presentationml/2006/main">
  <p:tag name="LOCALSLIDEID" val="17796652274191894"/>
</p:tagLst>
</file>

<file path=ppt/tags/tag7.xml><?xml version="1.0" encoding="utf-8"?>
<p:tagLst xmlns:a="http://schemas.openxmlformats.org/drawingml/2006/main" xmlns:r="http://schemas.openxmlformats.org/officeDocument/2006/relationships" xmlns:p="http://schemas.openxmlformats.org/presentationml/2006/main">
  <p:tag name="LOCALSLIDEID" val="17796652274421598"/>
</p:tagLst>
</file>

<file path=ppt/tags/tag8.xml><?xml version="1.0" encoding="utf-8"?>
<p:tagLst xmlns:a="http://schemas.openxmlformats.org/drawingml/2006/main" xmlns:r="http://schemas.openxmlformats.org/officeDocument/2006/relationships" xmlns:p="http://schemas.openxmlformats.org/presentationml/2006/main">
  <p:tag name="LOCALSLIDEID" val="17796652274549351"/>
</p:tagLst>
</file>

<file path=ppt/tags/tag9.xml><?xml version="1.0" encoding="utf-8"?>
<p:tagLst xmlns:a="http://schemas.openxmlformats.org/drawingml/2006/main" xmlns:r="http://schemas.openxmlformats.org/officeDocument/2006/relationships" xmlns:p="http://schemas.openxmlformats.org/presentationml/2006/main">
  <p:tag name="LOCALSLIDEID" val="17796652274664410"/>
</p:tagLst>
</file>

<file path=ppt/tags/tag10.xml><?xml version="1.0" encoding="utf-8"?>
<p:tagLst xmlns:a="http://schemas.openxmlformats.org/drawingml/2006/main" xmlns:r="http://schemas.openxmlformats.org/officeDocument/2006/relationships" xmlns:p="http://schemas.openxmlformats.org/presentationml/2006/main">
  <p:tag name="LOCALSLIDEID" val="17796652274884725"/>
</p:tagLst>
</file>

<file path=ppt/tags/tag11.xml><?xml version="1.0" encoding="utf-8"?>
<p:tagLst xmlns:a="http://schemas.openxmlformats.org/drawingml/2006/main" xmlns:r="http://schemas.openxmlformats.org/officeDocument/2006/relationships" xmlns:p="http://schemas.openxmlformats.org/presentationml/2006/main">
  <p:tag name="LOCALSLIDEID" val="17796652275027320"/>
</p:tagLst>
</file>

<file path=ppt/tags/tag12.xml><?xml version="1.0" encoding="utf-8"?>
<p:tagLst xmlns:a="http://schemas.openxmlformats.org/drawingml/2006/main" xmlns:r="http://schemas.openxmlformats.org/officeDocument/2006/relationships" xmlns:p="http://schemas.openxmlformats.org/presentationml/2006/main">
  <p:tag name="RAINPROBLEM" val="MultipleChoiceMA"/>
  <p:tag name="PROBLEMSCORE" val="1.0"/>
  <p:tag name="PROBLEMPROVIDER" val="AI"/>
  <p:tag name="PROBLEMSCORE_HALF" val="0.0"/>
  <p:tag name="LOCALSLIDEID" val="17798647105640398"/>
</p:tagLst>
</file>

<file path=ppt/tags/tag13.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2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2.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2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4.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2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9.xml><?xml version="1.0" encoding="utf-8"?>
<p:tagLst xmlns:a="http://schemas.openxmlformats.org/drawingml/2006/main" xmlns:r="http://schemas.openxmlformats.org/officeDocument/2006/relationships" xmlns:p="http://schemas.openxmlformats.org/presentationml/2006/main">
  <p:tag name="LOCALSLIDEID" val="17796652275163126"/>
</p:tagLst>
</file>

<file path=ppt/tags/tag30.xml><?xml version="1.0" encoding="utf-8"?>
<p:tagLst xmlns:a="http://schemas.openxmlformats.org/drawingml/2006/main" xmlns:r="http://schemas.openxmlformats.org/officeDocument/2006/relationships" xmlns:p="http://schemas.openxmlformats.org/presentationml/2006/main">
  <p:tag name="LOCALSLIDEID" val="17796652275378142"/>
</p:tagLst>
</file>

<file path=ppt/tags/tag31.xml><?xml version="1.0" encoding="utf-8"?>
<p:tagLst xmlns:a="http://schemas.openxmlformats.org/drawingml/2006/main" xmlns:r="http://schemas.openxmlformats.org/officeDocument/2006/relationships" xmlns:p="http://schemas.openxmlformats.org/presentationml/2006/main">
  <p:tag name="LOCALSLIDEID" val="17796652275660506"/>
</p:tagLst>
</file>

<file path=ppt/tags/tag32.xml><?xml version="1.0" encoding="utf-8"?>
<p:tagLst xmlns:a="http://schemas.openxmlformats.org/drawingml/2006/main" xmlns:r="http://schemas.openxmlformats.org/officeDocument/2006/relationships" xmlns:p="http://schemas.openxmlformats.org/presentationml/2006/main">
  <p:tag name="LOCALSLIDEID" val="17796652275712343"/>
</p:tagLst>
</file>

<file path=ppt/tags/tag33.xml><?xml version="1.0" encoding="utf-8"?>
<p:tagLst xmlns:a="http://schemas.openxmlformats.org/drawingml/2006/main" xmlns:r="http://schemas.openxmlformats.org/officeDocument/2006/relationships" xmlns:p="http://schemas.openxmlformats.org/presentationml/2006/main">
  <p:tag name="LOCALSLIDEID" val="17796652275721638"/>
</p:tagLst>
</file>

<file path=ppt/tags/tag34.xml><?xml version="1.0" encoding="utf-8"?>
<p:tagLst xmlns:a="http://schemas.openxmlformats.org/drawingml/2006/main" xmlns:r="http://schemas.openxmlformats.org/officeDocument/2006/relationships" xmlns:p="http://schemas.openxmlformats.org/presentationml/2006/main">
  <p:tag name="LOCALSLIDEID" val="17796652275735812"/>
</p:tagLst>
</file>

<file path=ppt/tags/tag35.xml><?xml version="1.0" encoding="utf-8"?>
<p:tagLst xmlns:a="http://schemas.openxmlformats.org/drawingml/2006/main" xmlns:r="http://schemas.openxmlformats.org/officeDocument/2006/relationships" xmlns:p="http://schemas.openxmlformats.org/presentationml/2006/main">
  <p:tag name="LOCALSLIDEID" val="17796652275746432"/>
</p:tagLst>
</file>

<file path=ppt/tags/tag36.xml><?xml version="1.0" encoding="utf-8"?>
<p:tagLst xmlns:a="http://schemas.openxmlformats.org/drawingml/2006/main" xmlns:r="http://schemas.openxmlformats.org/officeDocument/2006/relationships" xmlns:p="http://schemas.openxmlformats.org/presentationml/2006/main">
  <p:tag name="LOCALSLIDEID" val="17796652275756065"/>
</p:tagLst>
</file>

<file path=ppt/tags/tag37.xml><?xml version="1.0" encoding="utf-8"?>
<p:tagLst xmlns:a="http://schemas.openxmlformats.org/drawingml/2006/main" xmlns:r="http://schemas.openxmlformats.org/officeDocument/2006/relationships" xmlns:p="http://schemas.openxmlformats.org/presentationml/2006/main">
  <p:tag name="LOCALSLIDEID" val="17796652275779420"/>
</p:tagLst>
</file>

<file path=ppt/tags/tag38.xml><?xml version="1.0" encoding="utf-8"?>
<p:tagLst xmlns:a="http://schemas.openxmlformats.org/drawingml/2006/main" xmlns:r="http://schemas.openxmlformats.org/officeDocument/2006/relationships" xmlns:p="http://schemas.openxmlformats.org/presentationml/2006/main">
  <p:tag name="LOCALSLIDEID" val="17796652275784804"/>
</p:tagLst>
</file>

<file path=ppt/tags/tag39.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 name="PROBLEMPROVIDER" val="AI"/>
  <p:tag name="LOCALSLIDEID" val="17798647105694509"/>
</p:tagLst>
</file>

<file path=ppt/tags/tag40.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4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4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9.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5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1.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5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6.xml><?xml version="1.0" encoding="utf-8"?>
<p:tagLst xmlns:a="http://schemas.openxmlformats.org/drawingml/2006/main" xmlns:r="http://schemas.openxmlformats.org/officeDocument/2006/relationships" xmlns:p="http://schemas.openxmlformats.org/presentationml/2006/main">
  <p:tag name="LOCALSLIDEID" val="17796652275783374"/>
</p:tagLst>
</file>

<file path=ppt/tags/tag57.xml><?xml version="1.0" encoding="utf-8"?>
<p:tagLst xmlns:a="http://schemas.openxmlformats.org/drawingml/2006/main" xmlns:r="http://schemas.openxmlformats.org/officeDocument/2006/relationships" xmlns:p="http://schemas.openxmlformats.org/presentationml/2006/main">
  <p:tag name="LOCALSLIDEID" val="17796652275794046"/>
</p:tagLst>
</file>

<file path=ppt/tags/tag58.xml><?xml version="1.0" encoding="utf-8"?>
<p:tagLst xmlns:a="http://schemas.openxmlformats.org/drawingml/2006/main" xmlns:r="http://schemas.openxmlformats.org/officeDocument/2006/relationships" xmlns:p="http://schemas.openxmlformats.org/presentationml/2006/main">
  <p:tag name="LOCALSLIDEID" val="17796652275812894"/>
</p:tagLst>
</file>

<file path=ppt/tags/tag59.xml><?xml version="1.0" encoding="utf-8"?>
<p:tagLst xmlns:a="http://schemas.openxmlformats.org/drawingml/2006/main" xmlns:r="http://schemas.openxmlformats.org/officeDocument/2006/relationships" xmlns:p="http://schemas.openxmlformats.org/presentationml/2006/main">
  <p:tag name="LOCALSLIDEID" val="17796652275820839"/>
</p:tagLst>
</file>

<file path=ppt/tags/tag60.xml><?xml version="1.0" encoding="utf-8"?>
<p:tagLst xmlns:a="http://schemas.openxmlformats.org/drawingml/2006/main" xmlns:r="http://schemas.openxmlformats.org/officeDocument/2006/relationships" xmlns:p="http://schemas.openxmlformats.org/presentationml/2006/main">
  <p:tag name="LOCALSLIDEID" val="17796652275835132"/>
</p:tagLst>
</file>

<file path=ppt/tags/tag61.xml><?xml version="1.0" encoding="utf-8"?>
<p:tagLst xmlns:a="http://schemas.openxmlformats.org/drawingml/2006/main" xmlns:r="http://schemas.openxmlformats.org/officeDocument/2006/relationships" xmlns:p="http://schemas.openxmlformats.org/presentationml/2006/main">
  <p:tag name="LOCALSLIDEID" val="17796652275849174"/>
</p:tagLst>
</file>

<file path=ppt/tags/tag62.xml><?xml version="1.0" encoding="utf-8"?>
<p:tagLst xmlns:a="http://schemas.openxmlformats.org/drawingml/2006/main" xmlns:r="http://schemas.openxmlformats.org/officeDocument/2006/relationships" xmlns:p="http://schemas.openxmlformats.org/presentationml/2006/main">
  <p:tag name="LOCALSLIDEID" val="17796652275859473"/>
</p:tagLst>
</file>

<file path=ppt/tags/tag63.xml><?xml version="1.0" encoding="utf-8"?>
<p:tagLst xmlns:a="http://schemas.openxmlformats.org/drawingml/2006/main" xmlns:r="http://schemas.openxmlformats.org/officeDocument/2006/relationships" xmlns:p="http://schemas.openxmlformats.org/presentationml/2006/main">
  <p:tag name="LOCALSLIDEID" val="17798667269590851"/>
</p:tagLst>
</file>

<file path=ppt/tags/tag64.xml><?xml version="1.0" encoding="utf-8"?>
<p:tagLst xmlns:a="http://schemas.openxmlformats.org/drawingml/2006/main" xmlns:r="http://schemas.openxmlformats.org/officeDocument/2006/relationships" xmlns:p="http://schemas.openxmlformats.org/presentationml/2006/main">
  <p:tag name="LOCALSLIDEID" val="17796652275867498"/>
</p:tagLst>
</file>

<file path=ppt/tags/tag65.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 name="PROBLEMPROVIDER" val="AI"/>
  <p:tag name="LOCALSLIDEID" val="17798647105727049"/>
</p:tagLst>
</file>

<file path=ppt/tags/tag66.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6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6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7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7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75.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7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7.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7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2.xml><?xml version="1.0" encoding="utf-8"?>
<p:tagLst xmlns:a="http://schemas.openxmlformats.org/drawingml/2006/main" xmlns:r="http://schemas.openxmlformats.org/officeDocument/2006/relationships" xmlns:p="http://schemas.openxmlformats.org/presentationml/2006/main">
  <p:tag name="LOCALSLIDEID" val="17796652275865309"/>
</p:tagLst>
</file>

<file path=ppt/tags/tag83.xml><?xml version="1.0" encoding="utf-8"?>
<p:tagLst xmlns:a="http://schemas.openxmlformats.org/drawingml/2006/main" xmlns:r="http://schemas.openxmlformats.org/officeDocument/2006/relationships" xmlns:p="http://schemas.openxmlformats.org/presentationml/2006/main">
  <p:tag name="LOCALSLIDEID" val="17796652275877659"/>
</p:tagLst>
</file>

<file path=ppt/tags/tag84.xml><?xml version="1.0" encoding="utf-8"?>
<p:tagLst xmlns:a="http://schemas.openxmlformats.org/drawingml/2006/main" xmlns:r="http://schemas.openxmlformats.org/officeDocument/2006/relationships" xmlns:p="http://schemas.openxmlformats.org/presentationml/2006/main">
  <p:tag name="LOCALSLIDEID" val="17796652275882425"/>
</p:tagLst>
</file>

<file path=ppt/tags/tag85.xml><?xml version="1.0" encoding="utf-8"?>
<p:tagLst xmlns:a="http://schemas.openxmlformats.org/drawingml/2006/main" xmlns:r="http://schemas.openxmlformats.org/officeDocument/2006/relationships" xmlns:p="http://schemas.openxmlformats.org/presentationml/2006/main">
  <p:tag name="LOCALSLIDEID" val="17796652275896429"/>
</p:tagLst>
</file>

<file path=ppt/tags/tag86.xml><?xml version="1.0" encoding="utf-8"?>
<p:tagLst xmlns:a="http://schemas.openxmlformats.org/drawingml/2006/main" xmlns:r="http://schemas.openxmlformats.org/officeDocument/2006/relationships" xmlns:p="http://schemas.openxmlformats.org/presentationml/2006/main">
  <p:tag name="LOCALSLIDEID" val="17796652275902099"/>
</p:tagLst>
</file>

<file path=ppt/tags/tag87.xml><?xml version="1.0" encoding="utf-8"?>
<p:tagLst xmlns:a="http://schemas.openxmlformats.org/drawingml/2006/main" xmlns:r="http://schemas.openxmlformats.org/officeDocument/2006/relationships" xmlns:p="http://schemas.openxmlformats.org/presentationml/2006/main">
  <p:tag name="LOCALSLIDEID" val="17796652275911258"/>
</p:tagLst>
</file>

<file path=ppt/tags/tag88.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 name="PROBLEMPROVIDER" val="AI"/>
  <p:tag name="LOCALSLIDEID" val="17798647105747973"/>
</p:tagLst>
</file>

<file path=ppt/tags/tag89.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9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9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9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9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9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9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9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9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98.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9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0.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0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5.xml><?xml version="1.0" encoding="utf-8"?>
<p:tagLst xmlns:a="http://schemas.openxmlformats.org/drawingml/2006/main" xmlns:r="http://schemas.openxmlformats.org/officeDocument/2006/relationships" xmlns:p="http://schemas.openxmlformats.org/presentationml/2006/main">
  <p:tag name="LOCALSLIDEID" val="17796652275928185"/>
</p:tagLst>
</file>

<file path=ppt/tags/tag106.xml><?xml version="1.0" encoding="utf-8"?>
<p:tagLst xmlns:a="http://schemas.openxmlformats.org/drawingml/2006/main" xmlns:r="http://schemas.openxmlformats.org/officeDocument/2006/relationships" xmlns:p="http://schemas.openxmlformats.org/presentationml/2006/main">
  <p:tag name="LOCALSLIDEID" val="17796652275938302"/>
</p:tagLst>
</file>

<file path=ppt/tags/tag107.xml><?xml version="1.0" encoding="utf-8"?>
<p:tagLst xmlns:a="http://schemas.openxmlformats.org/drawingml/2006/main" xmlns:r="http://schemas.openxmlformats.org/officeDocument/2006/relationships" xmlns:p="http://schemas.openxmlformats.org/presentationml/2006/main">
  <p:tag name="LOCALSLIDEID" val="17796652275949263"/>
</p:tagLst>
</file>

<file path=ppt/tags/tag108.xml><?xml version="1.0" encoding="utf-8"?>
<p:tagLst xmlns:a="http://schemas.openxmlformats.org/drawingml/2006/main" xmlns:r="http://schemas.openxmlformats.org/officeDocument/2006/relationships" xmlns:p="http://schemas.openxmlformats.org/presentationml/2006/main">
  <p:tag name="LOCALSLIDEID" val="17796652275950287"/>
</p:tagLst>
</file>

<file path=ppt/tags/tag109.xml><?xml version="1.0" encoding="utf-8"?>
<p:tagLst xmlns:a="http://schemas.openxmlformats.org/drawingml/2006/main" xmlns:r="http://schemas.openxmlformats.org/officeDocument/2006/relationships" xmlns:p="http://schemas.openxmlformats.org/presentationml/2006/main">
  <p:tag name="LOCALSLIDEID" val="17796652275974971"/>
</p:tagLst>
</file>

<file path=ppt/tags/tag110.xml><?xml version="1.0" encoding="utf-8"?>
<p:tagLst xmlns:a="http://schemas.openxmlformats.org/drawingml/2006/main" xmlns:r="http://schemas.openxmlformats.org/officeDocument/2006/relationships" xmlns:p="http://schemas.openxmlformats.org/presentationml/2006/main">
  <p:tag name="LOCALSLIDEID" val="17796652275983895"/>
</p:tagLst>
</file>

<file path=ppt/tags/tag111.xml><?xml version="1.0" encoding="utf-8"?>
<p:tagLst xmlns:a="http://schemas.openxmlformats.org/drawingml/2006/main" xmlns:r="http://schemas.openxmlformats.org/officeDocument/2006/relationships" xmlns:p="http://schemas.openxmlformats.org/presentationml/2006/main">
  <p:tag name="LOCALSLIDEID" val="17796652275991768"/>
</p:tagLst>
</file>

<file path=ppt/tags/tag112.xml><?xml version="1.0" encoding="utf-8"?>
<p:tagLst xmlns:a="http://schemas.openxmlformats.org/drawingml/2006/main" xmlns:r="http://schemas.openxmlformats.org/officeDocument/2006/relationships" xmlns:p="http://schemas.openxmlformats.org/presentationml/2006/main">
  <p:tag name="LOCALSLIDEID" val="17796652275993625"/>
</p:tagLst>
</file>

<file path=ppt/tags/tag113.xml><?xml version="1.0" encoding="utf-8"?>
<p:tagLst xmlns:a="http://schemas.openxmlformats.org/drawingml/2006/main" xmlns:r="http://schemas.openxmlformats.org/officeDocument/2006/relationships" xmlns:p="http://schemas.openxmlformats.org/presentationml/2006/main">
  <p:tag name="LOCALSLIDEID" val="17796652276001551"/>
</p:tagLst>
</file>

<file path=ppt/tags/tag114.xml><?xml version="1.0" encoding="utf-8"?>
<p:tagLst xmlns:a="http://schemas.openxmlformats.org/drawingml/2006/main" xmlns:r="http://schemas.openxmlformats.org/officeDocument/2006/relationships" xmlns:p="http://schemas.openxmlformats.org/presentationml/2006/main">
  <p:tag name="LOCALSLIDEID" val="17796652276014875"/>
</p:tagLst>
</file>

<file path=ppt/tags/tag115.xml><?xml version="1.0" encoding="utf-8"?>
<p:tagLst xmlns:a="http://schemas.openxmlformats.org/drawingml/2006/main" xmlns:r="http://schemas.openxmlformats.org/officeDocument/2006/relationships" xmlns:p="http://schemas.openxmlformats.org/presentationml/2006/main">
  <p:tag name="LOCALSLIDEID" val="17796652276020516"/>
</p:tagLst>
</file>

<file path=ppt/tags/tag116.xml><?xml version="1.0" encoding="utf-8"?>
<p:tagLst xmlns:a="http://schemas.openxmlformats.org/drawingml/2006/main" xmlns:r="http://schemas.openxmlformats.org/officeDocument/2006/relationships" xmlns:p="http://schemas.openxmlformats.org/presentationml/2006/main">
  <p:tag name="LOCALSLIDEID" val="17796652276037717"/>
</p:tagLst>
</file>

<file path=ppt/tags/tag117.xml><?xml version="1.0" encoding="utf-8"?>
<p:tagLst xmlns:a="http://schemas.openxmlformats.org/drawingml/2006/main" xmlns:r="http://schemas.openxmlformats.org/officeDocument/2006/relationships" xmlns:p="http://schemas.openxmlformats.org/presentationml/2006/main">
  <p:tag name="LOCALSLIDEID" val="17796652276049104"/>
</p:tagLst>
</file>

<file path=ppt/tags/tag118.xml><?xml version="1.0" encoding="utf-8"?>
<p:tagLst xmlns:a="http://schemas.openxmlformats.org/drawingml/2006/main" xmlns:r="http://schemas.openxmlformats.org/officeDocument/2006/relationships" xmlns:p="http://schemas.openxmlformats.org/presentationml/2006/main">
  <p:tag name="LOCALSLIDEID" val="17796652276057070"/>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1277</TotalTime>
  <Words>2668</Words>
  <Application>Microsoft Office PowerPoint</Application>
  <PresentationFormat>全屏显示(4:3)</PresentationFormat>
  <Paragraphs>631</Paragraphs>
  <Slides>53</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53</vt:i4>
      </vt:variant>
    </vt:vector>
  </HeadingPairs>
  <TitlesOfParts>
    <vt:vector size="65" baseType="lpstr">
      <vt:lpstr>Microsoft Yahei</vt:lpstr>
      <vt:lpstr>游ゴシック</vt:lpstr>
      <vt:lpstr>等线</vt:lpstr>
      <vt:lpstr>等线 Light</vt:lpstr>
      <vt:lpstr>楷体</vt:lpstr>
      <vt:lpstr>宋体</vt:lpstr>
      <vt:lpstr>Arial</vt:lpstr>
      <vt:lpstr>Calibri</vt:lpstr>
      <vt:lpstr>Calibri Light</vt:lpstr>
      <vt:lpstr>Cambria Math</vt:lpstr>
      <vt:lpstr>Times New Roman</vt:lpstr>
      <vt:lpstr>Office 主题​​</vt:lpstr>
      <vt:lpstr>优化方法</vt:lpstr>
      <vt:lpstr>基本问题</vt:lpstr>
      <vt:lpstr>梯度下降法的局限</vt:lpstr>
      <vt:lpstr>梯度下降法的局限</vt:lpstr>
      <vt:lpstr>梯度下降法的局限</vt:lpstr>
      <vt:lpstr>定向弦的中点轨迹</vt:lpstr>
      <vt:lpstr>定向弦的中点轨迹</vt:lpstr>
      <vt:lpstr>共轭直径</vt:lpstr>
      <vt:lpstr>共轭直径的性质</vt:lpstr>
      <vt:lpstr>共轭直径的本质</vt:lpstr>
      <vt:lpstr>PowerPoint 演示文稿</vt:lpstr>
      <vt:lpstr>共轭向量的数学表达</vt:lpstr>
      <vt:lpstr>共轭向量的数学表达</vt:lpstr>
      <vt:lpstr>共轭向量的数学表达</vt:lpstr>
      <vt:lpstr>共轭向量的数学表达</vt:lpstr>
      <vt:lpstr>共轭向量的数学表达</vt:lpstr>
      <vt:lpstr>共轭优化方向</vt:lpstr>
      <vt:lpstr>共轭优化方向</vt:lpstr>
      <vt:lpstr>共轭优化方向</vt:lpstr>
      <vt:lpstr>共轭优化方向</vt:lpstr>
      <vt:lpstr>共轭优化方向的构造</vt:lpstr>
      <vt:lpstr>PowerPoint 演示文稿</vt:lpstr>
      <vt:lpstr>共轭优化方向的构造</vt:lpstr>
      <vt:lpstr>迭代步长</vt:lpstr>
      <vt:lpstr>完整迭代过程</vt:lpstr>
      <vt:lpstr>关键变量的关系</vt:lpstr>
      <vt:lpstr>关键变量的关系</vt:lpstr>
      <vt:lpstr>关键变量的关系</vt:lpstr>
      <vt:lpstr>关键变量的关系</vt:lpstr>
      <vt:lpstr>关键变量的关系</vt:lpstr>
      <vt:lpstr>关键变量的关系</vt:lpstr>
      <vt:lpstr>PowerPoint 演示文稿</vt:lpstr>
      <vt:lpstr>关键变量的关系</vt:lpstr>
      <vt:lpstr>关键变量的关系</vt:lpstr>
      <vt:lpstr>关键变量的关系</vt:lpstr>
      <vt:lpstr>关键变量的关系</vt:lpstr>
      <vt:lpstr>关键变量的关系</vt:lpstr>
      <vt:lpstr>关键变量的关系</vt:lpstr>
      <vt:lpstr>PowerPoint 演示文稿</vt:lpstr>
      <vt:lpstr>关键变量的关系</vt:lpstr>
      <vt:lpstr>非线性问题的共轭梯度法</vt:lpstr>
      <vt:lpstr>非线性共轭梯度算法</vt:lpstr>
      <vt:lpstr>线性与非线性的比较</vt:lpstr>
      <vt:lpstr>海森矩阵的替代方案</vt:lpstr>
      <vt:lpstr>避免海森矩阵的改进算法</vt:lpstr>
      <vt:lpstr>线性搜索方法</vt:lpstr>
      <vt:lpstr>黄金分割</vt:lpstr>
      <vt:lpstr>黄金分割</vt:lpstr>
      <vt:lpstr>一元函数极值黄金分割法</vt:lpstr>
      <vt:lpstr>一元函数零点二分法</vt:lpstr>
      <vt:lpstr>二分法与黄金分割法的比较</vt:lpstr>
      <vt:lpstr>线性搜索方法</vt:lpstr>
      <vt:lpstr>总结</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优化方法</dc:title>
  <dc:creator>_马龙_</dc:creator>
  <cp:lastModifiedBy>_马龙_</cp:lastModifiedBy>
  <cp:revision>102</cp:revision>
  <dcterms:created xsi:type="dcterms:W3CDTF">2025-05-09T04:23:07Z</dcterms:created>
  <dcterms:modified xsi:type="dcterms:W3CDTF">2026-05-27T07:27:08Z</dcterms:modified>
</cp:coreProperties>
</file>