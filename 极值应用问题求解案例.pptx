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9" r:id="rId3"/>
    <p:sldId id="330" r:id="rId4"/>
    <p:sldId id="310" r:id="rId5"/>
    <p:sldId id="311" r:id="rId6"/>
    <p:sldId id="325" r:id="rId7"/>
    <p:sldId id="326" r:id="rId8"/>
    <p:sldId id="327" r:id="rId9"/>
    <p:sldId id="329" r:id="rId10"/>
    <p:sldId id="328" r:id="rId11"/>
    <p:sldId id="321" r:id="rId12"/>
    <p:sldId id="312" r:id="rId13"/>
    <p:sldId id="313" r:id="rId14"/>
    <p:sldId id="322" r:id="rId15"/>
    <p:sldId id="32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14" r:id="rId27"/>
    <p:sldId id="331" r:id="rId28"/>
    <p:sldId id="332" r:id="rId29"/>
    <p:sldId id="333" r:id="rId30"/>
    <p:sldId id="334" r:id="rId31"/>
    <p:sldId id="320" r:id="rId32"/>
    <p:sldId id="315" r:id="rId33"/>
    <p:sldId id="316" r:id="rId34"/>
    <p:sldId id="317" r:id="rId35"/>
    <p:sldId id="318" r:id="rId36"/>
    <p:sldId id="319" r:id="rId37"/>
    <p:sldId id="268" r:id="rId38"/>
    <p:sldId id="269" r:id="rId39"/>
    <p:sldId id="270" r:id="rId40"/>
    <p:sldId id="258" r:id="rId41"/>
    <p:sldId id="257" r:id="rId42"/>
    <p:sldId id="272" r:id="rId43"/>
    <p:sldId id="271" r:id="rId44"/>
    <p:sldId id="274" r:id="rId45"/>
    <p:sldId id="275" r:id="rId46"/>
    <p:sldId id="276" r:id="rId47"/>
    <p:sldId id="261" r:id="rId48"/>
    <p:sldId id="262" r:id="rId49"/>
    <p:sldId id="263" r:id="rId50"/>
    <p:sldId id="282" r:id="rId51"/>
    <p:sldId id="279" r:id="rId52"/>
    <p:sldId id="280" r:id="rId53"/>
    <p:sldId id="278" r:id="rId54"/>
    <p:sldId id="265" r:id="rId55"/>
    <p:sldId id="266" r:id="rId56"/>
    <p:sldId id="273" r:id="rId57"/>
    <p:sldId id="281" r:id="rId58"/>
    <p:sldId id="283" r:id="rId59"/>
    <p:sldId id="284" r:id="rId60"/>
    <p:sldId id="285" r:id="rId61"/>
    <p:sldId id="286" r:id="rId62"/>
    <p:sldId id="287" r:id="rId63"/>
    <p:sldId id="288" r:id="rId64"/>
    <p:sldId id="291" r:id="rId65"/>
    <p:sldId id="290" r:id="rId66"/>
    <p:sldId id="289" r:id="rId67"/>
    <p:sldId id="292" r:id="rId68"/>
    <p:sldId id="293" r:id="rId69"/>
    <p:sldId id="294" r:id="rId70"/>
    <p:sldId id="295" r:id="rId71"/>
    <p:sldId id="296" r:id="rId72"/>
    <p:sldId id="297" r:id="rId73"/>
    <p:sldId id="298" r:id="rId74"/>
    <p:sldId id="299" r:id="rId75"/>
    <p:sldId id="300" r:id="rId76"/>
    <p:sldId id="301" r:id="rId77"/>
    <p:sldId id="302" r:id="rId78"/>
    <p:sldId id="303" r:id="rId79"/>
    <p:sldId id="304" r:id="rId80"/>
    <p:sldId id="305" r:id="rId81"/>
    <p:sldId id="306" r:id="rId82"/>
    <p:sldId id="307" r:id="rId83"/>
    <p:sldId id="308" r:id="rId84"/>
  </p:sldIdLst>
  <p:sldSz cx="9144000" cy="6858000" type="screen4x3"/>
  <p:notesSz cx="6858000" cy="9144000"/>
  <p:custDataLst>
    <p:tags r:id="rId8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7F"/>
    <a:srgbClr val="7F0000"/>
    <a:srgbClr val="0000FF"/>
    <a:srgbClr val="007FFF"/>
    <a:srgbClr val="00FFFF"/>
    <a:srgbClr val="7FFF00"/>
    <a:srgbClr val="FFFF00"/>
    <a:srgbClr val="FF7F00"/>
    <a:srgbClr val="7FF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8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76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978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66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6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46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03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8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59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26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54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04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C88FD-C6E2-42D6-807F-4A418414E05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5B96-D9BD-4625-A5A7-1A07E1DA9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02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优化方法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极值应用问题求解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案例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883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押注的策略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假设一场比赛，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队获胜的概率是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队获胜的概率是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，且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已有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分押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队获胜，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分押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队获胜，且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/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/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你的本金是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分，忽略你的押分对于整体押分比例的影响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如何押分可以让你在比赛收益最大？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押注的策略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分析：如果往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队押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sc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分，若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队获胜，盈利为：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本金会变为：</a:t>
                </a:r>
                <a:endParaRPr lang="en-US" altLang="zh-CN" b="0" i="1" dirty="0" smtClean="0">
                  <a:latin typeface="Cambria Math" panose="020405030504060302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𝑠𝑛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队失败，失去押上的分，本金变为：</a:t>
                </a:r>
                <a:endParaRPr lang="en-US" altLang="zh-CN" b="0" i="1" dirty="0" smtClean="0">
                  <a:latin typeface="Cambria Math" panose="020405030504060302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1821" r="-3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175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凯利公式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财富数量以对数来衡量，因而在押分比例为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的前提下，财富变化对数期望值为：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上式对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求导：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导数为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的条件为：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𝑝𝑛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𝑞𝑚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𝑠𝑛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den>
                          </m:f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3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1889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凯利公式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由此解出：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𝑞𝑚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上式即凯利公式，从中可以看出，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 &gt; 0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的条件为：</a:t>
                </a:r>
                <a:endParaRPr lang="en-US" altLang="zh-CN" b="0" i="1" dirty="0" smtClean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𝑝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𝑞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&gt;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𝑞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𝑚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时</m:t>
                    </m:r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，可以以比例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𝑚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押</m:t>
                    </m:r>
                  </m:oMath>
                </a14:m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队获胜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时</m:t>
                    </m:r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，无盈利空间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 r="-5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8844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排序不等式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…,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≤</a:t>
            </a:r>
            <a:r>
              <a:rPr lang="ja-JP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ja-JP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≤</a:t>
            </a:r>
            <a:r>
              <a:rPr lang="ja-JP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ja-JP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lang="zh-CN" altLang="en-US" i="1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(2), …,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 2, …,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的一个排列，则有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…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  <a:p>
            <a:pPr marL="0" indent="0" algn="ctr"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</a:t>
            </a:r>
            <a:r>
              <a:rPr lang="ja-JP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ja-JP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ja-JP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en-US" altLang="ja-JP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ja-JP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ja-JP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en-US" altLang="ja-JP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 +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</a:t>
            </a:r>
            <a:r>
              <a:rPr lang="ja-JP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ja-JP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ja-JP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ja-JP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ja-JP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ja-JP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ja-JP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 +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lang="en-US" altLang="zh-CN" i="1" baseline="-250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786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排序不等式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证明思路：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≤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，有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≥</a:t>
            </a:r>
            <a:r>
              <a:rPr lang="ja-JP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ja-JP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导出：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≥</a:t>
            </a:r>
            <a:r>
              <a:rPr lang="ja-JP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ja-JP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ja-JP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ja-JP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ja-JP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ja-JP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endParaRPr lang="en-US" altLang="zh-CN" i="1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在乘积和式中，只要存在着逆序，即可通过调整结合方式让和式变大，因而必然不是最大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在乘积和式中，只在存在着顺序，即可通过调整结合方式让和式变小，因而必然不是最小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20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排序不等式应用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已知实数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…,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满足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+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+ …… +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0</a:t>
                </a:r>
              </a:p>
              <a:p>
                <a:pPr marL="0" indent="0" algn="ctr">
                  <a:buNone/>
                </a:pP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| + |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| + … + |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| = 1</a:t>
                </a: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计算和式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+⋯+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的取值范围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7797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排序不等式应用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i="1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CN" sz="240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≥−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6723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排序不等式的应用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…,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中的正元素的由小大到排列，它们都非负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…,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中的负元素按绝对值由小到大排列的相反数，它们都非负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则有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lang="en-US" altLang="zh-CN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… + 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…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</a:t>
            </a: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… +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…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1/2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454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费马点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822" y="4801800"/>
            <a:ext cx="7886700" cy="1468811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给定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ABC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，要求在其中寻找一点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，使得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+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PB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+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PC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最小，如何确定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的位置？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6" name="Line 6"/>
          <p:cNvCxnSpPr>
            <a:cxnSpLocks noChangeShapeType="1"/>
          </p:cNvCxnSpPr>
          <p:nvPr/>
        </p:nvCxnSpPr>
        <p:spPr bwMode="auto">
          <a:xfrm flipH="1">
            <a:off x="2863365" y="2029302"/>
            <a:ext cx="996779" cy="244206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Line 7"/>
          <p:cNvCxnSpPr>
            <a:cxnSpLocks noChangeShapeType="1"/>
          </p:cNvCxnSpPr>
          <p:nvPr/>
        </p:nvCxnSpPr>
        <p:spPr bwMode="auto">
          <a:xfrm>
            <a:off x="2863365" y="4471362"/>
            <a:ext cx="3464495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Line 8"/>
          <p:cNvCxnSpPr>
            <a:cxnSpLocks noChangeShapeType="1"/>
          </p:cNvCxnSpPr>
          <p:nvPr/>
        </p:nvCxnSpPr>
        <p:spPr bwMode="auto">
          <a:xfrm flipH="1" flipV="1">
            <a:off x="3860144" y="2029302"/>
            <a:ext cx="2467717" cy="244206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Line 12"/>
          <p:cNvCxnSpPr>
            <a:cxnSpLocks noChangeShapeType="1"/>
          </p:cNvCxnSpPr>
          <p:nvPr/>
        </p:nvCxnSpPr>
        <p:spPr bwMode="auto">
          <a:xfrm flipV="1">
            <a:off x="2863365" y="3542049"/>
            <a:ext cx="1201076" cy="929313"/>
          </a:xfrm>
          <a:prstGeom prst="line">
            <a:avLst/>
          </a:prstGeom>
          <a:noFill/>
          <a:ln w="9525" cap="rnd">
            <a:solidFill>
              <a:srgbClr val="00B05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Line 14"/>
          <p:cNvCxnSpPr>
            <a:cxnSpLocks noChangeShapeType="1"/>
          </p:cNvCxnSpPr>
          <p:nvPr/>
        </p:nvCxnSpPr>
        <p:spPr bwMode="auto">
          <a:xfrm>
            <a:off x="4064441" y="3542049"/>
            <a:ext cx="2263420" cy="929313"/>
          </a:xfrm>
          <a:prstGeom prst="line">
            <a:avLst/>
          </a:prstGeom>
          <a:noFill/>
          <a:ln w="9525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Line 15"/>
          <p:cNvCxnSpPr>
            <a:cxnSpLocks noChangeShapeType="1"/>
          </p:cNvCxnSpPr>
          <p:nvPr/>
        </p:nvCxnSpPr>
        <p:spPr bwMode="auto">
          <a:xfrm flipH="1" flipV="1">
            <a:off x="3860144" y="2029302"/>
            <a:ext cx="204297" cy="1512747"/>
          </a:xfrm>
          <a:prstGeom prst="line">
            <a:avLst/>
          </a:prstGeom>
          <a:noFill/>
          <a:ln w="9525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Oval 17"/>
          <p:cNvSpPr>
            <a:spLocks noChangeArrowheads="1"/>
          </p:cNvSpPr>
          <p:nvPr/>
        </p:nvSpPr>
        <p:spPr bwMode="auto">
          <a:xfrm>
            <a:off x="3831638" y="2000795"/>
            <a:ext cx="57013" cy="5701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 sz="2800"/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2834859" y="4442855"/>
            <a:ext cx="57013" cy="57013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 sz="2800"/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6299354" y="4442855"/>
            <a:ext cx="57013" cy="57013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 sz="2800"/>
          </a:p>
        </p:txBody>
      </p:sp>
      <p:sp>
        <p:nvSpPr>
          <p:cNvPr id="21" name="Oval 25"/>
          <p:cNvSpPr>
            <a:spLocks noChangeArrowheads="1"/>
          </p:cNvSpPr>
          <p:nvPr/>
        </p:nvSpPr>
        <p:spPr bwMode="auto">
          <a:xfrm>
            <a:off x="4035934" y="3513542"/>
            <a:ext cx="57013" cy="57013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 sz="2800"/>
          </a:p>
        </p:txBody>
      </p:sp>
      <p:sp>
        <p:nvSpPr>
          <p:cNvPr id="23" name="文本框 27"/>
          <p:cNvSpPr txBox="1"/>
          <p:nvPr/>
        </p:nvSpPr>
        <p:spPr>
          <a:xfrm>
            <a:off x="3827199" y="1690689"/>
            <a:ext cx="236290" cy="35792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kern="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A</a:t>
            </a:r>
            <a:endParaRPr 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文本框 48"/>
          <p:cNvSpPr txBox="1"/>
          <p:nvPr/>
        </p:nvSpPr>
        <p:spPr>
          <a:xfrm>
            <a:off x="2641014" y="4376089"/>
            <a:ext cx="269860" cy="40599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kern="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B</a:t>
            </a:r>
            <a:endParaRPr 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文本框 50"/>
          <p:cNvSpPr txBox="1"/>
          <p:nvPr/>
        </p:nvSpPr>
        <p:spPr>
          <a:xfrm>
            <a:off x="6397542" y="4291839"/>
            <a:ext cx="315157" cy="414689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kern="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C</a:t>
            </a:r>
            <a:endParaRPr 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文本框 51"/>
          <p:cNvSpPr txBox="1"/>
          <p:nvPr/>
        </p:nvSpPr>
        <p:spPr>
          <a:xfrm>
            <a:off x="3980705" y="3513542"/>
            <a:ext cx="209141" cy="34351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kern="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P</a:t>
            </a:r>
            <a:endParaRPr 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337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费马点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822" y="4801800"/>
            <a:ext cx="7886700" cy="1468811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构造思路：通过旋转变换把三条边连成一条线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到三角形三个顶点距离之和最小的点对每条边的张角都是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120°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，称为费马点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画布 26"/>
          <p:cNvGrpSpPr/>
          <p:nvPr/>
        </p:nvGrpSpPr>
        <p:grpSpPr>
          <a:xfrm>
            <a:off x="2029521" y="1690689"/>
            <a:ext cx="5730743" cy="3091394"/>
            <a:chOff x="-83805" y="-15773"/>
            <a:chExt cx="3829670" cy="2065879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3629025" cy="1999615"/>
            </a:xfrm>
            <a:prstGeom prst="rect">
              <a:avLst/>
            </a:prstGeom>
            <a:noFill/>
            <a:ln>
              <a:noFill/>
            </a:ln>
          </p:spPr>
        </p:sp>
        <p:cxnSp>
          <p:nvCxnSpPr>
            <p:cNvPr id="6" name="Line 6"/>
            <p:cNvCxnSpPr>
              <a:cxnSpLocks noChangeShapeType="1"/>
            </p:cNvCxnSpPr>
            <p:nvPr/>
          </p:nvCxnSpPr>
          <p:spPr bwMode="auto">
            <a:xfrm flipH="1">
              <a:off x="1173480" y="210511"/>
              <a:ext cx="666115" cy="163195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7"/>
            <p:cNvCxnSpPr>
              <a:cxnSpLocks noChangeShapeType="1"/>
            </p:cNvCxnSpPr>
            <p:nvPr/>
          </p:nvCxnSpPr>
          <p:spPr bwMode="auto">
            <a:xfrm>
              <a:off x="1173480" y="1842461"/>
              <a:ext cx="231521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8"/>
            <p:cNvCxnSpPr>
              <a:cxnSpLocks noChangeShapeType="1"/>
            </p:cNvCxnSpPr>
            <p:nvPr/>
          </p:nvCxnSpPr>
          <p:spPr bwMode="auto">
            <a:xfrm flipH="1" flipV="1">
              <a:off x="1839595" y="210511"/>
              <a:ext cx="1649095" cy="163195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9"/>
            <p:cNvCxnSpPr>
              <a:cxnSpLocks noChangeShapeType="1"/>
            </p:cNvCxnSpPr>
            <p:nvPr/>
          </p:nvCxnSpPr>
          <p:spPr bwMode="auto">
            <a:xfrm>
              <a:off x="94615" y="449271"/>
              <a:ext cx="1078865" cy="139319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10"/>
            <p:cNvCxnSpPr>
              <a:cxnSpLocks noChangeShapeType="1"/>
            </p:cNvCxnSpPr>
            <p:nvPr/>
          </p:nvCxnSpPr>
          <p:spPr bwMode="auto">
            <a:xfrm>
              <a:off x="94615" y="449271"/>
              <a:ext cx="942975" cy="387350"/>
            </a:xfrm>
            <a:prstGeom prst="line">
              <a:avLst/>
            </a:prstGeom>
            <a:noFill/>
            <a:ln w="9525" cap="rnd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11"/>
            <p:cNvCxnSpPr>
              <a:cxnSpLocks noChangeShapeType="1"/>
            </p:cNvCxnSpPr>
            <p:nvPr/>
          </p:nvCxnSpPr>
          <p:spPr bwMode="auto">
            <a:xfrm>
              <a:off x="1037590" y="836621"/>
              <a:ext cx="135890" cy="1005840"/>
            </a:xfrm>
            <a:prstGeom prst="line">
              <a:avLst/>
            </a:prstGeom>
            <a:noFill/>
            <a:ln w="9525" cap="rnd">
              <a:solidFill>
                <a:srgbClr val="00B05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12"/>
            <p:cNvCxnSpPr>
              <a:cxnSpLocks noChangeShapeType="1"/>
            </p:cNvCxnSpPr>
            <p:nvPr/>
          </p:nvCxnSpPr>
          <p:spPr bwMode="auto">
            <a:xfrm flipV="1">
              <a:off x="1173480" y="1221431"/>
              <a:ext cx="802640" cy="621030"/>
            </a:xfrm>
            <a:prstGeom prst="line">
              <a:avLst/>
            </a:prstGeom>
            <a:noFill/>
            <a:ln w="9525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13"/>
            <p:cNvCxnSpPr>
              <a:cxnSpLocks noChangeShapeType="1"/>
            </p:cNvCxnSpPr>
            <p:nvPr/>
          </p:nvCxnSpPr>
          <p:spPr bwMode="auto">
            <a:xfrm flipH="1" flipV="1">
              <a:off x="1037590" y="836621"/>
              <a:ext cx="938530" cy="384810"/>
            </a:xfrm>
            <a:prstGeom prst="line">
              <a:avLst/>
            </a:prstGeom>
            <a:noFill/>
            <a:ln w="9525" cap="rnd">
              <a:solidFill>
                <a:srgbClr val="00B05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14"/>
            <p:cNvCxnSpPr>
              <a:cxnSpLocks noChangeShapeType="1"/>
            </p:cNvCxnSpPr>
            <p:nvPr/>
          </p:nvCxnSpPr>
          <p:spPr bwMode="auto">
            <a:xfrm>
              <a:off x="1976120" y="1221431"/>
              <a:ext cx="1512570" cy="621030"/>
            </a:xfrm>
            <a:prstGeom prst="line">
              <a:avLst/>
            </a:prstGeom>
            <a:noFill/>
            <a:ln w="9525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15"/>
            <p:cNvCxnSpPr>
              <a:cxnSpLocks noChangeShapeType="1"/>
            </p:cNvCxnSpPr>
            <p:nvPr/>
          </p:nvCxnSpPr>
          <p:spPr bwMode="auto">
            <a:xfrm flipH="1" flipV="1">
              <a:off x="1839595" y="210511"/>
              <a:ext cx="136525" cy="1010920"/>
            </a:xfrm>
            <a:prstGeom prst="line">
              <a:avLst/>
            </a:prstGeom>
            <a:noFill/>
            <a:ln w="9525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16"/>
            <p:cNvCxnSpPr>
              <a:cxnSpLocks noChangeShapeType="1"/>
            </p:cNvCxnSpPr>
            <p:nvPr/>
          </p:nvCxnSpPr>
          <p:spPr bwMode="auto">
            <a:xfrm flipV="1">
              <a:off x="94615" y="210511"/>
              <a:ext cx="1744980" cy="23876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1820545" y="191461"/>
              <a:ext cx="38100" cy="38100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1154430" y="1823411"/>
              <a:ext cx="38100" cy="38100"/>
            </a:xfrm>
            <a:prstGeom prst="ellipse">
              <a:avLst/>
            </a:prstGeom>
            <a:solidFill>
              <a:srgbClr val="FFFFFF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3469640" y="1823411"/>
              <a:ext cx="38100" cy="38100"/>
            </a:xfrm>
            <a:prstGeom prst="ellipse">
              <a:avLst/>
            </a:prstGeom>
            <a:solidFill>
              <a:srgbClr val="FFFFFF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75565" y="430221"/>
              <a:ext cx="38100" cy="38100"/>
            </a:xfrm>
            <a:prstGeom prst="ellipse">
              <a:avLst/>
            </a:prstGeom>
            <a:solidFill>
              <a:srgbClr val="FFFFFF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1" name="Oval 25"/>
            <p:cNvSpPr>
              <a:spLocks noChangeArrowheads="1"/>
            </p:cNvSpPr>
            <p:nvPr/>
          </p:nvSpPr>
          <p:spPr bwMode="auto">
            <a:xfrm>
              <a:off x="1957070" y="1202381"/>
              <a:ext cx="38100" cy="38100"/>
            </a:xfrm>
            <a:prstGeom prst="ellipse">
              <a:avLst/>
            </a:prstGeom>
            <a:solidFill>
              <a:srgbClr val="FFFFFF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2" name="Oval 27"/>
            <p:cNvSpPr>
              <a:spLocks noChangeArrowheads="1"/>
            </p:cNvSpPr>
            <p:nvPr/>
          </p:nvSpPr>
          <p:spPr bwMode="auto">
            <a:xfrm>
              <a:off x="1018540" y="817571"/>
              <a:ext cx="38100" cy="37465"/>
            </a:xfrm>
            <a:prstGeom prst="ellipse">
              <a:avLst/>
            </a:prstGeom>
            <a:solidFill>
              <a:srgbClr val="FFFFFF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3" name="文本框 27"/>
            <p:cNvSpPr txBox="1"/>
            <p:nvPr/>
          </p:nvSpPr>
          <p:spPr>
            <a:xfrm>
              <a:off x="1817579" y="-15773"/>
              <a:ext cx="157905" cy="23919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kern="1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A</a:t>
              </a:r>
              <a:endParaRPr 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4" name="文本框 48"/>
            <p:cNvSpPr txBox="1"/>
            <p:nvPr/>
          </p:nvSpPr>
          <p:spPr>
            <a:xfrm>
              <a:off x="1024890" y="1778793"/>
              <a:ext cx="180339" cy="27131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kern="1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B</a:t>
              </a:r>
              <a:endParaRPr 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5" name="文本框 50"/>
            <p:cNvSpPr txBox="1"/>
            <p:nvPr/>
          </p:nvSpPr>
          <p:spPr>
            <a:xfrm>
              <a:off x="3535256" y="1722492"/>
              <a:ext cx="210609" cy="27712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kern="1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C</a:t>
              </a:r>
              <a:endParaRPr 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6" name="文本框 51"/>
            <p:cNvSpPr txBox="1"/>
            <p:nvPr/>
          </p:nvSpPr>
          <p:spPr>
            <a:xfrm>
              <a:off x="1920162" y="1202381"/>
              <a:ext cx="139762" cy="22956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kern="1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P</a:t>
              </a:r>
              <a:endParaRPr 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7" name="文本框 52"/>
            <p:cNvSpPr txBox="1"/>
            <p:nvPr/>
          </p:nvSpPr>
          <p:spPr>
            <a:xfrm>
              <a:off x="996451" y="547471"/>
              <a:ext cx="177028" cy="26684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kern="1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Q</a:t>
              </a:r>
              <a:endParaRPr 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" name="文本框 53"/>
            <p:cNvSpPr txBox="1"/>
            <p:nvPr/>
          </p:nvSpPr>
          <p:spPr>
            <a:xfrm>
              <a:off x="-83805" y="251378"/>
              <a:ext cx="253371" cy="25154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kern="1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D</a:t>
              </a:r>
              <a:endParaRPr 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7962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费马点的应用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535055"/>
            <a:ext cx="7886700" cy="1641908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如果需要多个点搭建连接，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费马点位置设置三叉顶点可以节约线路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蜂房由正六边形组成，这是最节约蜂蜡的结构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画布 114"/>
          <p:cNvGrpSpPr/>
          <p:nvPr/>
        </p:nvGrpSpPr>
        <p:grpSpPr>
          <a:xfrm>
            <a:off x="777592" y="1378948"/>
            <a:ext cx="3275176" cy="3115033"/>
            <a:chOff x="-140693" y="-174475"/>
            <a:chExt cx="3032925" cy="288462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719070" cy="2633980"/>
            </a:xfrm>
            <a:prstGeom prst="rect">
              <a:avLst/>
            </a:prstGeom>
            <a:noFill/>
            <a:ln>
              <a:noFill/>
            </a:ln>
          </p:spPr>
        </p:sp>
        <p:cxnSp>
          <p:nvCxnSpPr>
            <p:cNvPr id="6" name="Line 65"/>
            <p:cNvCxnSpPr>
              <a:cxnSpLocks noChangeShapeType="1"/>
            </p:cNvCxnSpPr>
            <p:nvPr/>
          </p:nvCxnSpPr>
          <p:spPr bwMode="auto">
            <a:xfrm flipH="1">
              <a:off x="173162" y="204471"/>
              <a:ext cx="1177290" cy="85534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66"/>
            <p:cNvCxnSpPr>
              <a:cxnSpLocks noChangeShapeType="1"/>
            </p:cNvCxnSpPr>
            <p:nvPr/>
          </p:nvCxnSpPr>
          <p:spPr bwMode="auto">
            <a:xfrm>
              <a:off x="173162" y="1059816"/>
              <a:ext cx="449580" cy="138366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67"/>
            <p:cNvCxnSpPr>
              <a:cxnSpLocks noChangeShapeType="1"/>
            </p:cNvCxnSpPr>
            <p:nvPr/>
          </p:nvCxnSpPr>
          <p:spPr bwMode="auto">
            <a:xfrm>
              <a:off x="622742" y="2443481"/>
              <a:ext cx="145478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68"/>
            <p:cNvCxnSpPr>
              <a:cxnSpLocks noChangeShapeType="1"/>
            </p:cNvCxnSpPr>
            <p:nvPr/>
          </p:nvCxnSpPr>
          <p:spPr bwMode="auto">
            <a:xfrm flipV="1">
              <a:off x="2077527" y="1059816"/>
              <a:ext cx="449580" cy="138366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69"/>
            <p:cNvCxnSpPr>
              <a:cxnSpLocks noChangeShapeType="1"/>
            </p:cNvCxnSpPr>
            <p:nvPr/>
          </p:nvCxnSpPr>
          <p:spPr bwMode="auto">
            <a:xfrm flipH="1" flipV="1">
              <a:off x="1350452" y="204471"/>
              <a:ext cx="1176655" cy="85534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70"/>
            <p:cNvCxnSpPr>
              <a:cxnSpLocks noChangeShapeType="1"/>
            </p:cNvCxnSpPr>
            <p:nvPr/>
          </p:nvCxnSpPr>
          <p:spPr bwMode="auto">
            <a:xfrm>
              <a:off x="622742" y="1319531"/>
              <a:ext cx="0" cy="1123950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71"/>
            <p:cNvCxnSpPr>
              <a:cxnSpLocks noChangeShapeType="1"/>
            </p:cNvCxnSpPr>
            <p:nvPr/>
          </p:nvCxnSpPr>
          <p:spPr bwMode="auto">
            <a:xfrm>
              <a:off x="173162" y="1059816"/>
              <a:ext cx="449580" cy="259715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72"/>
            <p:cNvCxnSpPr>
              <a:cxnSpLocks noChangeShapeType="1"/>
            </p:cNvCxnSpPr>
            <p:nvPr/>
          </p:nvCxnSpPr>
          <p:spPr bwMode="auto">
            <a:xfrm flipV="1">
              <a:off x="622742" y="899796"/>
              <a:ext cx="727710" cy="419735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73"/>
            <p:cNvCxnSpPr>
              <a:cxnSpLocks noChangeShapeType="1"/>
            </p:cNvCxnSpPr>
            <p:nvPr/>
          </p:nvCxnSpPr>
          <p:spPr bwMode="auto">
            <a:xfrm>
              <a:off x="1350452" y="899796"/>
              <a:ext cx="727075" cy="419735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74"/>
            <p:cNvCxnSpPr>
              <a:cxnSpLocks noChangeShapeType="1"/>
            </p:cNvCxnSpPr>
            <p:nvPr/>
          </p:nvCxnSpPr>
          <p:spPr bwMode="auto">
            <a:xfrm flipV="1">
              <a:off x="2077527" y="1059816"/>
              <a:ext cx="449580" cy="259715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75"/>
            <p:cNvCxnSpPr>
              <a:cxnSpLocks noChangeShapeType="1"/>
            </p:cNvCxnSpPr>
            <p:nvPr/>
          </p:nvCxnSpPr>
          <p:spPr bwMode="auto">
            <a:xfrm>
              <a:off x="2077527" y="1319531"/>
              <a:ext cx="0" cy="1123950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76"/>
            <p:cNvCxnSpPr>
              <a:cxnSpLocks noChangeShapeType="1"/>
            </p:cNvCxnSpPr>
            <p:nvPr/>
          </p:nvCxnSpPr>
          <p:spPr bwMode="auto">
            <a:xfrm>
              <a:off x="1350452" y="204471"/>
              <a:ext cx="0" cy="695325"/>
            </a:xfrm>
            <a:prstGeom prst="line">
              <a:avLst/>
            </a:prstGeom>
            <a:noFill/>
            <a:ln w="1270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Oval 77"/>
            <p:cNvSpPr>
              <a:spLocks noChangeArrowheads="1"/>
            </p:cNvSpPr>
            <p:nvPr/>
          </p:nvSpPr>
          <p:spPr bwMode="auto">
            <a:xfrm>
              <a:off x="1325687" y="179706"/>
              <a:ext cx="49530" cy="49530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19" name="Oval 79"/>
            <p:cNvSpPr>
              <a:spLocks noChangeArrowheads="1"/>
            </p:cNvSpPr>
            <p:nvPr/>
          </p:nvSpPr>
          <p:spPr bwMode="auto">
            <a:xfrm>
              <a:off x="148397" y="1035051"/>
              <a:ext cx="49530" cy="49530"/>
            </a:xfrm>
            <a:prstGeom prst="ellipse">
              <a:avLst/>
            </a:prstGeom>
            <a:solidFill>
              <a:srgbClr val="FFFFFF"/>
            </a:solidFill>
            <a:ln w="825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0" name="Oval 81"/>
            <p:cNvSpPr>
              <a:spLocks noChangeArrowheads="1"/>
            </p:cNvSpPr>
            <p:nvPr/>
          </p:nvSpPr>
          <p:spPr bwMode="auto">
            <a:xfrm>
              <a:off x="597977" y="2418716"/>
              <a:ext cx="49530" cy="48895"/>
            </a:xfrm>
            <a:prstGeom prst="ellipse">
              <a:avLst/>
            </a:prstGeom>
            <a:solidFill>
              <a:srgbClr val="FFFFFF"/>
            </a:solidFill>
            <a:ln w="825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1" name="Oval 83"/>
            <p:cNvSpPr>
              <a:spLocks noChangeArrowheads="1"/>
            </p:cNvSpPr>
            <p:nvPr/>
          </p:nvSpPr>
          <p:spPr bwMode="auto">
            <a:xfrm>
              <a:off x="2052762" y="2418716"/>
              <a:ext cx="49530" cy="48895"/>
            </a:xfrm>
            <a:prstGeom prst="ellipse">
              <a:avLst/>
            </a:prstGeom>
            <a:solidFill>
              <a:srgbClr val="FFFFFF"/>
            </a:solidFill>
            <a:ln w="825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2" name="Oval 85"/>
            <p:cNvSpPr>
              <a:spLocks noChangeArrowheads="1"/>
            </p:cNvSpPr>
            <p:nvPr/>
          </p:nvSpPr>
          <p:spPr bwMode="auto">
            <a:xfrm>
              <a:off x="2502342" y="1035051"/>
              <a:ext cx="49530" cy="49530"/>
            </a:xfrm>
            <a:prstGeom prst="ellipse">
              <a:avLst/>
            </a:prstGeom>
            <a:solidFill>
              <a:srgbClr val="FFFFFF"/>
            </a:solidFill>
            <a:ln w="825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3" name="Oval 87"/>
            <p:cNvSpPr>
              <a:spLocks noChangeArrowheads="1"/>
            </p:cNvSpPr>
            <p:nvPr/>
          </p:nvSpPr>
          <p:spPr bwMode="auto">
            <a:xfrm>
              <a:off x="597977" y="1294766"/>
              <a:ext cx="49530" cy="49530"/>
            </a:xfrm>
            <a:prstGeom prst="ellipse">
              <a:avLst/>
            </a:prstGeom>
            <a:solidFill>
              <a:srgbClr val="0000FF"/>
            </a:solidFill>
            <a:ln w="825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4" name="Oval 89"/>
            <p:cNvSpPr>
              <a:spLocks noChangeArrowheads="1"/>
            </p:cNvSpPr>
            <p:nvPr/>
          </p:nvSpPr>
          <p:spPr bwMode="auto">
            <a:xfrm>
              <a:off x="2052762" y="1294766"/>
              <a:ext cx="49530" cy="49530"/>
            </a:xfrm>
            <a:prstGeom prst="ellipse">
              <a:avLst/>
            </a:prstGeom>
            <a:solidFill>
              <a:srgbClr val="0000FF"/>
            </a:solidFill>
            <a:ln w="825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5" name="Oval 91"/>
            <p:cNvSpPr>
              <a:spLocks noChangeArrowheads="1"/>
            </p:cNvSpPr>
            <p:nvPr/>
          </p:nvSpPr>
          <p:spPr bwMode="auto">
            <a:xfrm>
              <a:off x="1325687" y="875031"/>
              <a:ext cx="49530" cy="49530"/>
            </a:xfrm>
            <a:prstGeom prst="ellipse">
              <a:avLst/>
            </a:prstGeom>
            <a:solidFill>
              <a:srgbClr val="0000FF"/>
            </a:solidFill>
            <a:ln w="825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 sz="2800"/>
            </a:p>
          </p:txBody>
        </p:sp>
        <p:sp>
          <p:nvSpPr>
            <p:cNvPr id="26" name="文本框 51"/>
            <p:cNvSpPr txBox="1"/>
            <p:nvPr/>
          </p:nvSpPr>
          <p:spPr>
            <a:xfrm>
              <a:off x="1263670" y="-174475"/>
              <a:ext cx="334524" cy="44801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P</a:t>
              </a:r>
              <a:r>
                <a:rPr lang="en-US" sz="2800" baseline="-250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1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7" name="文本框 51"/>
            <p:cNvSpPr txBox="1"/>
            <p:nvPr/>
          </p:nvSpPr>
          <p:spPr>
            <a:xfrm>
              <a:off x="-140693" y="885193"/>
              <a:ext cx="312751" cy="40957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P</a:t>
              </a:r>
              <a:r>
                <a:rPr lang="en-US" sz="2800" baseline="-250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2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" name="文本框 51"/>
            <p:cNvSpPr txBox="1"/>
            <p:nvPr/>
          </p:nvSpPr>
          <p:spPr>
            <a:xfrm>
              <a:off x="344752" y="2258624"/>
              <a:ext cx="228461" cy="423546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P</a:t>
              </a:r>
              <a:r>
                <a:rPr lang="en-US" sz="2800" baseline="-250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3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9" name="文本框 51"/>
            <p:cNvSpPr txBox="1"/>
            <p:nvPr/>
          </p:nvSpPr>
          <p:spPr>
            <a:xfrm>
              <a:off x="2138118" y="2290417"/>
              <a:ext cx="353163" cy="41973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P</a:t>
              </a:r>
              <a:r>
                <a:rPr lang="en-US" sz="2800" baseline="-250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4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0" name="文本框 51"/>
            <p:cNvSpPr txBox="1"/>
            <p:nvPr/>
          </p:nvSpPr>
          <p:spPr>
            <a:xfrm>
              <a:off x="2551872" y="688053"/>
              <a:ext cx="340360" cy="38287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P</a:t>
              </a:r>
              <a:r>
                <a:rPr lang="en-US" sz="2800" baseline="-250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5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1" name="文本框 51"/>
            <p:cNvSpPr txBox="1"/>
            <p:nvPr/>
          </p:nvSpPr>
          <p:spPr>
            <a:xfrm>
              <a:off x="661704" y="1183912"/>
              <a:ext cx="408304" cy="43787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Q</a:t>
              </a:r>
              <a:r>
                <a:rPr lang="en-US" sz="2800" baseline="-250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1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" name="文本框 51"/>
            <p:cNvSpPr txBox="1"/>
            <p:nvPr/>
          </p:nvSpPr>
          <p:spPr>
            <a:xfrm>
              <a:off x="1375598" y="495702"/>
              <a:ext cx="343230" cy="47316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Q</a:t>
              </a:r>
              <a:r>
                <a:rPr lang="en-US" sz="2800" baseline="-250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3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3" name="文本框 51"/>
            <p:cNvSpPr txBox="1"/>
            <p:nvPr/>
          </p:nvSpPr>
          <p:spPr>
            <a:xfrm>
              <a:off x="1721488" y="1156901"/>
              <a:ext cx="365753" cy="47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2800" i="1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Q</a:t>
              </a:r>
              <a:r>
                <a:rPr lang="en-US" sz="2800" baseline="-25000" dirty="0">
                  <a:effectLst/>
                  <a:latin typeface="Times New Roman" panose="02020603050405020304" pitchFamily="18" charset="0"/>
                  <a:ea typeface="Yu Mincho" panose="02020400000000000000" pitchFamily="18" charset="-128"/>
                  <a:cs typeface="宋体" panose="02010600030101010101" pitchFamily="2" charset="-122"/>
                </a:rPr>
                <a:t>2</a:t>
              </a:r>
              <a:endParaRPr 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261800" y="1422420"/>
            <a:ext cx="2857844" cy="3112635"/>
            <a:chOff x="5261800" y="1422420"/>
            <a:chExt cx="2857844" cy="3112635"/>
          </a:xfrm>
        </p:grpSpPr>
        <p:sp>
          <p:nvSpPr>
            <p:cNvPr id="34" name="六边形 33"/>
            <p:cNvSpPr/>
            <p:nvPr/>
          </p:nvSpPr>
          <p:spPr>
            <a:xfrm>
              <a:off x="6328953" y="2666655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六边形 36"/>
            <p:cNvSpPr/>
            <p:nvPr/>
          </p:nvSpPr>
          <p:spPr>
            <a:xfrm>
              <a:off x="6328953" y="3289455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六边形 37"/>
            <p:cNvSpPr/>
            <p:nvPr/>
          </p:nvSpPr>
          <p:spPr>
            <a:xfrm>
              <a:off x="6328953" y="2043855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六边形 38"/>
            <p:cNvSpPr/>
            <p:nvPr/>
          </p:nvSpPr>
          <p:spPr>
            <a:xfrm>
              <a:off x="6328953" y="3912255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六边形 39"/>
            <p:cNvSpPr/>
            <p:nvPr/>
          </p:nvSpPr>
          <p:spPr>
            <a:xfrm>
              <a:off x="6865078" y="2978055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六边形 40"/>
            <p:cNvSpPr/>
            <p:nvPr/>
          </p:nvSpPr>
          <p:spPr>
            <a:xfrm>
              <a:off x="6865078" y="3600855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六边形 41"/>
            <p:cNvSpPr/>
            <p:nvPr/>
          </p:nvSpPr>
          <p:spPr>
            <a:xfrm>
              <a:off x="6865078" y="2355255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六边形 43"/>
            <p:cNvSpPr/>
            <p:nvPr/>
          </p:nvSpPr>
          <p:spPr>
            <a:xfrm>
              <a:off x="5265331" y="2666479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六边形 44"/>
            <p:cNvSpPr/>
            <p:nvPr/>
          </p:nvSpPr>
          <p:spPr>
            <a:xfrm>
              <a:off x="5265331" y="3289279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六边形 45"/>
            <p:cNvSpPr/>
            <p:nvPr/>
          </p:nvSpPr>
          <p:spPr>
            <a:xfrm>
              <a:off x="5261800" y="2047210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六边形 47"/>
            <p:cNvSpPr/>
            <p:nvPr/>
          </p:nvSpPr>
          <p:spPr>
            <a:xfrm>
              <a:off x="5802182" y="2977879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六边形 48"/>
            <p:cNvSpPr/>
            <p:nvPr/>
          </p:nvSpPr>
          <p:spPr>
            <a:xfrm>
              <a:off x="5802182" y="3600679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六边形 49"/>
            <p:cNvSpPr/>
            <p:nvPr/>
          </p:nvSpPr>
          <p:spPr>
            <a:xfrm>
              <a:off x="5802182" y="2355079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六边形 50"/>
            <p:cNvSpPr/>
            <p:nvPr/>
          </p:nvSpPr>
          <p:spPr>
            <a:xfrm>
              <a:off x="5796359" y="1731600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六边形 51"/>
            <p:cNvSpPr/>
            <p:nvPr/>
          </p:nvSpPr>
          <p:spPr>
            <a:xfrm>
              <a:off x="6332201" y="1422420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六边形 52"/>
            <p:cNvSpPr/>
            <p:nvPr/>
          </p:nvSpPr>
          <p:spPr>
            <a:xfrm>
              <a:off x="7399644" y="2666479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六边形 53"/>
            <p:cNvSpPr/>
            <p:nvPr/>
          </p:nvSpPr>
          <p:spPr>
            <a:xfrm>
              <a:off x="7399644" y="3289279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六边形 54"/>
            <p:cNvSpPr/>
            <p:nvPr/>
          </p:nvSpPr>
          <p:spPr>
            <a:xfrm>
              <a:off x="7399644" y="2043679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六边形 55"/>
            <p:cNvSpPr/>
            <p:nvPr/>
          </p:nvSpPr>
          <p:spPr>
            <a:xfrm>
              <a:off x="6866717" y="1731600"/>
              <a:ext cx="720000" cy="622800"/>
            </a:xfrm>
            <a:prstGeom prst="hexagon">
              <a:avLst>
                <a:gd name="adj" fmla="val 29588"/>
                <a:gd name="vf" fmla="val 11547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7290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/>
          </p:cNvSpPr>
          <p:nvPr/>
        </p:nvSpPr>
        <p:spPr bwMode="auto">
          <a:xfrm>
            <a:off x="2752726" y="2146301"/>
            <a:ext cx="303213" cy="158750"/>
          </a:xfrm>
          <a:custGeom>
            <a:avLst/>
            <a:gdLst>
              <a:gd name="T0" fmla="*/ 567 w 634"/>
              <a:gd name="T1" fmla="*/ 333 h 333"/>
              <a:gd name="T2" fmla="*/ 621 w 634"/>
              <a:gd name="T3" fmla="*/ 0 h 333"/>
              <a:gd name="T4" fmla="*/ 0 w 634"/>
              <a:gd name="T5" fmla="*/ 70 h 333"/>
              <a:gd name="T6" fmla="*/ 567 w 634"/>
              <a:gd name="T7" fmla="*/ 333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4" h="333">
                <a:moveTo>
                  <a:pt x="567" y="333"/>
                </a:moveTo>
                <a:cubicBezTo>
                  <a:pt x="615" y="229"/>
                  <a:pt x="634" y="114"/>
                  <a:pt x="621" y="0"/>
                </a:cubicBezTo>
                <a:lnTo>
                  <a:pt x="0" y="70"/>
                </a:lnTo>
                <a:lnTo>
                  <a:pt x="567" y="333"/>
                </a:lnTo>
                <a:close/>
              </a:path>
            </a:pathLst>
          </a:custGeom>
          <a:solidFill>
            <a:srgbClr val="FFBFB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8"/>
          <p:cNvSpPr>
            <a:spLocks/>
          </p:cNvSpPr>
          <p:nvPr/>
        </p:nvSpPr>
        <p:spPr bwMode="auto">
          <a:xfrm>
            <a:off x="4162426" y="3059113"/>
            <a:ext cx="311150" cy="252413"/>
          </a:xfrm>
          <a:custGeom>
            <a:avLst/>
            <a:gdLst>
              <a:gd name="T0" fmla="*/ 607 w 652"/>
              <a:gd name="T1" fmla="*/ 527 h 527"/>
              <a:gd name="T2" fmla="*/ 500 w 652"/>
              <a:gd name="T3" fmla="*/ 0 h 527"/>
              <a:gd name="T4" fmla="*/ 0 w 652"/>
              <a:gd name="T5" fmla="*/ 375 h 527"/>
              <a:gd name="T6" fmla="*/ 607 w 652"/>
              <a:gd name="T7" fmla="*/ 527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52" h="527">
                <a:moveTo>
                  <a:pt x="607" y="527"/>
                </a:moveTo>
                <a:cubicBezTo>
                  <a:pt x="652" y="344"/>
                  <a:pt x="613" y="151"/>
                  <a:pt x="500" y="0"/>
                </a:cubicBezTo>
                <a:lnTo>
                  <a:pt x="0" y="375"/>
                </a:lnTo>
                <a:lnTo>
                  <a:pt x="607" y="527"/>
                </a:lnTo>
                <a:close/>
              </a:path>
            </a:pathLst>
          </a:custGeom>
          <a:solidFill>
            <a:srgbClr val="7FBF7F"/>
          </a:solidFill>
          <a:ln w="23813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最佳射门位置问题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758431"/>
            <a:ext cx="7886700" cy="1418531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足球队员沿着对方球门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附近的直线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带球奔跑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点射门，∠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APB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越大，进球概率越高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如何确定最佳射门位置？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5435601" y="3906838"/>
            <a:ext cx="239713" cy="288925"/>
          </a:xfrm>
          <a:custGeom>
            <a:avLst/>
            <a:gdLst>
              <a:gd name="T0" fmla="*/ 500 w 500"/>
              <a:gd name="T1" fmla="*/ 228 h 604"/>
              <a:gd name="T2" fmla="*/ 161 w 500"/>
              <a:gd name="T3" fmla="*/ 0 h 604"/>
              <a:gd name="T4" fmla="*/ 0 w 500"/>
              <a:gd name="T5" fmla="*/ 604 h 604"/>
              <a:gd name="T6" fmla="*/ 500 w 500"/>
              <a:gd name="T7" fmla="*/ 228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0" h="604">
                <a:moveTo>
                  <a:pt x="500" y="228"/>
                </a:moveTo>
                <a:cubicBezTo>
                  <a:pt x="416" y="116"/>
                  <a:pt x="296" y="36"/>
                  <a:pt x="161" y="0"/>
                </a:cubicBezTo>
                <a:lnTo>
                  <a:pt x="0" y="604"/>
                </a:lnTo>
                <a:lnTo>
                  <a:pt x="500" y="228"/>
                </a:lnTo>
                <a:close/>
              </a:path>
            </a:pathLst>
          </a:custGeom>
          <a:solidFill>
            <a:srgbClr val="BFBFFF"/>
          </a:solidFill>
          <a:ln w="23813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2254251" y="1804988"/>
            <a:ext cx="3817938" cy="2867025"/>
          </a:xfrm>
          <a:prstGeom prst="line">
            <a:avLst/>
          </a:prstGeom>
          <a:noFill/>
          <a:ln w="14288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H="1">
            <a:off x="2752726" y="1804988"/>
            <a:ext cx="3319463" cy="37465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2752726" y="2179638"/>
            <a:ext cx="3319463" cy="153670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4162426" y="1804988"/>
            <a:ext cx="1909763" cy="143351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4162426" y="3238501"/>
            <a:ext cx="1909763" cy="47783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 flipH="1">
            <a:off x="5435601" y="1804988"/>
            <a:ext cx="636588" cy="239077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 flipV="1">
            <a:off x="5435601" y="3716338"/>
            <a:ext cx="636588" cy="4794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6072189" y="1804988"/>
            <a:ext cx="0" cy="1911350"/>
          </a:xfrm>
          <a:prstGeom prst="line">
            <a:avLst/>
          </a:prstGeom>
          <a:noFill/>
          <a:ln w="14288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Oval 20"/>
          <p:cNvSpPr>
            <a:spLocks noChangeArrowheads="1"/>
          </p:cNvSpPr>
          <p:nvPr/>
        </p:nvSpPr>
        <p:spPr bwMode="auto">
          <a:xfrm>
            <a:off x="6043614" y="1776413"/>
            <a:ext cx="57150" cy="57150"/>
          </a:xfrm>
          <a:prstGeom prst="ellipse">
            <a:avLst/>
          </a:prstGeom>
          <a:solidFill>
            <a:srgbClr val="FFFFFF"/>
          </a:solidFill>
          <a:ln w="1428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Oval 21"/>
          <p:cNvSpPr>
            <a:spLocks noChangeArrowheads="1"/>
          </p:cNvSpPr>
          <p:nvPr/>
        </p:nvSpPr>
        <p:spPr bwMode="auto">
          <a:xfrm>
            <a:off x="6043614" y="1776413"/>
            <a:ext cx="57150" cy="57150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Oval 22"/>
          <p:cNvSpPr>
            <a:spLocks noChangeArrowheads="1"/>
          </p:cNvSpPr>
          <p:nvPr/>
        </p:nvSpPr>
        <p:spPr bwMode="auto">
          <a:xfrm>
            <a:off x="6043614" y="3687763"/>
            <a:ext cx="57150" cy="57150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6043614" y="3687763"/>
            <a:ext cx="57150" cy="57150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2724151" y="2151063"/>
            <a:ext cx="57150" cy="57150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2724151" y="2151063"/>
            <a:ext cx="57150" cy="57150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4133851" y="3209926"/>
            <a:ext cx="57150" cy="57150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4133851" y="3209926"/>
            <a:ext cx="57150" cy="57150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5407026" y="4167188"/>
            <a:ext cx="57150" cy="57150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5407026" y="4167188"/>
            <a:ext cx="57150" cy="57150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043614" y="1486229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043614" y="3423933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383036" y="1996854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798610" y="3069607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086029" y="4029403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984418" y="1656418"/>
            <a:ext cx="284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678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最佳射门位置问题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082539"/>
            <a:ext cx="7886700" cy="1094423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对线段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张角一定的点构成的集合是一段圆弧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当圆弧与直线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相切时，切点对线段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张角最大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7" name="Group 25"/>
          <p:cNvGrpSpPr>
            <a:grpSpLocks noChangeAspect="1"/>
          </p:cNvGrpSpPr>
          <p:nvPr/>
        </p:nvGrpSpPr>
        <p:grpSpPr bwMode="auto">
          <a:xfrm>
            <a:off x="2597150" y="1639888"/>
            <a:ext cx="3890963" cy="3395662"/>
            <a:chOff x="1636" y="1033"/>
            <a:chExt cx="2451" cy="2139"/>
          </a:xfrm>
        </p:grpSpPr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3835" y="1327"/>
              <a:ext cx="234" cy="1217"/>
            </a:xfrm>
            <a:custGeom>
              <a:avLst/>
              <a:gdLst>
                <a:gd name="T0" fmla="*/ 770 w 770"/>
                <a:gd name="T1" fmla="*/ 0 h 3999"/>
                <a:gd name="T2" fmla="*/ 770 w 770"/>
                <a:gd name="T3" fmla="*/ 3999 h 3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0" h="3999">
                  <a:moveTo>
                    <a:pt x="770" y="0"/>
                  </a:moveTo>
                  <a:cubicBezTo>
                    <a:pt x="0" y="1221"/>
                    <a:pt x="0" y="2778"/>
                    <a:pt x="770" y="3999"/>
                  </a:cubicBezTo>
                </a:path>
              </a:pathLst>
            </a:custGeom>
            <a:noFill/>
            <a:ln w="4763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3716" y="1327"/>
              <a:ext cx="353" cy="1217"/>
            </a:xfrm>
            <a:custGeom>
              <a:avLst/>
              <a:gdLst>
                <a:gd name="T0" fmla="*/ 1162 w 1162"/>
                <a:gd name="T1" fmla="*/ 0 h 4000"/>
                <a:gd name="T2" fmla="*/ 0 w 1162"/>
                <a:gd name="T3" fmla="*/ 2000 h 4000"/>
                <a:gd name="T4" fmla="*/ 1162 w 1162"/>
                <a:gd name="T5" fmla="*/ 4000 h 4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2" h="4000">
                  <a:moveTo>
                    <a:pt x="1162" y="0"/>
                  </a:moveTo>
                  <a:cubicBezTo>
                    <a:pt x="444" y="410"/>
                    <a:pt x="0" y="1173"/>
                    <a:pt x="0" y="2000"/>
                  </a:cubicBezTo>
                  <a:cubicBezTo>
                    <a:pt x="0" y="2828"/>
                    <a:pt x="444" y="3591"/>
                    <a:pt x="1162" y="4000"/>
                  </a:cubicBezTo>
                </a:path>
              </a:pathLst>
            </a:custGeom>
            <a:noFill/>
            <a:ln w="4763" cap="rnd">
              <a:solidFill>
                <a:srgbClr val="FF7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3533" y="1327"/>
              <a:ext cx="536" cy="1217"/>
            </a:xfrm>
            <a:custGeom>
              <a:avLst/>
              <a:gdLst>
                <a:gd name="T0" fmla="*/ 1762 w 1762"/>
                <a:gd name="T1" fmla="*/ 0 h 4000"/>
                <a:gd name="T2" fmla="*/ 0 w 1762"/>
                <a:gd name="T3" fmla="*/ 2000 h 4000"/>
                <a:gd name="T4" fmla="*/ 1762 w 1762"/>
                <a:gd name="T5" fmla="*/ 4000 h 4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2" h="4000">
                  <a:moveTo>
                    <a:pt x="1762" y="0"/>
                  </a:moveTo>
                  <a:cubicBezTo>
                    <a:pt x="755" y="128"/>
                    <a:pt x="0" y="985"/>
                    <a:pt x="0" y="2000"/>
                  </a:cubicBezTo>
                  <a:cubicBezTo>
                    <a:pt x="0" y="3016"/>
                    <a:pt x="755" y="3873"/>
                    <a:pt x="1762" y="4000"/>
                  </a:cubicBezTo>
                </a:path>
              </a:pathLst>
            </a:custGeom>
            <a:noFill/>
            <a:ln w="4763" cap="rnd">
              <a:solidFill>
                <a:srgbClr val="F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3311" y="1284"/>
              <a:ext cx="758" cy="1303"/>
            </a:xfrm>
            <a:custGeom>
              <a:avLst/>
              <a:gdLst>
                <a:gd name="T0" fmla="*/ 2494 w 2494"/>
                <a:gd name="T1" fmla="*/ 140 h 4281"/>
                <a:gd name="T2" fmla="*/ 445 w 2494"/>
                <a:gd name="T3" fmla="*/ 1025 h 4281"/>
                <a:gd name="T4" fmla="*/ 445 w 2494"/>
                <a:gd name="T5" fmla="*/ 3256 h 4281"/>
                <a:gd name="T6" fmla="*/ 2494 w 2494"/>
                <a:gd name="T7" fmla="*/ 4140 h 4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4" h="4281">
                  <a:moveTo>
                    <a:pt x="2494" y="140"/>
                  </a:moveTo>
                  <a:cubicBezTo>
                    <a:pt x="1696" y="0"/>
                    <a:pt x="891" y="347"/>
                    <a:pt x="445" y="1025"/>
                  </a:cubicBezTo>
                  <a:cubicBezTo>
                    <a:pt x="0" y="1702"/>
                    <a:pt x="0" y="2579"/>
                    <a:pt x="445" y="3256"/>
                  </a:cubicBezTo>
                  <a:cubicBezTo>
                    <a:pt x="891" y="3934"/>
                    <a:pt x="1696" y="4281"/>
                    <a:pt x="2494" y="4140"/>
                  </a:cubicBezTo>
                </a:path>
              </a:pathLst>
            </a:custGeom>
            <a:noFill/>
            <a:ln w="4763" cap="rnd">
              <a:solidFill>
                <a:srgbClr val="7F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1"/>
            <p:cNvSpPr>
              <a:spLocks/>
            </p:cNvSpPr>
            <p:nvPr/>
          </p:nvSpPr>
          <p:spPr bwMode="auto">
            <a:xfrm>
              <a:off x="3100" y="1208"/>
              <a:ext cx="969" cy="1456"/>
            </a:xfrm>
            <a:custGeom>
              <a:avLst/>
              <a:gdLst>
                <a:gd name="T0" fmla="*/ 3188 w 3188"/>
                <a:gd name="T1" fmla="*/ 391 h 4783"/>
                <a:gd name="T2" fmla="*/ 608 w 3188"/>
                <a:gd name="T3" fmla="*/ 1059 h 4783"/>
                <a:gd name="T4" fmla="*/ 608 w 3188"/>
                <a:gd name="T5" fmla="*/ 3724 h 4783"/>
                <a:gd name="T6" fmla="*/ 3188 w 3188"/>
                <a:gd name="T7" fmla="*/ 4391 h 4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8" h="4783">
                  <a:moveTo>
                    <a:pt x="3188" y="391"/>
                  </a:moveTo>
                  <a:cubicBezTo>
                    <a:pt x="2277" y="0"/>
                    <a:pt x="1215" y="274"/>
                    <a:pt x="608" y="1059"/>
                  </a:cubicBezTo>
                  <a:cubicBezTo>
                    <a:pt x="0" y="1843"/>
                    <a:pt x="0" y="2940"/>
                    <a:pt x="608" y="3724"/>
                  </a:cubicBezTo>
                  <a:cubicBezTo>
                    <a:pt x="1215" y="4509"/>
                    <a:pt x="2277" y="4783"/>
                    <a:pt x="3188" y="4391"/>
                  </a:cubicBezTo>
                </a:path>
              </a:pathLst>
            </a:custGeom>
            <a:noFill/>
            <a:ln w="4763" cap="rnd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2"/>
            <p:cNvSpPr>
              <a:spLocks/>
            </p:cNvSpPr>
            <p:nvPr/>
          </p:nvSpPr>
          <p:spPr bwMode="auto">
            <a:xfrm>
              <a:off x="2874" y="1124"/>
              <a:ext cx="1195" cy="1624"/>
            </a:xfrm>
            <a:custGeom>
              <a:avLst/>
              <a:gdLst>
                <a:gd name="T0" fmla="*/ 3930 w 3930"/>
                <a:gd name="T1" fmla="*/ 666 h 5333"/>
                <a:gd name="T2" fmla="*/ 793 w 3930"/>
                <a:gd name="T3" fmla="*/ 1084 h 5333"/>
                <a:gd name="T4" fmla="*/ 793 w 3930"/>
                <a:gd name="T5" fmla="*/ 4249 h 5333"/>
                <a:gd name="T6" fmla="*/ 3930 w 3930"/>
                <a:gd name="T7" fmla="*/ 4667 h 5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30" h="5333">
                  <a:moveTo>
                    <a:pt x="3930" y="666"/>
                  </a:moveTo>
                  <a:cubicBezTo>
                    <a:pt x="2928" y="0"/>
                    <a:pt x="1587" y="178"/>
                    <a:pt x="793" y="1084"/>
                  </a:cubicBezTo>
                  <a:cubicBezTo>
                    <a:pt x="0" y="1990"/>
                    <a:pt x="0" y="3343"/>
                    <a:pt x="793" y="4249"/>
                  </a:cubicBezTo>
                  <a:cubicBezTo>
                    <a:pt x="1587" y="5155"/>
                    <a:pt x="2928" y="5333"/>
                    <a:pt x="3930" y="4667"/>
                  </a:cubicBezTo>
                </a:path>
              </a:pathLst>
            </a:custGeom>
            <a:noFill/>
            <a:ln w="4763" cap="rnd">
              <a:solidFill>
                <a:srgbClr val="007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3"/>
            <p:cNvSpPr>
              <a:spLocks/>
            </p:cNvSpPr>
            <p:nvPr/>
          </p:nvSpPr>
          <p:spPr bwMode="auto">
            <a:xfrm>
              <a:off x="2629" y="1033"/>
              <a:ext cx="1440" cy="1806"/>
            </a:xfrm>
            <a:custGeom>
              <a:avLst/>
              <a:gdLst>
                <a:gd name="T0" fmla="*/ 4734 w 4734"/>
                <a:gd name="T1" fmla="*/ 965 h 5932"/>
                <a:gd name="T2" fmla="*/ 1004 w 4734"/>
                <a:gd name="T3" fmla="*/ 1099 h 5932"/>
                <a:gd name="T4" fmla="*/ 1004 w 4734"/>
                <a:gd name="T5" fmla="*/ 4832 h 5932"/>
                <a:gd name="T6" fmla="*/ 4734 w 4734"/>
                <a:gd name="T7" fmla="*/ 4965 h 5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34" h="5932">
                  <a:moveTo>
                    <a:pt x="4734" y="965"/>
                  </a:moveTo>
                  <a:cubicBezTo>
                    <a:pt x="3658" y="0"/>
                    <a:pt x="2009" y="59"/>
                    <a:pt x="1004" y="1099"/>
                  </a:cubicBezTo>
                  <a:cubicBezTo>
                    <a:pt x="0" y="2141"/>
                    <a:pt x="0" y="3790"/>
                    <a:pt x="1004" y="4832"/>
                  </a:cubicBezTo>
                  <a:cubicBezTo>
                    <a:pt x="2009" y="5873"/>
                    <a:pt x="3658" y="5932"/>
                    <a:pt x="4734" y="4965"/>
                  </a:cubicBezTo>
                </a:path>
              </a:pathLst>
            </a:custGeom>
            <a:noFill/>
            <a:ln w="4763" cap="rnd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>
              <a:off x="1636" y="1327"/>
              <a:ext cx="2433" cy="1826"/>
            </a:xfrm>
            <a:prstGeom prst="line">
              <a:avLst/>
            </a:prstGeom>
            <a:noFill/>
            <a:ln w="14288" cap="rnd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>
              <a:off x="4069" y="1327"/>
              <a:ext cx="0" cy="1217"/>
            </a:xfrm>
            <a:prstGeom prst="line">
              <a:avLst/>
            </a:prstGeom>
            <a:noFill/>
            <a:ln w="14288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4069" y="2544"/>
              <a:ext cx="0" cy="60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4051" y="1308"/>
              <a:ext cx="36" cy="37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4051" y="1308"/>
              <a:ext cx="36" cy="3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4051" y="2526"/>
              <a:ext cx="36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4051" y="2526"/>
              <a:ext cx="36" cy="3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4051" y="3135"/>
              <a:ext cx="36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051" y="3135"/>
              <a:ext cx="36" cy="3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3208" y="2502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3208" y="2502"/>
              <a:ext cx="37" cy="37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6404123" y="1692129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394799" y="375064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799548" y="3894793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56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函数的极值问题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237464"/>
            <a:ext cx="7886700" cy="177223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一元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连续的函数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，如果有一点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f'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的驻点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驻点是函数极值的必要条件，但不是充分条件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769938" y="2028490"/>
            <a:ext cx="2173984" cy="1392458"/>
            <a:chOff x="485" y="1147"/>
            <a:chExt cx="1491" cy="955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85" y="1147"/>
              <a:ext cx="1491" cy="933"/>
            </a:xfrm>
            <a:custGeom>
              <a:avLst/>
              <a:gdLst>
                <a:gd name="T0" fmla="*/ 0 w 3999"/>
                <a:gd name="T1" fmla="*/ 0 h 2501"/>
                <a:gd name="T2" fmla="*/ 1999 w 3999"/>
                <a:gd name="T3" fmla="*/ 2501 h 2501"/>
                <a:gd name="T4" fmla="*/ 3999 w 3999"/>
                <a:gd name="T5" fmla="*/ 0 h 2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99" h="2501">
                  <a:moveTo>
                    <a:pt x="0" y="0"/>
                  </a:moveTo>
                  <a:cubicBezTo>
                    <a:pt x="0" y="1381"/>
                    <a:pt x="895" y="2501"/>
                    <a:pt x="1999" y="2501"/>
                  </a:cubicBezTo>
                  <a:cubicBezTo>
                    <a:pt x="3104" y="2501"/>
                    <a:pt x="3999" y="1381"/>
                    <a:pt x="3999" y="0"/>
                  </a:cubicBez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672" y="2080"/>
              <a:ext cx="1117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1208" y="2057"/>
              <a:ext cx="45" cy="45"/>
            </a:xfrm>
            <a:prstGeom prst="ellipse">
              <a:avLst/>
            </a:prstGeom>
            <a:solidFill>
              <a:srgbClr val="FFFFFF"/>
            </a:solidFill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3" name="Group 12"/>
          <p:cNvGrpSpPr>
            <a:grpSpLocks noChangeAspect="1"/>
          </p:cNvGrpSpPr>
          <p:nvPr/>
        </p:nvGrpSpPr>
        <p:grpSpPr bwMode="auto">
          <a:xfrm>
            <a:off x="3069390" y="1963354"/>
            <a:ext cx="2276243" cy="1457594"/>
            <a:chOff x="2179" y="1147"/>
            <a:chExt cx="1482" cy="949"/>
          </a:xfrm>
        </p:grpSpPr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2179" y="1169"/>
              <a:ext cx="1482" cy="927"/>
            </a:xfrm>
            <a:custGeom>
              <a:avLst/>
              <a:gdLst>
                <a:gd name="T0" fmla="*/ 3999 w 3999"/>
                <a:gd name="T1" fmla="*/ 2500 h 2500"/>
                <a:gd name="T2" fmla="*/ 2000 w 3999"/>
                <a:gd name="T3" fmla="*/ 0 h 2500"/>
                <a:gd name="T4" fmla="*/ 0 w 3999"/>
                <a:gd name="T5" fmla="*/ 2500 h 2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99" h="2500">
                  <a:moveTo>
                    <a:pt x="3999" y="2500"/>
                  </a:moveTo>
                  <a:cubicBezTo>
                    <a:pt x="3999" y="1119"/>
                    <a:pt x="3104" y="0"/>
                    <a:pt x="2000" y="0"/>
                  </a:cubicBezTo>
                  <a:cubicBezTo>
                    <a:pt x="895" y="0"/>
                    <a:pt x="0" y="1119"/>
                    <a:pt x="0" y="2500"/>
                  </a:cubicBezTo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2365" y="1169"/>
              <a:ext cx="1111" cy="0"/>
            </a:xfrm>
            <a:prstGeom prst="line">
              <a:avLst/>
            </a:pr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2898" y="1147"/>
              <a:ext cx="44" cy="44"/>
            </a:xfrm>
            <a:prstGeom prst="ellipse">
              <a:avLst/>
            </a:prstGeom>
            <a:solidFill>
              <a:srgbClr val="FFFFFF"/>
            </a:solidFill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Group 20"/>
          <p:cNvGrpSpPr>
            <a:grpSpLocks noChangeAspect="1"/>
          </p:cNvGrpSpPr>
          <p:nvPr/>
        </p:nvGrpSpPr>
        <p:grpSpPr bwMode="auto">
          <a:xfrm>
            <a:off x="5519738" y="1622426"/>
            <a:ext cx="2911475" cy="1943100"/>
            <a:chOff x="3477" y="1022"/>
            <a:chExt cx="1834" cy="1224"/>
          </a:xfrm>
        </p:grpSpPr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3477" y="1022"/>
              <a:ext cx="1834" cy="1224"/>
            </a:xfrm>
            <a:custGeom>
              <a:avLst/>
              <a:gdLst>
                <a:gd name="T0" fmla="*/ 93 w 6000"/>
                <a:gd name="T1" fmla="*/ 3818 h 4000"/>
                <a:gd name="T2" fmla="*/ 234 w 6000"/>
                <a:gd name="T3" fmla="*/ 3566 h 4000"/>
                <a:gd name="T4" fmla="*/ 375 w 6000"/>
                <a:gd name="T5" fmla="*/ 3339 h 4000"/>
                <a:gd name="T6" fmla="*/ 515 w 6000"/>
                <a:gd name="T7" fmla="*/ 3135 h 4000"/>
                <a:gd name="T8" fmla="*/ 656 w 6000"/>
                <a:gd name="T9" fmla="*/ 2953 h 4000"/>
                <a:gd name="T10" fmla="*/ 796 w 6000"/>
                <a:gd name="T11" fmla="*/ 2792 h 4000"/>
                <a:gd name="T12" fmla="*/ 937 w 6000"/>
                <a:gd name="T13" fmla="*/ 2649 h 4000"/>
                <a:gd name="T14" fmla="*/ 1078 w 6000"/>
                <a:gd name="T15" fmla="*/ 2525 h 4000"/>
                <a:gd name="T16" fmla="*/ 1218 w 6000"/>
                <a:gd name="T17" fmla="*/ 2418 h 4000"/>
                <a:gd name="T18" fmla="*/ 1359 w 6000"/>
                <a:gd name="T19" fmla="*/ 2327 h 4000"/>
                <a:gd name="T20" fmla="*/ 1500 w 6000"/>
                <a:gd name="T21" fmla="*/ 2250 h 4000"/>
                <a:gd name="T22" fmla="*/ 1640 w 6000"/>
                <a:gd name="T23" fmla="*/ 2186 h 4000"/>
                <a:gd name="T24" fmla="*/ 1781 w 6000"/>
                <a:gd name="T25" fmla="*/ 2134 h 4000"/>
                <a:gd name="T26" fmla="*/ 1921 w 6000"/>
                <a:gd name="T27" fmla="*/ 2092 h 4000"/>
                <a:gd name="T28" fmla="*/ 2062 w 6000"/>
                <a:gd name="T29" fmla="*/ 2061 h 4000"/>
                <a:gd name="T30" fmla="*/ 2203 w 6000"/>
                <a:gd name="T31" fmla="*/ 2037 h 4000"/>
                <a:gd name="T32" fmla="*/ 2343 w 6000"/>
                <a:gd name="T33" fmla="*/ 2020 h 4000"/>
                <a:gd name="T34" fmla="*/ 2484 w 6000"/>
                <a:gd name="T35" fmla="*/ 2010 h 4000"/>
                <a:gd name="T36" fmla="*/ 2625 w 6000"/>
                <a:gd name="T37" fmla="*/ 2003 h 4000"/>
                <a:gd name="T38" fmla="*/ 2765 w 6000"/>
                <a:gd name="T39" fmla="*/ 2000 h 4000"/>
                <a:gd name="T40" fmla="*/ 2906 w 6000"/>
                <a:gd name="T41" fmla="*/ 2000 h 4000"/>
                <a:gd name="T42" fmla="*/ 3046 w 6000"/>
                <a:gd name="T43" fmla="*/ 1999 h 4000"/>
                <a:gd name="T44" fmla="*/ 3187 w 6000"/>
                <a:gd name="T45" fmla="*/ 1999 h 4000"/>
                <a:gd name="T46" fmla="*/ 3328 w 6000"/>
                <a:gd name="T47" fmla="*/ 1997 h 4000"/>
                <a:gd name="T48" fmla="*/ 3468 w 6000"/>
                <a:gd name="T49" fmla="*/ 1992 h 4000"/>
                <a:gd name="T50" fmla="*/ 3609 w 6000"/>
                <a:gd name="T51" fmla="*/ 1983 h 4000"/>
                <a:gd name="T52" fmla="*/ 3750 w 6000"/>
                <a:gd name="T53" fmla="*/ 1968 h 4000"/>
                <a:gd name="T54" fmla="*/ 3890 w 6000"/>
                <a:gd name="T55" fmla="*/ 1947 h 4000"/>
                <a:gd name="T56" fmla="*/ 4031 w 6000"/>
                <a:gd name="T57" fmla="*/ 1918 h 4000"/>
                <a:gd name="T58" fmla="*/ 4171 w 6000"/>
                <a:gd name="T59" fmla="*/ 1880 h 4000"/>
                <a:gd name="T60" fmla="*/ 4312 w 6000"/>
                <a:gd name="T61" fmla="*/ 1832 h 4000"/>
                <a:gd name="T62" fmla="*/ 4453 w 6000"/>
                <a:gd name="T63" fmla="*/ 1772 h 4000"/>
                <a:gd name="T64" fmla="*/ 4593 w 6000"/>
                <a:gd name="T65" fmla="*/ 1700 h 4000"/>
                <a:gd name="T66" fmla="*/ 4734 w 6000"/>
                <a:gd name="T67" fmla="*/ 1613 h 4000"/>
                <a:gd name="T68" fmla="*/ 4875 w 6000"/>
                <a:gd name="T69" fmla="*/ 1511 h 4000"/>
                <a:gd name="T70" fmla="*/ 5015 w 6000"/>
                <a:gd name="T71" fmla="*/ 1393 h 4000"/>
                <a:gd name="T72" fmla="*/ 5156 w 6000"/>
                <a:gd name="T73" fmla="*/ 1257 h 4000"/>
                <a:gd name="T74" fmla="*/ 5296 w 6000"/>
                <a:gd name="T75" fmla="*/ 1102 h 4000"/>
                <a:gd name="T76" fmla="*/ 5437 w 6000"/>
                <a:gd name="T77" fmla="*/ 927 h 4000"/>
                <a:gd name="T78" fmla="*/ 5578 w 6000"/>
                <a:gd name="T79" fmla="*/ 730 h 4000"/>
                <a:gd name="T80" fmla="*/ 5718 w 6000"/>
                <a:gd name="T81" fmla="*/ 511 h 4000"/>
                <a:gd name="T82" fmla="*/ 5859 w 6000"/>
                <a:gd name="T83" fmla="*/ 268 h 4000"/>
                <a:gd name="T84" fmla="*/ 6000 w 6000"/>
                <a:gd name="T85" fmla="*/ 0 h 4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00" h="4000">
                  <a:moveTo>
                    <a:pt x="0" y="4000"/>
                  </a:moveTo>
                  <a:lnTo>
                    <a:pt x="46" y="3907"/>
                  </a:lnTo>
                  <a:lnTo>
                    <a:pt x="93" y="3818"/>
                  </a:lnTo>
                  <a:lnTo>
                    <a:pt x="140" y="3731"/>
                  </a:lnTo>
                  <a:lnTo>
                    <a:pt x="187" y="3647"/>
                  </a:lnTo>
                  <a:lnTo>
                    <a:pt x="234" y="3566"/>
                  </a:lnTo>
                  <a:lnTo>
                    <a:pt x="281" y="3488"/>
                  </a:lnTo>
                  <a:lnTo>
                    <a:pt x="328" y="3412"/>
                  </a:lnTo>
                  <a:lnTo>
                    <a:pt x="375" y="3339"/>
                  </a:lnTo>
                  <a:lnTo>
                    <a:pt x="421" y="3269"/>
                  </a:lnTo>
                  <a:lnTo>
                    <a:pt x="468" y="3201"/>
                  </a:lnTo>
                  <a:lnTo>
                    <a:pt x="515" y="3135"/>
                  </a:lnTo>
                  <a:lnTo>
                    <a:pt x="562" y="3072"/>
                  </a:lnTo>
                  <a:lnTo>
                    <a:pt x="609" y="3012"/>
                  </a:lnTo>
                  <a:lnTo>
                    <a:pt x="656" y="2953"/>
                  </a:lnTo>
                  <a:lnTo>
                    <a:pt x="703" y="2897"/>
                  </a:lnTo>
                  <a:lnTo>
                    <a:pt x="750" y="2843"/>
                  </a:lnTo>
                  <a:lnTo>
                    <a:pt x="796" y="2792"/>
                  </a:lnTo>
                  <a:lnTo>
                    <a:pt x="843" y="2742"/>
                  </a:lnTo>
                  <a:lnTo>
                    <a:pt x="890" y="2695"/>
                  </a:lnTo>
                  <a:lnTo>
                    <a:pt x="937" y="2649"/>
                  </a:lnTo>
                  <a:lnTo>
                    <a:pt x="984" y="2606"/>
                  </a:lnTo>
                  <a:lnTo>
                    <a:pt x="1031" y="2565"/>
                  </a:lnTo>
                  <a:lnTo>
                    <a:pt x="1078" y="2525"/>
                  </a:lnTo>
                  <a:lnTo>
                    <a:pt x="1125" y="2488"/>
                  </a:lnTo>
                  <a:lnTo>
                    <a:pt x="1171" y="2452"/>
                  </a:lnTo>
                  <a:lnTo>
                    <a:pt x="1218" y="2418"/>
                  </a:lnTo>
                  <a:lnTo>
                    <a:pt x="1265" y="2386"/>
                  </a:lnTo>
                  <a:lnTo>
                    <a:pt x="1312" y="2355"/>
                  </a:lnTo>
                  <a:lnTo>
                    <a:pt x="1359" y="2327"/>
                  </a:lnTo>
                  <a:lnTo>
                    <a:pt x="1406" y="2299"/>
                  </a:lnTo>
                  <a:lnTo>
                    <a:pt x="1453" y="2274"/>
                  </a:lnTo>
                  <a:lnTo>
                    <a:pt x="1500" y="2250"/>
                  </a:lnTo>
                  <a:lnTo>
                    <a:pt x="1546" y="2227"/>
                  </a:lnTo>
                  <a:lnTo>
                    <a:pt x="1593" y="2205"/>
                  </a:lnTo>
                  <a:lnTo>
                    <a:pt x="1640" y="2186"/>
                  </a:lnTo>
                  <a:lnTo>
                    <a:pt x="1687" y="2167"/>
                  </a:lnTo>
                  <a:lnTo>
                    <a:pt x="1734" y="2150"/>
                  </a:lnTo>
                  <a:lnTo>
                    <a:pt x="1781" y="2134"/>
                  </a:lnTo>
                  <a:lnTo>
                    <a:pt x="1828" y="2119"/>
                  </a:lnTo>
                  <a:lnTo>
                    <a:pt x="1875" y="2105"/>
                  </a:lnTo>
                  <a:lnTo>
                    <a:pt x="1921" y="2092"/>
                  </a:lnTo>
                  <a:lnTo>
                    <a:pt x="1968" y="2081"/>
                  </a:lnTo>
                  <a:lnTo>
                    <a:pt x="2015" y="2070"/>
                  </a:lnTo>
                  <a:lnTo>
                    <a:pt x="2062" y="2061"/>
                  </a:lnTo>
                  <a:lnTo>
                    <a:pt x="2109" y="2052"/>
                  </a:lnTo>
                  <a:lnTo>
                    <a:pt x="2156" y="2044"/>
                  </a:lnTo>
                  <a:lnTo>
                    <a:pt x="2203" y="2037"/>
                  </a:lnTo>
                  <a:lnTo>
                    <a:pt x="2250" y="2031"/>
                  </a:lnTo>
                  <a:lnTo>
                    <a:pt x="2296" y="2025"/>
                  </a:lnTo>
                  <a:lnTo>
                    <a:pt x="2343" y="2020"/>
                  </a:lnTo>
                  <a:lnTo>
                    <a:pt x="2390" y="2016"/>
                  </a:lnTo>
                  <a:lnTo>
                    <a:pt x="2437" y="2013"/>
                  </a:lnTo>
                  <a:lnTo>
                    <a:pt x="2484" y="2010"/>
                  </a:lnTo>
                  <a:lnTo>
                    <a:pt x="2531" y="2007"/>
                  </a:lnTo>
                  <a:lnTo>
                    <a:pt x="2578" y="2005"/>
                  </a:lnTo>
                  <a:lnTo>
                    <a:pt x="2625" y="2003"/>
                  </a:lnTo>
                  <a:lnTo>
                    <a:pt x="2671" y="2002"/>
                  </a:lnTo>
                  <a:lnTo>
                    <a:pt x="2718" y="2001"/>
                  </a:lnTo>
                  <a:lnTo>
                    <a:pt x="2765" y="2000"/>
                  </a:lnTo>
                  <a:lnTo>
                    <a:pt x="2812" y="2000"/>
                  </a:lnTo>
                  <a:lnTo>
                    <a:pt x="2859" y="2000"/>
                  </a:lnTo>
                  <a:lnTo>
                    <a:pt x="2906" y="2000"/>
                  </a:lnTo>
                  <a:lnTo>
                    <a:pt x="2953" y="2000"/>
                  </a:lnTo>
                  <a:lnTo>
                    <a:pt x="3000" y="2000"/>
                  </a:lnTo>
                  <a:lnTo>
                    <a:pt x="3046" y="1999"/>
                  </a:lnTo>
                  <a:lnTo>
                    <a:pt x="3093" y="1999"/>
                  </a:lnTo>
                  <a:lnTo>
                    <a:pt x="3140" y="1999"/>
                  </a:lnTo>
                  <a:lnTo>
                    <a:pt x="3187" y="1999"/>
                  </a:lnTo>
                  <a:lnTo>
                    <a:pt x="3234" y="1999"/>
                  </a:lnTo>
                  <a:lnTo>
                    <a:pt x="3281" y="1998"/>
                  </a:lnTo>
                  <a:lnTo>
                    <a:pt x="3328" y="1997"/>
                  </a:lnTo>
                  <a:lnTo>
                    <a:pt x="3375" y="1996"/>
                  </a:lnTo>
                  <a:lnTo>
                    <a:pt x="3421" y="1994"/>
                  </a:lnTo>
                  <a:lnTo>
                    <a:pt x="3468" y="1992"/>
                  </a:lnTo>
                  <a:lnTo>
                    <a:pt x="3515" y="1989"/>
                  </a:lnTo>
                  <a:lnTo>
                    <a:pt x="3562" y="1986"/>
                  </a:lnTo>
                  <a:lnTo>
                    <a:pt x="3609" y="1983"/>
                  </a:lnTo>
                  <a:lnTo>
                    <a:pt x="3656" y="1979"/>
                  </a:lnTo>
                  <a:lnTo>
                    <a:pt x="3703" y="1974"/>
                  </a:lnTo>
                  <a:lnTo>
                    <a:pt x="3750" y="1968"/>
                  </a:lnTo>
                  <a:lnTo>
                    <a:pt x="3796" y="1962"/>
                  </a:lnTo>
                  <a:lnTo>
                    <a:pt x="3843" y="1955"/>
                  </a:lnTo>
                  <a:lnTo>
                    <a:pt x="3890" y="1947"/>
                  </a:lnTo>
                  <a:lnTo>
                    <a:pt x="3937" y="1938"/>
                  </a:lnTo>
                  <a:lnTo>
                    <a:pt x="3984" y="1929"/>
                  </a:lnTo>
                  <a:lnTo>
                    <a:pt x="4031" y="1918"/>
                  </a:lnTo>
                  <a:lnTo>
                    <a:pt x="4078" y="1907"/>
                  </a:lnTo>
                  <a:lnTo>
                    <a:pt x="4125" y="1894"/>
                  </a:lnTo>
                  <a:lnTo>
                    <a:pt x="4171" y="1880"/>
                  </a:lnTo>
                  <a:lnTo>
                    <a:pt x="4218" y="1865"/>
                  </a:lnTo>
                  <a:lnTo>
                    <a:pt x="4265" y="1849"/>
                  </a:lnTo>
                  <a:lnTo>
                    <a:pt x="4312" y="1832"/>
                  </a:lnTo>
                  <a:lnTo>
                    <a:pt x="4359" y="1813"/>
                  </a:lnTo>
                  <a:lnTo>
                    <a:pt x="4406" y="1794"/>
                  </a:lnTo>
                  <a:lnTo>
                    <a:pt x="4453" y="1772"/>
                  </a:lnTo>
                  <a:lnTo>
                    <a:pt x="4500" y="1750"/>
                  </a:lnTo>
                  <a:lnTo>
                    <a:pt x="4546" y="1725"/>
                  </a:lnTo>
                  <a:lnTo>
                    <a:pt x="4593" y="1700"/>
                  </a:lnTo>
                  <a:lnTo>
                    <a:pt x="4640" y="1672"/>
                  </a:lnTo>
                  <a:lnTo>
                    <a:pt x="4687" y="1644"/>
                  </a:lnTo>
                  <a:lnTo>
                    <a:pt x="4734" y="1613"/>
                  </a:lnTo>
                  <a:lnTo>
                    <a:pt x="4781" y="1581"/>
                  </a:lnTo>
                  <a:lnTo>
                    <a:pt x="4828" y="1547"/>
                  </a:lnTo>
                  <a:lnTo>
                    <a:pt x="4875" y="1511"/>
                  </a:lnTo>
                  <a:lnTo>
                    <a:pt x="4921" y="1474"/>
                  </a:lnTo>
                  <a:lnTo>
                    <a:pt x="4968" y="1434"/>
                  </a:lnTo>
                  <a:lnTo>
                    <a:pt x="5015" y="1393"/>
                  </a:lnTo>
                  <a:lnTo>
                    <a:pt x="5062" y="1350"/>
                  </a:lnTo>
                  <a:lnTo>
                    <a:pt x="5109" y="1304"/>
                  </a:lnTo>
                  <a:lnTo>
                    <a:pt x="5156" y="1257"/>
                  </a:lnTo>
                  <a:lnTo>
                    <a:pt x="5203" y="1207"/>
                  </a:lnTo>
                  <a:lnTo>
                    <a:pt x="5250" y="1156"/>
                  </a:lnTo>
                  <a:lnTo>
                    <a:pt x="5296" y="1102"/>
                  </a:lnTo>
                  <a:lnTo>
                    <a:pt x="5343" y="1046"/>
                  </a:lnTo>
                  <a:lnTo>
                    <a:pt x="5390" y="987"/>
                  </a:lnTo>
                  <a:lnTo>
                    <a:pt x="5437" y="927"/>
                  </a:lnTo>
                  <a:lnTo>
                    <a:pt x="5484" y="864"/>
                  </a:lnTo>
                  <a:lnTo>
                    <a:pt x="5531" y="798"/>
                  </a:lnTo>
                  <a:lnTo>
                    <a:pt x="5578" y="730"/>
                  </a:lnTo>
                  <a:lnTo>
                    <a:pt x="5625" y="660"/>
                  </a:lnTo>
                  <a:lnTo>
                    <a:pt x="5671" y="587"/>
                  </a:lnTo>
                  <a:lnTo>
                    <a:pt x="5718" y="511"/>
                  </a:lnTo>
                  <a:lnTo>
                    <a:pt x="5765" y="433"/>
                  </a:lnTo>
                  <a:lnTo>
                    <a:pt x="5812" y="352"/>
                  </a:lnTo>
                  <a:lnTo>
                    <a:pt x="5859" y="268"/>
                  </a:lnTo>
                  <a:lnTo>
                    <a:pt x="5906" y="181"/>
                  </a:lnTo>
                  <a:lnTo>
                    <a:pt x="5953" y="92"/>
                  </a:lnTo>
                  <a:lnTo>
                    <a:pt x="6000" y="0"/>
                  </a:ln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3782" y="1634"/>
              <a:ext cx="1223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4"/>
            <p:cNvSpPr>
              <a:spLocks noChangeArrowheads="1"/>
            </p:cNvSpPr>
            <p:nvPr/>
          </p:nvSpPr>
          <p:spPr bwMode="auto">
            <a:xfrm>
              <a:off x="4375" y="1615"/>
              <a:ext cx="37" cy="37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395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一元函数的凸性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992137"/>
            <a:ext cx="7886700" cy="2184825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导函数的局部单调性称为函数的凸性，是函数的驻点成为极值点的充分条件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f"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&lt; 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：向上凸的函数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上凸函数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f"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&gt; 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：向下凸的函数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下凸函数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023822" y="1690689"/>
            <a:ext cx="3227388" cy="2152650"/>
            <a:chOff x="666" y="1113"/>
            <a:chExt cx="2033" cy="1356"/>
          </a:xfrm>
          <a:solidFill>
            <a:schemeClr val="bg1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1174" y="1217"/>
              <a:ext cx="1356" cy="743"/>
            </a:xfrm>
            <a:custGeom>
              <a:avLst/>
              <a:gdLst>
                <a:gd name="T0" fmla="*/ 3999 w 3999"/>
                <a:gd name="T1" fmla="*/ 691 h 2191"/>
                <a:gd name="T2" fmla="*/ 0 w 3999"/>
                <a:gd name="T3" fmla="*/ 2191 h 2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99" h="2191">
                  <a:moveTo>
                    <a:pt x="3999" y="691"/>
                  </a:moveTo>
                  <a:cubicBezTo>
                    <a:pt x="2481" y="0"/>
                    <a:pt x="690" y="672"/>
                    <a:pt x="0" y="2191"/>
                  </a:cubicBezTo>
                </a:path>
              </a:pathLst>
            </a:custGeom>
            <a:grpFill/>
            <a:ln w="15875" cap="rnd">
              <a:solidFill>
                <a:srgbClr val="0070C0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666" y="2130"/>
              <a:ext cx="2033" cy="0"/>
            </a:xfrm>
            <a:prstGeom prst="line">
              <a:avLst/>
            </a:prstGeom>
            <a:grpFill/>
            <a:ln w="15875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1005" y="1113"/>
              <a:ext cx="0" cy="1356"/>
            </a:xfrm>
            <a:prstGeom prst="line">
              <a:avLst/>
            </a:prstGeom>
            <a:grpFill/>
            <a:ln w="15875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V="1">
              <a:off x="1121" y="1444"/>
              <a:ext cx="456" cy="501"/>
            </a:xfrm>
            <a:prstGeom prst="line">
              <a:avLst/>
            </a:prstGeom>
            <a:grp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864" y="1333"/>
              <a:ext cx="675" cy="63"/>
            </a:xfrm>
            <a:prstGeom prst="line">
              <a:avLst/>
            </a:prstGeom>
            <a:grp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1329" y="1674"/>
              <a:ext cx="41" cy="41"/>
            </a:xfrm>
            <a:prstGeom prst="ellipse">
              <a:avLst/>
            </a:prstGeom>
            <a:grp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2181" y="1344"/>
              <a:ext cx="41" cy="40"/>
            </a:xfrm>
            <a:prstGeom prst="ellipse">
              <a:avLst/>
            </a:prstGeom>
            <a:grp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Group 17"/>
          <p:cNvGrpSpPr>
            <a:grpSpLocks noChangeAspect="1"/>
          </p:cNvGrpSpPr>
          <p:nvPr/>
        </p:nvGrpSpPr>
        <p:grpSpPr bwMode="auto">
          <a:xfrm>
            <a:off x="4489450" y="1679575"/>
            <a:ext cx="3262313" cy="2178050"/>
            <a:chOff x="2828" y="1058"/>
            <a:chExt cx="2055" cy="1372"/>
          </a:xfrm>
        </p:grpSpPr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3342" y="1229"/>
              <a:ext cx="1370" cy="755"/>
            </a:xfrm>
            <a:custGeom>
              <a:avLst/>
              <a:gdLst>
                <a:gd name="T0" fmla="*/ 0 w 4000"/>
                <a:gd name="T1" fmla="*/ 2000 h 2201"/>
                <a:gd name="T2" fmla="*/ 4000 w 4000"/>
                <a:gd name="T3" fmla="*/ 0 h 2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00" h="2201">
                  <a:moveTo>
                    <a:pt x="0" y="2000"/>
                  </a:moveTo>
                  <a:cubicBezTo>
                    <a:pt x="1615" y="2201"/>
                    <a:pt x="3193" y="1412"/>
                    <a:pt x="4000" y="0"/>
                  </a:cubicBezTo>
                </a:path>
              </a:pathLst>
            </a:custGeom>
            <a:solidFill>
              <a:schemeClr val="bg1"/>
            </a:solidFill>
            <a:ln w="15875" cap="rnd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2828" y="2087"/>
              <a:ext cx="2055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V="1">
              <a:off x="3171" y="1058"/>
              <a:ext cx="0" cy="1372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3344" y="1873"/>
              <a:ext cx="679" cy="84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H="1">
              <a:off x="4277" y="1248"/>
              <a:ext cx="472" cy="49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4"/>
            <p:cNvSpPr>
              <a:spLocks noChangeArrowheads="1"/>
            </p:cNvSpPr>
            <p:nvPr/>
          </p:nvSpPr>
          <p:spPr bwMode="auto">
            <a:xfrm>
              <a:off x="3663" y="1895"/>
              <a:ext cx="41" cy="41"/>
            </a:xfrm>
            <a:prstGeom prst="ellipse">
              <a:avLst/>
            </a:prstGeom>
            <a:solidFill>
              <a:srgbClr val="FFFFFF"/>
            </a:solidFill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Oval 26"/>
            <p:cNvSpPr>
              <a:spLocks noChangeArrowheads="1"/>
            </p:cNvSpPr>
            <p:nvPr/>
          </p:nvSpPr>
          <p:spPr bwMode="auto">
            <a:xfrm>
              <a:off x="4492" y="1476"/>
              <a:ext cx="41" cy="41"/>
            </a:xfrm>
            <a:prstGeom prst="ellipse">
              <a:avLst/>
            </a:prstGeom>
            <a:solidFill>
              <a:srgbClr val="FFFFFF"/>
            </a:solidFill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5129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一元函数凸性的初等表达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382429"/>
                <a:ext cx="7886700" cy="179453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，如果对于任意的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上的上凸函数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382429"/>
                <a:ext cx="7886700" cy="1794534"/>
              </a:xfrm>
              <a:blipFill>
                <a:blip r:embed="rId3"/>
                <a:stretch>
                  <a:fillRect l="-1391" t="-7143" b="-68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2673350" y="1778001"/>
            <a:ext cx="3771900" cy="2516188"/>
            <a:chOff x="1684" y="1120"/>
            <a:chExt cx="2376" cy="1585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278" y="1243"/>
              <a:ext cx="1584" cy="868"/>
            </a:xfrm>
            <a:custGeom>
              <a:avLst/>
              <a:gdLst>
                <a:gd name="T0" fmla="*/ 3999 w 3999"/>
                <a:gd name="T1" fmla="*/ 691 h 2191"/>
                <a:gd name="T2" fmla="*/ 0 w 3999"/>
                <a:gd name="T3" fmla="*/ 2191 h 2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99" h="2191">
                  <a:moveTo>
                    <a:pt x="3999" y="691"/>
                  </a:moveTo>
                  <a:cubicBezTo>
                    <a:pt x="2481" y="0"/>
                    <a:pt x="690" y="672"/>
                    <a:pt x="0" y="2191"/>
                  </a:cubicBezTo>
                </a:path>
              </a:pathLst>
            </a:custGeom>
            <a:noFill/>
            <a:ln w="19050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684" y="2309"/>
              <a:ext cx="2376" cy="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2080" y="1120"/>
              <a:ext cx="0" cy="1585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482" y="1800"/>
              <a:ext cx="0" cy="509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2980" y="1474"/>
              <a:ext cx="0" cy="835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3478" y="1414"/>
              <a:ext cx="0" cy="895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H="1">
              <a:off x="2482" y="1414"/>
              <a:ext cx="996" cy="386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2459" y="1777"/>
              <a:ext cx="47" cy="47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3454" y="1391"/>
              <a:ext cx="48" cy="47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2950" y="1577"/>
              <a:ext cx="47" cy="47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Oval 19"/>
            <p:cNvSpPr>
              <a:spLocks noChangeArrowheads="1"/>
            </p:cNvSpPr>
            <p:nvPr/>
          </p:nvSpPr>
          <p:spPr bwMode="auto">
            <a:xfrm>
              <a:off x="2459" y="2285"/>
              <a:ext cx="47" cy="48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1"/>
            <p:cNvSpPr>
              <a:spLocks noChangeArrowheads="1"/>
            </p:cNvSpPr>
            <p:nvPr/>
          </p:nvSpPr>
          <p:spPr bwMode="auto">
            <a:xfrm>
              <a:off x="3454" y="2285"/>
              <a:ext cx="48" cy="48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3"/>
            <p:cNvSpPr>
              <a:spLocks noChangeArrowheads="1"/>
            </p:cNvSpPr>
            <p:nvPr/>
          </p:nvSpPr>
          <p:spPr bwMode="auto">
            <a:xfrm>
              <a:off x="2957" y="2285"/>
              <a:ext cx="47" cy="48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2957" y="1450"/>
              <a:ext cx="47" cy="47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9411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一元函数凸性的初等表达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382429"/>
                <a:ext cx="7886700" cy="179453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，如果对于任意的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 smtClean="0">
                    <a:latin typeface="Cambria Math" panose="020405030504060302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上的下凸函数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382429"/>
                <a:ext cx="7886700" cy="1794534"/>
              </a:xfrm>
              <a:blipFill>
                <a:blip r:embed="rId3"/>
                <a:stretch>
                  <a:fillRect l="-1391" t="-7143" b="-68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2671763" y="1779588"/>
            <a:ext cx="3775075" cy="2517775"/>
            <a:chOff x="1683" y="1121"/>
            <a:chExt cx="2378" cy="1586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277" y="1319"/>
              <a:ext cx="1586" cy="873"/>
            </a:xfrm>
            <a:custGeom>
              <a:avLst/>
              <a:gdLst>
                <a:gd name="T0" fmla="*/ 0 w 4000"/>
                <a:gd name="T1" fmla="*/ 2000 h 2201"/>
                <a:gd name="T2" fmla="*/ 4000 w 4000"/>
                <a:gd name="T3" fmla="*/ 0 h 2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00" h="2201">
                  <a:moveTo>
                    <a:pt x="0" y="2000"/>
                  </a:moveTo>
                  <a:cubicBezTo>
                    <a:pt x="1615" y="2201"/>
                    <a:pt x="3193" y="1412"/>
                    <a:pt x="4000" y="0"/>
                  </a:cubicBezTo>
                </a:path>
              </a:pathLst>
            </a:custGeom>
            <a:noFill/>
            <a:ln w="19050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683" y="2311"/>
              <a:ext cx="2378" cy="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2079" y="1121"/>
              <a:ext cx="0" cy="1586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H="1">
              <a:off x="2673" y="1628"/>
              <a:ext cx="960" cy="484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2673" y="2112"/>
              <a:ext cx="0" cy="199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3153" y="1870"/>
              <a:ext cx="0" cy="44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633" y="1628"/>
              <a:ext cx="0" cy="683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2649" y="2088"/>
              <a:ext cx="47" cy="48"/>
            </a:xfrm>
            <a:prstGeom prst="ellipse">
              <a:avLst/>
            </a:pr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Oval 14"/>
            <p:cNvSpPr>
              <a:spLocks noChangeArrowheads="1"/>
            </p:cNvSpPr>
            <p:nvPr/>
          </p:nvSpPr>
          <p:spPr bwMode="auto">
            <a:xfrm>
              <a:off x="2649" y="2088"/>
              <a:ext cx="47" cy="48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3609" y="1604"/>
              <a:ext cx="48" cy="48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3609" y="1604"/>
              <a:ext cx="48" cy="48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2649" y="2287"/>
              <a:ext cx="47" cy="47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Oval 18"/>
            <p:cNvSpPr>
              <a:spLocks noChangeArrowheads="1"/>
            </p:cNvSpPr>
            <p:nvPr/>
          </p:nvSpPr>
          <p:spPr bwMode="auto">
            <a:xfrm>
              <a:off x="2649" y="2287"/>
              <a:ext cx="47" cy="47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Oval 19"/>
            <p:cNvSpPr>
              <a:spLocks noChangeArrowheads="1"/>
            </p:cNvSpPr>
            <p:nvPr/>
          </p:nvSpPr>
          <p:spPr bwMode="auto">
            <a:xfrm>
              <a:off x="3609" y="2287"/>
              <a:ext cx="48" cy="47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Oval 20"/>
            <p:cNvSpPr>
              <a:spLocks noChangeArrowheads="1"/>
            </p:cNvSpPr>
            <p:nvPr/>
          </p:nvSpPr>
          <p:spPr bwMode="auto">
            <a:xfrm>
              <a:off x="3609" y="2287"/>
              <a:ext cx="48" cy="47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1"/>
            <p:cNvSpPr>
              <a:spLocks noChangeArrowheads="1"/>
            </p:cNvSpPr>
            <p:nvPr/>
          </p:nvSpPr>
          <p:spPr bwMode="auto">
            <a:xfrm>
              <a:off x="3129" y="1846"/>
              <a:ext cx="48" cy="48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2"/>
            <p:cNvSpPr>
              <a:spLocks noChangeArrowheads="1"/>
            </p:cNvSpPr>
            <p:nvPr/>
          </p:nvSpPr>
          <p:spPr bwMode="auto">
            <a:xfrm>
              <a:off x="3129" y="1846"/>
              <a:ext cx="48" cy="48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3"/>
            <p:cNvSpPr>
              <a:spLocks noChangeArrowheads="1"/>
            </p:cNvSpPr>
            <p:nvPr/>
          </p:nvSpPr>
          <p:spPr bwMode="auto">
            <a:xfrm>
              <a:off x="3129" y="2287"/>
              <a:ext cx="48" cy="47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4"/>
            <p:cNvSpPr>
              <a:spLocks noChangeArrowheads="1"/>
            </p:cNvSpPr>
            <p:nvPr/>
          </p:nvSpPr>
          <p:spPr bwMode="auto">
            <a:xfrm>
              <a:off x="3129" y="2287"/>
              <a:ext cx="48" cy="47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3129" y="1950"/>
              <a:ext cx="48" cy="48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Oval 26"/>
            <p:cNvSpPr>
              <a:spLocks noChangeArrowheads="1"/>
            </p:cNvSpPr>
            <p:nvPr/>
          </p:nvSpPr>
          <p:spPr bwMode="auto">
            <a:xfrm>
              <a:off x="3129" y="1950"/>
              <a:ext cx="48" cy="48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7045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琴生不等式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上的上凸函数，对于任意的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…,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i="1" baseline="-25000" dirty="0" err="1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+⋯+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对于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2</a:t>
                </a:r>
                <a:r>
                  <a:rPr lang="en-US" altLang="zh-CN" i="1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的情况，可以直接用不等式传递性导出，例如，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4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的情况：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8621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琴生不等式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对于任意的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，可以用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来导出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– 1</a:t>
                </a: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例如用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4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的情况推导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3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的情况：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，代入上式：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即可导出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9018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琴生不等式与均值不等式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是下凸函数，对任意的实数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…,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i="1" baseline="-25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+⋯+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+⋯+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+⋯+</m:t>
                              </m:r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平方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均值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平方根称为幂平均值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幂平均值大于等于算数平均值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2387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琴生不等式与均值不等式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ln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是上凸函数，对任意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的正数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…, 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+⋯+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利用对数函数的性质对右边做转化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g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两边对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取指数，利用指数函数的单调性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≥</m:t>
                      </m:r>
                      <m:rad>
                        <m:ra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g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个数乘积的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次方根称为几何平均值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几何平均值小于等于算数平均值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3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8968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均值不等式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…,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i="1" baseline="-25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个正数，则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ad>
                        <m:ra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两边取倒数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ad>
                        <m:ra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个数倒数均值的倒数称为调和平均值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调和平均值小于等于几何平均值 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7820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均值不等式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…,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i="1" baseline="-25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个正数，则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幂平均值：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+⋯+</m:t>
                            </m:r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算数平均值：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几何平均值：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deg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</m:oMath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调和平均值：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+⋯+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均值大小排序：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H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当且仅当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… =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i="1" baseline="-25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时，等号成立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3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4440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192859"/>
            <a:ext cx="7886700" cy="1984103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原始问题：在一个平面内，如何使用固定长度的曲线围出最大的面积？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最大面积的凸性：非凸简单闭曲线可以在周长不变的情况下通过反射变换使面积增加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4" name="Group 62"/>
          <p:cNvGrpSpPr>
            <a:grpSpLocks noChangeAspect="1"/>
          </p:cNvGrpSpPr>
          <p:nvPr/>
        </p:nvGrpSpPr>
        <p:grpSpPr bwMode="auto">
          <a:xfrm>
            <a:off x="784225" y="1827213"/>
            <a:ext cx="2890838" cy="2279650"/>
            <a:chOff x="494" y="1151"/>
            <a:chExt cx="1821" cy="1436"/>
          </a:xfrm>
        </p:grpSpPr>
        <p:sp>
          <p:nvSpPr>
            <p:cNvPr id="67" name="Line 64"/>
            <p:cNvSpPr>
              <a:spLocks noChangeShapeType="1"/>
            </p:cNvSpPr>
            <p:nvPr/>
          </p:nvSpPr>
          <p:spPr bwMode="auto">
            <a:xfrm flipH="1">
              <a:off x="512" y="1169"/>
              <a:ext cx="391" cy="88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Line 65"/>
            <p:cNvSpPr>
              <a:spLocks noChangeShapeType="1"/>
            </p:cNvSpPr>
            <p:nvPr/>
          </p:nvSpPr>
          <p:spPr bwMode="auto">
            <a:xfrm>
              <a:off x="512" y="2049"/>
              <a:ext cx="752" cy="52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Line 66"/>
            <p:cNvSpPr>
              <a:spLocks noChangeShapeType="1"/>
            </p:cNvSpPr>
            <p:nvPr/>
          </p:nvSpPr>
          <p:spPr bwMode="auto">
            <a:xfrm flipV="1">
              <a:off x="1264" y="2208"/>
              <a:ext cx="1032" cy="36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Line 67"/>
            <p:cNvSpPr>
              <a:spLocks noChangeShapeType="1"/>
            </p:cNvSpPr>
            <p:nvPr/>
          </p:nvSpPr>
          <p:spPr bwMode="auto">
            <a:xfrm flipH="1" flipV="1">
              <a:off x="1648" y="2049"/>
              <a:ext cx="648" cy="1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Line 68"/>
            <p:cNvSpPr>
              <a:spLocks noChangeShapeType="1"/>
            </p:cNvSpPr>
            <p:nvPr/>
          </p:nvSpPr>
          <p:spPr bwMode="auto">
            <a:xfrm flipH="1" flipV="1">
              <a:off x="1123" y="1744"/>
              <a:ext cx="525" cy="305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Line 69"/>
            <p:cNvSpPr>
              <a:spLocks noChangeShapeType="1"/>
            </p:cNvSpPr>
            <p:nvPr/>
          </p:nvSpPr>
          <p:spPr bwMode="auto">
            <a:xfrm flipH="1" flipV="1">
              <a:off x="903" y="1169"/>
              <a:ext cx="220" cy="575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Line 73"/>
            <p:cNvSpPr>
              <a:spLocks noChangeShapeType="1"/>
            </p:cNvSpPr>
            <p:nvPr/>
          </p:nvSpPr>
          <p:spPr bwMode="auto">
            <a:xfrm>
              <a:off x="903" y="1169"/>
              <a:ext cx="1393" cy="1039"/>
            </a:xfrm>
            <a:prstGeom prst="line">
              <a:avLst/>
            </a:prstGeom>
            <a:noFill/>
            <a:ln w="14288" cap="rnd">
              <a:solidFill>
                <a:srgbClr val="00B05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Oval 74"/>
            <p:cNvSpPr>
              <a:spLocks noChangeArrowheads="1"/>
            </p:cNvSpPr>
            <p:nvPr/>
          </p:nvSpPr>
          <p:spPr bwMode="auto">
            <a:xfrm>
              <a:off x="885" y="1151"/>
              <a:ext cx="37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Oval 76"/>
            <p:cNvSpPr>
              <a:spLocks noChangeArrowheads="1"/>
            </p:cNvSpPr>
            <p:nvPr/>
          </p:nvSpPr>
          <p:spPr bwMode="auto">
            <a:xfrm>
              <a:off x="494" y="2031"/>
              <a:ext cx="36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Oval 78"/>
            <p:cNvSpPr>
              <a:spLocks noChangeArrowheads="1"/>
            </p:cNvSpPr>
            <p:nvPr/>
          </p:nvSpPr>
          <p:spPr bwMode="auto">
            <a:xfrm>
              <a:off x="1245" y="2551"/>
              <a:ext cx="37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Oval 80"/>
            <p:cNvSpPr>
              <a:spLocks noChangeArrowheads="1"/>
            </p:cNvSpPr>
            <p:nvPr/>
          </p:nvSpPr>
          <p:spPr bwMode="auto">
            <a:xfrm>
              <a:off x="2278" y="2190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Oval 82"/>
            <p:cNvSpPr>
              <a:spLocks noChangeArrowheads="1"/>
            </p:cNvSpPr>
            <p:nvPr/>
          </p:nvSpPr>
          <p:spPr bwMode="auto">
            <a:xfrm>
              <a:off x="1630" y="2031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Oval 84"/>
            <p:cNvSpPr>
              <a:spLocks noChangeArrowheads="1"/>
            </p:cNvSpPr>
            <p:nvPr/>
          </p:nvSpPr>
          <p:spPr bwMode="auto">
            <a:xfrm>
              <a:off x="1105" y="1725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93" name="Group 92"/>
          <p:cNvGrpSpPr>
            <a:grpSpLocks noChangeAspect="1"/>
          </p:cNvGrpSpPr>
          <p:nvPr/>
        </p:nvGrpSpPr>
        <p:grpSpPr bwMode="auto">
          <a:xfrm>
            <a:off x="5373688" y="1690688"/>
            <a:ext cx="3141662" cy="2501900"/>
            <a:chOff x="3385" y="1065"/>
            <a:chExt cx="1979" cy="1576"/>
          </a:xfrm>
        </p:grpSpPr>
        <p:sp>
          <p:nvSpPr>
            <p:cNvPr id="94" name="AutoShape 91"/>
            <p:cNvSpPr>
              <a:spLocks noChangeAspect="1" noChangeArrowheads="1" noTextEdit="1"/>
            </p:cNvSpPr>
            <p:nvPr/>
          </p:nvSpPr>
          <p:spPr bwMode="auto">
            <a:xfrm>
              <a:off x="3385" y="1065"/>
              <a:ext cx="1979" cy="1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Line 94"/>
            <p:cNvSpPr>
              <a:spLocks noChangeShapeType="1"/>
            </p:cNvSpPr>
            <p:nvPr/>
          </p:nvSpPr>
          <p:spPr bwMode="auto">
            <a:xfrm flipH="1">
              <a:off x="3501" y="1169"/>
              <a:ext cx="391" cy="88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Line 95"/>
            <p:cNvSpPr>
              <a:spLocks noChangeShapeType="1"/>
            </p:cNvSpPr>
            <p:nvPr/>
          </p:nvSpPr>
          <p:spPr bwMode="auto">
            <a:xfrm>
              <a:off x="3501" y="2049"/>
              <a:ext cx="752" cy="52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Line 96"/>
            <p:cNvSpPr>
              <a:spLocks noChangeShapeType="1"/>
            </p:cNvSpPr>
            <p:nvPr/>
          </p:nvSpPr>
          <p:spPr bwMode="auto">
            <a:xfrm flipV="1">
              <a:off x="4253" y="2208"/>
              <a:ext cx="1032" cy="36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Line 97"/>
            <p:cNvSpPr>
              <a:spLocks noChangeShapeType="1"/>
            </p:cNvSpPr>
            <p:nvPr/>
          </p:nvSpPr>
          <p:spPr bwMode="auto">
            <a:xfrm flipH="1" flipV="1">
              <a:off x="4637" y="2049"/>
              <a:ext cx="648" cy="159"/>
            </a:xfrm>
            <a:prstGeom prst="line">
              <a:avLst/>
            </a:prstGeom>
            <a:noFill/>
            <a:ln w="14288" cap="rnd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Line 98"/>
            <p:cNvSpPr>
              <a:spLocks noChangeShapeType="1"/>
            </p:cNvSpPr>
            <p:nvPr/>
          </p:nvSpPr>
          <p:spPr bwMode="auto">
            <a:xfrm flipH="1" flipV="1">
              <a:off x="4112" y="1744"/>
              <a:ext cx="525" cy="305"/>
            </a:xfrm>
            <a:prstGeom prst="line">
              <a:avLst/>
            </a:prstGeom>
            <a:noFill/>
            <a:ln w="14288" cap="rnd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Line 99"/>
            <p:cNvSpPr>
              <a:spLocks noChangeShapeType="1"/>
            </p:cNvSpPr>
            <p:nvPr/>
          </p:nvSpPr>
          <p:spPr bwMode="auto">
            <a:xfrm flipH="1" flipV="1">
              <a:off x="3892" y="1169"/>
              <a:ext cx="220" cy="575"/>
            </a:xfrm>
            <a:prstGeom prst="line">
              <a:avLst/>
            </a:prstGeom>
            <a:noFill/>
            <a:ln w="14288" cap="rnd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Line 100"/>
            <p:cNvSpPr>
              <a:spLocks noChangeShapeType="1"/>
            </p:cNvSpPr>
            <p:nvPr/>
          </p:nvSpPr>
          <p:spPr bwMode="auto">
            <a:xfrm>
              <a:off x="4505" y="1216"/>
              <a:ext cx="443" cy="416"/>
            </a:xfrm>
            <a:prstGeom prst="line">
              <a:avLst/>
            </a:prstGeom>
            <a:noFill/>
            <a:ln w="14288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Line 101"/>
            <p:cNvSpPr>
              <a:spLocks noChangeShapeType="1"/>
            </p:cNvSpPr>
            <p:nvPr/>
          </p:nvSpPr>
          <p:spPr bwMode="auto">
            <a:xfrm>
              <a:off x="4948" y="1632"/>
              <a:ext cx="337" cy="576"/>
            </a:xfrm>
            <a:prstGeom prst="line">
              <a:avLst/>
            </a:prstGeom>
            <a:noFill/>
            <a:ln w="14288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Line 102"/>
            <p:cNvSpPr>
              <a:spLocks noChangeShapeType="1"/>
            </p:cNvSpPr>
            <p:nvPr/>
          </p:nvSpPr>
          <p:spPr bwMode="auto">
            <a:xfrm>
              <a:off x="3892" y="1169"/>
              <a:ext cx="613" cy="47"/>
            </a:xfrm>
            <a:prstGeom prst="line">
              <a:avLst/>
            </a:prstGeom>
            <a:noFill/>
            <a:ln w="14288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Line 103"/>
            <p:cNvSpPr>
              <a:spLocks noChangeShapeType="1"/>
            </p:cNvSpPr>
            <p:nvPr/>
          </p:nvSpPr>
          <p:spPr bwMode="auto">
            <a:xfrm>
              <a:off x="3892" y="1169"/>
              <a:ext cx="1393" cy="1039"/>
            </a:xfrm>
            <a:prstGeom prst="line">
              <a:avLst/>
            </a:prstGeom>
            <a:noFill/>
            <a:ln w="14288" cap="rnd">
              <a:solidFill>
                <a:srgbClr val="00B05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Oval 104"/>
            <p:cNvSpPr>
              <a:spLocks noChangeArrowheads="1"/>
            </p:cNvSpPr>
            <p:nvPr/>
          </p:nvSpPr>
          <p:spPr bwMode="auto">
            <a:xfrm>
              <a:off x="3874" y="1151"/>
              <a:ext cx="37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Oval 106"/>
            <p:cNvSpPr>
              <a:spLocks noChangeArrowheads="1"/>
            </p:cNvSpPr>
            <p:nvPr/>
          </p:nvSpPr>
          <p:spPr bwMode="auto">
            <a:xfrm>
              <a:off x="3483" y="2031"/>
              <a:ext cx="36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Oval 108"/>
            <p:cNvSpPr>
              <a:spLocks noChangeArrowheads="1"/>
            </p:cNvSpPr>
            <p:nvPr/>
          </p:nvSpPr>
          <p:spPr bwMode="auto">
            <a:xfrm>
              <a:off x="4234" y="2551"/>
              <a:ext cx="37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Oval 110"/>
            <p:cNvSpPr>
              <a:spLocks noChangeArrowheads="1"/>
            </p:cNvSpPr>
            <p:nvPr/>
          </p:nvSpPr>
          <p:spPr bwMode="auto">
            <a:xfrm>
              <a:off x="5267" y="2190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Oval 112"/>
            <p:cNvSpPr>
              <a:spLocks noChangeArrowheads="1"/>
            </p:cNvSpPr>
            <p:nvPr/>
          </p:nvSpPr>
          <p:spPr bwMode="auto">
            <a:xfrm>
              <a:off x="4619" y="2031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Oval 114"/>
            <p:cNvSpPr>
              <a:spLocks noChangeArrowheads="1"/>
            </p:cNvSpPr>
            <p:nvPr/>
          </p:nvSpPr>
          <p:spPr bwMode="auto">
            <a:xfrm>
              <a:off x="4094" y="1725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Oval 116"/>
            <p:cNvSpPr>
              <a:spLocks noChangeArrowheads="1"/>
            </p:cNvSpPr>
            <p:nvPr/>
          </p:nvSpPr>
          <p:spPr bwMode="auto">
            <a:xfrm>
              <a:off x="4930" y="1614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Oval 118"/>
            <p:cNvSpPr>
              <a:spLocks noChangeArrowheads="1"/>
            </p:cNvSpPr>
            <p:nvPr/>
          </p:nvSpPr>
          <p:spPr bwMode="auto">
            <a:xfrm>
              <a:off x="4487" y="1197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23" name="直接箭头连接符 122"/>
          <p:cNvCxnSpPr/>
          <p:nvPr/>
        </p:nvCxnSpPr>
        <p:spPr>
          <a:xfrm>
            <a:off x="3891776" y="2953293"/>
            <a:ext cx="12823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6812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669971"/>
            <a:ext cx="7886700" cy="1506992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已知四边形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ABCD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的四条边长为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，如何计算它的最大面积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求解思路：分析内角的变化对面积的影响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Line 10"/>
          <p:cNvCxnSpPr>
            <a:cxnSpLocks noChangeShapeType="1"/>
          </p:cNvCxnSpPr>
          <p:nvPr/>
        </p:nvCxnSpPr>
        <p:spPr bwMode="auto">
          <a:xfrm flipH="1">
            <a:off x="3329434" y="2496874"/>
            <a:ext cx="925972" cy="1408207"/>
          </a:xfrm>
          <a:prstGeom prst="line">
            <a:avLst/>
          </a:prstGeom>
          <a:noFill/>
          <a:ln w="9525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Line 11"/>
          <p:cNvCxnSpPr>
            <a:cxnSpLocks noChangeShapeType="1"/>
          </p:cNvCxnSpPr>
          <p:nvPr/>
        </p:nvCxnSpPr>
        <p:spPr bwMode="auto">
          <a:xfrm>
            <a:off x="3329434" y="3905082"/>
            <a:ext cx="2467908" cy="0"/>
          </a:xfrm>
          <a:prstGeom prst="line">
            <a:avLst/>
          </a:prstGeom>
          <a:noFill/>
          <a:ln w="9525" cap="rnd">
            <a:solidFill>
              <a:srgbClr val="00B05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Line 12"/>
          <p:cNvCxnSpPr>
            <a:cxnSpLocks noChangeShapeType="1"/>
          </p:cNvCxnSpPr>
          <p:nvPr/>
        </p:nvCxnSpPr>
        <p:spPr bwMode="auto">
          <a:xfrm flipH="1" flipV="1">
            <a:off x="5591683" y="1900159"/>
            <a:ext cx="205659" cy="2004922"/>
          </a:xfrm>
          <a:prstGeom prst="line">
            <a:avLst/>
          </a:prstGeom>
          <a:noFill/>
          <a:ln w="9525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Line 13"/>
          <p:cNvCxnSpPr>
            <a:cxnSpLocks noChangeShapeType="1"/>
          </p:cNvCxnSpPr>
          <p:nvPr/>
        </p:nvCxnSpPr>
        <p:spPr bwMode="auto">
          <a:xfrm flipH="1">
            <a:off x="4255406" y="1900159"/>
            <a:ext cx="1336277" cy="596715"/>
          </a:xfrm>
          <a:prstGeom prst="line">
            <a:avLst/>
          </a:prstGeom>
          <a:noFill/>
          <a:ln w="9525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Line 14"/>
          <p:cNvCxnSpPr>
            <a:cxnSpLocks noChangeShapeType="1"/>
          </p:cNvCxnSpPr>
          <p:nvPr/>
        </p:nvCxnSpPr>
        <p:spPr bwMode="auto">
          <a:xfrm flipH="1">
            <a:off x="3329434" y="2250691"/>
            <a:ext cx="324191" cy="1654390"/>
          </a:xfrm>
          <a:prstGeom prst="line">
            <a:avLst/>
          </a:prstGeom>
          <a:noFill/>
          <a:ln w="9525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Line 15"/>
          <p:cNvCxnSpPr>
            <a:cxnSpLocks noChangeShapeType="1"/>
          </p:cNvCxnSpPr>
          <p:nvPr/>
        </p:nvCxnSpPr>
        <p:spPr bwMode="auto">
          <a:xfrm flipV="1">
            <a:off x="3653626" y="2014640"/>
            <a:ext cx="1443665" cy="236052"/>
          </a:xfrm>
          <a:prstGeom prst="line">
            <a:avLst/>
          </a:prstGeom>
          <a:noFill/>
          <a:ln w="9525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Line 16"/>
          <p:cNvCxnSpPr>
            <a:cxnSpLocks noChangeShapeType="1"/>
          </p:cNvCxnSpPr>
          <p:nvPr/>
        </p:nvCxnSpPr>
        <p:spPr bwMode="auto">
          <a:xfrm flipH="1" flipV="1">
            <a:off x="5097291" y="2014640"/>
            <a:ext cx="700051" cy="1890442"/>
          </a:xfrm>
          <a:prstGeom prst="line">
            <a:avLst/>
          </a:prstGeom>
          <a:noFill/>
          <a:ln w="9525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Oval 20"/>
          <p:cNvSpPr>
            <a:spLocks noChangeArrowheads="1"/>
          </p:cNvSpPr>
          <p:nvPr/>
        </p:nvSpPr>
        <p:spPr bwMode="auto">
          <a:xfrm>
            <a:off x="4224000" y="2465468"/>
            <a:ext cx="61799" cy="61799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7" name="Oval 22"/>
          <p:cNvSpPr>
            <a:spLocks noChangeArrowheads="1"/>
          </p:cNvSpPr>
          <p:nvPr/>
        </p:nvSpPr>
        <p:spPr bwMode="auto">
          <a:xfrm>
            <a:off x="3299041" y="387468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8" name="Oval 24"/>
          <p:cNvSpPr>
            <a:spLocks noChangeArrowheads="1"/>
          </p:cNvSpPr>
          <p:nvPr/>
        </p:nvSpPr>
        <p:spPr bwMode="auto">
          <a:xfrm>
            <a:off x="5765936" y="387468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9" name="Oval 26"/>
          <p:cNvSpPr>
            <a:spLocks noChangeArrowheads="1"/>
          </p:cNvSpPr>
          <p:nvPr/>
        </p:nvSpPr>
        <p:spPr bwMode="auto">
          <a:xfrm>
            <a:off x="5560277" y="1868753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20" name="Oval 30"/>
          <p:cNvSpPr>
            <a:spLocks noChangeArrowheads="1"/>
          </p:cNvSpPr>
          <p:nvPr/>
        </p:nvSpPr>
        <p:spPr bwMode="auto">
          <a:xfrm>
            <a:off x="5066898" y="1984247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21" name="Oval 32"/>
          <p:cNvSpPr>
            <a:spLocks noChangeArrowheads="1"/>
          </p:cNvSpPr>
          <p:nvPr/>
        </p:nvSpPr>
        <p:spPr bwMode="auto">
          <a:xfrm>
            <a:off x="3622220" y="222029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4025432" y="2211929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3059443" y="3701568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5800981" y="3778745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5659117" y="1571264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3361847" y="1995003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5066898" y="1571264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3622220" y="2854767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4504628" y="3870492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5755765" y="2666134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4678375" y="1930552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Text Box 2"/>
          <p:cNvSpPr txBox="1">
            <a:spLocks noChangeArrowheads="1"/>
          </p:cNvSpPr>
          <p:nvPr/>
        </p:nvSpPr>
        <p:spPr bwMode="auto">
          <a:xfrm>
            <a:off x="4163214" y="1777754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Text Box 2"/>
          <p:cNvSpPr txBox="1">
            <a:spLocks noChangeArrowheads="1"/>
          </p:cNvSpPr>
          <p:nvPr/>
        </p:nvSpPr>
        <p:spPr bwMode="auto">
          <a:xfrm>
            <a:off x="3339343" y="2702776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Text Box 2"/>
          <p:cNvSpPr txBox="1">
            <a:spLocks noChangeArrowheads="1"/>
          </p:cNvSpPr>
          <p:nvPr/>
        </p:nvSpPr>
        <p:spPr bwMode="auto">
          <a:xfrm>
            <a:off x="5222742" y="2677020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339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饼形 36"/>
          <p:cNvSpPr/>
          <p:nvPr/>
        </p:nvSpPr>
        <p:spPr>
          <a:xfrm>
            <a:off x="4917391" y="1838136"/>
            <a:ext cx="360000" cy="360000"/>
          </a:xfrm>
          <a:prstGeom prst="pie">
            <a:avLst>
              <a:gd name="adj1" fmla="val 4226884"/>
              <a:gd name="adj2" fmla="val 1017465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饼形 35"/>
          <p:cNvSpPr/>
          <p:nvPr/>
        </p:nvSpPr>
        <p:spPr>
          <a:xfrm>
            <a:off x="3145795" y="3728300"/>
            <a:ext cx="360000" cy="360000"/>
          </a:xfrm>
          <a:prstGeom prst="pie">
            <a:avLst>
              <a:gd name="adj1" fmla="val 16929371"/>
              <a:gd name="adj2" fmla="val 2159878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108593"/>
            <a:ext cx="7886700" cy="2068369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设∠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ABC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，∠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ADC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，对角线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Line 11"/>
          <p:cNvCxnSpPr>
            <a:cxnSpLocks noChangeShapeType="1"/>
          </p:cNvCxnSpPr>
          <p:nvPr/>
        </p:nvCxnSpPr>
        <p:spPr bwMode="auto">
          <a:xfrm>
            <a:off x="3329434" y="3905082"/>
            <a:ext cx="2467908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Line 14"/>
          <p:cNvCxnSpPr>
            <a:cxnSpLocks noChangeShapeType="1"/>
          </p:cNvCxnSpPr>
          <p:nvPr/>
        </p:nvCxnSpPr>
        <p:spPr bwMode="auto">
          <a:xfrm flipH="1">
            <a:off x="3329434" y="2250691"/>
            <a:ext cx="324191" cy="165439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Line 15"/>
          <p:cNvCxnSpPr>
            <a:cxnSpLocks noChangeShapeType="1"/>
          </p:cNvCxnSpPr>
          <p:nvPr/>
        </p:nvCxnSpPr>
        <p:spPr bwMode="auto">
          <a:xfrm flipV="1">
            <a:off x="3653626" y="2014640"/>
            <a:ext cx="1443665" cy="23605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Line 16"/>
          <p:cNvCxnSpPr>
            <a:cxnSpLocks noChangeShapeType="1"/>
          </p:cNvCxnSpPr>
          <p:nvPr/>
        </p:nvCxnSpPr>
        <p:spPr bwMode="auto">
          <a:xfrm flipH="1" flipV="1">
            <a:off x="5097291" y="2014640"/>
            <a:ext cx="700051" cy="189044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3299041" y="387468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3" name="Oval 24"/>
          <p:cNvSpPr>
            <a:spLocks noChangeArrowheads="1"/>
          </p:cNvSpPr>
          <p:nvPr/>
        </p:nvSpPr>
        <p:spPr bwMode="auto">
          <a:xfrm>
            <a:off x="5765936" y="387468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5" name="Oval 30"/>
          <p:cNvSpPr>
            <a:spLocks noChangeArrowheads="1"/>
          </p:cNvSpPr>
          <p:nvPr/>
        </p:nvSpPr>
        <p:spPr bwMode="auto">
          <a:xfrm>
            <a:off x="5066898" y="1984247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6" name="Oval 32"/>
          <p:cNvSpPr>
            <a:spLocks noChangeArrowheads="1"/>
          </p:cNvSpPr>
          <p:nvPr/>
        </p:nvSpPr>
        <p:spPr bwMode="auto">
          <a:xfrm>
            <a:off x="3622220" y="222029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3059443" y="3701568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5800981" y="3778745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3361847" y="1995003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5066898" y="1571264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4440803" y="3516663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4163214" y="1777754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3339343" y="2702776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5222742" y="2677020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1" name="直接连接符 30"/>
          <p:cNvCxnSpPr>
            <a:stCxn id="16" idx="5"/>
            <a:endCxn id="13" idx="1"/>
          </p:cNvCxnSpPr>
          <p:nvPr/>
        </p:nvCxnSpPr>
        <p:spPr>
          <a:xfrm>
            <a:off x="3674969" y="2273048"/>
            <a:ext cx="2100017" cy="16106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3448226" y="3498057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θ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4825199" y="2032080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φ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566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饼形 36"/>
          <p:cNvSpPr/>
          <p:nvPr/>
        </p:nvSpPr>
        <p:spPr>
          <a:xfrm>
            <a:off x="4917391" y="1838136"/>
            <a:ext cx="360000" cy="360000"/>
          </a:xfrm>
          <a:prstGeom prst="pie">
            <a:avLst>
              <a:gd name="adj1" fmla="val 4226884"/>
              <a:gd name="adj2" fmla="val 1017465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饼形 35"/>
          <p:cNvSpPr/>
          <p:nvPr/>
        </p:nvSpPr>
        <p:spPr>
          <a:xfrm>
            <a:off x="3145795" y="3728300"/>
            <a:ext cx="360000" cy="360000"/>
          </a:xfrm>
          <a:prstGeom prst="pie">
            <a:avLst>
              <a:gd name="adj1" fmla="val 16929371"/>
              <a:gd name="adj2" fmla="val 2159878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108593"/>
            <a:ext cx="7886700" cy="2068369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四边形的面积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可以表示为：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观察约束条件，利用平方做和化简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Line 11"/>
          <p:cNvCxnSpPr>
            <a:cxnSpLocks noChangeShapeType="1"/>
          </p:cNvCxnSpPr>
          <p:nvPr/>
        </p:nvCxnSpPr>
        <p:spPr bwMode="auto">
          <a:xfrm>
            <a:off x="3329434" y="3905082"/>
            <a:ext cx="2467908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Line 14"/>
          <p:cNvCxnSpPr>
            <a:cxnSpLocks noChangeShapeType="1"/>
          </p:cNvCxnSpPr>
          <p:nvPr/>
        </p:nvCxnSpPr>
        <p:spPr bwMode="auto">
          <a:xfrm flipH="1">
            <a:off x="3329434" y="2250691"/>
            <a:ext cx="324191" cy="165439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Line 15"/>
          <p:cNvCxnSpPr>
            <a:cxnSpLocks noChangeShapeType="1"/>
          </p:cNvCxnSpPr>
          <p:nvPr/>
        </p:nvCxnSpPr>
        <p:spPr bwMode="auto">
          <a:xfrm flipV="1">
            <a:off x="3653626" y="2014640"/>
            <a:ext cx="1443665" cy="23605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Line 16"/>
          <p:cNvCxnSpPr>
            <a:cxnSpLocks noChangeShapeType="1"/>
          </p:cNvCxnSpPr>
          <p:nvPr/>
        </p:nvCxnSpPr>
        <p:spPr bwMode="auto">
          <a:xfrm flipH="1" flipV="1">
            <a:off x="5097291" y="2014640"/>
            <a:ext cx="700051" cy="189044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Oval 22"/>
          <p:cNvSpPr>
            <a:spLocks noChangeArrowheads="1"/>
          </p:cNvSpPr>
          <p:nvPr/>
        </p:nvSpPr>
        <p:spPr bwMode="auto">
          <a:xfrm>
            <a:off x="3299041" y="387468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3" name="Oval 24"/>
          <p:cNvSpPr>
            <a:spLocks noChangeArrowheads="1"/>
          </p:cNvSpPr>
          <p:nvPr/>
        </p:nvSpPr>
        <p:spPr bwMode="auto">
          <a:xfrm>
            <a:off x="5765936" y="387468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5" name="Oval 30"/>
          <p:cNvSpPr>
            <a:spLocks noChangeArrowheads="1"/>
          </p:cNvSpPr>
          <p:nvPr/>
        </p:nvSpPr>
        <p:spPr bwMode="auto">
          <a:xfrm>
            <a:off x="5066898" y="1984247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6" name="Oval 32"/>
          <p:cNvSpPr>
            <a:spLocks noChangeArrowheads="1"/>
          </p:cNvSpPr>
          <p:nvPr/>
        </p:nvSpPr>
        <p:spPr bwMode="auto">
          <a:xfrm>
            <a:off x="3622220" y="2220299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3059443" y="3701568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5800981" y="3778745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3361847" y="1995003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5066898" y="1571264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4440803" y="3516663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4163214" y="1777754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3339343" y="2702776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5222742" y="2677020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sz="2800" i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1" name="直接连接符 30"/>
          <p:cNvCxnSpPr>
            <a:stCxn id="16" idx="5"/>
            <a:endCxn id="13" idx="1"/>
          </p:cNvCxnSpPr>
          <p:nvPr/>
        </p:nvCxnSpPr>
        <p:spPr>
          <a:xfrm>
            <a:off x="3674969" y="2273048"/>
            <a:ext cx="2100017" cy="16106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3448226" y="3498057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θ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4825199" y="2032080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φ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239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4(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+ 4(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4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+ 4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8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+ 4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只有当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最大，这意味着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π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ABCD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是圆内接四边形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399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四边形最大面积问题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222615"/>
            <a:ext cx="7886700" cy="954347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边长给定的四边形，当四边形内接于圆时，面积最大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177"/>
          <p:cNvSpPr>
            <a:spLocks noChangeArrowheads="1"/>
          </p:cNvSpPr>
          <p:nvPr/>
        </p:nvSpPr>
        <p:spPr bwMode="auto">
          <a:xfrm>
            <a:off x="3059316" y="2246324"/>
            <a:ext cx="2758667" cy="2759681"/>
          </a:xfrm>
          <a:prstGeom prst="ellipse">
            <a:avLst/>
          </a:prstGeom>
          <a:noFill/>
          <a:ln w="9525" cap="rnd">
            <a:solidFill>
              <a:srgbClr val="00B05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cxnSp>
        <p:nvCxnSpPr>
          <p:cNvPr id="8" name="Line 10"/>
          <p:cNvCxnSpPr>
            <a:cxnSpLocks noChangeShapeType="1"/>
          </p:cNvCxnSpPr>
          <p:nvPr/>
        </p:nvCxnSpPr>
        <p:spPr bwMode="auto">
          <a:xfrm flipH="1">
            <a:off x="3196084" y="2832908"/>
            <a:ext cx="925972" cy="1408207"/>
          </a:xfrm>
          <a:prstGeom prst="line">
            <a:avLst/>
          </a:prstGeom>
          <a:noFill/>
          <a:ln w="9525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Line 11"/>
          <p:cNvCxnSpPr>
            <a:cxnSpLocks noChangeShapeType="1"/>
          </p:cNvCxnSpPr>
          <p:nvPr/>
        </p:nvCxnSpPr>
        <p:spPr bwMode="auto">
          <a:xfrm>
            <a:off x="3196084" y="4241116"/>
            <a:ext cx="2467908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Line 12"/>
          <p:cNvCxnSpPr>
            <a:cxnSpLocks noChangeShapeType="1"/>
          </p:cNvCxnSpPr>
          <p:nvPr/>
        </p:nvCxnSpPr>
        <p:spPr bwMode="auto">
          <a:xfrm flipH="1" flipV="1">
            <a:off x="5458333" y="2236193"/>
            <a:ext cx="205659" cy="2004922"/>
          </a:xfrm>
          <a:prstGeom prst="line">
            <a:avLst/>
          </a:prstGeom>
          <a:noFill/>
          <a:ln w="9525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Line 13"/>
          <p:cNvCxnSpPr>
            <a:cxnSpLocks noChangeShapeType="1"/>
          </p:cNvCxnSpPr>
          <p:nvPr/>
        </p:nvCxnSpPr>
        <p:spPr bwMode="auto">
          <a:xfrm flipH="1">
            <a:off x="4122056" y="2236193"/>
            <a:ext cx="1336277" cy="596715"/>
          </a:xfrm>
          <a:prstGeom prst="line">
            <a:avLst/>
          </a:prstGeom>
          <a:noFill/>
          <a:ln w="9525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Line 14"/>
          <p:cNvCxnSpPr>
            <a:cxnSpLocks noChangeShapeType="1"/>
          </p:cNvCxnSpPr>
          <p:nvPr/>
        </p:nvCxnSpPr>
        <p:spPr bwMode="auto">
          <a:xfrm flipH="1">
            <a:off x="3196084" y="2586725"/>
            <a:ext cx="324191" cy="1654390"/>
          </a:xfrm>
          <a:prstGeom prst="line">
            <a:avLst/>
          </a:prstGeom>
          <a:noFill/>
          <a:ln w="9525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Line 15"/>
          <p:cNvCxnSpPr>
            <a:cxnSpLocks noChangeShapeType="1"/>
          </p:cNvCxnSpPr>
          <p:nvPr/>
        </p:nvCxnSpPr>
        <p:spPr bwMode="auto">
          <a:xfrm flipV="1">
            <a:off x="3520276" y="2350674"/>
            <a:ext cx="1443665" cy="236052"/>
          </a:xfrm>
          <a:prstGeom prst="line">
            <a:avLst/>
          </a:prstGeom>
          <a:noFill/>
          <a:ln w="9525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Line 16"/>
          <p:cNvCxnSpPr>
            <a:cxnSpLocks noChangeShapeType="1"/>
          </p:cNvCxnSpPr>
          <p:nvPr/>
        </p:nvCxnSpPr>
        <p:spPr bwMode="auto">
          <a:xfrm flipH="1" flipV="1">
            <a:off x="4963941" y="2350674"/>
            <a:ext cx="700051" cy="1890442"/>
          </a:xfrm>
          <a:prstGeom prst="line">
            <a:avLst/>
          </a:prstGeom>
          <a:noFill/>
          <a:ln w="9525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Oval 20"/>
          <p:cNvSpPr>
            <a:spLocks noChangeArrowheads="1"/>
          </p:cNvSpPr>
          <p:nvPr/>
        </p:nvSpPr>
        <p:spPr bwMode="auto">
          <a:xfrm>
            <a:off x="4090650" y="2801502"/>
            <a:ext cx="61799" cy="61799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7" name="Oval 22"/>
          <p:cNvSpPr>
            <a:spLocks noChangeArrowheads="1"/>
          </p:cNvSpPr>
          <p:nvPr/>
        </p:nvSpPr>
        <p:spPr bwMode="auto">
          <a:xfrm>
            <a:off x="3165691" y="4210723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8" name="Oval 24"/>
          <p:cNvSpPr>
            <a:spLocks noChangeArrowheads="1"/>
          </p:cNvSpPr>
          <p:nvPr/>
        </p:nvSpPr>
        <p:spPr bwMode="auto">
          <a:xfrm>
            <a:off x="5632586" y="4210723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19" name="Oval 26"/>
          <p:cNvSpPr>
            <a:spLocks noChangeArrowheads="1"/>
          </p:cNvSpPr>
          <p:nvPr/>
        </p:nvSpPr>
        <p:spPr bwMode="auto">
          <a:xfrm>
            <a:off x="5426927" y="2204787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20" name="Oval 30"/>
          <p:cNvSpPr>
            <a:spLocks noChangeArrowheads="1"/>
          </p:cNvSpPr>
          <p:nvPr/>
        </p:nvSpPr>
        <p:spPr bwMode="auto">
          <a:xfrm>
            <a:off x="4933548" y="2320281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21" name="Oval 32"/>
          <p:cNvSpPr>
            <a:spLocks noChangeArrowheads="1"/>
          </p:cNvSpPr>
          <p:nvPr/>
        </p:nvSpPr>
        <p:spPr bwMode="auto">
          <a:xfrm>
            <a:off x="3488870" y="2556333"/>
            <a:ext cx="61799" cy="61799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/>
          </a:p>
        </p:txBody>
      </p:sp>
      <p:sp>
        <p:nvSpPr>
          <p:cNvPr id="34" name="Text Box 2"/>
          <p:cNvSpPr txBox="1">
            <a:spLocks noChangeArrowheads="1"/>
          </p:cNvSpPr>
          <p:nvPr/>
        </p:nvSpPr>
        <p:spPr bwMode="auto">
          <a:xfrm>
            <a:off x="3892082" y="2547963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2926093" y="4037602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5667631" y="4114779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5525767" y="1907298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3228497" y="2331037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4933548" y="1907298"/>
            <a:ext cx="245170" cy="40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sz="2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881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772723"/>
            <a:ext cx="7886700" cy="1115121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各边长确定的多边形内接于圆时，面积最大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周长固定的平面图形中，圆的面积最大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733425" y="2184401"/>
            <a:ext cx="3270250" cy="1949450"/>
            <a:chOff x="462" y="1376"/>
            <a:chExt cx="2060" cy="1228"/>
          </a:xfrm>
        </p:grpSpPr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770" y="2563"/>
              <a:ext cx="1470" cy="23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480" y="1394"/>
              <a:ext cx="672" cy="32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480" y="1723"/>
              <a:ext cx="290" cy="84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2240" y="1884"/>
              <a:ext cx="264" cy="702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H="1" flipV="1">
              <a:off x="1962" y="1473"/>
              <a:ext cx="542" cy="41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H="1" flipV="1">
              <a:off x="1152" y="1394"/>
              <a:ext cx="810" cy="7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Oval 18"/>
            <p:cNvSpPr>
              <a:spLocks noChangeArrowheads="1"/>
            </p:cNvSpPr>
            <p:nvPr/>
          </p:nvSpPr>
          <p:spPr bwMode="auto">
            <a:xfrm>
              <a:off x="752" y="2545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Oval 20"/>
            <p:cNvSpPr>
              <a:spLocks noChangeArrowheads="1"/>
            </p:cNvSpPr>
            <p:nvPr/>
          </p:nvSpPr>
          <p:spPr bwMode="auto">
            <a:xfrm>
              <a:off x="2221" y="2568"/>
              <a:ext cx="37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Oval 30"/>
            <p:cNvSpPr>
              <a:spLocks noChangeArrowheads="1"/>
            </p:cNvSpPr>
            <p:nvPr/>
          </p:nvSpPr>
          <p:spPr bwMode="auto">
            <a:xfrm>
              <a:off x="2486" y="1866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Oval 32"/>
            <p:cNvSpPr>
              <a:spLocks noChangeArrowheads="1"/>
            </p:cNvSpPr>
            <p:nvPr/>
          </p:nvSpPr>
          <p:spPr bwMode="auto">
            <a:xfrm>
              <a:off x="462" y="1705"/>
              <a:ext cx="36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Oval 34"/>
            <p:cNvSpPr>
              <a:spLocks noChangeArrowheads="1"/>
            </p:cNvSpPr>
            <p:nvPr/>
          </p:nvSpPr>
          <p:spPr bwMode="auto">
            <a:xfrm>
              <a:off x="1134" y="1376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auto">
            <a:xfrm>
              <a:off x="1944" y="1455"/>
              <a:ext cx="36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0" name="Group 4"/>
          <p:cNvGrpSpPr>
            <a:grpSpLocks noChangeAspect="1"/>
          </p:cNvGrpSpPr>
          <p:nvPr/>
        </p:nvGrpSpPr>
        <p:grpSpPr bwMode="auto">
          <a:xfrm>
            <a:off x="5260975" y="1784700"/>
            <a:ext cx="2892425" cy="2894012"/>
            <a:chOff x="602" y="1125"/>
            <a:chExt cx="1822" cy="1823"/>
          </a:xfrm>
        </p:grpSpPr>
        <p:sp>
          <p:nvSpPr>
            <p:cNvPr id="41" name="Oval 6"/>
            <p:cNvSpPr>
              <a:spLocks noChangeArrowheads="1"/>
            </p:cNvSpPr>
            <p:nvPr/>
          </p:nvSpPr>
          <p:spPr bwMode="auto">
            <a:xfrm>
              <a:off x="602" y="1125"/>
              <a:ext cx="1822" cy="1823"/>
            </a:xfrm>
            <a:prstGeom prst="ellips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Line 7"/>
            <p:cNvSpPr>
              <a:spLocks noChangeShapeType="1"/>
            </p:cNvSpPr>
            <p:nvPr/>
          </p:nvSpPr>
          <p:spPr bwMode="auto">
            <a:xfrm>
              <a:off x="770" y="2563"/>
              <a:ext cx="1470" cy="23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 flipV="1">
              <a:off x="2240" y="1855"/>
              <a:ext cx="166" cy="73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 flipH="1" flipV="1">
              <a:off x="2031" y="1287"/>
              <a:ext cx="375" cy="56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 flipH="1" flipV="1">
              <a:off x="1225" y="1172"/>
              <a:ext cx="806" cy="115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auto">
            <a:xfrm flipH="1">
              <a:off x="675" y="1172"/>
              <a:ext cx="550" cy="50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Line 12"/>
            <p:cNvSpPr>
              <a:spLocks noChangeShapeType="1"/>
            </p:cNvSpPr>
            <p:nvPr/>
          </p:nvSpPr>
          <p:spPr bwMode="auto">
            <a:xfrm>
              <a:off x="675" y="1680"/>
              <a:ext cx="95" cy="883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Oval 18"/>
            <p:cNvSpPr>
              <a:spLocks noChangeArrowheads="1"/>
            </p:cNvSpPr>
            <p:nvPr/>
          </p:nvSpPr>
          <p:spPr bwMode="auto">
            <a:xfrm>
              <a:off x="752" y="2545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Oval 20"/>
            <p:cNvSpPr>
              <a:spLocks noChangeArrowheads="1"/>
            </p:cNvSpPr>
            <p:nvPr/>
          </p:nvSpPr>
          <p:spPr bwMode="auto">
            <a:xfrm>
              <a:off x="2221" y="2568"/>
              <a:ext cx="37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2387" y="1836"/>
              <a:ext cx="37" cy="37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Oval 24"/>
            <p:cNvSpPr>
              <a:spLocks noChangeArrowheads="1"/>
            </p:cNvSpPr>
            <p:nvPr/>
          </p:nvSpPr>
          <p:spPr bwMode="auto">
            <a:xfrm>
              <a:off x="2012" y="1269"/>
              <a:ext cx="37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Oval 26"/>
            <p:cNvSpPr>
              <a:spLocks noChangeArrowheads="1"/>
            </p:cNvSpPr>
            <p:nvPr/>
          </p:nvSpPr>
          <p:spPr bwMode="auto">
            <a:xfrm>
              <a:off x="1207" y="1154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Oval 28"/>
            <p:cNvSpPr>
              <a:spLocks noChangeArrowheads="1"/>
            </p:cNvSpPr>
            <p:nvPr/>
          </p:nvSpPr>
          <p:spPr bwMode="auto">
            <a:xfrm>
              <a:off x="657" y="1662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1270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861931"/>
            <a:ext cx="7886700" cy="1315031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与给定曲线围成闭合区域的各边长固定的折线段，所有顶点共圆，且圆与曲线交点处的切线垂直时，折线段与曲线围成的区域面积最大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2284413" y="1617663"/>
            <a:ext cx="4165600" cy="3198813"/>
            <a:chOff x="1439" y="1019"/>
            <a:chExt cx="2624" cy="2015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1805" y="2594"/>
              <a:ext cx="1892" cy="421"/>
            </a:xfrm>
            <a:custGeom>
              <a:avLst/>
              <a:gdLst>
                <a:gd name="T0" fmla="*/ 5999 w 5999"/>
                <a:gd name="T1" fmla="*/ 1334 h 1334"/>
                <a:gd name="T2" fmla="*/ 0 w 5999"/>
                <a:gd name="T3" fmla="*/ 1334 h 1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99" h="1334">
                  <a:moveTo>
                    <a:pt x="5999" y="1334"/>
                  </a:moveTo>
                  <a:cubicBezTo>
                    <a:pt x="4222" y="0"/>
                    <a:pt x="1777" y="0"/>
                    <a:pt x="0" y="1334"/>
                  </a:cubicBezTo>
                </a:path>
              </a:pathLst>
            </a:custGeom>
            <a:noFill/>
            <a:ln w="14288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1439" y="1019"/>
              <a:ext cx="2624" cy="1996"/>
            </a:xfrm>
            <a:custGeom>
              <a:avLst/>
              <a:gdLst>
                <a:gd name="T0" fmla="*/ 7159 w 8320"/>
                <a:gd name="T1" fmla="*/ 6325 h 6325"/>
                <a:gd name="T2" fmla="*/ 6683 w 8320"/>
                <a:gd name="T3" fmla="*/ 1300 h 6325"/>
                <a:gd name="T4" fmla="*/ 1636 w 8320"/>
                <a:gd name="T5" fmla="*/ 1300 h 6325"/>
                <a:gd name="T6" fmla="*/ 1159 w 8320"/>
                <a:gd name="T7" fmla="*/ 6325 h 6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0" h="6325">
                  <a:moveTo>
                    <a:pt x="7159" y="6325"/>
                  </a:moveTo>
                  <a:cubicBezTo>
                    <a:pt x="8320" y="4777"/>
                    <a:pt x="8113" y="2602"/>
                    <a:pt x="6683" y="1300"/>
                  </a:cubicBezTo>
                  <a:cubicBezTo>
                    <a:pt x="5252" y="0"/>
                    <a:pt x="3067" y="0"/>
                    <a:pt x="1636" y="1300"/>
                  </a:cubicBezTo>
                  <a:cubicBezTo>
                    <a:pt x="207" y="2602"/>
                    <a:pt x="0" y="4777"/>
                    <a:pt x="1159" y="6325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H="1" flipV="1">
              <a:off x="1589" y="2087"/>
              <a:ext cx="216" cy="92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V="1">
              <a:off x="1589" y="1461"/>
              <a:ext cx="333" cy="626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1922" y="1123"/>
              <a:ext cx="762" cy="33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H="1" flipV="1">
              <a:off x="2684" y="1123"/>
              <a:ext cx="996" cy="45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680" y="1573"/>
              <a:ext cx="17" cy="1442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1786" y="2996"/>
              <a:ext cx="38" cy="38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3678" y="2996"/>
              <a:ext cx="38" cy="38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1570" y="2068"/>
              <a:ext cx="37" cy="38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Oval 19"/>
            <p:cNvSpPr>
              <a:spLocks noChangeArrowheads="1"/>
            </p:cNvSpPr>
            <p:nvPr/>
          </p:nvSpPr>
          <p:spPr bwMode="auto">
            <a:xfrm>
              <a:off x="1903" y="1442"/>
              <a:ext cx="38" cy="38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1"/>
            <p:cNvSpPr>
              <a:spLocks noChangeArrowheads="1"/>
            </p:cNvSpPr>
            <p:nvPr/>
          </p:nvSpPr>
          <p:spPr bwMode="auto">
            <a:xfrm>
              <a:off x="2666" y="1104"/>
              <a:ext cx="37" cy="38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3"/>
            <p:cNvSpPr>
              <a:spLocks noChangeArrowheads="1"/>
            </p:cNvSpPr>
            <p:nvPr/>
          </p:nvSpPr>
          <p:spPr bwMode="auto">
            <a:xfrm>
              <a:off x="3661" y="1554"/>
              <a:ext cx="38" cy="38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6397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5822981" y="4200569"/>
            <a:ext cx="1282390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82947" y="3579541"/>
            <a:ext cx="0" cy="959004"/>
          </a:xfrm>
          <a:prstGeom prst="line">
            <a:avLst/>
          </a:prstGeom>
          <a:ln w="19050">
            <a:solidFill>
              <a:srgbClr val="FF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538545"/>
            <a:ext cx="7886700" cy="1638417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如何用一根绳在一个闭合区域内围出最大的面积？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绳的形状是圆弧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绳的两端的切线与区域边界的切线垂直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28078" y="1973766"/>
            <a:ext cx="2252546" cy="225254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74527" y="1836511"/>
            <a:ext cx="2364058" cy="236405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/>
        </p:nvSpPr>
        <p:spPr>
          <a:xfrm>
            <a:off x="4100118" y="3018540"/>
            <a:ext cx="2364058" cy="2364058"/>
          </a:xfrm>
          <a:prstGeom prst="arc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弧形 8"/>
          <p:cNvSpPr/>
          <p:nvPr/>
        </p:nvSpPr>
        <p:spPr>
          <a:xfrm>
            <a:off x="444284" y="3044495"/>
            <a:ext cx="2364058" cy="2364058"/>
          </a:xfrm>
          <a:prstGeom prst="arc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104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饼形 10"/>
          <p:cNvSpPr/>
          <p:nvPr/>
        </p:nvSpPr>
        <p:spPr>
          <a:xfrm>
            <a:off x="2634990" y="3656205"/>
            <a:ext cx="495300" cy="495300"/>
          </a:xfrm>
          <a:prstGeom prst="pie">
            <a:avLst>
              <a:gd name="adj1" fmla="val 10773473"/>
              <a:gd name="adj2" fmla="val 1834654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饼形 9"/>
          <p:cNvSpPr/>
          <p:nvPr/>
        </p:nvSpPr>
        <p:spPr>
          <a:xfrm>
            <a:off x="840524" y="3656205"/>
            <a:ext cx="495300" cy="495300"/>
          </a:xfrm>
          <a:prstGeom prst="pie">
            <a:avLst>
              <a:gd name="adj1" fmla="val 15323392"/>
              <a:gd name="adj2" fmla="val 717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672361"/>
            <a:ext cx="7886700" cy="1504602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给长度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的线段，构造四边形，使它的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条边的长度都为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，且面积最大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求解关键：构造正六边形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094525" y="3903855"/>
            <a:ext cx="18000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rot="-6300000">
            <a:off x="-38412" y="3034523"/>
            <a:ext cx="18000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rot="7560000">
            <a:off x="2523533" y="3175739"/>
            <a:ext cx="18000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28650" y="2165189"/>
            <a:ext cx="3323890" cy="2774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51"/>
          <p:cNvSpPr txBox="1"/>
          <p:nvPr/>
        </p:nvSpPr>
        <p:spPr>
          <a:xfrm>
            <a:off x="1088174" y="3516018"/>
            <a:ext cx="440917" cy="47285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θ</a:t>
            </a:r>
            <a:endParaRPr lang="zh-CN" sz="2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51"/>
          <p:cNvSpPr txBox="1"/>
          <p:nvPr/>
        </p:nvSpPr>
        <p:spPr>
          <a:xfrm>
            <a:off x="2760636" y="3489229"/>
            <a:ext cx="440917" cy="47285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800" i="1" dirty="0" smtClean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φ</a:t>
            </a:r>
            <a:endParaRPr lang="zh-CN" sz="2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5574457" y="4412399"/>
            <a:ext cx="18000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3600000">
            <a:off x="4229174" y="3632977"/>
            <a:ext cx="18000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rot="-3600000">
            <a:off x="6918107" y="3632976"/>
            <a:ext cx="18000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568107" y="1288802"/>
            <a:ext cx="18000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rot="3600000">
            <a:off x="6918107" y="2073197"/>
            <a:ext cx="18000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rot="-3600000">
            <a:off x="4224456" y="2073199"/>
            <a:ext cx="18000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674456" y="2841469"/>
            <a:ext cx="359365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4335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等周问题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226311"/>
            <a:ext cx="7886700" cy="1950651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给定长度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，在坐标系的第一象限寻找点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，分别在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轴与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轴上寻找点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和点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，使得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PM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PN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，且四边形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OMPN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面积最大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求解关键：构造正八边形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561170" y="3534936"/>
            <a:ext cx="20072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962615" y="1996068"/>
            <a:ext cx="0" cy="19626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962615" y="2408663"/>
            <a:ext cx="847492" cy="3122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810107" y="2720898"/>
            <a:ext cx="100361" cy="8140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51"/>
          <p:cNvSpPr txBox="1"/>
          <p:nvPr/>
        </p:nvSpPr>
        <p:spPr>
          <a:xfrm>
            <a:off x="7175768" y="1430334"/>
            <a:ext cx="337732" cy="44228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dirty="0" smtClean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P</a:t>
            </a:r>
            <a:endParaRPr lang="zh-CN" sz="2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文本框 51"/>
          <p:cNvSpPr txBox="1"/>
          <p:nvPr/>
        </p:nvSpPr>
        <p:spPr>
          <a:xfrm>
            <a:off x="2866817" y="2401275"/>
            <a:ext cx="337732" cy="44228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dirty="0" smtClean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P</a:t>
            </a:r>
            <a:endParaRPr lang="zh-CN" sz="2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本框 51"/>
          <p:cNvSpPr txBox="1"/>
          <p:nvPr/>
        </p:nvSpPr>
        <p:spPr>
          <a:xfrm>
            <a:off x="1624882" y="2180131"/>
            <a:ext cx="337732" cy="44228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dirty="0" smtClean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M</a:t>
            </a:r>
            <a:endParaRPr lang="zh-CN" sz="2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文本框 51"/>
          <p:cNvSpPr txBox="1"/>
          <p:nvPr/>
        </p:nvSpPr>
        <p:spPr>
          <a:xfrm>
            <a:off x="2808510" y="3451369"/>
            <a:ext cx="337732" cy="44228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dirty="0" smtClean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N</a:t>
            </a:r>
            <a:endParaRPr lang="zh-CN" sz="2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rot="-1380000">
            <a:off x="6331615" y="3635400"/>
            <a:ext cx="9000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rot="1320000">
            <a:off x="5500154" y="3642656"/>
            <a:ext cx="9000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rot="4020000">
            <a:off x="4906911" y="3059856"/>
            <a:ext cx="9000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rot="-4080000">
            <a:off x="6912034" y="3044719"/>
            <a:ext cx="9000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rot="-4080000">
            <a:off x="4901673" y="2230776"/>
            <a:ext cx="9000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rot="4020000">
            <a:off x="6907159" y="2215416"/>
            <a:ext cx="9000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rot="-1380000">
            <a:off x="5484474" y="1640094"/>
            <a:ext cx="9000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rot="1320000">
            <a:off x="6314545" y="1632771"/>
            <a:ext cx="9000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4613161" y="2637264"/>
            <a:ext cx="34109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6354932" y="1097280"/>
            <a:ext cx="0" cy="30604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51"/>
          <p:cNvSpPr txBox="1"/>
          <p:nvPr/>
        </p:nvSpPr>
        <p:spPr>
          <a:xfrm>
            <a:off x="7517610" y="2542453"/>
            <a:ext cx="337732" cy="44228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dirty="0" smtClean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M</a:t>
            </a:r>
            <a:endParaRPr lang="zh-CN" sz="2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文本框 51"/>
          <p:cNvSpPr txBox="1"/>
          <p:nvPr/>
        </p:nvSpPr>
        <p:spPr>
          <a:xfrm>
            <a:off x="6374388" y="1097280"/>
            <a:ext cx="337732" cy="44228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800" i="1" dirty="0" smtClean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宋体" panose="02010600030101010101" pitchFamily="2" charset="-122"/>
              </a:rPr>
              <a:t>N</a:t>
            </a:r>
            <a:endParaRPr lang="zh-CN" sz="2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344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椭圆相关的极值问题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525078"/>
            <a:ext cx="7886700" cy="2651884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过五点有且只有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条圆锥曲线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圆锥曲线的方程的一般形式可以写为：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xy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0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只需要把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个点的坐标代入，即可解出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个系数之间的比例关系，从而确定圆锥曲线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凸五边形有且只有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个外接椭圆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椭圆 3"/>
          <p:cNvSpPr/>
          <p:nvPr/>
        </p:nvSpPr>
        <p:spPr>
          <a:xfrm rot="-900000">
            <a:off x="2677887" y="1927154"/>
            <a:ext cx="3393777" cy="13614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14661" y="2180034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155096" y="1781262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814388" y="3165078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572983" y="3204415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885758" y="2445403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247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椭圆相关的极值问题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717773"/>
            <a:ext cx="7886700" cy="1459189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给定三角形，或凸四边形，外接椭圆有无数个，且椭圆的面积无上限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如何找到面积最小的外接椭圆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628650" y="1617385"/>
            <a:ext cx="3943350" cy="3100388"/>
          </a:xfrm>
          <a:custGeom>
            <a:avLst/>
            <a:gdLst>
              <a:gd name="T0" fmla="*/ 7307 w 7718"/>
              <a:gd name="T1" fmla="*/ 1986 h 6061"/>
              <a:gd name="T2" fmla="*/ 3116 w 7718"/>
              <a:gd name="T3" fmla="*/ 576 h 6061"/>
              <a:gd name="T4" fmla="*/ 410 w 7718"/>
              <a:gd name="T5" fmla="*/ 4074 h 6061"/>
              <a:gd name="T6" fmla="*/ 4602 w 7718"/>
              <a:gd name="T7" fmla="*/ 5484 h 6061"/>
              <a:gd name="T8" fmla="*/ 7307 w 7718"/>
              <a:gd name="T9" fmla="*/ 1986 h 60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718" h="6061">
                <a:moveTo>
                  <a:pt x="7307" y="1986"/>
                </a:moveTo>
                <a:cubicBezTo>
                  <a:pt x="6897" y="631"/>
                  <a:pt x="5020" y="0"/>
                  <a:pt x="3116" y="576"/>
                </a:cubicBezTo>
                <a:cubicBezTo>
                  <a:pt x="1211" y="1153"/>
                  <a:pt x="0" y="2719"/>
                  <a:pt x="410" y="4074"/>
                </a:cubicBezTo>
                <a:cubicBezTo>
                  <a:pt x="821" y="5429"/>
                  <a:pt x="2697" y="6061"/>
                  <a:pt x="4602" y="5484"/>
                </a:cubicBezTo>
                <a:cubicBezTo>
                  <a:pt x="6506" y="4907"/>
                  <a:pt x="7718" y="3341"/>
                  <a:pt x="7307" y="1986"/>
                </a:cubicBezTo>
                <a:close/>
              </a:path>
            </a:pathLst>
          </a:custGeom>
          <a:noFill/>
          <a:ln w="15875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898525" y="1803123"/>
            <a:ext cx="2043113" cy="2046288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898525" y="3849410"/>
            <a:ext cx="3063875" cy="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 flipV="1">
            <a:off x="2941638" y="1803123"/>
            <a:ext cx="1020763" cy="2046288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2911475" y="1772960"/>
            <a:ext cx="60325" cy="61913"/>
          </a:xfrm>
          <a:prstGeom prst="ellipse">
            <a:avLst/>
          </a:prstGeom>
          <a:solidFill>
            <a:srgbClr val="FFFFFF"/>
          </a:solidFill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2911475" y="1772960"/>
            <a:ext cx="60325" cy="619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866775" y="3817660"/>
            <a:ext cx="61913" cy="6191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866775" y="3817660"/>
            <a:ext cx="61913" cy="619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3932238" y="3817660"/>
            <a:ext cx="61913" cy="6191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3932238" y="3817660"/>
            <a:ext cx="61913" cy="6191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20"/>
          <p:cNvSpPr>
            <a:spLocks/>
          </p:cNvSpPr>
          <p:nvPr/>
        </p:nvSpPr>
        <p:spPr bwMode="auto">
          <a:xfrm>
            <a:off x="4445000" y="1914526"/>
            <a:ext cx="4102100" cy="2379663"/>
          </a:xfrm>
          <a:custGeom>
            <a:avLst/>
            <a:gdLst>
              <a:gd name="T0" fmla="*/ 9911 w 10139"/>
              <a:gd name="T1" fmla="*/ 2137 h 5878"/>
              <a:gd name="T2" fmla="*/ 4656 w 10139"/>
              <a:gd name="T3" fmla="*/ 443 h 5878"/>
              <a:gd name="T4" fmla="*/ 228 w 10139"/>
              <a:gd name="T5" fmla="*/ 3740 h 5878"/>
              <a:gd name="T6" fmla="*/ 5482 w 10139"/>
              <a:gd name="T7" fmla="*/ 5435 h 5878"/>
              <a:gd name="T8" fmla="*/ 9911 w 10139"/>
              <a:gd name="T9" fmla="*/ 2137 h 58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139" h="5878">
                <a:moveTo>
                  <a:pt x="9911" y="2137"/>
                </a:moveTo>
                <a:cubicBezTo>
                  <a:pt x="9682" y="759"/>
                  <a:pt x="7330" y="0"/>
                  <a:pt x="4656" y="443"/>
                </a:cubicBezTo>
                <a:cubicBezTo>
                  <a:pt x="1982" y="885"/>
                  <a:pt x="0" y="2362"/>
                  <a:pt x="228" y="3740"/>
                </a:cubicBezTo>
                <a:cubicBezTo>
                  <a:pt x="456" y="5119"/>
                  <a:pt x="2809" y="5878"/>
                  <a:pt x="5482" y="5435"/>
                </a:cubicBezTo>
                <a:cubicBezTo>
                  <a:pt x="8156" y="4993"/>
                  <a:pt x="10139" y="3516"/>
                  <a:pt x="9911" y="2137"/>
                </a:cubicBezTo>
                <a:close/>
              </a:path>
            </a:pathLst>
          </a:custGeom>
          <a:noFill/>
          <a:ln w="12700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H="1">
            <a:off x="4643438" y="2052639"/>
            <a:ext cx="2022475" cy="1620838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4643438" y="3673476"/>
            <a:ext cx="3235325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7878763" y="2459039"/>
            <a:ext cx="404813" cy="1214438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 flipV="1">
            <a:off x="6665913" y="2052639"/>
            <a:ext cx="1617663" cy="40640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6665913" y="2052639"/>
            <a:ext cx="1212850" cy="1620838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V="1">
            <a:off x="4643438" y="2459039"/>
            <a:ext cx="3640138" cy="1214438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6665913" y="2052639"/>
            <a:ext cx="566738" cy="75565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6642100" y="2028826"/>
            <a:ext cx="47625" cy="49213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6642100" y="2028826"/>
            <a:ext cx="47625" cy="4921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4618038" y="3648076"/>
            <a:ext cx="49213" cy="49213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4618038" y="3648076"/>
            <a:ext cx="49213" cy="4921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2"/>
          <p:cNvSpPr>
            <a:spLocks noChangeArrowheads="1"/>
          </p:cNvSpPr>
          <p:nvPr/>
        </p:nvSpPr>
        <p:spPr bwMode="auto">
          <a:xfrm>
            <a:off x="7854950" y="3648076"/>
            <a:ext cx="47625" cy="49213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33"/>
          <p:cNvSpPr>
            <a:spLocks noChangeArrowheads="1"/>
          </p:cNvSpPr>
          <p:nvPr/>
        </p:nvSpPr>
        <p:spPr bwMode="auto">
          <a:xfrm>
            <a:off x="7854950" y="3648076"/>
            <a:ext cx="47625" cy="4921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8259763" y="2433639"/>
            <a:ext cx="47625" cy="49213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8259763" y="2433639"/>
            <a:ext cx="47625" cy="4921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7207250" y="2784476"/>
            <a:ext cx="49213" cy="49213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7207250" y="2784476"/>
            <a:ext cx="49213" cy="4921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499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仿射变换的定义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505093"/>
            <a:ext cx="7886700" cy="167187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Ap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统一的形变</a:t>
            </a:r>
            <a:r>
              <a:rPr lang="en-US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，加整体的平移</a:t>
            </a:r>
            <a:r>
              <a:rPr lang="en-US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玻璃板上的图案被平行光束投影到另一平面上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平行四边形 3"/>
          <p:cNvSpPr/>
          <p:nvPr/>
        </p:nvSpPr>
        <p:spPr>
          <a:xfrm>
            <a:off x="3345365" y="3501484"/>
            <a:ext cx="3245006" cy="880946"/>
          </a:xfrm>
          <a:prstGeom prst="parallelogram">
            <a:avLst>
              <a:gd name="adj" fmla="val 12954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3345366" y="2652597"/>
            <a:ext cx="596386" cy="17298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4482790" y="1790700"/>
            <a:ext cx="597210" cy="1727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3947154" y="1786870"/>
            <a:ext cx="1137424" cy="8657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等腰三角形 12"/>
          <p:cNvSpPr/>
          <p:nvPr/>
        </p:nvSpPr>
        <p:spPr>
          <a:xfrm>
            <a:off x="4168465" y="3749598"/>
            <a:ext cx="936703" cy="401444"/>
          </a:xfrm>
          <a:prstGeom prst="triangle">
            <a:avLst>
              <a:gd name="adj" fmla="val 10000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3791415" y="2881313"/>
            <a:ext cx="311479" cy="843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100995" y="2883985"/>
            <a:ext cx="376393" cy="906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3791415" y="2974589"/>
            <a:ext cx="685973" cy="7499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791415" y="3724507"/>
            <a:ext cx="361064" cy="43211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13" idx="3"/>
          </p:cNvCxnSpPr>
          <p:nvPr/>
        </p:nvCxnSpPr>
        <p:spPr>
          <a:xfrm>
            <a:off x="4106091" y="2882590"/>
            <a:ext cx="999077" cy="12684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13" idx="0"/>
          </p:cNvCxnSpPr>
          <p:nvPr/>
        </p:nvCxnSpPr>
        <p:spPr>
          <a:xfrm>
            <a:off x="4479478" y="2977377"/>
            <a:ext cx="625690" cy="7722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6894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仿射变换的性质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529959"/>
            <a:ext cx="7886700" cy="1647003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两条直线的平行关系不变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同一条直线上的线段比例不变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两个闭合图形的面积比例不变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195654" y="2466544"/>
            <a:ext cx="144000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1195654" y="3034103"/>
            <a:ext cx="144000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760552" y="2614428"/>
            <a:ext cx="1728000" cy="7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730592" y="2582898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329683" y="2831173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445932" y="3289036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58758" y="2463897"/>
            <a:ext cx="1260000" cy="12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358758" y="2463897"/>
            <a:ext cx="1260000" cy="12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26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仿射变换的确定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372303"/>
                <a:ext cx="7886700" cy="1804660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任意一对非退化三角形可以确定一个仿射变换</a:t>
                </a:r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372303"/>
                <a:ext cx="7886700" cy="1804660"/>
              </a:xfrm>
              <a:blipFill>
                <a:blip r:embed="rId3"/>
                <a:stretch>
                  <a:fillRect l="-1391" t="-5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等腰三角形 3"/>
          <p:cNvSpPr/>
          <p:nvPr/>
        </p:nvSpPr>
        <p:spPr>
          <a:xfrm>
            <a:off x="1461193" y="2196663"/>
            <a:ext cx="2617076" cy="1639613"/>
          </a:xfrm>
          <a:prstGeom prst="triangle">
            <a:avLst>
              <a:gd name="adj" fmla="val 7632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 rot="-3600000">
            <a:off x="5225525" y="1795832"/>
            <a:ext cx="1726674" cy="1723695"/>
          </a:xfrm>
          <a:prstGeom prst="triangle">
            <a:avLst>
              <a:gd name="adj" fmla="val 192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289882" y="1724518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0487" y="3574666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04952" y="357466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55228" y="2396069"/>
            <a:ext cx="511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00249" y="3711875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B’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24755" y="198612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C’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332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仿射等价条件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803373"/>
            <a:ext cx="7886700" cy="2373589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两个图形之间能互相用仿射变换变为另一个图形，则它们仿射等价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任意两个非退化的平面三角形都仿射等价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两个四边形仿射等价的条件，是对角线交点分割对角线的比例对应相等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H="1">
            <a:off x="1460501" y="1924051"/>
            <a:ext cx="401638" cy="160655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460501" y="3530601"/>
            <a:ext cx="240665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H="1" flipV="1">
            <a:off x="3465513" y="2325688"/>
            <a:ext cx="401638" cy="1204913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 flipV="1">
            <a:off x="1862138" y="1924051"/>
            <a:ext cx="1603375" cy="401638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4468813" y="1924051"/>
            <a:ext cx="2005013" cy="160655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4468813" y="3530601"/>
            <a:ext cx="2405063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6873876" y="2325688"/>
            <a:ext cx="803275" cy="1204913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H="1" flipV="1">
            <a:off x="6473826" y="1924051"/>
            <a:ext cx="1203325" cy="401638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H="1" flipV="1">
            <a:off x="1862138" y="1924051"/>
            <a:ext cx="973138" cy="779463"/>
          </a:xfrm>
          <a:prstGeom prst="line">
            <a:avLst/>
          </a:prstGeom>
          <a:noFill/>
          <a:ln w="12700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1460501" y="2703513"/>
            <a:ext cx="1374775" cy="827088"/>
          </a:xfrm>
          <a:prstGeom prst="line">
            <a:avLst/>
          </a:prstGeom>
          <a:noFill/>
          <a:ln w="12700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2835276" y="2703513"/>
            <a:ext cx="1031875" cy="827088"/>
          </a:xfrm>
          <a:prstGeom prst="line">
            <a:avLst/>
          </a:prstGeom>
          <a:noFill/>
          <a:ln w="12700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 flipV="1">
            <a:off x="2835276" y="2325688"/>
            <a:ext cx="630238" cy="377825"/>
          </a:xfrm>
          <a:prstGeom prst="line">
            <a:avLst/>
          </a:prstGeom>
          <a:noFill/>
          <a:ln w="12700" cap="rnd">
            <a:solidFill>
              <a:srgbClr val="80808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 flipH="1" flipV="1">
            <a:off x="6473826" y="1924051"/>
            <a:ext cx="195263" cy="779463"/>
          </a:xfrm>
          <a:prstGeom prst="line">
            <a:avLst/>
          </a:prstGeom>
          <a:noFill/>
          <a:ln w="12700" cap="rnd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 flipH="1">
            <a:off x="4468813" y="2703513"/>
            <a:ext cx="2200275" cy="827088"/>
          </a:xfrm>
          <a:prstGeom prst="line">
            <a:avLst/>
          </a:prstGeom>
          <a:noFill/>
          <a:ln w="12700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6669088" y="2703513"/>
            <a:ext cx="204788" cy="827088"/>
          </a:xfrm>
          <a:prstGeom prst="line">
            <a:avLst/>
          </a:prstGeom>
          <a:noFill/>
          <a:ln w="12700" cap="rnd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V="1">
            <a:off x="6669088" y="2325688"/>
            <a:ext cx="1008063" cy="377825"/>
          </a:xfrm>
          <a:prstGeom prst="line">
            <a:avLst/>
          </a:prstGeom>
          <a:noFill/>
          <a:ln w="12700" cap="rnd">
            <a:solidFill>
              <a:srgbClr val="80808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Oval 22"/>
          <p:cNvSpPr>
            <a:spLocks noChangeArrowheads="1"/>
          </p:cNvSpPr>
          <p:nvPr/>
        </p:nvSpPr>
        <p:spPr bwMode="auto">
          <a:xfrm>
            <a:off x="1838326" y="1900238"/>
            <a:ext cx="47625" cy="47625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1838326" y="1900238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1436688" y="3506788"/>
            <a:ext cx="49213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1436688" y="3506788"/>
            <a:ext cx="49213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3843338" y="3506788"/>
            <a:ext cx="47625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3843338" y="3506788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3441701" y="2301876"/>
            <a:ext cx="49213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3441701" y="2301876"/>
            <a:ext cx="49213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6450013" y="1900238"/>
            <a:ext cx="47625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6450013" y="1900238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2"/>
          <p:cNvSpPr>
            <a:spLocks noChangeArrowheads="1"/>
          </p:cNvSpPr>
          <p:nvPr/>
        </p:nvSpPr>
        <p:spPr bwMode="auto">
          <a:xfrm>
            <a:off x="4445001" y="3506788"/>
            <a:ext cx="47625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33"/>
          <p:cNvSpPr>
            <a:spLocks noChangeArrowheads="1"/>
          </p:cNvSpPr>
          <p:nvPr/>
        </p:nvSpPr>
        <p:spPr bwMode="auto">
          <a:xfrm>
            <a:off x="4445001" y="3506788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6850063" y="3506788"/>
            <a:ext cx="49213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6850063" y="3506788"/>
            <a:ext cx="49213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7653338" y="2301876"/>
            <a:ext cx="47625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7653338" y="2301876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38"/>
          <p:cNvSpPr>
            <a:spLocks noChangeArrowheads="1"/>
          </p:cNvSpPr>
          <p:nvPr/>
        </p:nvSpPr>
        <p:spPr bwMode="auto">
          <a:xfrm>
            <a:off x="2811463" y="2679701"/>
            <a:ext cx="49213" cy="49213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39"/>
          <p:cNvSpPr>
            <a:spLocks noChangeArrowheads="1"/>
          </p:cNvSpPr>
          <p:nvPr/>
        </p:nvSpPr>
        <p:spPr bwMode="auto">
          <a:xfrm>
            <a:off x="2811463" y="2679701"/>
            <a:ext cx="49213" cy="4921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40"/>
          <p:cNvSpPr>
            <a:spLocks noChangeArrowheads="1"/>
          </p:cNvSpPr>
          <p:nvPr/>
        </p:nvSpPr>
        <p:spPr bwMode="auto">
          <a:xfrm>
            <a:off x="6643688" y="2679701"/>
            <a:ext cx="49213" cy="49213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Oval 41"/>
          <p:cNvSpPr>
            <a:spLocks noChangeArrowheads="1"/>
          </p:cNvSpPr>
          <p:nvPr/>
        </p:nvSpPr>
        <p:spPr bwMode="auto">
          <a:xfrm>
            <a:off x="6643688" y="2679701"/>
            <a:ext cx="49213" cy="4921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1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三角形极小外接椭圆问题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049077"/>
            <a:ext cx="7886700" cy="1127885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正三角形的最小外接椭圆是它的外接圆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任意三角形都与正三角形仿射等价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795338" y="1773238"/>
            <a:ext cx="4086225" cy="3214688"/>
          </a:xfrm>
          <a:custGeom>
            <a:avLst/>
            <a:gdLst>
              <a:gd name="T0" fmla="*/ 7307 w 7718"/>
              <a:gd name="T1" fmla="*/ 1986 h 6061"/>
              <a:gd name="T2" fmla="*/ 3116 w 7718"/>
              <a:gd name="T3" fmla="*/ 576 h 6061"/>
              <a:gd name="T4" fmla="*/ 410 w 7718"/>
              <a:gd name="T5" fmla="*/ 4074 h 6061"/>
              <a:gd name="T6" fmla="*/ 4602 w 7718"/>
              <a:gd name="T7" fmla="*/ 5484 h 6061"/>
              <a:gd name="T8" fmla="*/ 7307 w 7718"/>
              <a:gd name="T9" fmla="*/ 1986 h 60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718" h="6061">
                <a:moveTo>
                  <a:pt x="7307" y="1986"/>
                </a:moveTo>
                <a:cubicBezTo>
                  <a:pt x="6897" y="631"/>
                  <a:pt x="5020" y="0"/>
                  <a:pt x="3116" y="576"/>
                </a:cubicBezTo>
                <a:cubicBezTo>
                  <a:pt x="1211" y="1153"/>
                  <a:pt x="0" y="2719"/>
                  <a:pt x="410" y="4074"/>
                </a:cubicBezTo>
                <a:cubicBezTo>
                  <a:pt x="821" y="5429"/>
                  <a:pt x="2697" y="6061"/>
                  <a:pt x="4602" y="5484"/>
                </a:cubicBezTo>
                <a:cubicBezTo>
                  <a:pt x="6506" y="4907"/>
                  <a:pt x="7718" y="3341"/>
                  <a:pt x="7307" y="1986"/>
                </a:cubicBezTo>
                <a:close/>
              </a:path>
            </a:pathLst>
          </a:custGeom>
          <a:noFill/>
          <a:ln w="15875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5043488" y="1789113"/>
            <a:ext cx="3176588" cy="3182938"/>
          </a:xfrm>
          <a:prstGeom prst="ellipse">
            <a:avLst/>
          </a:prstGeom>
          <a:noFill/>
          <a:ln w="15875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H="1">
            <a:off x="1073151" y="1965326"/>
            <a:ext cx="2117725" cy="2122488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1073151" y="4087813"/>
            <a:ext cx="3176588" cy="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 flipV="1">
            <a:off x="3190876" y="1965326"/>
            <a:ext cx="1058863" cy="2122488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5256213" y="1789113"/>
            <a:ext cx="1376363" cy="238760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5256213" y="4176713"/>
            <a:ext cx="2751138" cy="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H="1" flipV="1">
            <a:off x="6632576" y="1789113"/>
            <a:ext cx="1374775" cy="238760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3159126" y="1933576"/>
            <a:ext cx="63500" cy="63500"/>
          </a:xfrm>
          <a:prstGeom prst="ellipse">
            <a:avLst/>
          </a:prstGeom>
          <a:solidFill>
            <a:srgbClr val="FFFFFF"/>
          </a:solidFill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3159126" y="1933576"/>
            <a:ext cx="63500" cy="63500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1041401" y="4056063"/>
            <a:ext cx="63500" cy="63500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1041401" y="4056063"/>
            <a:ext cx="63500" cy="63500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4217988" y="4056063"/>
            <a:ext cx="63500" cy="63500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4217988" y="4056063"/>
            <a:ext cx="63500" cy="63500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Oval 20"/>
          <p:cNvSpPr>
            <a:spLocks noChangeArrowheads="1"/>
          </p:cNvSpPr>
          <p:nvPr/>
        </p:nvSpPr>
        <p:spPr bwMode="auto">
          <a:xfrm>
            <a:off x="6600826" y="1757363"/>
            <a:ext cx="63500" cy="63500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Oval 21"/>
          <p:cNvSpPr>
            <a:spLocks noChangeArrowheads="1"/>
          </p:cNvSpPr>
          <p:nvPr/>
        </p:nvSpPr>
        <p:spPr bwMode="auto">
          <a:xfrm>
            <a:off x="6600826" y="1757363"/>
            <a:ext cx="63500" cy="63500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Oval 22"/>
          <p:cNvSpPr>
            <a:spLocks noChangeArrowheads="1"/>
          </p:cNvSpPr>
          <p:nvPr/>
        </p:nvSpPr>
        <p:spPr bwMode="auto">
          <a:xfrm>
            <a:off x="5224463" y="4144963"/>
            <a:ext cx="63500" cy="63500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5224463" y="4144963"/>
            <a:ext cx="63500" cy="63500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7975601" y="4144963"/>
            <a:ext cx="63500" cy="63500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7975601" y="4144963"/>
            <a:ext cx="63500" cy="63500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30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凸四边形最小外接椭圆问题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给定凸四边形，如何构造面积最小的外接椭圆？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分析思路：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无论椭圆如何变化，凸四边形面积不变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在仿射变换中，椭圆与凸四边形的面积之比在变换前后不变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如果一个与给定凸四边形仿射等价的四边形的最小外接椭圆已找到，则问题解决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在与给定的凸四边形仿射等价的四边形中，存在圆内接四边形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00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凸四边形最小外接椭圆问题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存在一个与给定的凸四边形仿射等价的圆内接四边形，它的外接圆恰好是它的最小外接椭圆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在与给定的凸四边形仿射等价的圆内接四边形中，如果仅改变对角线的夹角，则四边形依然有外接圆，且与给定的凸四边形仿射等价条件依然满足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每一个给定对角线夹角构造的四边形，它的外接圆对应着给定凸四边形的一个外接椭圆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当等价四边形的外接圆与四边形面积之比最小时，对应的外接椭圆即是问题的解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039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凸四边形最小外接椭圆问题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414345"/>
            <a:ext cx="7886700" cy="1762618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问题转化为：给定圆内接四边形对角线交点分割对角线的比值，通过合理调整对角线的夹角，使得四边形外接圆与四边形面积之比最小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3146425" y="1563195"/>
            <a:ext cx="2851150" cy="2851150"/>
            <a:chOff x="1986" y="1089"/>
            <a:chExt cx="1796" cy="1796"/>
          </a:xfrm>
        </p:grpSpPr>
        <p:sp>
          <p:nvSpPr>
            <p:cNvPr id="5" name="Oval 6"/>
            <p:cNvSpPr>
              <a:spLocks noChangeArrowheads="1"/>
            </p:cNvSpPr>
            <p:nvPr/>
          </p:nvSpPr>
          <p:spPr bwMode="auto">
            <a:xfrm>
              <a:off x="1986" y="1089"/>
              <a:ext cx="1796" cy="1796"/>
            </a:xfrm>
            <a:prstGeom prst="ellipse">
              <a:avLst/>
            </a:prstGeom>
            <a:noFill/>
            <a:ln w="142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H="1">
              <a:off x="2149" y="1226"/>
              <a:ext cx="257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 flipV="1">
              <a:off x="2149" y="2244"/>
              <a:ext cx="1595" cy="2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H="1" flipV="1">
              <a:off x="3361" y="1226"/>
              <a:ext cx="383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2406" y="1226"/>
              <a:ext cx="955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2406" y="1226"/>
              <a:ext cx="1338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flipH="1">
              <a:off x="2149" y="1226"/>
              <a:ext cx="1212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Oval 17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Oval 23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Oval 24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324638" y="140209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043772" y="3587913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83015" y="316213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68914" y="1403295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491305" y="1987027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96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仿射等价圆内接四边形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414345"/>
            <a:ext cx="7886700" cy="1762618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设四边形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内接于圆，对角线交于点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根据圆幂定理，有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|·|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|·|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3146425" y="1563195"/>
            <a:ext cx="2851150" cy="2851150"/>
            <a:chOff x="1986" y="1089"/>
            <a:chExt cx="1796" cy="1796"/>
          </a:xfrm>
        </p:grpSpPr>
        <p:sp>
          <p:nvSpPr>
            <p:cNvPr id="5" name="Oval 6"/>
            <p:cNvSpPr>
              <a:spLocks noChangeArrowheads="1"/>
            </p:cNvSpPr>
            <p:nvPr/>
          </p:nvSpPr>
          <p:spPr bwMode="auto">
            <a:xfrm>
              <a:off x="1986" y="1089"/>
              <a:ext cx="1796" cy="1796"/>
            </a:xfrm>
            <a:prstGeom prst="ellipse">
              <a:avLst/>
            </a:prstGeom>
            <a:noFill/>
            <a:ln w="142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H="1">
              <a:off x="2149" y="1226"/>
              <a:ext cx="257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 flipV="1">
              <a:off x="2149" y="2244"/>
              <a:ext cx="1595" cy="2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H="1" flipV="1">
              <a:off x="3361" y="1226"/>
              <a:ext cx="383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2406" y="1226"/>
              <a:ext cx="955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2406" y="1226"/>
              <a:ext cx="1338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flipH="1">
              <a:off x="2149" y="1226"/>
              <a:ext cx="1212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Oval 17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Oval 23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Oval 24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324638" y="140209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043772" y="3587913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83015" y="316213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68914" y="1403295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491305" y="1987027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802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饼形 28"/>
          <p:cNvSpPr/>
          <p:nvPr/>
        </p:nvSpPr>
        <p:spPr>
          <a:xfrm>
            <a:off x="4483436" y="2340706"/>
            <a:ext cx="429226" cy="556836"/>
          </a:xfrm>
          <a:prstGeom prst="pie">
            <a:avLst>
              <a:gd name="adj1" fmla="val 8023256"/>
              <a:gd name="adj2" fmla="val 13062733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仿射等价圆内接四边形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498428"/>
            <a:ext cx="7886700" cy="1678535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∠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endParaRPr lang="zh-CN" altLang="en-US" i="1" baseline="30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3152775" y="1728788"/>
            <a:ext cx="2851150" cy="2851150"/>
            <a:chOff x="1986" y="1089"/>
            <a:chExt cx="1796" cy="1796"/>
          </a:xfrm>
        </p:grpSpPr>
        <p:sp>
          <p:nvSpPr>
            <p:cNvPr id="5" name="Oval 6"/>
            <p:cNvSpPr>
              <a:spLocks noChangeArrowheads="1"/>
            </p:cNvSpPr>
            <p:nvPr/>
          </p:nvSpPr>
          <p:spPr bwMode="auto">
            <a:xfrm>
              <a:off x="1986" y="1089"/>
              <a:ext cx="1796" cy="1796"/>
            </a:xfrm>
            <a:prstGeom prst="ellipse">
              <a:avLst/>
            </a:prstGeom>
            <a:noFill/>
            <a:ln w="142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H="1">
              <a:off x="2149" y="1226"/>
              <a:ext cx="257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 flipV="1">
              <a:off x="2149" y="2244"/>
              <a:ext cx="1595" cy="2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H="1" flipV="1">
              <a:off x="3361" y="1226"/>
              <a:ext cx="383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2406" y="1226"/>
              <a:ext cx="955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2406" y="1226"/>
              <a:ext cx="1338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flipH="1">
              <a:off x="2149" y="1226"/>
              <a:ext cx="1212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Oval 17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Oval 23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Oval 24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181636" y="2431830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kumimoji="0" lang="zh-CN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60607" y="1873932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30322" y="2612394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82250" y="1939738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815513" y="2885774"/>
            <a:ext cx="44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340698" y="1628800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059832" y="3814622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899075" y="338884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284974" y="1630004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507365" y="221373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492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四边形边长的计算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624551"/>
            <a:ext cx="7886700" cy="155241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中使用余弦定理：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2|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|·|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|cos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2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400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sz="2400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饼形 30"/>
          <p:cNvSpPr/>
          <p:nvPr/>
        </p:nvSpPr>
        <p:spPr>
          <a:xfrm>
            <a:off x="4483436" y="2340706"/>
            <a:ext cx="429226" cy="556836"/>
          </a:xfrm>
          <a:prstGeom prst="pie">
            <a:avLst>
              <a:gd name="adj1" fmla="val 8023256"/>
              <a:gd name="adj2" fmla="val 13062733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9" name="Group 4"/>
          <p:cNvGrpSpPr>
            <a:grpSpLocks noChangeAspect="1"/>
          </p:cNvGrpSpPr>
          <p:nvPr/>
        </p:nvGrpSpPr>
        <p:grpSpPr bwMode="auto">
          <a:xfrm>
            <a:off x="3152775" y="1728788"/>
            <a:ext cx="2851150" cy="2851150"/>
            <a:chOff x="1986" y="1089"/>
            <a:chExt cx="1796" cy="1796"/>
          </a:xfrm>
        </p:grpSpPr>
        <p:sp>
          <p:nvSpPr>
            <p:cNvPr id="40" name="Oval 6"/>
            <p:cNvSpPr>
              <a:spLocks noChangeArrowheads="1"/>
            </p:cNvSpPr>
            <p:nvPr/>
          </p:nvSpPr>
          <p:spPr bwMode="auto">
            <a:xfrm>
              <a:off x="1986" y="1089"/>
              <a:ext cx="1796" cy="1796"/>
            </a:xfrm>
            <a:prstGeom prst="ellipse">
              <a:avLst/>
            </a:prstGeom>
            <a:noFill/>
            <a:ln w="142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Line 7"/>
            <p:cNvSpPr>
              <a:spLocks noChangeShapeType="1"/>
            </p:cNvSpPr>
            <p:nvPr/>
          </p:nvSpPr>
          <p:spPr bwMode="auto">
            <a:xfrm flipH="1">
              <a:off x="2149" y="1226"/>
              <a:ext cx="257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Line 8"/>
            <p:cNvSpPr>
              <a:spLocks noChangeShapeType="1"/>
            </p:cNvSpPr>
            <p:nvPr/>
          </p:nvSpPr>
          <p:spPr bwMode="auto">
            <a:xfrm flipV="1">
              <a:off x="2149" y="2244"/>
              <a:ext cx="1595" cy="2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Line 9"/>
            <p:cNvSpPr>
              <a:spLocks noChangeShapeType="1"/>
            </p:cNvSpPr>
            <p:nvPr/>
          </p:nvSpPr>
          <p:spPr bwMode="auto">
            <a:xfrm flipH="1" flipV="1">
              <a:off x="3361" y="1226"/>
              <a:ext cx="383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Line 10"/>
            <p:cNvSpPr>
              <a:spLocks noChangeShapeType="1"/>
            </p:cNvSpPr>
            <p:nvPr/>
          </p:nvSpPr>
          <p:spPr bwMode="auto">
            <a:xfrm flipH="1">
              <a:off x="2406" y="1226"/>
              <a:ext cx="955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Line 11"/>
            <p:cNvSpPr>
              <a:spLocks noChangeShapeType="1"/>
            </p:cNvSpPr>
            <p:nvPr/>
          </p:nvSpPr>
          <p:spPr bwMode="auto">
            <a:xfrm>
              <a:off x="2406" y="1226"/>
              <a:ext cx="1338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 flipH="1">
              <a:off x="2149" y="1226"/>
              <a:ext cx="1212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Oval 13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Oval 14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Oval 15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Oval 16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Oval 17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Oval 18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Oval 19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Oval 20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Oval 21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Oval 22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Oval 23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Oval 24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4181636" y="2431830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kumimoji="0" lang="zh-CN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160607" y="1873932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130322" y="2612394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782250" y="1939738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815513" y="2885774"/>
            <a:ext cx="44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340698" y="1628800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059832" y="3814622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899075" y="338884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284974" y="1630004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507365" y="221373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072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四边形边长的计算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624551"/>
            <a:ext cx="7886700" cy="155241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中使用余弦定理：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2|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|·|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|cos(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400" i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+ 2</a:t>
            </a:r>
            <a:r>
              <a:rPr lang="en-US" altLang="zh-CN" sz="2400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sz="2400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sz="2400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饼形 30"/>
          <p:cNvSpPr/>
          <p:nvPr/>
        </p:nvSpPr>
        <p:spPr>
          <a:xfrm>
            <a:off x="4483436" y="2340706"/>
            <a:ext cx="429226" cy="556836"/>
          </a:xfrm>
          <a:prstGeom prst="pie">
            <a:avLst>
              <a:gd name="adj1" fmla="val 8023256"/>
              <a:gd name="adj2" fmla="val 13062733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9" name="Group 4"/>
          <p:cNvGrpSpPr>
            <a:grpSpLocks noChangeAspect="1"/>
          </p:cNvGrpSpPr>
          <p:nvPr/>
        </p:nvGrpSpPr>
        <p:grpSpPr bwMode="auto">
          <a:xfrm>
            <a:off x="3152775" y="1728788"/>
            <a:ext cx="2851150" cy="2851150"/>
            <a:chOff x="1986" y="1089"/>
            <a:chExt cx="1796" cy="1796"/>
          </a:xfrm>
        </p:grpSpPr>
        <p:sp>
          <p:nvSpPr>
            <p:cNvPr id="40" name="Oval 6"/>
            <p:cNvSpPr>
              <a:spLocks noChangeArrowheads="1"/>
            </p:cNvSpPr>
            <p:nvPr/>
          </p:nvSpPr>
          <p:spPr bwMode="auto">
            <a:xfrm>
              <a:off x="1986" y="1089"/>
              <a:ext cx="1796" cy="1796"/>
            </a:xfrm>
            <a:prstGeom prst="ellipse">
              <a:avLst/>
            </a:prstGeom>
            <a:noFill/>
            <a:ln w="142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Line 7"/>
            <p:cNvSpPr>
              <a:spLocks noChangeShapeType="1"/>
            </p:cNvSpPr>
            <p:nvPr/>
          </p:nvSpPr>
          <p:spPr bwMode="auto">
            <a:xfrm flipH="1">
              <a:off x="2149" y="1226"/>
              <a:ext cx="257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Line 8"/>
            <p:cNvSpPr>
              <a:spLocks noChangeShapeType="1"/>
            </p:cNvSpPr>
            <p:nvPr/>
          </p:nvSpPr>
          <p:spPr bwMode="auto">
            <a:xfrm flipV="1">
              <a:off x="2149" y="2244"/>
              <a:ext cx="1595" cy="2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Line 9"/>
            <p:cNvSpPr>
              <a:spLocks noChangeShapeType="1"/>
            </p:cNvSpPr>
            <p:nvPr/>
          </p:nvSpPr>
          <p:spPr bwMode="auto">
            <a:xfrm flipH="1" flipV="1">
              <a:off x="3361" y="1226"/>
              <a:ext cx="383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Line 10"/>
            <p:cNvSpPr>
              <a:spLocks noChangeShapeType="1"/>
            </p:cNvSpPr>
            <p:nvPr/>
          </p:nvSpPr>
          <p:spPr bwMode="auto">
            <a:xfrm flipH="1">
              <a:off x="2406" y="1226"/>
              <a:ext cx="955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Line 11"/>
            <p:cNvSpPr>
              <a:spLocks noChangeShapeType="1"/>
            </p:cNvSpPr>
            <p:nvPr/>
          </p:nvSpPr>
          <p:spPr bwMode="auto">
            <a:xfrm>
              <a:off x="2406" y="1226"/>
              <a:ext cx="1338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 flipH="1">
              <a:off x="2149" y="1226"/>
              <a:ext cx="1212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Oval 13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Oval 14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Oval 15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Oval 16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Oval 17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Oval 18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Oval 19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Oval 20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Oval 21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Oval 22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Oval 23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Oval 24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4181636" y="2431830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kumimoji="0" lang="zh-CN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160607" y="1873932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130322" y="2612394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782250" y="1939738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815513" y="2885774"/>
            <a:ext cx="44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340698" y="1628800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059832" y="3814622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899075" y="338884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284974" y="1630004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507365" y="221373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077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外接圆半径的计算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022743"/>
                <a:ext cx="7886700" cy="2154219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Δ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中使用正弦定理：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导出：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∠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func>
                              <m:func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func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zh-CN" altLang="en-US" sz="24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022743"/>
                <a:ext cx="7886700" cy="2154219"/>
              </a:xfrm>
              <a:blipFill>
                <a:blip r:embed="rId3"/>
                <a:stretch>
                  <a:fillRect l="-1391" t="-5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饼形 34"/>
          <p:cNvSpPr/>
          <p:nvPr/>
        </p:nvSpPr>
        <p:spPr>
          <a:xfrm>
            <a:off x="6374754" y="2256620"/>
            <a:ext cx="429226" cy="556836"/>
          </a:xfrm>
          <a:prstGeom prst="pie">
            <a:avLst>
              <a:gd name="adj1" fmla="val 8023256"/>
              <a:gd name="adj2" fmla="val 13062733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6" name="Group 4"/>
          <p:cNvGrpSpPr>
            <a:grpSpLocks noChangeAspect="1"/>
          </p:cNvGrpSpPr>
          <p:nvPr/>
        </p:nvGrpSpPr>
        <p:grpSpPr bwMode="auto">
          <a:xfrm>
            <a:off x="5044093" y="1644702"/>
            <a:ext cx="2851150" cy="2851150"/>
            <a:chOff x="1986" y="1089"/>
            <a:chExt cx="1796" cy="1796"/>
          </a:xfrm>
        </p:grpSpPr>
        <p:sp>
          <p:nvSpPr>
            <p:cNvPr id="37" name="Oval 6"/>
            <p:cNvSpPr>
              <a:spLocks noChangeArrowheads="1"/>
            </p:cNvSpPr>
            <p:nvPr/>
          </p:nvSpPr>
          <p:spPr bwMode="auto">
            <a:xfrm>
              <a:off x="1986" y="1089"/>
              <a:ext cx="1796" cy="1796"/>
            </a:xfrm>
            <a:prstGeom prst="ellipse">
              <a:avLst/>
            </a:prstGeom>
            <a:noFill/>
            <a:ln w="142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Line 7"/>
            <p:cNvSpPr>
              <a:spLocks noChangeShapeType="1"/>
            </p:cNvSpPr>
            <p:nvPr/>
          </p:nvSpPr>
          <p:spPr bwMode="auto">
            <a:xfrm flipH="1">
              <a:off x="2149" y="1226"/>
              <a:ext cx="257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Line 8"/>
            <p:cNvSpPr>
              <a:spLocks noChangeShapeType="1"/>
            </p:cNvSpPr>
            <p:nvPr/>
          </p:nvSpPr>
          <p:spPr bwMode="auto">
            <a:xfrm flipV="1">
              <a:off x="2149" y="2244"/>
              <a:ext cx="1595" cy="2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Line 9"/>
            <p:cNvSpPr>
              <a:spLocks noChangeShapeType="1"/>
            </p:cNvSpPr>
            <p:nvPr/>
          </p:nvSpPr>
          <p:spPr bwMode="auto">
            <a:xfrm flipH="1" flipV="1">
              <a:off x="3361" y="1226"/>
              <a:ext cx="383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Line 10"/>
            <p:cNvSpPr>
              <a:spLocks noChangeShapeType="1"/>
            </p:cNvSpPr>
            <p:nvPr/>
          </p:nvSpPr>
          <p:spPr bwMode="auto">
            <a:xfrm flipH="1">
              <a:off x="2406" y="1226"/>
              <a:ext cx="955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>
              <a:off x="2406" y="1226"/>
              <a:ext cx="1338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 flipH="1">
              <a:off x="2149" y="1226"/>
              <a:ext cx="1212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Oval 22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Oval 23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Oval 24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6072954" y="2347744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kumimoji="0" lang="zh-CN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051925" y="178984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021640" y="2528308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673568" y="1855652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706831" y="2801688"/>
            <a:ext cx="44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241646" y="1459405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960780" y="3645227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800023" y="321945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185922" y="1460609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408313" y="204434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52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外接圆半径的计算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714927"/>
                <a:ext cx="7886700" cy="1462036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Δ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中使用正弦定理：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714927"/>
                <a:ext cx="7886700" cy="1462036"/>
              </a:xfrm>
              <a:blipFill>
                <a:blip r:embed="rId3"/>
                <a:stretch>
                  <a:fillRect l="-1391" t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饼形 3"/>
          <p:cNvSpPr/>
          <p:nvPr/>
        </p:nvSpPr>
        <p:spPr>
          <a:xfrm>
            <a:off x="4598963" y="2481800"/>
            <a:ext cx="429226" cy="556836"/>
          </a:xfrm>
          <a:prstGeom prst="pie">
            <a:avLst>
              <a:gd name="adj1" fmla="val 8023256"/>
              <a:gd name="adj2" fmla="val 13062733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3268302" y="1869882"/>
            <a:ext cx="2851150" cy="2851150"/>
            <a:chOff x="1986" y="1089"/>
            <a:chExt cx="1796" cy="1796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1986" y="1089"/>
              <a:ext cx="1796" cy="1796"/>
            </a:xfrm>
            <a:prstGeom prst="ellipse">
              <a:avLst/>
            </a:prstGeom>
            <a:noFill/>
            <a:ln w="142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2149" y="1226"/>
              <a:ext cx="257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2149" y="2244"/>
              <a:ext cx="1595" cy="2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H="1" flipV="1">
              <a:off x="3361" y="1226"/>
              <a:ext cx="383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2406" y="1226"/>
              <a:ext cx="955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406" y="1226"/>
              <a:ext cx="1338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H="1">
              <a:off x="2149" y="1226"/>
              <a:ext cx="1212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4297163" y="2572924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kumimoji="0" lang="zh-CN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276134" y="201502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45849" y="2753488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97777" y="2080832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931040" y="3026868"/>
            <a:ext cx="44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65855" y="1684585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84989" y="3870407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024232" y="344463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410131" y="1685789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632522" y="226952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659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外接圆面积的计算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657600"/>
                <a:ext cx="7886700" cy="251936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0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n-US" altLang="zh-CN" sz="20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π</a:t>
                </a:r>
                <a:r>
                  <a:rPr lang="en-US" altLang="zh-CN" sz="20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="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zh-CN" sz="2000" b="0" i="1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zh-CN" sz="2000" b="0" i="1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m:rPr>
                              <m:lit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657600"/>
                <a:ext cx="7886700" cy="2519362"/>
              </a:xfrm>
              <a:blipFill>
                <a:blip r:embed="rId3"/>
                <a:stretch>
                  <a:fillRect l="-773" t="-1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饼形 3"/>
          <p:cNvSpPr/>
          <p:nvPr/>
        </p:nvSpPr>
        <p:spPr>
          <a:xfrm>
            <a:off x="6745818" y="2256620"/>
            <a:ext cx="429226" cy="556836"/>
          </a:xfrm>
          <a:prstGeom prst="pie">
            <a:avLst>
              <a:gd name="adj1" fmla="val 8023256"/>
              <a:gd name="adj2" fmla="val 13062733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5415157" y="1644702"/>
            <a:ext cx="2851150" cy="2851150"/>
            <a:chOff x="1986" y="1089"/>
            <a:chExt cx="1796" cy="1796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1986" y="1089"/>
              <a:ext cx="1796" cy="1796"/>
            </a:xfrm>
            <a:prstGeom prst="ellipse">
              <a:avLst/>
            </a:prstGeom>
            <a:noFill/>
            <a:ln w="142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2149" y="1226"/>
              <a:ext cx="257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2149" y="2244"/>
              <a:ext cx="1595" cy="25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H="1" flipV="1">
              <a:off x="3361" y="1226"/>
              <a:ext cx="383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2406" y="1226"/>
              <a:ext cx="955" cy="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406" y="1226"/>
              <a:ext cx="1338" cy="101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H="1">
              <a:off x="2149" y="1226"/>
              <a:ext cx="1212" cy="127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solidFill>
              <a:srgbClr val="FFFFFF"/>
            </a:solidFill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2866" y="1969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2388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2131" y="2485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3726" y="2226"/>
              <a:ext cx="36" cy="35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3343" y="1208"/>
              <a:ext cx="36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2943" y="1630"/>
              <a:ext cx="35" cy="36"/>
            </a:xfrm>
            <a:prstGeom prst="ellipse">
              <a:avLst/>
            </a:pr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444018" y="2347744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kumimoji="0" lang="zh-CN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22989" y="178984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92704" y="2528308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u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44632" y="1855652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– 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077895" y="2801688"/>
            <a:ext cx="44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1" u="none" strike="noStrike" kern="1200" cap="none" spc="0" normalizeH="0" baseline="3000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zh-CN" altLang="en-US" sz="2800" b="0" i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12710" y="1459405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31844" y="3645227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171087" y="321945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556986" y="1460609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779377" y="204434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161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面积比值的计算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四边形面积：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i="1" baseline="-25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|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|·|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25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|sin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/2</a:t>
                </a:r>
              </a:p>
              <a:p>
                <a:pPr marL="0" indent="0" algn="ctr">
                  <a:buNone/>
                </a:pP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(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+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–</a:t>
                </a:r>
                <a:r>
                  <a:rPr lang="en-US" altLang="zh-CN" i="1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)(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+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–</a:t>
                </a:r>
                <a:r>
                  <a:rPr lang="en-US" altLang="zh-CN" i="1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/2 = 2cosh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endPara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外接圆面积与四边形面积的比值：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Γ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func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⋅</m:t>
                      </m:r>
                    </m:oMath>
                  </m:oMathPara>
                </a14:m>
                <a:endParaRPr lang="en-US" altLang="zh-CN" sz="2000" b="0" i="1" dirty="0" smtClean="0">
                  <a:latin typeface="Cambria Math" panose="020405030504060302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m:rPr>
                              <m:lit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zh-CN" sz="20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值极条件：分子和分母的对数关于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的导数相等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3395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极值问题的解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sinh</m:t>
                                  </m:r>
                                </m:fName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sinh</m:t>
                                  </m:r>
                                </m:fName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func>
                            </m:e>
                          </m:d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m:rPr>
                              <m:lit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altLang="zh-CN" sz="2000" b="0" dirty="0" smtClean="0"/>
              </a:p>
              <a:p>
                <a:pPr marL="0" indent="0" algn="ctr">
                  <a:buNone/>
                </a:pP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US" altLang="zh-CN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altLang="zh-CN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altLang="zh-CN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)(1 – cos</a:t>
                </a:r>
                <a:r>
                  <a:rPr lang="en-US" altLang="zh-CN" sz="24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3cos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((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cosh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)+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cosh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))/2 – 2sinh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cos</a:t>
                </a:r>
                <a:r>
                  <a:rPr lang="en-US" altLang="zh-CN" sz="24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转化为关于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l-GR" altLang="zh-CN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的三次方程</a:t>
                </a:r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l-GR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8sinh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l-GR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endPara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(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3(sinh</a:t>
                </a:r>
                <a:r>
                  <a:rPr lang="en-US" altLang="zh-CN" sz="24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sinh</a:t>
                </a:r>
                <a:r>
                  <a:rPr lang="en-US" altLang="zh-CN" sz="24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+ 1)cos</a:t>
                </a:r>
                <a:r>
                  <a:rPr lang="el-GR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+ 2sinh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求解即可得到</a:t>
                </a:r>
                <a:r>
                  <a:rPr lang="el-GR" altLang="zh-CN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通过仿射变换得到最小椭圆</a:t>
                </a:r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2547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四边形最小外接椭圆构造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365104"/>
            <a:ext cx="7886700" cy="1811859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|,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|,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|, |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和求解的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构造圆内接四边形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通过构造仿射变换把四边形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的外接圆转化为四边形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ABCD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的最小外接椭圆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Oval 6"/>
          <p:cNvSpPr>
            <a:spLocks noChangeArrowheads="1"/>
          </p:cNvSpPr>
          <p:nvPr/>
        </p:nvSpPr>
        <p:spPr bwMode="auto">
          <a:xfrm>
            <a:off x="5407369" y="1768476"/>
            <a:ext cx="2446338" cy="2451100"/>
          </a:xfrm>
          <a:prstGeom prst="ellipse">
            <a:avLst/>
          </a:prstGeom>
          <a:noFill/>
          <a:ln w="11113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Freeform 7"/>
          <p:cNvSpPr>
            <a:spLocks/>
          </p:cNvSpPr>
          <p:nvPr/>
        </p:nvSpPr>
        <p:spPr bwMode="auto">
          <a:xfrm>
            <a:off x="1085228" y="2152651"/>
            <a:ext cx="3490913" cy="2027238"/>
          </a:xfrm>
          <a:custGeom>
            <a:avLst/>
            <a:gdLst>
              <a:gd name="T0" fmla="*/ 9911 w 10139"/>
              <a:gd name="T1" fmla="*/ 2137 h 5878"/>
              <a:gd name="T2" fmla="*/ 4656 w 10139"/>
              <a:gd name="T3" fmla="*/ 443 h 5878"/>
              <a:gd name="T4" fmla="*/ 228 w 10139"/>
              <a:gd name="T5" fmla="*/ 3740 h 5878"/>
              <a:gd name="T6" fmla="*/ 5482 w 10139"/>
              <a:gd name="T7" fmla="*/ 5435 h 5878"/>
              <a:gd name="T8" fmla="*/ 9911 w 10139"/>
              <a:gd name="T9" fmla="*/ 2137 h 58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139" h="5878">
                <a:moveTo>
                  <a:pt x="9911" y="2137"/>
                </a:moveTo>
                <a:cubicBezTo>
                  <a:pt x="9682" y="759"/>
                  <a:pt x="7330" y="0"/>
                  <a:pt x="4656" y="443"/>
                </a:cubicBezTo>
                <a:cubicBezTo>
                  <a:pt x="1982" y="885"/>
                  <a:pt x="0" y="2362"/>
                  <a:pt x="228" y="3740"/>
                </a:cubicBezTo>
                <a:cubicBezTo>
                  <a:pt x="456" y="5119"/>
                  <a:pt x="2809" y="5878"/>
                  <a:pt x="5482" y="5435"/>
                </a:cubicBezTo>
                <a:cubicBezTo>
                  <a:pt x="8156" y="4993"/>
                  <a:pt x="10139" y="3516"/>
                  <a:pt x="9911" y="2137"/>
                </a:cubicBezTo>
                <a:close/>
              </a:path>
            </a:pathLst>
          </a:custGeom>
          <a:noFill/>
          <a:ln w="11113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Freeform 8"/>
          <p:cNvSpPr>
            <a:spLocks/>
          </p:cNvSpPr>
          <p:nvPr/>
        </p:nvSpPr>
        <p:spPr bwMode="auto">
          <a:xfrm>
            <a:off x="6844057" y="2508251"/>
            <a:ext cx="177800" cy="242888"/>
          </a:xfrm>
          <a:custGeom>
            <a:avLst/>
            <a:gdLst>
              <a:gd name="T0" fmla="*/ 246 w 516"/>
              <a:gd name="T1" fmla="*/ 0 h 707"/>
              <a:gd name="T2" fmla="*/ 26 w 516"/>
              <a:gd name="T3" fmla="*/ 324 h 707"/>
              <a:gd name="T4" fmla="*/ 107 w 516"/>
              <a:gd name="T5" fmla="*/ 707 h 707"/>
              <a:gd name="T6" fmla="*/ 516 w 516"/>
              <a:gd name="T7" fmla="*/ 420 h 707"/>
              <a:gd name="T8" fmla="*/ 246 w 516"/>
              <a:gd name="T9" fmla="*/ 0 h 7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707">
                <a:moveTo>
                  <a:pt x="246" y="0"/>
                </a:moveTo>
                <a:cubicBezTo>
                  <a:pt x="131" y="74"/>
                  <a:pt x="52" y="191"/>
                  <a:pt x="26" y="324"/>
                </a:cubicBezTo>
                <a:cubicBezTo>
                  <a:pt x="0" y="457"/>
                  <a:pt x="29" y="595"/>
                  <a:pt x="107" y="707"/>
                </a:cubicBezTo>
                <a:lnTo>
                  <a:pt x="516" y="420"/>
                </a:lnTo>
                <a:lnTo>
                  <a:pt x="246" y="0"/>
                </a:lnTo>
                <a:close/>
              </a:path>
            </a:pathLst>
          </a:custGeom>
          <a:solidFill>
            <a:srgbClr val="FF7FFF"/>
          </a:solidFill>
          <a:ln w="11113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9"/>
          <p:cNvSpPr>
            <a:spLocks/>
          </p:cNvSpPr>
          <p:nvPr/>
        </p:nvSpPr>
        <p:spPr bwMode="auto">
          <a:xfrm>
            <a:off x="6844057" y="2508251"/>
            <a:ext cx="177800" cy="242888"/>
          </a:xfrm>
          <a:custGeom>
            <a:avLst/>
            <a:gdLst>
              <a:gd name="T0" fmla="*/ 246 w 516"/>
              <a:gd name="T1" fmla="*/ 0 h 707"/>
              <a:gd name="T2" fmla="*/ 26 w 516"/>
              <a:gd name="T3" fmla="*/ 324 h 707"/>
              <a:gd name="T4" fmla="*/ 107 w 516"/>
              <a:gd name="T5" fmla="*/ 707 h 707"/>
              <a:gd name="T6" fmla="*/ 516 w 516"/>
              <a:gd name="T7" fmla="*/ 420 h 707"/>
              <a:gd name="T8" fmla="*/ 246 w 516"/>
              <a:gd name="T9" fmla="*/ 0 h 7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6" h="707">
                <a:moveTo>
                  <a:pt x="246" y="0"/>
                </a:moveTo>
                <a:cubicBezTo>
                  <a:pt x="131" y="74"/>
                  <a:pt x="52" y="191"/>
                  <a:pt x="26" y="324"/>
                </a:cubicBezTo>
                <a:cubicBezTo>
                  <a:pt x="0" y="457"/>
                  <a:pt x="29" y="595"/>
                  <a:pt x="107" y="707"/>
                </a:cubicBezTo>
                <a:lnTo>
                  <a:pt x="516" y="420"/>
                </a:lnTo>
                <a:lnTo>
                  <a:pt x="246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Line 10"/>
          <p:cNvSpPr>
            <a:spLocks noChangeShapeType="1"/>
          </p:cNvSpPr>
          <p:nvPr/>
        </p:nvSpPr>
        <p:spPr bwMode="auto">
          <a:xfrm flipH="1">
            <a:off x="1253503" y="2270126"/>
            <a:ext cx="1720850" cy="1379538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11"/>
          <p:cNvSpPr>
            <a:spLocks noChangeShapeType="1"/>
          </p:cNvSpPr>
          <p:nvPr/>
        </p:nvSpPr>
        <p:spPr bwMode="auto">
          <a:xfrm>
            <a:off x="1253503" y="3649664"/>
            <a:ext cx="2754313" cy="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Line 12"/>
          <p:cNvSpPr>
            <a:spLocks noChangeShapeType="1"/>
          </p:cNvSpPr>
          <p:nvPr/>
        </p:nvSpPr>
        <p:spPr bwMode="auto">
          <a:xfrm flipV="1">
            <a:off x="4007816" y="2614614"/>
            <a:ext cx="344488" cy="103505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Line 13"/>
          <p:cNvSpPr>
            <a:spLocks noChangeShapeType="1"/>
          </p:cNvSpPr>
          <p:nvPr/>
        </p:nvSpPr>
        <p:spPr bwMode="auto">
          <a:xfrm flipH="1" flipV="1">
            <a:off x="2974353" y="2270126"/>
            <a:ext cx="1377950" cy="344488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Line 14"/>
          <p:cNvSpPr>
            <a:spLocks noChangeShapeType="1"/>
          </p:cNvSpPr>
          <p:nvPr/>
        </p:nvSpPr>
        <p:spPr bwMode="auto">
          <a:xfrm>
            <a:off x="2974353" y="2270126"/>
            <a:ext cx="1033463" cy="1379538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Line 15"/>
          <p:cNvSpPr>
            <a:spLocks noChangeShapeType="1"/>
          </p:cNvSpPr>
          <p:nvPr/>
        </p:nvSpPr>
        <p:spPr bwMode="auto">
          <a:xfrm flipV="1">
            <a:off x="1253503" y="2614614"/>
            <a:ext cx="3098800" cy="103505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Line 16"/>
          <p:cNvSpPr>
            <a:spLocks noChangeShapeType="1"/>
          </p:cNvSpPr>
          <p:nvPr/>
        </p:nvSpPr>
        <p:spPr bwMode="auto">
          <a:xfrm>
            <a:off x="2974353" y="2270126"/>
            <a:ext cx="482600" cy="642938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Line 17"/>
          <p:cNvSpPr>
            <a:spLocks noChangeShapeType="1"/>
          </p:cNvSpPr>
          <p:nvPr/>
        </p:nvSpPr>
        <p:spPr bwMode="auto">
          <a:xfrm flipH="1">
            <a:off x="5597869" y="1781176"/>
            <a:ext cx="863600" cy="1868488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Line 18"/>
          <p:cNvSpPr>
            <a:spLocks noChangeShapeType="1"/>
          </p:cNvSpPr>
          <p:nvPr/>
        </p:nvSpPr>
        <p:spPr bwMode="auto">
          <a:xfrm>
            <a:off x="5597869" y="3649664"/>
            <a:ext cx="2065338" cy="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Line 19"/>
          <p:cNvSpPr>
            <a:spLocks noChangeShapeType="1"/>
          </p:cNvSpPr>
          <p:nvPr/>
        </p:nvSpPr>
        <p:spPr bwMode="auto">
          <a:xfrm flipH="1" flipV="1">
            <a:off x="7601294" y="2247901"/>
            <a:ext cx="61913" cy="1401763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Line 20"/>
          <p:cNvSpPr>
            <a:spLocks noChangeShapeType="1"/>
          </p:cNvSpPr>
          <p:nvPr/>
        </p:nvSpPr>
        <p:spPr bwMode="auto">
          <a:xfrm flipH="1" flipV="1">
            <a:off x="6461469" y="1781176"/>
            <a:ext cx="1139825" cy="466725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Line 21"/>
          <p:cNvSpPr>
            <a:spLocks noChangeShapeType="1"/>
          </p:cNvSpPr>
          <p:nvPr/>
        </p:nvSpPr>
        <p:spPr bwMode="auto">
          <a:xfrm>
            <a:off x="6461469" y="1781176"/>
            <a:ext cx="1201738" cy="1868488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" name="Line 22"/>
          <p:cNvSpPr>
            <a:spLocks noChangeShapeType="1"/>
          </p:cNvSpPr>
          <p:nvPr/>
        </p:nvSpPr>
        <p:spPr bwMode="auto">
          <a:xfrm flipH="1">
            <a:off x="5597869" y="2247901"/>
            <a:ext cx="2003425" cy="1401763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" name="Oval 23"/>
          <p:cNvSpPr>
            <a:spLocks noChangeArrowheads="1"/>
          </p:cNvSpPr>
          <p:nvPr/>
        </p:nvSpPr>
        <p:spPr bwMode="auto">
          <a:xfrm>
            <a:off x="2953716" y="2249489"/>
            <a:ext cx="41275" cy="41275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Oval 24"/>
          <p:cNvSpPr>
            <a:spLocks noChangeArrowheads="1"/>
          </p:cNvSpPr>
          <p:nvPr/>
        </p:nvSpPr>
        <p:spPr bwMode="auto">
          <a:xfrm>
            <a:off x="2953716" y="2249489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Oval 25"/>
          <p:cNvSpPr>
            <a:spLocks noChangeArrowheads="1"/>
          </p:cNvSpPr>
          <p:nvPr/>
        </p:nvSpPr>
        <p:spPr bwMode="auto">
          <a:xfrm>
            <a:off x="1232866" y="3629026"/>
            <a:ext cx="41275" cy="41275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Oval 26"/>
          <p:cNvSpPr>
            <a:spLocks noChangeArrowheads="1"/>
          </p:cNvSpPr>
          <p:nvPr/>
        </p:nvSpPr>
        <p:spPr bwMode="auto">
          <a:xfrm>
            <a:off x="1232866" y="3629026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Oval 27"/>
          <p:cNvSpPr>
            <a:spLocks noChangeArrowheads="1"/>
          </p:cNvSpPr>
          <p:nvPr/>
        </p:nvSpPr>
        <p:spPr bwMode="auto">
          <a:xfrm>
            <a:off x="3987178" y="3629026"/>
            <a:ext cx="41275" cy="41275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Oval 28"/>
          <p:cNvSpPr>
            <a:spLocks noChangeArrowheads="1"/>
          </p:cNvSpPr>
          <p:nvPr/>
        </p:nvSpPr>
        <p:spPr bwMode="auto">
          <a:xfrm>
            <a:off x="3987178" y="3629026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Oval 29"/>
          <p:cNvSpPr>
            <a:spLocks noChangeArrowheads="1"/>
          </p:cNvSpPr>
          <p:nvPr/>
        </p:nvSpPr>
        <p:spPr bwMode="auto">
          <a:xfrm>
            <a:off x="4331666" y="2593976"/>
            <a:ext cx="41275" cy="41275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Oval 30"/>
          <p:cNvSpPr>
            <a:spLocks noChangeArrowheads="1"/>
          </p:cNvSpPr>
          <p:nvPr/>
        </p:nvSpPr>
        <p:spPr bwMode="auto">
          <a:xfrm>
            <a:off x="4331666" y="2593976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Oval 31"/>
          <p:cNvSpPr>
            <a:spLocks noChangeArrowheads="1"/>
          </p:cNvSpPr>
          <p:nvPr/>
        </p:nvSpPr>
        <p:spPr bwMode="auto">
          <a:xfrm>
            <a:off x="3436316" y="2892426"/>
            <a:ext cx="41275" cy="41275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" name="Oval 32"/>
          <p:cNvSpPr>
            <a:spLocks noChangeArrowheads="1"/>
          </p:cNvSpPr>
          <p:nvPr/>
        </p:nvSpPr>
        <p:spPr bwMode="auto">
          <a:xfrm>
            <a:off x="3436316" y="2892426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Oval 33"/>
          <p:cNvSpPr>
            <a:spLocks noChangeArrowheads="1"/>
          </p:cNvSpPr>
          <p:nvPr/>
        </p:nvSpPr>
        <p:spPr bwMode="auto">
          <a:xfrm>
            <a:off x="7642569" y="3629026"/>
            <a:ext cx="41275" cy="41275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Oval 34"/>
          <p:cNvSpPr>
            <a:spLocks noChangeArrowheads="1"/>
          </p:cNvSpPr>
          <p:nvPr/>
        </p:nvSpPr>
        <p:spPr bwMode="auto">
          <a:xfrm>
            <a:off x="7642569" y="3629026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Oval 35"/>
          <p:cNvSpPr>
            <a:spLocks noChangeArrowheads="1"/>
          </p:cNvSpPr>
          <p:nvPr/>
        </p:nvSpPr>
        <p:spPr bwMode="auto">
          <a:xfrm>
            <a:off x="5577232" y="3629026"/>
            <a:ext cx="41275" cy="41275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Oval 36"/>
          <p:cNvSpPr>
            <a:spLocks noChangeArrowheads="1"/>
          </p:cNvSpPr>
          <p:nvPr/>
        </p:nvSpPr>
        <p:spPr bwMode="auto">
          <a:xfrm>
            <a:off x="5577232" y="3629026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Oval 37"/>
          <p:cNvSpPr>
            <a:spLocks noChangeArrowheads="1"/>
          </p:cNvSpPr>
          <p:nvPr/>
        </p:nvSpPr>
        <p:spPr bwMode="auto">
          <a:xfrm>
            <a:off x="7001219" y="2632076"/>
            <a:ext cx="41275" cy="41275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" name="Oval 38"/>
          <p:cNvSpPr>
            <a:spLocks noChangeArrowheads="1"/>
          </p:cNvSpPr>
          <p:nvPr/>
        </p:nvSpPr>
        <p:spPr bwMode="auto">
          <a:xfrm>
            <a:off x="7001219" y="2632076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" name="Oval 39"/>
          <p:cNvSpPr>
            <a:spLocks noChangeArrowheads="1"/>
          </p:cNvSpPr>
          <p:nvPr/>
        </p:nvSpPr>
        <p:spPr bwMode="auto">
          <a:xfrm>
            <a:off x="6440832" y="1758951"/>
            <a:ext cx="41275" cy="42863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" name="Oval 40"/>
          <p:cNvSpPr>
            <a:spLocks noChangeArrowheads="1"/>
          </p:cNvSpPr>
          <p:nvPr/>
        </p:nvSpPr>
        <p:spPr bwMode="auto">
          <a:xfrm>
            <a:off x="6440832" y="1758951"/>
            <a:ext cx="41275" cy="42863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Oval 41"/>
          <p:cNvSpPr>
            <a:spLocks noChangeArrowheads="1"/>
          </p:cNvSpPr>
          <p:nvPr/>
        </p:nvSpPr>
        <p:spPr bwMode="auto">
          <a:xfrm>
            <a:off x="7580657" y="2227264"/>
            <a:ext cx="41275" cy="41275"/>
          </a:xfrm>
          <a:prstGeom prst="ellipse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Oval 42"/>
          <p:cNvSpPr>
            <a:spLocks noChangeArrowheads="1"/>
          </p:cNvSpPr>
          <p:nvPr/>
        </p:nvSpPr>
        <p:spPr bwMode="auto">
          <a:xfrm>
            <a:off x="7580657" y="2227264"/>
            <a:ext cx="41275" cy="41275"/>
          </a:xfrm>
          <a:prstGeom prst="ellipse">
            <a:avLst/>
          </a:prstGeom>
          <a:noFill/>
          <a:ln w="635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2792852" y="1822779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863392" y="3456316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881192" y="354077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4344440" y="2227264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6161206" y="1278594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5165754" y="346584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7606139" y="34658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566434" y="1840337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6548161" y="2345999"/>
            <a:ext cx="36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kumimoji="0" lang="zh-CN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11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五边形内切椭圆的唯一性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049077"/>
            <a:ext cx="7886700" cy="1127885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五条切线可以唯一确定圆锥曲线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凸五边形有唯一的内切椭圆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椭圆 3"/>
          <p:cNvSpPr/>
          <p:nvPr/>
        </p:nvSpPr>
        <p:spPr>
          <a:xfrm rot="-900000">
            <a:off x="2593913" y="2399178"/>
            <a:ext cx="3393777" cy="194140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656523" y="4399722"/>
            <a:ext cx="50358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024679" y="2756452"/>
            <a:ext cx="1301617" cy="2292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5314122" y="2146852"/>
            <a:ext cx="1070631" cy="25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1626705" y="1747020"/>
            <a:ext cx="3839817" cy="16900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546613" y="1936735"/>
            <a:ext cx="3556552" cy="9172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4474265" y="2136474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2229597" y="3126532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2931962" y="4373644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5424258" y="4364400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6158359" y="2576842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527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多边形最大内切椭圆问题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691269"/>
            <a:ext cx="7886700" cy="1485693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给定三角形，或凸四边形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，内切椭圆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有无数个，且椭圆的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面积最小为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如何找到面积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最大的内切椭圆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5248275" y="2349501"/>
            <a:ext cx="2992437" cy="1722438"/>
          </a:xfrm>
          <a:custGeom>
            <a:avLst/>
            <a:gdLst>
              <a:gd name="T0" fmla="*/ 199 w 6894"/>
              <a:gd name="T1" fmla="*/ 2728 h 3964"/>
              <a:gd name="T2" fmla="*/ 3808 w 6894"/>
              <a:gd name="T3" fmla="*/ 3552 h 3964"/>
              <a:gd name="T4" fmla="*/ 6695 w 6894"/>
              <a:gd name="T5" fmla="*/ 1236 h 3964"/>
              <a:gd name="T6" fmla="*/ 3086 w 6894"/>
              <a:gd name="T7" fmla="*/ 413 h 3964"/>
              <a:gd name="T8" fmla="*/ 199 w 6894"/>
              <a:gd name="T9" fmla="*/ 2728 h 3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94" h="3964">
                <a:moveTo>
                  <a:pt x="199" y="2728"/>
                </a:moveTo>
                <a:cubicBezTo>
                  <a:pt x="398" y="3595"/>
                  <a:pt x="2014" y="3964"/>
                  <a:pt x="3808" y="3552"/>
                </a:cubicBezTo>
                <a:cubicBezTo>
                  <a:pt x="5601" y="3140"/>
                  <a:pt x="6894" y="2103"/>
                  <a:pt x="6695" y="1236"/>
                </a:cubicBezTo>
                <a:cubicBezTo>
                  <a:pt x="6496" y="369"/>
                  <a:pt x="4880" y="0"/>
                  <a:pt x="3086" y="413"/>
                </a:cubicBezTo>
                <a:cubicBezTo>
                  <a:pt x="1293" y="825"/>
                  <a:pt x="0" y="1861"/>
                  <a:pt x="199" y="2728"/>
                </a:cubicBezTo>
                <a:close/>
              </a:path>
            </a:pathLst>
          </a:custGeom>
          <a:noFill/>
          <a:ln w="12700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H="1">
            <a:off x="4378325" y="2228851"/>
            <a:ext cx="2170112" cy="1738313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4378325" y="3967163"/>
            <a:ext cx="3471862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V="1">
            <a:off x="7850187" y="2662238"/>
            <a:ext cx="433387" cy="1304925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H="1" flipV="1">
            <a:off x="6548437" y="2228851"/>
            <a:ext cx="1735137" cy="433388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Oval 11"/>
          <p:cNvSpPr>
            <a:spLocks noChangeArrowheads="1"/>
          </p:cNvSpPr>
          <p:nvPr/>
        </p:nvSpPr>
        <p:spPr bwMode="auto">
          <a:xfrm>
            <a:off x="6521450" y="2201863"/>
            <a:ext cx="52387" cy="52388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Oval 12"/>
          <p:cNvSpPr>
            <a:spLocks noChangeArrowheads="1"/>
          </p:cNvSpPr>
          <p:nvPr/>
        </p:nvSpPr>
        <p:spPr bwMode="auto">
          <a:xfrm>
            <a:off x="6521450" y="2201863"/>
            <a:ext cx="52387" cy="52388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Oval 13"/>
          <p:cNvSpPr>
            <a:spLocks noChangeArrowheads="1"/>
          </p:cNvSpPr>
          <p:nvPr/>
        </p:nvSpPr>
        <p:spPr bwMode="auto">
          <a:xfrm>
            <a:off x="4352925" y="3940176"/>
            <a:ext cx="52387" cy="52388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4352925" y="3940176"/>
            <a:ext cx="52387" cy="52388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Oval 15"/>
          <p:cNvSpPr>
            <a:spLocks noChangeArrowheads="1"/>
          </p:cNvSpPr>
          <p:nvPr/>
        </p:nvSpPr>
        <p:spPr bwMode="auto">
          <a:xfrm>
            <a:off x="7823200" y="3940176"/>
            <a:ext cx="52387" cy="52388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7823200" y="3940176"/>
            <a:ext cx="52387" cy="52388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Oval 17"/>
          <p:cNvSpPr>
            <a:spLocks noChangeArrowheads="1"/>
          </p:cNvSpPr>
          <p:nvPr/>
        </p:nvSpPr>
        <p:spPr bwMode="auto">
          <a:xfrm>
            <a:off x="8258175" y="2636838"/>
            <a:ext cx="52387" cy="52388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Oval 18"/>
          <p:cNvSpPr>
            <a:spLocks noChangeArrowheads="1"/>
          </p:cNvSpPr>
          <p:nvPr/>
        </p:nvSpPr>
        <p:spPr bwMode="auto">
          <a:xfrm>
            <a:off x="8258175" y="2636838"/>
            <a:ext cx="52387" cy="52388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23"/>
          <p:cNvSpPr>
            <a:spLocks/>
          </p:cNvSpPr>
          <p:nvPr/>
        </p:nvSpPr>
        <p:spPr bwMode="auto">
          <a:xfrm>
            <a:off x="1484313" y="2579688"/>
            <a:ext cx="2060575" cy="1619250"/>
          </a:xfrm>
          <a:custGeom>
            <a:avLst/>
            <a:gdLst>
              <a:gd name="T0" fmla="*/ 206 w 3859"/>
              <a:gd name="T1" fmla="*/ 2037 h 3030"/>
              <a:gd name="T2" fmla="*/ 2301 w 3859"/>
              <a:gd name="T3" fmla="*/ 2742 h 3030"/>
              <a:gd name="T4" fmla="*/ 3654 w 3859"/>
              <a:gd name="T5" fmla="*/ 993 h 3030"/>
              <a:gd name="T6" fmla="*/ 1558 w 3859"/>
              <a:gd name="T7" fmla="*/ 288 h 3030"/>
              <a:gd name="T8" fmla="*/ 206 w 3859"/>
              <a:gd name="T9" fmla="*/ 2037 h 3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9" h="3030">
                <a:moveTo>
                  <a:pt x="206" y="2037"/>
                </a:moveTo>
                <a:cubicBezTo>
                  <a:pt x="411" y="2715"/>
                  <a:pt x="1349" y="3030"/>
                  <a:pt x="2301" y="2742"/>
                </a:cubicBezTo>
                <a:cubicBezTo>
                  <a:pt x="3254" y="2454"/>
                  <a:pt x="3859" y="1671"/>
                  <a:pt x="3654" y="993"/>
                </a:cubicBezTo>
                <a:cubicBezTo>
                  <a:pt x="3449" y="316"/>
                  <a:pt x="2511" y="0"/>
                  <a:pt x="1558" y="288"/>
                </a:cubicBezTo>
                <a:cubicBezTo>
                  <a:pt x="606" y="577"/>
                  <a:pt x="0" y="1360"/>
                  <a:pt x="206" y="2037"/>
                </a:cubicBezTo>
                <a:close/>
              </a:path>
            </a:pathLst>
          </a:custGeom>
          <a:noFill/>
          <a:ln w="15875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>
            <a:off x="735013" y="1963738"/>
            <a:ext cx="2135188" cy="2138363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735013" y="4102101"/>
            <a:ext cx="3203575" cy="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H="1" flipV="1">
            <a:off x="2870201" y="1963738"/>
            <a:ext cx="1068388" cy="2138363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2838451" y="1931988"/>
            <a:ext cx="65088" cy="65088"/>
          </a:xfrm>
          <a:prstGeom prst="ellipse">
            <a:avLst/>
          </a:prstGeom>
          <a:solidFill>
            <a:srgbClr val="FFFFFF"/>
          </a:solidFill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2838451" y="1931988"/>
            <a:ext cx="65088" cy="65088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703263" y="4070351"/>
            <a:ext cx="63500" cy="63500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703263" y="4070351"/>
            <a:ext cx="63500" cy="63500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3906838" y="4070351"/>
            <a:ext cx="63500" cy="63500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2"/>
          <p:cNvSpPr>
            <a:spLocks noChangeArrowheads="1"/>
          </p:cNvSpPr>
          <p:nvPr/>
        </p:nvSpPr>
        <p:spPr bwMode="auto">
          <a:xfrm>
            <a:off x="3906838" y="4070351"/>
            <a:ext cx="63500" cy="63500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0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三角形最大内切椭圆问题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062329"/>
            <a:ext cx="7886700" cy="1114633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正三角形的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最大内切椭圆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是它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的内切圆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任意三角形都与正三角形仿射等价</a:t>
            </a:r>
          </a:p>
          <a:p>
            <a:endParaRPr lang="zh-CN" altLang="en-US" dirty="0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1921289" y="2730501"/>
            <a:ext cx="2093913" cy="1646238"/>
          </a:xfrm>
          <a:custGeom>
            <a:avLst/>
            <a:gdLst>
              <a:gd name="T0" fmla="*/ 206 w 3859"/>
              <a:gd name="T1" fmla="*/ 2037 h 3030"/>
              <a:gd name="T2" fmla="*/ 2301 w 3859"/>
              <a:gd name="T3" fmla="*/ 2742 h 3030"/>
              <a:gd name="T4" fmla="*/ 3654 w 3859"/>
              <a:gd name="T5" fmla="*/ 993 h 3030"/>
              <a:gd name="T6" fmla="*/ 1558 w 3859"/>
              <a:gd name="T7" fmla="*/ 288 h 3030"/>
              <a:gd name="T8" fmla="*/ 206 w 3859"/>
              <a:gd name="T9" fmla="*/ 2037 h 3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59" h="3030">
                <a:moveTo>
                  <a:pt x="206" y="2037"/>
                </a:moveTo>
                <a:cubicBezTo>
                  <a:pt x="411" y="2715"/>
                  <a:pt x="1349" y="3030"/>
                  <a:pt x="2301" y="2742"/>
                </a:cubicBezTo>
                <a:cubicBezTo>
                  <a:pt x="3254" y="2454"/>
                  <a:pt x="3859" y="1671"/>
                  <a:pt x="3654" y="993"/>
                </a:cubicBezTo>
                <a:cubicBezTo>
                  <a:pt x="3449" y="316"/>
                  <a:pt x="2511" y="0"/>
                  <a:pt x="1558" y="288"/>
                </a:cubicBezTo>
                <a:cubicBezTo>
                  <a:pt x="606" y="577"/>
                  <a:pt x="0" y="1360"/>
                  <a:pt x="206" y="2037"/>
                </a:cubicBezTo>
                <a:close/>
              </a:path>
            </a:pathLst>
          </a:custGeom>
          <a:noFill/>
          <a:ln w="15875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5534025" y="2738438"/>
            <a:ext cx="1627188" cy="1630363"/>
          </a:xfrm>
          <a:prstGeom prst="ellipse">
            <a:avLst/>
          </a:prstGeom>
          <a:noFill/>
          <a:ln w="15875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H="1">
            <a:off x="1160877" y="2105026"/>
            <a:ext cx="2168525" cy="2173288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1160877" y="4278313"/>
            <a:ext cx="3254375" cy="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 flipV="1">
            <a:off x="3329402" y="2105026"/>
            <a:ext cx="1085850" cy="2173288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4937125" y="1924051"/>
            <a:ext cx="1409700" cy="244475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4937125" y="4368801"/>
            <a:ext cx="2820988" cy="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H="1" flipV="1">
            <a:off x="6346825" y="1924051"/>
            <a:ext cx="1411288" cy="2444750"/>
          </a:xfrm>
          <a:prstGeom prst="line">
            <a:avLst/>
          </a:prstGeom>
          <a:noFill/>
          <a:ln w="158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3297652" y="2073276"/>
            <a:ext cx="65088" cy="65088"/>
          </a:xfrm>
          <a:prstGeom prst="ellipse">
            <a:avLst/>
          </a:prstGeom>
          <a:solidFill>
            <a:srgbClr val="FFFFFF"/>
          </a:solidFill>
          <a:ln w="158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3297652" y="2073276"/>
            <a:ext cx="65088" cy="65088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1127539" y="4246563"/>
            <a:ext cx="65088" cy="65088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1127539" y="4246563"/>
            <a:ext cx="65088" cy="65088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4383502" y="4246563"/>
            <a:ext cx="65088" cy="65088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4383502" y="4246563"/>
            <a:ext cx="65088" cy="65088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Oval 20"/>
          <p:cNvSpPr>
            <a:spLocks noChangeArrowheads="1"/>
          </p:cNvSpPr>
          <p:nvPr/>
        </p:nvSpPr>
        <p:spPr bwMode="auto">
          <a:xfrm>
            <a:off x="6315075" y="1890713"/>
            <a:ext cx="65088" cy="65088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Oval 21"/>
          <p:cNvSpPr>
            <a:spLocks noChangeArrowheads="1"/>
          </p:cNvSpPr>
          <p:nvPr/>
        </p:nvSpPr>
        <p:spPr bwMode="auto">
          <a:xfrm>
            <a:off x="6315075" y="1890713"/>
            <a:ext cx="65088" cy="65088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Oval 22"/>
          <p:cNvSpPr>
            <a:spLocks noChangeArrowheads="1"/>
          </p:cNvSpPr>
          <p:nvPr/>
        </p:nvSpPr>
        <p:spPr bwMode="auto">
          <a:xfrm>
            <a:off x="4905375" y="4337051"/>
            <a:ext cx="65088" cy="65088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4905375" y="4337051"/>
            <a:ext cx="65088" cy="65088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7724775" y="4337051"/>
            <a:ext cx="65088" cy="65088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7724775" y="4337051"/>
            <a:ext cx="65088" cy="65088"/>
          </a:xfrm>
          <a:prstGeom prst="ellips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023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凸四边形最大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内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切椭圆问题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给定凸四边形，如何构造面积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最大的内切椭圆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分析思路：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无论椭圆如何变化，凸四边形面积不变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在仿射变换中，椭圆与凸四边形的面积之比在变换前后不变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如果一个与给定凸四边形仿射等价的四边形的最小外接椭圆已找到，则问题解决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在与给定的凸四边形仿射等价的四边形中，存在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圆外切四边形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072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凸四边形最大内切椭圆问题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存在一个与给定的凸四边形仿射等价的圆外切四边形，它的内切圆恰好是它的最大内切椭圆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以单位圆作为内切椭圆的四边形，存与给定的凸四边形仿射等价的四边形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在以单位圆作为内切椭圆，且与给定的凸四边形仿射等价的四边形中，面积最小的四边形的最大内切椭圆即是单位圆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问题转化为寻找单位圆与给定凸四边形仿射等价，且面积最小的外切四边形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5"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442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单位圆外切四边形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272087"/>
            <a:ext cx="7886700" cy="904875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四个切点与圆心连线的夹角决定了四边形的形状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切点与圆心连线夹角的一半作为变量计算极值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3009901" y="2203451"/>
            <a:ext cx="2727325" cy="2727325"/>
          </a:xfrm>
          <a:prstGeom prst="ellipse">
            <a:avLst/>
          </a:prstGeom>
          <a:noFill/>
          <a:ln w="14288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solidFill>
            <a:srgbClr val="FF7F7F"/>
          </a:solidFill>
          <a:ln w="14288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8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solidFill>
            <a:srgbClr val="F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4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5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16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17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19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20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21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22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2778126" y="2576513"/>
            <a:ext cx="371475" cy="23542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2778126" y="4930776"/>
            <a:ext cx="3530600" cy="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 flipH="1" flipV="1">
            <a:off x="5187951" y="1792288"/>
            <a:ext cx="1120775" cy="31384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H="1">
            <a:off x="3149601" y="1792288"/>
            <a:ext cx="2038350" cy="7842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H="1" flipV="1">
            <a:off x="3884613" y="2293938"/>
            <a:ext cx="488950" cy="127317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H="1" flipV="1">
            <a:off x="3027363" y="3354388"/>
            <a:ext cx="1346200" cy="2127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>
            <a:off x="4373563" y="3567113"/>
            <a:ext cx="0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V="1">
            <a:off x="4373563" y="3108326"/>
            <a:ext cx="1284288" cy="4587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 flipH="1" flipV="1">
            <a:off x="3149601" y="2576513"/>
            <a:ext cx="1223963" cy="99060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 flipH="1">
            <a:off x="2778126" y="3567113"/>
            <a:ext cx="1595438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>
            <a:off x="4373563" y="3567113"/>
            <a:ext cx="1935163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 flipV="1">
            <a:off x="4373563" y="1792288"/>
            <a:ext cx="814388" cy="17748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solidFill>
            <a:srgbClr val="FFFFFF"/>
          </a:solidFill>
          <a:ln w="1428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38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39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40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Oval 41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Oval 42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Oval 43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Oval 46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Oval 47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Oval 48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Oval 49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Oval 50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Oval 51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Oval 52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2636833" y="214186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225047" y="459343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306510" y="46977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170267" y="1450978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514453" y="3027364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141161" y="486158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614674" y="2795778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496635" y="1814702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655095" y="304134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891237" y="3836849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727611" y="3356629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238675" y="2709863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473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仿射等价条件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831080"/>
                <a:ext cx="7886700" cy="1345882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对角线的分割比例转化为切线长度之比</a:t>
                </a:r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𝑃𝐴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𝑃𝐶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𝑃𝐵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𝑃𝐷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𝐷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𝛿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831080"/>
                <a:ext cx="7886700" cy="1345882"/>
              </a:xfrm>
              <a:blipFill>
                <a:blip r:embed="rId3"/>
                <a:stretch>
                  <a:fillRect l="-1391" t="-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3679825" y="2181226"/>
            <a:ext cx="2316163" cy="2317750"/>
          </a:xfrm>
          <a:prstGeom prst="ellipse">
            <a:avLst/>
          </a:prstGeom>
          <a:noFill/>
          <a:ln w="14288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2522538" y="1924051"/>
            <a:ext cx="1928813" cy="25749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522538" y="4498976"/>
            <a:ext cx="3703638" cy="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 flipV="1">
            <a:off x="5862638" y="2513013"/>
            <a:ext cx="363538" cy="19859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 flipV="1">
            <a:off x="4451350" y="1924051"/>
            <a:ext cx="1411288" cy="5889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4451350" y="1924051"/>
            <a:ext cx="1774825" cy="25749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H="1">
            <a:off x="2522538" y="2513013"/>
            <a:ext cx="3340100" cy="19859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3911600" y="2644776"/>
            <a:ext cx="2065338" cy="4873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H="1">
            <a:off x="4837113" y="2271713"/>
            <a:ext cx="446088" cy="22272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2495550" y="4471988"/>
            <a:ext cx="55563" cy="55563"/>
          </a:xfrm>
          <a:prstGeom prst="ellipse">
            <a:avLst/>
          </a:prstGeom>
          <a:solidFill>
            <a:srgbClr val="FFFFFF"/>
          </a:solidFill>
          <a:ln w="1428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2495550" y="44719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6199188" y="44719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6199188" y="44719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4810125" y="44719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Oval 20"/>
          <p:cNvSpPr>
            <a:spLocks noChangeArrowheads="1"/>
          </p:cNvSpPr>
          <p:nvPr/>
        </p:nvSpPr>
        <p:spPr bwMode="auto">
          <a:xfrm>
            <a:off x="4810125" y="44719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Oval 21"/>
          <p:cNvSpPr>
            <a:spLocks noChangeArrowheads="1"/>
          </p:cNvSpPr>
          <p:nvPr/>
        </p:nvSpPr>
        <p:spPr bwMode="auto">
          <a:xfrm>
            <a:off x="3883025" y="26177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Oval 22"/>
          <p:cNvSpPr>
            <a:spLocks noChangeArrowheads="1"/>
          </p:cNvSpPr>
          <p:nvPr/>
        </p:nvSpPr>
        <p:spPr bwMode="auto">
          <a:xfrm>
            <a:off x="3883025" y="26177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5948363" y="3103563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5948363" y="3103563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5254625" y="224313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254625" y="224313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4424363" y="1897063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424363" y="1897063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5835650" y="2486026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5835650" y="2486026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5122863" y="29098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2"/>
          <p:cNvSpPr>
            <a:spLocks noChangeArrowheads="1"/>
          </p:cNvSpPr>
          <p:nvPr/>
        </p:nvSpPr>
        <p:spPr bwMode="auto">
          <a:xfrm>
            <a:off x="5122863" y="29098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167722" y="1498624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145247" y="4237366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99188" y="4264353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56574" y="2198570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449638" y="227965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577381" y="4403419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932000" y="2839107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101884" y="1784445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101884" y="2434702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670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周角约束条件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116513"/>
            <a:ext cx="7886700" cy="1060449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依据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构成一个周角，有：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π</a:t>
            </a:r>
            <a:endParaRPr lang="zh-CN" altLang="en-US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3009901" y="2203451"/>
            <a:ext cx="2727325" cy="2727325"/>
          </a:xfrm>
          <a:prstGeom prst="ellipse">
            <a:avLst/>
          </a:prstGeom>
          <a:noFill/>
          <a:ln w="14288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solidFill>
            <a:srgbClr val="FF7F7F"/>
          </a:solidFill>
          <a:ln w="14288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solidFill>
            <a:srgbClr val="F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>
            <a:off x="2778126" y="2576513"/>
            <a:ext cx="371475" cy="23542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2778126" y="4930776"/>
            <a:ext cx="3530600" cy="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 flipV="1">
            <a:off x="5187951" y="1792288"/>
            <a:ext cx="1120775" cy="31384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 flipH="1">
            <a:off x="3149601" y="1792288"/>
            <a:ext cx="2038350" cy="7842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H="1" flipV="1">
            <a:off x="3884613" y="2293938"/>
            <a:ext cx="488950" cy="127317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H="1" flipV="1">
            <a:off x="3027363" y="3354388"/>
            <a:ext cx="1346200" cy="2127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4373563" y="3567113"/>
            <a:ext cx="0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4373563" y="3108326"/>
            <a:ext cx="1284288" cy="4587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 flipH="1" flipV="1">
            <a:off x="3149601" y="2576513"/>
            <a:ext cx="1223963" cy="99060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 flipH="1">
            <a:off x="2778126" y="3567113"/>
            <a:ext cx="1595438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4373563" y="3567113"/>
            <a:ext cx="1935163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V="1">
            <a:off x="4373563" y="1792288"/>
            <a:ext cx="814388" cy="17748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5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solidFill>
            <a:srgbClr val="FFFFFF"/>
          </a:solidFill>
          <a:ln w="1428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6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37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38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9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40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41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42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43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44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Oval 45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Oval 46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Oval 47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Oval 48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Oval 49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Oval 50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Oval 51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Oval 52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636833" y="214186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225047" y="459343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306510" y="46977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170267" y="1450978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655095" y="304134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891237" y="3836849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727611" y="3356629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238675" y="2709863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935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面积的表示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237163"/>
            <a:ext cx="7886700" cy="939799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单位圆的外切四边形的面积可以表示为：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tan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tan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endParaRPr lang="zh-CN" altLang="en-US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3009901" y="2203451"/>
            <a:ext cx="2727325" cy="2727325"/>
          </a:xfrm>
          <a:prstGeom prst="ellipse">
            <a:avLst/>
          </a:prstGeom>
          <a:noFill/>
          <a:ln w="14288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solidFill>
            <a:srgbClr val="FF7F7F"/>
          </a:solidFill>
          <a:ln w="14288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solidFill>
            <a:srgbClr val="F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>
            <a:off x="2778126" y="2576513"/>
            <a:ext cx="371475" cy="23542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2778126" y="4930776"/>
            <a:ext cx="3530600" cy="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 flipV="1">
            <a:off x="5187951" y="1792288"/>
            <a:ext cx="1120775" cy="31384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 flipH="1">
            <a:off x="3149601" y="1792288"/>
            <a:ext cx="2038350" cy="7842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H="1" flipV="1">
            <a:off x="3884613" y="2293938"/>
            <a:ext cx="488950" cy="127317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H="1" flipV="1">
            <a:off x="3027363" y="3354388"/>
            <a:ext cx="1346200" cy="2127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4373563" y="3567113"/>
            <a:ext cx="0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4373563" y="3108326"/>
            <a:ext cx="1284288" cy="4587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 flipH="1" flipV="1">
            <a:off x="3149601" y="2576513"/>
            <a:ext cx="1223963" cy="99060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 flipH="1">
            <a:off x="2778126" y="3567113"/>
            <a:ext cx="1595438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4373563" y="3567113"/>
            <a:ext cx="1935163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V="1">
            <a:off x="4373563" y="1792288"/>
            <a:ext cx="814388" cy="17748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5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solidFill>
            <a:srgbClr val="FFFFFF"/>
          </a:solidFill>
          <a:ln w="1428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6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37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38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9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40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41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42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43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44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Oval 45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Oval 46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Oval 47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Oval 48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Oval 49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Oval 50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Oval 51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Oval 52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636833" y="214186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225047" y="459343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306510" y="46977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170267" y="1450978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655095" y="304134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891237" y="3836849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727611" y="3356629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238675" y="2709863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892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自由变量的引入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把仿射等价条件表示为：</a:t>
                </a:r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𝛾</m:t>
                              </m:r>
                            </m:e>
                          </m:func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𝑃𝐴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𝑃𝐶</m:t>
                              </m:r>
                            </m:e>
                          </m: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𝑢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𝛿</m:t>
                              </m:r>
                            </m:e>
                          </m:func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𝑣</m:t>
                          </m:r>
                        </m:sup>
                      </m:sSup>
                    </m:oMath>
                  </m:oMathPara>
                </a14:m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引入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自由变量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l-GR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α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β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endPara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γ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–</a:t>
                </a:r>
                <a:r>
                  <a:rPr lang="en-US" altLang="zh-CN" i="1" baseline="30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δ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–</a:t>
                </a:r>
                <a:r>
                  <a:rPr lang="en-US" altLang="zh-CN" i="1" baseline="30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endPara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8092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周角约束条件的表示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l-GR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α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β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γ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δ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之和构成平角，可以写为：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α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+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γ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+ tan(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β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+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δ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= 0</a:t>
                </a:r>
              </a:p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func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func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把引入的自由变量代入上式，有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8776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周角约束条件的表示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可以进一步化简为：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引入双曲余弦函数：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导出：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)·tan(2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+ 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)·tan(2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= 0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5209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目标函数的表示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四边形的面积可以写为：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tan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tan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endParaRPr lang="en-US" altLang="zh-CN" i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i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2cosh(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+ 2cosh(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转化为关于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的条件极值问题：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)·tan(2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+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)·tan(2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665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条件极值问题的求解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构造拉格朗日函数：</a:t>
                </a:r>
                <a:endPara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= 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+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λc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)·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+ 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)·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+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λ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)·tan(2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+ 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)·tan(2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))</a:t>
                </a:r>
              </a:p>
              <a:p>
                <a:pPr>
                  <a:lnSpc>
                    <a:spcPct val="10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分别对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求导，导出条件极值约束：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400" b="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cosh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+2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dirty="0"/>
              </a:p>
              <a:p>
                <a:pPr>
                  <a:lnSpc>
                    <a:spcPct val="10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724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条件极值问题的求解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极值条件：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0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0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消去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，有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sec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sec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sec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转化为余弦形式：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230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自由变量的取值范围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116513"/>
            <a:ext cx="7886700" cy="1060449"/>
          </a:xfrm>
        </p:spPr>
        <p:txBody>
          <a:bodyPr/>
          <a:lstStyle/>
          <a:p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都是锐角，它们的正切值都是正实数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也是正实数，因而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都是锐角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3009901" y="2203451"/>
            <a:ext cx="2727325" cy="2727325"/>
          </a:xfrm>
          <a:prstGeom prst="ellipse">
            <a:avLst/>
          </a:prstGeom>
          <a:noFill/>
          <a:ln w="14288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solidFill>
            <a:srgbClr val="FF7F7F"/>
          </a:solidFill>
          <a:ln w="14288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solidFill>
            <a:srgbClr val="F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>
            <a:off x="2778126" y="2576513"/>
            <a:ext cx="371475" cy="23542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2778126" y="4930776"/>
            <a:ext cx="3530600" cy="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 flipV="1">
            <a:off x="5187951" y="1792288"/>
            <a:ext cx="1120775" cy="31384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 flipH="1">
            <a:off x="3149601" y="1792288"/>
            <a:ext cx="2038350" cy="7842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H="1" flipV="1">
            <a:off x="3884613" y="2293938"/>
            <a:ext cx="488950" cy="127317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H="1" flipV="1">
            <a:off x="3027363" y="3354388"/>
            <a:ext cx="1346200" cy="2127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4373563" y="3567113"/>
            <a:ext cx="0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4373563" y="3108326"/>
            <a:ext cx="1284288" cy="4587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 flipH="1" flipV="1">
            <a:off x="3149601" y="2576513"/>
            <a:ext cx="1223963" cy="99060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 flipH="1">
            <a:off x="2778126" y="3567113"/>
            <a:ext cx="1595438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4373563" y="3567113"/>
            <a:ext cx="1935163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V="1">
            <a:off x="4373563" y="1792288"/>
            <a:ext cx="814388" cy="17748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5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solidFill>
            <a:srgbClr val="FFFFFF"/>
          </a:solidFill>
          <a:ln w="1428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6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37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38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9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40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41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42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43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44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Oval 45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Oval 46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Oval 47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Oval 48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Oval 49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Oval 50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Oval 51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Oval 52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636833" y="214186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225047" y="459343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170267" y="1450978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655095" y="304134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891237" y="3836849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27611" y="3356629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238675" y="2709863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306510" y="46977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555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自由变量的取值范围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186363"/>
            <a:ext cx="7886700" cy="990600"/>
          </a:xfrm>
        </p:spPr>
        <p:txBody>
          <a:bodyPr>
            <a:normAutofit/>
          </a:bodyPr>
          <a:lstStyle/>
          <a:p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互补，它们中有一个锐角，一个钝角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设是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是锐角，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是钝角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3009901" y="2203451"/>
            <a:ext cx="2727325" cy="2727325"/>
          </a:xfrm>
          <a:prstGeom prst="ellipse">
            <a:avLst/>
          </a:prstGeom>
          <a:noFill/>
          <a:ln w="14288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solidFill>
            <a:srgbClr val="FF7F7F"/>
          </a:solidFill>
          <a:ln w="14288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solidFill>
            <a:srgbClr val="F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>
            <a:off x="2778126" y="2576513"/>
            <a:ext cx="371475" cy="23542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2778126" y="4930776"/>
            <a:ext cx="3530600" cy="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 flipV="1">
            <a:off x="5187951" y="1792288"/>
            <a:ext cx="1120775" cy="31384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 flipH="1">
            <a:off x="3149601" y="1792288"/>
            <a:ext cx="2038350" cy="7842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H="1" flipV="1">
            <a:off x="3884613" y="2293938"/>
            <a:ext cx="488950" cy="127317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H="1" flipV="1">
            <a:off x="3027363" y="3354388"/>
            <a:ext cx="1346200" cy="2127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4373563" y="3567113"/>
            <a:ext cx="0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4373563" y="3108326"/>
            <a:ext cx="1284288" cy="4587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 flipH="1" flipV="1">
            <a:off x="3149601" y="2576513"/>
            <a:ext cx="1223963" cy="99060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 flipH="1">
            <a:off x="2778126" y="3567113"/>
            <a:ext cx="1595438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4373563" y="3567113"/>
            <a:ext cx="1935163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V="1">
            <a:off x="4373563" y="1792288"/>
            <a:ext cx="814388" cy="17748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5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solidFill>
            <a:srgbClr val="FFFFFF"/>
          </a:solidFill>
          <a:ln w="1428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6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37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38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9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40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41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42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43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44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Oval 45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Oval 46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Oval 47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Oval 48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Oval 49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Oval 50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Oval 51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Oval 52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636833" y="214186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225047" y="459343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170267" y="1450978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655095" y="304134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891237" y="3836849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27611" y="3356629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238675" y="2709863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306510" y="46977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573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自由变量的取值范围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186363"/>
            <a:ext cx="7886700" cy="990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tan(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&lt; 0 &lt; tan(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 0 &lt;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tan(2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π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/2 &lt;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3009901" y="2203451"/>
            <a:ext cx="2727325" cy="2727325"/>
          </a:xfrm>
          <a:prstGeom prst="ellipse">
            <a:avLst/>
          </a:prstGeom>
          <a:noFill/>
          <a:ln w="14288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solidFill>
            <a:srgbClr val="FF7F7F"/>
          </a:solidFill>
          <a:ln w="14288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4108451" y="3249613"/>
            <a:ext cx="265113" cy="317500"/>
          </a:xfrm>
          <a:custGeom>
            <a:avLst/>
            <a:gdLst>
              <a:gd name="T0" fmla="*/ 314 w 583"/>
              <a:gd name="T1" fmla="*/ 0 h 700"/>
              <a:gd name="T2" fmla="*/ 0 w 583"/>
              <a:gd name="T3" fmla="*/ 228 h 700"/>
              <a:gd name="T4" fmla="*/ 583 w 583"/>
              <a:gd name="T5" fmla="*/ 700 h 700"/>
              <a:gd name="T6" fmla="*/ 314 w 583"/>
              <a:gd name="T7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3" h="700">
                <a:moveTo>
                  <a:pt x="314" y="0"/>
                </a:moveTo>
                <a:cubicBezTo>
                  <a:pt x="191" y="47"/>
                  <a:pt x="83" y="126"/>
                  <a:pt x="0" y="228"/>
                </a:cubicBezTo>
                <a:lnTo>
                  <a:pt x="583" y="700"/>
                </a:lnTo>
                <a:lnTo>
                  <a:pt x="314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solidFill>
            <a:srgbClr val="F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3924301" y="3281363"/>
            <a:ext cx="449263" cy="285750"/>
          </a:xfrm>
          <a:custGeom>
            <a:avLst/>
            <a:gdLst>
              <a:gd name="T0" fmla="*/ 210 w 987"/>
              <a:gd name="T1" fmla="*/ 0 h 629"/>
              <a:gd name="T2" fmla="*/ 0 w 987"/>
              <a:gd name="T3" fmla="*/ 472 h 629"/>
              <a:gd name="T4" fmla="*/ 987 w 987"/>
              <a:gd name="T5" fmla="*/ 629 h 629"/>
              <a:gd name="T6" fmla="*/ 210 w 987"/>
              <a:gd name="T7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87" h="629">
                <a:moveTo>
                  <a:pt x="210" y="0"/>
                </a:moveTo>
                <a:cubicBezTo>
                  <a:pt x="100" y="136"/>
                  <a:pt x="27" y="299"/>
                  <a:pt x="0" y="472"/>
                </a:cubicBezTo>
                <a:lnTo>
                  <a:pt x="987" y="629"/>
                </a:lnTo>
                <a:lnTo>
                  <a:pt x="21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4021138" y="3513138"/>
            <a:ext cx="352425" cy="276225"/>
          </a:xfrm>
          <a:custGeom>
            <a:avLst/>
            <a:gdLst>
              <a:gd name="T0" fmla="*/ 35 w 775"/>
              <a:gd name="T1" fmla="*/ 0 h 605"/>
              <a:gd name="T2" fmla="*/ 205 w 775"/>
              <a:gd name="T3" fmla="*/ 605 h 605"/>
              <a:gd name="T4" fmla="*/ 775 w 775"/>
              <a:gd name="T5" fmla="*/ 118 h 605"/>
              <a:gd name="T6" fmla="*/ 35 w 775"/>
              <a:gd name="T7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5" h="605">
                <a:moveTo>
                  <a:pt x="35" y="0"/>
                </a:moveTo>
                <a:cubicBezTo>
                  <a:pt x="0" y="217"/>
                  <a:pt x="63" y="438"/>
                  <a:pt x="205" y="605"/>
                </a:cubicBezTo>
                <a:lnTo>
                  <a:pt x="775" y="118"/>
                </a:lnTo>
                <a:lnTo>
                  <a:pt x="35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solidFill>
            <a:srgbClr val="7FF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027488" y="3567113"/>
            <a:ext cx="346075" cy="455613"/>
          </a:xfrm>
          <a:custGeom>
            <a:avLst/>
            <a:gdLst>
              <a:gd name="T0" fmla="*/ 0 w 760"/>
              <a:gd name="T1" fmla="*/ 649 h 1000"/>
              <a:gd name="T2" fmla="*/ 760 w 760"/>
              <a:gd name="T3" fmla="*/ 1000 h 1000"/>
              <a:gd name="T4" fmla="*/ 760 w 760"/>
              <a:gd name="T5" fmla="*/ 0 h 1000"/>
              <a:gd name="T6" fmla="*/ 0 w 760"/>
              <a:gd name="T7" fmla="*/ 649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0" h="1000">
                <a:moveTo>
                  <a:pt x="0" y="649"/>
                </a:moveTo>
                <a:cubicBezTo>
                  <a:pt x="190" y="871"/>
                  <a:pt x="468" y="1000"/>
                  <a:pt x="760" y="1000"/>
                </a:cubicBezTo>
                <a:lnTo>
                  <a:pt x="760" y="0"/>
                </a:lnTo>
                <a:lnTo>
                  <a:pt x="0" y="64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4373563" y="3567113"/>
            <a:ext cx="279400" cy="341313"/>
          </a:xfrm>
          <a:custGeom>
            <a:avLst/>
            <a:gdLst>
              <a:gd name="T0" fmla="*/ 0 w 614"/>
              <a:gd name="T1" fmla="*/ 750 h 750"/>
              <a:gd name="T2" fmla="*/ 614 w 614"/>
              <a:gd name="T3" fmla="*/ 431 h 750"/>
              <a:gd name="T4" fmla="*/ 0 w 614"/>
              <a:gd name="T5" fmla="*/ 0 h 750"/>
              <a:gd name="T6" fmla="*/ 0 w 614"/>
              <a:gd name="T7" fmla="*/ 750 h 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4" h="750">
                <a:moveTo>
                  <a:pt x="0" y="750"/>
                </a:moveTo>
                <a:cubicBezTo>
                  <a:pt x="244" y="750"/>
                  <a:pt x="473" y="631"/>
                  <a:pt x="614" y="431"/>
                </a:cubicBezTo>
                <a:lnTo>
                  <a:pt x="0" y="0"/>
                </a:lnTo>
                <a:lnTo>
                  <a:pt x="0" y="75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4373563" y="3414713"/>
            <a:ext cx="477838" cy="414338"/>
          </a:xfrm>
          <a:custGeom>
            <a:avLst/>
            <a:gdLst>
              <a:gd name="T0" fmla="*/ 818 w 1052"/>
              <a:gd name="T1" fmla="*/ 912 h 912"/>
              <a:gd name="T2" fmla="*/ 942 w 1052"/>
              <a:gd name="T3" fmla="*/ 0 h 912"/>
              <a:gd name="T4" fmla="*/ 0 w 1052"/>
              <a:gd name="T5" fmla="*/ 337 h 912"/>
              <a:gd name="T6" fmla="*/ 818 w 1052"/>
              <a:gd name="T7" fmla="*/ 912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2" h="912">
                <a:moveTo>
                  <a:pt x="818" y="912"/>
                </a:moveTo>
                <a:cubicBezTo>
                  <a:pt x="1005" y="647"/>
                  <a:pt x="1052" y="306"/>
                  <a:pt x="942" y="0"/>
                </a:cubicBezTo>
                <a:lnTo>
                  <a:pt x="0" y="337"/>
                </a:lnTo>
                <a:lnTo>
                  <a:pt x="818" y="91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4373563" y="3257551"/>
            <a:ext cx="320675" cy="309563"/>
          </a:xfrm>
          <a:custGeom>
            <a:avLst/>
            <a:gdLst>
              <a:gd name="T0" fmla="*/ 707 w 707"/>
              <a:gd name="T1" fmla="*/ 429 h 682"/>
              <a:gd name="T2" fmla="*/ 313 w 707"/>
              <a:gd name="T3" fmla="*/ 0 h 682"/>
              <a:gd name="T4" fmla="*/ 0 w 707"/>
              <a:gd name="T5" fmla="*/ 682 h 682"/>
              <a:gd name="T6" fmla="*/ 707 w 707"/>
              <a:gd name="T7" fmla="*/ 429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7" h="682">
                <a:moveTo>
                  <a:pt x="707" y="429"/>
                </a:moveTo>
                <a:cubicBezTo>
                  <a:pt x="639" y="239"/>
                  <a:pt x="497" y="84"/>
                  <a:pt x="313" y="0"/>
                </a:cubicBezTo>
                <a:lnTo>
                  <a:pt x="0" y="682"/>
                </a:lnTo>
                <a:lnTo>
                  <a:pt x="707" y="429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4210051" y="3098801"/>
            <a:ext cx="352425" cy="468313"/>
          </a:xfrm>
          <a:custGeom>
            <a:avLst/>
            <a:gdLst>
              <a:gd name="T0" fmla="*/ 776 w 776"/>
              <a:gd name="T1" fmla="*/ 122 h 1031"/>
              <a:gd name="T2" fmla="*/ 0 w 776"/>
              <a:gd name="T3" fmla="*/ 97 h 1031"/>
              <a:gd name="T4" fmla="*/ 359 w 776"/>
              <a:gd name="T5" fmla="*/ 1031 h 1031"/>
              <a:gd name="T6" fmla="*/ 776 w 776"/>
              <a:gd name="T7" fmla="*/ 122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6" h="1031">
                <a:moveTo>
                  <a:pt x="776" y="122"/>
                </a:moveTo>
                <a:cubicBezTo>
                  <a:pt x="531" y="9"/>
                  <a:pt x="252" y="0"/>
                  <a:pt x="0" y="97"/>
                </a:cubicBezTo>
                <a:lnTo>
                  <a:pt x="359" y="1031"/>
                </a:lnTo>
                <a:lnTo>
                  <a:pt x="776" y="122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>
            <a:off x="2778126" y="2576513"/>
            <a:ext cx="371475" cy="23542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2778126" y="4930776"/>
            <a:ext cx="3530600" cy="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 flipV="1">
            <a:off x="5187951" y="1792288"/>
            <a:ext cx="1120775" cy="31384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 flipH="1">
            <a:off x="3149601" y="1792288"/>
            <a:ext cx="2038350" cy="7842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H="1" flipV="1">
            <a:off x="3884613" y="2293938"/>
            <a:ext cx="488950" cy="127317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H="1" flipV="1">
            <a:off x="3027363" y="3354388"/>
            <a:ext cx="1346200" cy="2127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4373563" y="3567113"/>
            <a:ext cx="0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4373563" y="3108326"/>
            <a:ext cx="1284288" cy="458788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 flipH="1" flipV="1">
            <a:off x="3149601" y="2576513"/>
            <a:ext cx="1223963" cy="990600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 flipH="1">
            <a:off x="2778126" y="3567113"/>
            <a:ext cx="1595438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4373563" y="3567113"/>
            <a:ext cx="1935163" cy="1363663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V="1">
            <a:off x="4373563" y="1792288"/>
            <a:ext cx="814388" cy="1774825"/>
          </a:xfrm>
          <a:prstGeom prst="line">
            <a:avLst/>
          </a:prstGeom>
          <a:noFill/>
          <a:ln w="1428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35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solidFill>
            <a:srgbClr val="FFFFFF"/>
          </a:solidFill>
          <a:ln w="1428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6"/>
          <p:cNvSpPr>
            <a:spLocks noChangeArrowheads="1"/>
          </p:cNvSpPr>
          <p:nvPr/>
        </p:nvSpPr>
        <p:spPr bwMode="auto">
          <a:xfrm>
            <a:off x="4346576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37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38"/>
          <p:cNvSpPr>
            <a:spLocks noChangeArrowheads="1"/>
          </p:cNvSpPr>
          <p:nvPr/>
        </p:nvSpPr>
        <p:spPr bwMode="auto">
          <a:xfrm>
            <a:off x="3000376" y="3325813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9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40"/>
          <p:cNvSpPr>
            <a:spLocks noChangeArrowheads="1"/>
          </p:cNvSpPr>
          <p:nvPr/>
        </p:nvSpPr>
        <p:spPr bwMode="auto">
          <a:xfrm>
            <a:off x="5630863" y="3081338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41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42"/>
          <p:cNvSpPr>
            <a:spLocks noChangeArrowheads="1"/>
          </p:cNvSpPr>
          <p:nvPr/>
        </p:nvSpPr>
        <p:spPr bwMode="auto">
          <a:xfrm>
            <a:off x="3857626" y="226695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43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44"/>
          <p:cNvSpPr>
            <a:spLocks noChangeArrowheads="1"/>
          </p:cNvSpPr>
          <p:nvPr/>
        </p:nvSpPr>
        <p:spPr bwMode="auto">
          <a:xfrm>
            <a:off x="3122613" y="2549526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Oval 45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Oval 46"/>
          <p:cNvSpPr>
            <a:spLocks noChangeArrowheads="1"/>
          </p:cNvSpPr>
          <p:nvPr/>
        </p:nvSpPr>
        <p:spPr bwMode="auto">
          <a:xfrm>
            <a:off x="2749551" y="4903788"/>
            <a:ext cx="55563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Oval 47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Oval 48"/>
          <p:cNvSpPr>
            <a:spLocks noChangeArrowheads="1"/>
          </p:cNvSpPr>
          <p:nvPr/>
        </p:nvSpPr>
        <p:spPr bwMode="auto">
          <a:xfrm>
            <a:off x="6281738" y="4903788"/>
            <a:ext cx="53975" cy="55563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Oval 49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Oval 50"/>
          <p:cNvSpPr>
            <a:spLocks noChangeArrowheads="1"/>
          </p:cNvSpPr>
          <p:nvPr/>
        </p:nvSpPr>
        <p:spPr bwMode="auto">
          <a:xfrm>
            <a:off x="5160963" y="1765301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Oval 51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Oval 52"/>
          <p:cNvSpPr>
            <a:spLocks noChangeArrowheads="1"/>
          </p:cNvSpPr>
          <p:nvPr/>
        </p:nvSpPr>
        <p:spPr bwMode="auto">
          <a:xfrm>
            <a:off x="4346576" y="3540126"/>
            <a:ext cx="53975" cy="53975"/>
          </a:xfrm>
          <a:prstGeom prst="ellipse">
            <a:avLst/>
          </a:prstGeom>
          <a:noFill/>
          <a:ln w="952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636833" y="2141866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225047" y="4593431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170267" y="1450978"/>
            <a:ext cx="56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655095" y="304134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891237" y="3836849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27611" y="3356629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238675" y="2709863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306510" y="46977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52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条件极值问题的求解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极值条件：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cos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0</a:t>
            </a:r>
          </a:p>
          <a:p>
            <a:pPr marL="0" indent="0" algn="ctr">
              <a:buNone/>
            </a:pP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1)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1)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2cos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2cos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)(2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0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</a:p>
          <a:p>
            <a:pPr marL="0" indent="0" algn="ctr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227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约束条件的化简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周角约束条件：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)·tan(2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+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)·tan(2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0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转化为正弦和余弦的形式：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)·sin(2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)·sin(2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倍角公式展开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2cosh(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1)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+ 2cosh(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0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约束条件的化简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约掉系数：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1)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)·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1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0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1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进一步化简：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0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0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175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自由变量的计算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关于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的全部约束条件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0" indent="0" algn="ctr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i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1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代余弦约束式两边平方，并乘以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利用正弦与余弦的关系，有：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)(1 – sin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)(1 – sin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i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985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自由变量的计算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进一步导出：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4(cosh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)sin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)sin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dirty="0"/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利用正弦约束关系，取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endParaRPr lang="en-US" altLang="zh-CN" i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代入余弦约束关系导出的结果，有：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4(cosh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–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–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032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自由变量的计算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导出关于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的双二次方程：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(cosh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))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+ 3cosh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/ 4 = 0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方程的判别式：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+ 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))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3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+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– 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)cosh</a:t>
            </a:r>
            <a:r>
              <a:rPr lang="en-US" altLang="zh-CN" baseline="30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解的范围：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 &lt;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0 &lt;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&lt;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 &lt; 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&lt; min{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en-US" altLang="zh-CN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cosh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)}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845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自由变量的计算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利用二次方程求根公式：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unc>
                                        <m:func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2000">
                                                  <a:latin typeface="Cambria Math" panose="02040503050406030204" pitchFamily="18" charset="0"/>
                                                </a:rPr>
                                                <m:t>cosh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</m:func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unc>
                                        <m:func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2000">
                                                  <a:latin typeface="Cambria Math" panose="02040503050406030204" pitchFamily="18" charset="0"/>
                                                </a:rPr>
                                                <m:t>cosh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func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1, 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根据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必须为正数，导出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1</a:t>
                </a: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根据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&lt; min{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), 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)}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，导出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–1</a:t>
                </a: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因而有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latin typeface="Cambria Math" panose="02040503050406030204" pitchFamily="18" charset="0"/>
                                        </a:rPr>
                                        <m:t>cosh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latin typeface="Cambria Math" panose="02040503050406030204" pitchFamily="18" charset="0"/>
                                        </a:rPr>
                                        <m:t>cosh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func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2229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角度的导出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利用：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cosh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导出：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b="0" i="0" smtClean="0">
                                          <a:latin typeface="Cambria Math" panose="02040503050406030204" pitchFamily="18" charset="0"/>
                                        </a:rPr>
                                        <m:t>cosh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latin typeface="Cambria Math" panose="02040503050406030204" pitchFamily="18" charset="0"/>
                                        </a:rPr>
                                        <m:t>cosh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240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进而计算下面的角度并实现作图：</a:t>
                </a:r>
                <a:endParaRPr lang="en-US" altLang="zh-CN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l-GR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α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tan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β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</a:p>
              <a:p>
                <a:pPr marL="0" indent="0" algn="ctr">
                  <a:buNone/>
                </a:pP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γ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–</a:t>
                </a:r>
                <a:r>
                  <a:rPr lang="en-US" altLang="zh-CN" i="1" baseline="30000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θ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δ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altLang="zh-CN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i="1" baseline="30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–</a:t>
                </a:r>
                <a:r>
                  <a:rPr lang="en-US" altLang="zh-CN" i="1" baseline="30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tan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φ</a:t>
                </a:r>
                <a:endPara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8120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四边形最大内切椭圆构造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755254"/>
            <a:ext cx="7886700" cy="2421709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利用对角线交点的分割比例计算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aseline="300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±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aseline="300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±</a:t>
            </a:r>
            <a:r>
              <a:rPr lang="en-US" altLang="zh-CN" i="1" baseline="300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endParaRPr lang="en-US" altLang="zh-CN" i="1" baseline="300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求解方程得到变量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计算角度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l-GR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δ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构造单位圆的外切四边形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用仿射变换还原凸四边形的最大内切椭圆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1639888" y="2030414"/>
            <a:ext cx="2717800" cy="1565275"/>
          </a:xfrm>
          <a:custGeom>
            <a:avLst/>
            <a:gdLst>
              <a:gd name="T0" fmla="*/ 199 w 6894"/>
              <a:gd name="T1" fmla="*/ 2728 h 3964"/>
              <a:gd name="T2" fmla="*/ 3808 w 6894"/>
              <a:gd name="T3" fmla="*/ 3552 h 3964"/>
              <a:gd name="T4" fmla="*/ 6695 w 6894"/>
              <a:gd name="T5" fmla="*/ 1236 h 3964"/>
              <a:gd name="T6" fmla="*/ 3086 w 6894"/>
              <a:gd name="T7" fmla="*/ 413 h 3964"/>
              <a:gd name="T8" fmla="*/ 199 w 6894"/>
              <a:gd name="T9" fmla="*/ 2728 h 3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94" h="3964">
                <a:moveTo>
                  <a:pt x="199" y="2728"/>
                </a:moveTo>
                <a:cubicBezTo>
                  <a:pt x="398" y="3595"/>
                  <a:pt x="2014" y="3964"/>
                  <a:pt x="3808" y="3552"/>
                </a:cubicBezTo>
                <a:cubicBezTo>
                  <a:pt x="5601" y="3140"/>
                  <a:pt x="6894" y="2103"/>
                  <a:pt x="6695" y="1236"/>
                </a:cubicBezTo>
                <a:cubicBezTo>
                  <a:pt x="6496" y="369"/>
                  <a:pt x="4880" y="0"/>
                  <a:pt x="3086" y="413"/>
                </a:cubicBezTo>
                <a:cubicBezTo>
                  <a:pt x="1293" y="825"/>
                  <a:pt x="0" y="1861"/>
                  <a:pt x="199" y="2728"/>
                </a:cubicBezTo>
                <a:close/>
              </a:path>
            </a:pathLst>
          </a:custGeom>
          <a:noFill/>
          <a:ln w="11113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849313" y="1919289"/>
            <a:ext cx="1970088" cy="158115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849313" y="3500439"/>
            <a:ext cx="3152775" cy="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V="1">
            <a:off x="4002088" y="2314576"/>
            <a:ext cx="395288" cy="1185863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 flipV="1">
            <a:off x="2819400" y="1919289"/>
            <a:ext cx="1577975" cy="395288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2795588" y="1895476"/>
            <a:ext cx="47625" cy="47625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2795588" y="1895476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825500" y="3476626"/>
            <a:ext cx="47625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825500" y="3476626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3978275" y="3476626"/>
            <a:ext cx="47625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978275" y="3476626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4373563" y="2290764"/>
            <a:ext cx="47625" cy="47625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4373563" y="2290764"/>
            <a:ext cx="47625" cy="47625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5719763" y="1808163"/>
            <a:ext cx="1827212" cy="1828800"/>
          </a:xfrm>
          <a:prstGeom prst="ellipse">
            <a:avLst/>
          </a:prstGeom>
          <a:noFill/>
          <a:ln w="11113" cap="rnd">
            <a:solidFill>
              <a:srgbClr val="007F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>
            <a:off x="5337175" y="1533526"/>
            <a:ext cx="750887" cy="2103438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5337175" y="3636963"/>
            <a:ext cx="2365375" cy="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H="1" flipV="1">
            <a:off x="7453313" y="2058988"/>
            <a:ext cx="249237" cy="1577975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H="1" flipV="1">
            <a:off x="6088063" y="1533526"/>
            <a:ext cx="1365250" cy="525463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H="1" flipV="1">
            <a:off x="5773738" y="2414588"/>
            <a:ext cx="858837" cy="307975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>
            <a:off x="6632575" y="2722563"/>
            <a:ext cx="0" cy="91440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V="1">
            <a:off x="6632575" y="2579688"/>
            <a:ext cx="903287" cy="142875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 flipV="1">
            <a:off x="6632575" y="1868488"/>
            <a:ext cx="328612" cy="854075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2"/>
          <p:cNvSpPr>
            <a:spLocks noChangeArrowheads="1"/>
          </p:cNvSpPr>
          <p:nvPr/>
        </p:nvSpPr>
        <p:spPr bwMode="auto">
          <a:xfrm>
            <a:off x="6611938" y="3614738"/>
            <a:ext cx="42862" cy="44450"/>
          </a:xfrm>
          <a:prstGeom prst="ellipse">
            <a:avLst/>
          </a:prstGeom>
          <a:solidFill>
            <a:srgbClr val="FFFFFF"/>
          </a:solidFill>
          <a:ln w="11113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33"/>
          <p:cNvSpPr>
            <a:spLocks noChangeArrowheads="1"/>
          </p:cNvSpPr>
          <p:nvPr/>
        </p:nvSpPr>
        <p:spPr bwMode="auto">
          <a:xfrm>
            <a:off x="6611938" y="3614738"/>
            <a:ext cx="42862" cy="4445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5751513" y="2392363"/>
            <a:ext cx="44450" cy="44450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5751513" y="2392363"/>
            <a:ext cx="44450" cy="4445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7513638" y="2557463"/>
            <a:ext cx="44450" cy="44450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7513638" y="2557463"/>
            <a:ext cx="44450" cy="4445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38"/>
          <p:cNvSpPr>
            <a:spLocks noChangeArrowheads="1"/>
          </p:cNvSpPr>
          <p:nvPr/>
        </p:nvSpPr>
        <p:spPr bwMode="auto">
          <a:xfrm>
            <a:off x="6938963" y="1847851"/>
            <a:ext cx="44450" cy="42863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39"/>
          <p:cNvSpPr>
            <a:spLocks noChangeArrowheads="1"/>
          </p:cNvSpPr>
          <p:nvPr/>
        </p:nvSpPr>
        <p:spPr bwMode="auto">
          <a:xfrm>
            <a:off x="6938963" y="1847851"/>
            <a:ext cx="44450" cy="4286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40"/>
          <p:cNvSpPr>
            <a:spLocks noChangeArrowheads="1"/>
          </p:cNvSpPr>
          <p:nvPr/>
        </p:nvSpPr>
        <p:spPr bwMode="auto">
          <a:xfrm>
            <a:off x="6067425" y="1511301"/>
            <a:ext cx="42862" cy="42863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Oval 41"/>
          <p:cNvSpPr>
            <a:spLocks noChangeArrowheads="1"/>
          </p:cNvSpPr>
          <p:nvPr/>
        </p:nvSpPr>
        <p:spPr bwMode="auto">
          <a:xfrm>
            <a:off x="6067425" y="1511301"/>
            <a:ext cx="42862" cy="42863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Oval 42"/>
          <p:cNvSpPr>
            <a:spLocks noChangeArrowheads="1"/>
          </p:cNvSpPr>
          <p:nvPr/>
        </p:nvSpPr>
        <p:spPr bwMode="auto">
          <a:xfrm>
            <a:off x="5314950" y="3614738"/>
            <a:ext cx="44450" cy="44450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Oval 43"/>
          <p:cNvSpPr>
            <a:spLocks noChangeArrowheads="1"/>
          </p:cNvSpPr>
          <p:nvPr/>
        </p:nvSpPr>
        <p:spPr bwMode="auto">
          <a:xfrm>
            <a:off x="5314950" y="3614738"/>
            <a:ext cx="44450" cy="4445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7680325" y="3614738"/>
            <a:ext cx="44450" cy="44450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Oval 45"/>
          <p:cNvSpPr>
            <a:spLocks noChangeArrowheads="1"/>
          </p:cNvSpPr>
          <p:nvPr/>
        </p:nvSpPr>
        <p:spPr bwMode="auto">
          <a:xfrm>
            <a:off x="7680325" y="3614738"/>
            <a:ext cx="44450" cy="4445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Oval 46"/>
          <p:cNvSpPr>
            <a:spLocks noChangeArrowheads="1"/>
          </p:cNvSpPr>
          <p:nvPr/>
        </p:nvSpPr>
        <p:spPr bwMode="auto">
          <a:xfrm>
            <a:off x="7431088" y="2036763"/>
            <a:ext cx="44450" cy="44450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Oval 47"/>
          <p:cNvSpPr>
            <a:spLocks noChangeArrowheads="1"/>
          </p:cNvSpPr>
          <p:nvPr/>
        </p:nvSpPr>
        <p:spPr bwMode="auto">
          <a:xfrm>
            <a:off x="7431088" y="2036763"/>
            <a:ext cx="44450" cy="4445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Oval 48"/>
          <p:cNvSpPr>
            <a:spLocks noChangeArrowheads="1"/>
          </p:cNvSpPr>
          <p:nvPr/>
        </p:nvSpPr>
        <p:spPr bwMode="auto">
          <a:xfrm>
            <a:off x="6611938" y="2700338"/>
            <a:ext cx="42862" cy="44450"/>
          </a:xfrm>
          <a:prstGeom prst="ellipse">
            <a:avLst/>
          </a:prstGeom>
          <a:solidFill>
            <a:srgbClr val="FFFFFF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Oval 49"/>
          <p:cNvSpPr>
            <a:spLocks noChangeArrowheads="1"/>
          </p:cNvSpPr>
          <p:nvPr/>
        </p:nvSpPr>
        <p:spPr bwMode="auto">
          <a:xfrm>
            <a:off x="6611938" y="2700338"/>
            <a:ext cx="42862" cy="44450"/>
          </a:xfrm>
          <a:prstGeom prst="ellipse">
            <a:avLst/>
          </a:prstGeom>
          <a:noFill/>
          <a:ln w="7938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835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8087318428218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29088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40760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462710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48800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524954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29102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296749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334100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346115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37709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555334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578090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12866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24841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27383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25437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27334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29268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3176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33545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35680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37284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39130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41625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327043045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29306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31219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3391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36598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38781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41297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4354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45913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47137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49492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52329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54039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57356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59675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61787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63493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66585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69256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7173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73073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75636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77029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80658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82030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84565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86009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89693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91571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93659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95129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697509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00426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02867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04285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0658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08095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10248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13608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15566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17283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20286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22820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24798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26804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28580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31414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33458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35081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3728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40159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42754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44511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46492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49843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51273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53083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55605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0873184757678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2064</TotalTime>
  <Words>3445</Words>
  <Application>Microsoft Office PowerPoint</Application>
  <PresentationFormat>全屏显示(4:3)</PresentationFormat>
  <Paragraphs>658</Paragraphs>
  <Slides>83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4" baseType="lpstr">
      <vt:lpstr>Yu Mincho</vt:lpstr>
      <vt:lpstr>等线</vt:lpstr>
      <vt:lpstr>等线 Light</vt:lpstr>
      <vt:lpstr>楷体</vt:lpstr>
      <vt:lpstr>宋体</vt:lpstr>
      <vt:lpstr>Arial</vt:lpstr>
      <vt:lpstr>Calibri</vt:lpstr>
      <vt:lpstr>Calibri Light</vt:lpstr>
      <vt:lpstr>Cambria Math</vt:lpstr>
      <vt:lpstr>Times New Roman</vt:lpstr>
      <vt:lpstr>Office 主题​​</vt:lpstr>
      <vt:lpstr>优化方法</vt:lpstr>
      <vt:lpstr>押注的策略</vt:lpstr>
      <vt:lpstr>押注的策略</vt:lpstr>
      <vt:lpstr>凯利公式</vt:lpstr>
      <vt:lpstr>凯利公式</vt:lpstr>
      <vt:lpstr>排序不等式</vt:lpstr>
      <vt:lpstr>排序不等式</vt:lpstr>
      <vt:lpstr>排序不等式应用</vt:lpstr>
      <vt:lpstr>排序不等式应用</vt:lpstr>
      <vt:lpstr>排序不等式的应用</vt:lpstr>
      <vt:lpstr>费马点</vt:lpstr>
      <vt:lpstr>费马点</vt:lpstr>
      <vt:lpstr>费马点的应用</vt:lpstr>
      <vt:lpstr>最佳射门位置问题</vt:lpstr>
      <vt:lpstr>最佳射门位置问题</vt:lpstr>
      <vt:lpstr>函数的极值问题</vt:lpstr>
      <vt:lpstr>一元函数的凸性</vt:lpstr>
      <vt:lpstr>一元函数凸性的初等表达</vt:lpstr>
      <vt:lpstr>一元函数凸性的初等表达</vt:lpstr>
      <vt:lpstr>琴生不等式</vt:lpstr>
      <vt:lpstr>琴生不等式</vt:lpstr>
      <vt:lpstr>琴生不等式与均值不等式</vt:lpstr>
      <vt:lpstr>琴生不等式与均值不等式</vt:lpstr>
      <vt:lpstr>均值不等式</vt:lpstr>
      <vt:lpstr>均值不等式</vt:lpstr>
      <vt:lpstr>等周问题</vt:lpstr>
      <vt:lpstr>等周问题</vt:lpstr>
      <vt:lpstr>等周问题</vt:lpstr>
      <vt:lpstr>等周问题</vt:lpstr>
      <vt:lpstr>等周问题</vt:lpstr>
      <vt:lpstr>四边形最大面积问题</vt:lpstr>
      <vt:lpstr>等周问题</vt:lpstr>
      <vt:lpstr>等周问题</vt:lpstr>
      <vt:lpstr>等周问题</vt:lpstr>
      <vt:lpstr>等周问题</vt:lpstr>
      <vt:lpstr>等周问题</vt:lpstr>
      <vt:lpstr>椭圆相关的极值问题</vt:lpstr>
      <vt:lpstr>椭圆相关的极值问题</vt:lpstr>
      <vt:lpstr>仿射变换的定义</vt:lpstr>
      <vt:lpstr>仿射变换的性质</vt:lpstr>
      <vt:lpstr>仿射变换的确定</vt:lpstr>
      <vt:lpstr>仿射等价条件</vt:lpstr>
      <vt:lpstr>三角形极小外接椭圆问题</vt:lpstr>
      <vt:lpstr>凸四边形最小外接椭圆问题</vt:lpstr>
      <vt:lpstr>凸四边形最小外接椭圆问题</vt:lpstr>
      <vt:lpstr>凸四边形最小外接椭圆问题</vt:lpstr>
      <vt:lpstr>仿射等价圆内接四边形</vt:lpstr>
      <vt:lpstr>仿射等价圆内接四边形</vt:lpstr>
      <vt:lpstr>四边形边长的计算</vt:lpstr>
      <vt:lpstr>四边形边长的计算</vt:lpstr>
      <vt:lpstr>外接圆半径的计算</vt:lpstr>
      <vt:lpstr>外接圆半径的计算</vt:lpstr>
      <vt:lpstr>外接圆面积的计算</vt:lpstr>
      <vt:lpstr>面积比值的计算</vt:lpstr>
      <vt:lpstr>极值问题的解</vt:lpstr>
      <vt:lpstr>四边形最小外接椭圆构造</vt:lpstr>
      <vt:lpstr>五边形内切椭圆的唯一性</vt:lpstr>
      <vt:lpstr>多边形最大内切椭圆问题</vt:lpstr>
      <vt:lpstr>三角形最大内切椭圆问题</vt:lpstr>
      <vt:lpstr>凸四边形最大内切椭圆问题</vt:lpstr>
      <vt:lpstr>凸四边形最大内切椭圆问题</vt:lpstr>
      <vt:lpstr>单位圆外切四边形</vt:lpstr>
      <vt:lpstr>仿射等价条件</vt:lpstr>
      <vt:lpstr>周角约束条件</vt:lpstr>
      <vt:lpstr>面积的表示</vt:lpstr>
      <vt:lpstr>自由变量的引入</vt:lpstr>
      <vt:lpstr>周角约束条件的表示</vt:lpstr>
      <vt:lpstr>周角约束条件的表示</vt:lpstr>
      <vt:lpstr>目标函数的表示</vt:lpstr>
      <vt:lpstr>条件极值问题的求解</vt:lpstr>
      <vt:lpstr>条件极值问题的求解</vt:lpstr>
      <vt:lpstr>自由变量的取值范围</vt:lpstr>
      <vt:lpstr>自由变量的取值范围</vt:lpstr>
      <vt:lpstr>自由变量的取值范围</vt:lpstr>
      <vt:lpstr>条件极值问题的求解</vt:lpstr>
      <vt:lpstr>约束条件的化简</vt:lpstr>
      <vt:lpstr>约束条件的化简</vt:lpstr>
      <vt:lpstr>自由变量的计算</vt:lpstr>
      <vt:lpstr>自由变量的计算</vt:lpstr>
      <vt:lpstr>自由变量的计算</vt:lpstr>
      <vt:lpstr>自由变量的计算</vt:lpstr>
      <vt:lpstr>角度的导出</vt:lpstr>
      <vt:lpstr>凸四边形最大内切椭圆构造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优化方法</dc:title>
  <dc:creator>_马龙_</dc:creator>
  <cp:lastModifiedBy>_马龙_</cp:lastModifiedBy>
  <cp:revision>91</cp:revision>
  <dcterms:created xsi:type="dcterms:W3CDTF">2025-05-19T06:59:52Z</dcterms:created>
  <dcterms:modified xsi:type="dcterms:W3CDTF">2026-06-09T02:13:07Z</dcterms:modified>
</cp:coreProperties>
</file>